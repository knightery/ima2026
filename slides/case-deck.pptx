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21824" y="256032"/>
            <a:ext cx="13533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40112" y="260604"/>
            <a:ext cx="131673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DECISION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859536"/>
            <a:ext cx="534924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WEST VALLEY FRESH DISTRIBUTION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133856"/>
            <a:ext cx="6583680" cy="1737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900" b="1">
                <a:solidFill>
                  <a:srgbClr val="355C47"/>
                </a:solidFill>
                <a:latin typeface="Aptos Display"/>
              </a:rPr>
              <a:t>A disciplined 5-city pilot is the right way to enter organic Hass avocados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07792"/>
            <a:ext cx="6309360" cy="5852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This deck argues for a selective launch, not a broad rollout, by testing price support, organic readiness, freight resilience, and seasonality in the supplied city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22191"/>
            <a:ext cx="2011680" cy="84124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3931919"/>
            <a:ext cx="175564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PILOT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4133087"/>
            <a:ext cx="1755648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20,000 organic units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24912" y="3822191"/>
            <a:ext cx="1828800" cy="84124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52928" y="3931919"/>
            <a:ext cx="157276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MARKET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8" y="4133087"/>
            <a:ext cx="1572768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40 city markets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01184" y="3822191"/>
            <a:ext cx="1965960" cy="84124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0" y="3931919"/>
            <a:ext cx="170992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133087"/>
            <a:ext cx="1709928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2019 to Jun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1170432"/>
            <a:ext cx="3611880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65008" y="1444752"/>
            <a:ext cx="256032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DECISION TO PROVE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1737360"/>
            <a:ext cx="2999232" cy="7863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100" b="1">
                <a:solidFill>
                  <a:srgbClr val="355C47"/>
                </a:solidFill>
                <a:latin typeface="Aptos Display"/>
              </a:rPr>
              <a:t>Win the right five cities first, then earn the right to scale.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8" y="2697480"/>
            <a:ext cx="28803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THIS DECK TESTS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5008" y="2926080"/>
            <a:ext cx="2852928" cy="12984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Price support beats raw market size.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The top cities hold through freight shocks.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Seasonality changes how the pilot should run.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29200"/>
            <a:ext cx="640080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5F6B63"/>
                </a:solidFill>
                <a:latin typeface="Aptos"/>
              </a:rPr>
              <a:t>Prepared as an anonymized submission for the 2026 IMA Student Case Competition. The deck is designed to stand alone without speaker notes.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Launch a disciplined 5-city organic pilot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27632"/>
            <a:ext cx="6537960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901952"/>
            <a:ext cx="21945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12848"/>
            <a:ext cx="5577840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500" b="1">
                <a:solidFill>
                  <a:srgbClr val="355C47"/>
                </a:solidFill>
                <a:latin typeface="Aptos Display"/>
              </a:rPr>
              <a:t>Launch Seattle, Boise, Portland, Spokane, and San Diego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89504"/>
            <a:ext cx="544068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These five cities combine premium June pricing, organic readiness, and manageable freight better than a broad national rollout.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611880"/>
            <a:ext cx="105156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" y="3616452"/>
            <a:ext cx="101498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48256" y="3611880"/>
            <a:ext cx="96012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066544" y="3616452"/>
            <a:ext cx="92354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BOISE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81528" y="3611880"/>
            <a:ext cx="11247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99816" y="3616452"/>
            <a:ext cx="108813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PORTLAND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9392" y="3611880"/>
            <a:ext cx="107899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3616452"/>
            <a:ext cx="10424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SPOKANE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31536" y="3611880"/>
            <a:ext cx="1298448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49824" y="3616452"/>
            <a:ext cx="1261872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SAN DIEGO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" y="4315968"/>
            <a:ext cx="1828800" cy="98755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4128" y="4425696"/>
            <a:ext cx="157276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AVG PROFIT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4626864"/>
            <a:ext cx="1572768" cy="5669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$13.7k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4368" y="4315968"/>
            <a:ext cx="1828800" cy="98755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072384" y="4425696"/>
            <a:ext cx="157276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AVG MARGIN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72384" y="4626864"/>
            <a:ext cx="1572768" cy="5669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69.7%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92624" y="4315968"/>
            <a:ext cx="1828800" cy="98755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0640" y="4425696"/>
            <a:ext cx="157276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RANK-5 GAP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4626864"/>
            <a:ext cx="1572768" cy="5669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C58A2A"/>
                </a:solidFill>
                <a:latin typeface="Aptos Display"/>
              </a:rPr>
              <a:t>$1k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79792" y="1737360"/>
            <a:ext cx="4023360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626096" y="1874520"/>
            <a:ext cx="373075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WHY THESE CITIES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6096" y="2121408"/>
            <a:ext cx="373075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Premium price markets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6096" y="2615184"/>
            <a:ext cx="373075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The top five also rank as the strongest June organic price markets in the model.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79792" y="3127248"/>
            <a:ext cx="4023360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626096" y="3264408"/>
            <a:ext cx="373075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WHY THE LIST HOLDS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6096" y="3511296"/>
            <a:ext cx="373075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Same 5 cities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6096" y="4005072"/>
            <a:ext cx="373075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The city set does not change in the base, +50%, or -50% freight cases.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79792" y="4517136"/>
            <a:ext cx="4023360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26096" y="4654296"/>
            <a:ext cx="373075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HOW TO OPERATE 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26096" y="4901184"/>
            <a:ext cx="373075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Pilot before scale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6096" y="5394960"/>
            <a:ext cx="373075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Launch narrowly, learn fast, then scale only where margin and service hold.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577840"/>
            <a:ext cx="109728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Model note: each city is scored on the same 20,000-unit scenario using June 2025 price as the June 2026 proxy.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Volume peaks before price</a:t>
            </a:r>
          </a:p>
        </p:txBody>
      </p:sp>
      <p:pic>
        <p:nvPicPr>
          <p:cNvPr id="9" name="Picture 8" descr="q8_seasonality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06" y="1417320"/>
            <a:ext cx="4845403" cy="2834640"/>
          </a:xfrm>
          <a:prstGeom prst="rect">
            <a:avLst/>
          </a:prstGeom>
        </p:spPr>
      </p:pic>
      <p:pic>
        <p:nvPicPr>
          <p:cNvPr id="10" name="Picture 9" descr="q8_seasonality_pr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299" y="1417320"/>
            <a:ext cx="4832777" cy="2834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4407408"/>
            <a:ext cx="5349240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Volume arrives early. Organic volume peaks in January, conventional peaks in May, and both soften into November.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4407408"/>
            <a:ext cx="5349240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Price crests later. Both organic and conventional prices peak in July and bottom in February.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919472"/>
            <a:ext cx="10835640" cy="5120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700" b="0">
                <a:solidFill>
                  <a:srgbClr val="5F6B63"/>
                </a:solidFill>
                <a:latin typeface="Aptos"/>
              </a:rPr>
              <a:t>The market absorbs more units before it offers peak pricing, so timing affects margin capture, promotions, and inventory allocation.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676656"/>
            <a:ext cx="11430000" cy="507492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deck_q2_growth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359" y="841248"/>
            <a:ext cx="10728801" cy="47365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1792" y="5504688"/>
            <a:ext cx="10972800" cy="6583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9808" y="5614416"/>
            <a:ext cx="1051560" cy="43891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5669280"/>
            <a:ext cx="941832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TAKEAWAY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5596128"/>
            <a:ext cx="7178040" cy="4754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Organic is still a niche share of the total market, but it is growing materially faster than the overall Hass category.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62872" y="5632704"/>
            <a:ext cx="0" cy="40233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27464" y="5596128"/>
            <a:ext cx="1938528" cy="4754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000" b="0">
                <a:solidFill>
                  <a:srgbClr val="5F6B63"/>
                </a:solidFill>
                <a:latin typeface="Aptos"/>
              </a:rPr>
              <a:t>Use this as market context, not as a launch recommendation by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Three filters should decide the pilot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82496"/>
            <a:ext cx="10789920" cy="33832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901952"/>
            <a:ext cx="14630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FILTER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1901952"/>
            <a:ext cx="2788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WHAT GOOD LOOKS LIKE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85816" y="1901952"/>
            <a:ext cx="480060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EVIDENCE IN THE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96144" y="1901952"/>
            <a:ext cx="19202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WHY IT MATTERS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249424"/>
            <a:ext cx="1261872" cy="676656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87552" y="2404872"/>
            <a:ext cx="1078992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CFAF5"/>
                </a:solidFill>
                <a:latin typeface="Aptos Display"/>
              </a:rPr>
              <a:t>Price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0592" y="2322576"/>
            <a:ext cx="2651760" cy="5120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 b="1">
                <a:solidFill>
                  <a:srgbClr val="355C47"/>
                </a:solidFill>
                <a:latin typeface="Aptos Display"/>
              </a:rPr>
              <a:t>$2.09 to $2.66 June pricing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5232" y="2304288"/>
            <a:ext cx="452628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The selected five are also the five highest-price June 2025 organic markets.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2304288"/>
            <a:ext cx="109728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Price support is the first screen, not a nice-to-have.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127248"/>
            <a:ext cx="1261872" cy="676656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7552" y="3282696"/>
            <a:ext cx="1078992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CFAF5"/>
                </a:solidFill>
                <a:latin typeface="Aptos Display"/>
              </a:rPr>
              <a:t>Organic readiness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0592" y="3200400"/>
            <a:ext cx="2651760" cy="5120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 b="1">
                <a:solidFill>
                  <a:srgbClr val="3F728A"/>
                </a:solidFill>
                <a:latin typeface="Aptos Display"/>
              </a:rPr>
              <a:t>Seattle leads 5 of 7 periods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5232" y="3182112"/>
            <a:ext cx="452628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Penetration differs sharply by city, so the launch must favor markets already buying premium mix.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3182112"/>
            <a:ext cx="109728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Scale alone is not enough to win an organic pilot.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005072"/>
            <a:ext cx="1261872" cy="676656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552" y="4160520"/>
            <a:ext cx="1078992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CFAF5"/>
                </a:solidFill>
                <a:latin typeface="Aptos Display"/>
              </a:rPr>
              <a:t>Route efficiency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2" y="4078224"/>
            <a:ext cx="2651760" cy="5120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 b="1">
                <a:solidFill>
                  <a:srgbClr val="B5533A"/>
                </a:solidFill>
                <a:latin typeface="Aptos Display"/>
              </a:rPr>
              <a:t>$813 to $1.0k profit loss at +50% freight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5232" y="4059936"/>
            <a:ext cx="452628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The recommended cities keep the same ranking even after a large shipping shock.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80" y="4059936"/>
            <a:ext cx="109728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Freight can cut margin, but it does not break the top five.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285232"/>
            <a:ext cx="1088136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These three filters explain why the Pacific Northwest plus San Diego survives every screen that follows.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Los Angeles wins Q1 in every period and both 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27632"/>
            <a:ext cx="7818120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847088"/>
            <a:ext cx="23774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WINNER HEATMAP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1901952"/>
            <a:ext cx="18288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CONVENTIONAL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0096" y="1901952"/>
            <a:ext cx="18288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F728A"/>
                </a:solidFill>
                <a:latin typeface="Aptos"/>
              </a:rPr>
              <a:t>ORGANIC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304288"/>
            <a:ext cx="107899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67712" y="2212848"/>
            <a:ext cx="2395728" cy="365760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77440" y="2267712"/>
            <a:ext cx="42062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 Display"/>
              </a:rPr>
              <a:t>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267712"/>
            <a:ext cx="157276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$168.4M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2212848"/>
            <a:ext cx="2395728" cy="365760"/>
          </a:xfrm>
          <a:prstGeom prst="roundRect">
            <a:avLst/>
          </a:prstGeom>
          <a:solidFill>
            <a:srgbClr val="EEF4F2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02352" y="2267712"/>
            <a:ext cx="42062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F728A"/>
                </a:solidFill>
                <a:latin typeface="Aptos Display"/>
              </a:rPr>
              <a:t>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0992" y="2267712"/>
            <a:ext cx="157276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$9.1M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2798064"/>
            <a:ext cx="107899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2020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7712" y="2706624"/>
            <a:ext cx="2395728" cy="365760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377440" y="2761488"/>
            <a:ext cx="42062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 Display"/>
              </a:rPr>
              <a:t>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2761488"/>
            <a:ext cx="157276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$183.5M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92624" y="2706624"/>
            <a:ext cx="2395728" cy="365760"/>
          </a:xfrm>
          <a:prstGeom prst="roundRect">
            <a:avLst/>
          </a:prstGeom>
          <a:solidFill>
            <a:srgbClr val="EEF4F2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02352" y="2761488"/>
            <a:ext cx="42062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F728A"/>
                </a:solidFill>
                <a:latin typeface="Aptos Display"/>
              </a:rPr>
              <a:t>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0992" y="2761488"/>
            <a:ext cx="157276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$11.9M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3291840"/>
            <a:ext cx="107899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2021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67712" y="3200400"/>
            <a:ext cx="2395728" cy="365760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77440" y="3255264"/>
            <a:ext cx="42062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 Display"/>
              </a:rPr>
              <a:t>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3255264"/>
            <a:ext cx="157276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$185.8M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92624" y="3200400"/>
            <a:ext cx="2395728" cy="365760"/>
          </a:xfrm>
          <a:prstGeom prst="roundRect">
            <a:avLst/>
          </a:prstGeom>
          <a:solidFill>
            <a:srgbClr val="EEF4F2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102352" y="3255264"/>
            <a:ext cx="42062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F728A"/>
                </a:solidFill>
                <a:latin typeface="Aptos Display"/>
              </a:rPr>
              <a:t>LA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50992" y="3255264"/>
            <a:ext cx="157276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$12.7M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" y="3785616"/>
            <a:ext cx="107899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2022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67712" y="3694176"/>
            <a:ext cx="2395728" cy="365760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377440" y="3749040"/>
            <a:ext cx="42062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 Display"/>
              </a:rPr>
              <a:t>LA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3749040"/>
            <a:ext cx="157276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$200.9M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92624" y="3694176"/>
            <a:ext cx="2395728" cy="365760"/>
          </a:xfrm>
          <a:prstGeom prst="roundRect">
            <a:avLst/>
          </a:prstGeom>
          <a:solidFill>
            <a:srgbClr val="EEF4F2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102352" y="3749040"/>
            <a:ext cx="42062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F728A"/>
                </a:solidFill>
                <a:latin typeface="Aptos Display"/>
              </a:rPr>
              <a:t>LA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50992" y="3749040"/>
            <a:ext cx="157276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$11.8M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" y="4279392"/>
            <a:ext cx="107899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2023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267712" y="4187952"/>
            <a:ext cx="2395728" cy="365760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377440" y="4242816"/>
            <a:ext cx="42062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 Display"/>
              </a:rPr>
              <a:t>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26080" y="4242816"/>
            <a:ext cx="157276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$183.9M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92624" y="4187952"/>
            <a:ext cx="2395728" cy="365760"/>
          </a:xfrm>
          <a:prstGeom prst="roundRect">
            <a:avLst/>
          </a:prstGeom>
          <a:solidFill>
            <a:srgbClr val="EEF4F2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102352" y="4242816"/>
            <a:ext cx="42062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F728A"/>
                </a:solidFill>
                <a:latin typeface="Aptos Display"/>
              </a:rPr>
              <a:t>LA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50992" y="4242816"/>
            <a:ext cx="157276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$11.2M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4773168"/>
            <a:ext cx="107899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2024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67712" y="4681728"/>
            <a:ext cx="2395728" cy="365760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377440" y="4736592"/>
            <a:ext cx="42062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 Display"/>
              </a:rPr>
              <a:t>LA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26080" y="4736592"/>
            <a:ext cx="157276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$211.2M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92624" y="4681728"/>
            <a:ext cx="2395728" cy="365760"/>
          </a:xfrm>
          <a:prstGeom prst="roundRect">
            <a:avLst/>
          </a:prstGeom>
          <a:solidFill>
            <a:srgbClr val="EEF4F2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102352" y="4736592"/>
            <a:ext cx="42062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F728A"/>
                </a:solidFill>
                <a:latin typeface="Aptos Display"/>
              </a:rPr>
              <a:t>LA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50992" y="4736592"/>
            <a:ext cx="157276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$15.3M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7552" y="5266944"/>
            <a:ext cx="107899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2025 H1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67712" y="5175504"/>
            <a:ext cx="2395728" cy="365760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377440" y="5230368"/>
            <a:ext cx="42062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 Display"/>
              </a:rPr>
              <a:t>LA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26080" y="5230368"/>
            <a:ext cx="157276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$113.2M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92624" y="5175504"/>
            <a:ext cx="2395728" cy="365760"/>
          </a:xfrm>
          <a:prstGeom prst="roundRect">
            <a:avLst/>
          </a:prstGeom>
          <a:solidFill>
            <a:srgbClr val="EEF4F2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102352" y="5230368"/>
            <a:ext cx="42062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F728A"/>
                </a:solidFill>
                <a:latin typeface="Aptos Display"/>
              </a:rPr>
              <a:t>LA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50992" y="5230368"/>
            <a:ext cx="157276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$8.1M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32688" y="5486400"/>
            <a:ext cx="7315200" cy="4206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1060704" y="5596128"/>
            <a:ext cx="1051560" cy="201168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115568" y="5650992"/>
            <a:ext cx="941832" cy="914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TAKEAWAY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04288" y="5577840"/>
            <a:ext cx="5742432" cy="23774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Q1 is unambiguous: Los Angeles wins both product types in every required period.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759952" y="1627632"/>
            <a:ext cx="2743200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9034272" y="1938528"/>
            <a:ext cx="1024128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162288" y="2048256"/>
            <a:ext cx="768096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WINNER CELLS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62288" y="2249424"/>
            <a:ext cx="768096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14/14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131552" y="1938528"/>
            <a:ext cx="109728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0259568" y="2048256"/>
            <a:ext cx="84124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2024 CONV.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59568" y="2249424"/>
            <a:ext cx="84124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$211.2M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034272" y="2999232"/>
            <a:ext cx="21945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9162288" y="3108960"/>
            <a:ext cx="193852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2024 ORGANIC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62288" y="3310128"/>
            <a:ext cx="193852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$15.3M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34272" y="4187952"/>
            <a:ext cx="2176272" cy="1645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Los Angeles wins scale decisively.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That answers Q1 cleanly.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It does not win the pilot by itself.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Los Angeles is the conventional revenue outlier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7818120" cy="435254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417320" y="5248656"/>
            <a:ext cx="6565392" cy="0"/>
          </a:xfrm>
          <a:prstGeom prst="line">
            <a:avLst/>
          </a:prstGeom>
          <a:ln w="1651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17320" y="2414016"/>
            <a:ext cx="0" cy="2834640"/>
          </a:xfrm>
          <a:prstGeom prst="line">
            <a:avLst/>
          </a:prstGeom>
          <a:ln w="1651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17320" y="4539996"/>
            <a:ext cx="656539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2688" y="4466844"/>
            <a:ext cx="41148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$53M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17320" y="3831336"/>
            <a:ext cx="656539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32688" y="3758184"/>
            <a:ext cx="41148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$106M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17320" y="3122676"/>
            <a:ext cx="656539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32688" y="3049524"/>
            <a:ext cx="41148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$158M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7320" y="2414016"/>
            <a:ext cx="656539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2688" y="2340864"/>
            <a:ext cx="41148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$211M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175504"/>
            <a:ext cx="41148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975104"/>
            <a:ext cx="72694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 5 CONVENTIONAL REVENUE TREND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771900"/>
            <a:ext cx="384048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$M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215798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LOS ANGELES</a:t>
            </a:r>
          </a:p>
        </p:txBody>
      </p:sp>
      <p:sp>
        <p:nvSpPr>
          <p:cNvPr id="24" name="Oval 23"/>
          <p:cNvSpPr/>
          <p:nvPr/>
        </p:nvSpPr>
        <p:spPr>
          <a:xfrm>
            <a:off x="1362456" y="2933389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 flipV="1">
            <a:off x="1417320" y="2786593"/>
            <a:ext cx="1094232" cy="201660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2456688" y="2731729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" name="Connector 26"/>
          <p:cNvCxnSpPr/>
          <p:nvPr/>
        </p:nvCxnSpPr>
        <p:spPr>
          <a:xfrm flipV="1">
            <a:off x="2511552" y="2755548"/>
            <a:ext cx="1094232" cy="31045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550920" y="2700684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 flipV="1">
            <a:off x="3605784" y="2552871"/>
            <a:ext cx="1094232" cy="202677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4645152" y="2498007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Connector 30"/>
          <p:cNvCxnSpPr/>
          <p:nvPr/>
        </p:nvCxnSpPr>
        <p:spPr>
          <a:xfrm>
            <a:off x="4700016" y="2552871"/>
            <a:ext cx="1094232" cy="228275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5739384" y="2726282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 flipV="1">
            <a:off x="5794248" y="2414016"/>
            <a:ext cx="1094232" cy="367130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6833616" y="2359152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" name="Connector 34"/>
          <p:cNvCxnSpPr/>
          <p:nvPr/>
        </p:nvCxnSpPr>
        <p:spPr>
          <a:xfrm>
            <a:off x="6888480" y="2414016"/>
            <a:ext cx="1094232" cy="1315657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7927848" y="3674809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55864" y="3629089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Los Angeles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15768" y="215798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C58A2A"/>
                </a:solidFill>
                <a:latin typeface="Aptos"/>
              </a:rPr>
              <a:t>NEW YORK</a:t>
            </a:r>
          </a:p>
        </p:txBody>
      </p:sp>
      <p:sp>
        <p:nvSpPr>
          <p:cNvPr id="39" name="Oval 38"/>
          <p:cNvSpPr/>
          <p:nvPr/>
        </p:nvSpPr>
        <p:spPr>
          <a:xfrm>
            <a:off x="1362456" y="362392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 flipV="1">
            <a:off x="1417320" y="3404973"/>
            <a:ext cx="1094232" cy="273820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2456688" y="335010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2511552" y="3404973"/>
            <a:ext cx="1094232" cy="167910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550920" y="351801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 flipV="1">
            <a:off x="3605784" y="3487139"/>
            <a:ext cx="1094232" cy="85744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4645152" y="3432275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700016" y="3487139"/>
            <a:ext cx="1094232" cy="108547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739384" y="3540822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 flipV="1">
            <a:off x="5794248" y="3082144"/>
            <a:ext cx="1094232" cy="513542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6833616" y="302728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6888480" y="3082144"/>
            <a:ext cx="1094232" cy="949304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927848" y="3976584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055864" y="3930864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C58A2A"/>
                </a:solidFill>
                <a:latin typeface="Aptos"/>
              </a:rPr>
              <a:t>New York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41648" y="215798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3F728A"/>
                </a:solidFill>
                <a:latin typeface="Aptos"/>
              </a:rPr>
              <a:t>DALLAS/FW</a:t>
            </a:r>
          </a:p>
        </p:txBody>
      </p:sp>
      <p:sp>
        <p:nvSpPr>
          <p:cNvPr id="54" name="Oval 53"/>
          <p:cNvSpPr/>
          <p:nvPr/>
        </p:nvSpPr>
        <p:spPr>
          <a:xfrm>
            <a:off x="1362456" y="4329008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5" name="Connector 54"/>
          <p:cNvCxnSpPr/>
          <p:nvPr/>
        </p:nvCxnSpPr>
        <p:spPr>
          <a:xfrm flipV="1">
            <a:off x="1417320" y="4345979"/>
            <a:ext cx="1094232" cy="37893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2456688" y="4291115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2511552" y="4345979"/>
            <a:ext cx="1094232" cy="64077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3550920" y="4355192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9" name="Connector 58"/>
          <p:cNvCxnSpPr/>
          <p:nvPr/>
        </p:nvCxnSpPr>
        <p:spPr>
          <a:xfrm flipV="1">
            <a:off x="3605784" y="4295576"/>
            <a:ext cx="1094232" cy="114480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4645152" y="4240712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1" name="Connector 60"/>
          <p:cNvCxnSpPr/>
          <p:nvPr/>
        </p:nvCxnSpPr>
        <p:spPr>
          <a:xfrm>
            <a:off x="4700016" y="4295576"/>
            <a:ext cx="1094232" cy="109959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5739384" y="4350671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3" name="Connector 62"/>
          <p:cNvCxnSpPr/>
          <p:nvPr/>
        </p:nvCxnSpPr>
        <p:spPr>
          <a:xfrm flipV="1">
            <a:off x="5794248" y="4265855"/>
            <a:ext cx="1094232" cy="139680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6833616" y="4210991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5" name="Connector 64"/>
          <p:cNvCxnSpPr/>
          <p:nvPr/>
        </p:nvCxnSpPr>
        <p:spPr>
          <a:xfrm>
            <a:off x="6888480" y="4265855"/>
            <a:ext cx="1094232" cy="411451"/>
          </a:xfrm>
          <a:prstGeom prst="line">
            <a:avLst/>
          </a:prstGeom>
          <a:ln w="2794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7927848" y="4622442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055864" y="4576722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F728A"/>
                </a:solidFill>
                <a:latin typeface="Aptos"/>
              </a:rPr>
              <a:t>Dallas/FW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67528" y="215798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889A83"/>
                </a:solidFill>
                <a:latin typeface="Aptos"/>
              </a:rPr>
              <a:t>BALT/WASH</a:t>
            </a:r>
          </a:p>
        </p:txBody>
      </p:sp>
      <p:sp>
        <p:nvSpPr>
          <p:cNvPr id="69" name="Oval 68"/>
          <p:cNvSpPr/>
          <p:nvPr/>
        </p:nvSpPr>
        <p:spPr>
          <a:xfrm>
            <a:off x="1362456" y="4395883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 flipV="1">
            <a:off x="1417320" y="4340557"/>
            <a:ext cx="1094232" cy="110190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2456688" y="4285693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2" name="Connector 71"/>
          <p:cNvCxnSpPr/>
          <p:nvPr/>
        </p:nvCxnSpPr>
        <p:spPr>
          <a:xfrm>
            <a:off x="2511552" y="4340557"/>
            <a:ext cx="1094232" cy="65206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3550920" y="4350899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4" name="Connector 73"/>
          <p:cNvCxnSpPr/>
          <p:nvPr/>
        </p:nvCxnSpPr>
        <p:spPr>
          <a:xfrm flipV="1">
            <a:off x="3605784" y="4374058"/>
            <a:ext cx="1094232" cy="31705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4645152" y="4319194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6" name="Connector 75"/>
          <p:cNvCxnSpPr/>
          <p:nvPr/>
        </p:nvCxnSpPr>
        <p:spPr>
          <a:xfrm>
            <a:off x="4700016" y="4374058"/>
            <a:ext cx="1094232" cy="62526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5739384" y="4381720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8" name="Connector 77"/>
          <p:cNvCxnSpPr/>
          <p:nvPr/>
        </p:nvCxnSpPr>
        <p:spPr>
          <a:xfrm flipV="1">
            <a:off x="5794248" y="4228356"/>
            <a:ext cx="1094232" cy="208228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6833616" y="4173492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0" name="Connector 79"/>
          <p:cNvCxnSpPr/>
          <p:nvPr/>
        </p:nvCxnSpPr>
        <p:spPr>
          <a:xfrm>
            <a:off x="6888480" y="4228356"/>
            <a:ext cx="1094232" cy="460961"/>
          </a:xfrm>
          <a:prstGeom prst="line">
            <a:avLst/>
          </a:prstGeom>
          <a:ln w="2794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7927848" y="4634453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055864" y="4588733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889A83"/>
                </a:solidFill>
                <a:latin typeface="Aptos"/>
              </a:rPr>
              <a:t>Balt/Wash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93408" y="215798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B5533A"/>
                </a:solidFill>
                <a:latin typeface="Aptos"/>
              </a:rPr>
              <a:t>PHOENIX/TUCSON</a:t>
            </a:r>
          </a:p>
        </p:txBody>
      </p:sp>
      <p:sp>
        <p:nvSpPr>
          <p:cNvPr id="84" name="Oval 83"/>
          <p:cNvSpPr/>
          <p:nvPr/>
        </p:nvSpPr>
        <p:spPr>
          <a:xfrm>
            <a:off x="1362456" y="4463375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5" name="Connector 84"/>
          <p:cNvCxnSpPr/>
          <p:nvPr/>
        </p:nvCxnSpPr>
        <p:spPr>
          <a:xfrm flipV="1">
            <a:off x="1417320" y="4447179"/>
            <a:ext cx="1094232" cy="71060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/>
          <p:cNvSpPr/>
          <p:nvPr/>
        </p:nvSpPr>
        <p:spPr>
          <a:xfrm>
            <a:off x="2456688" y="4392315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7" name="Connector 86"/>
          <p:cNvCxnSpPr/>
          <p:nvPr/>
        </p:nvCxnSpPr>
        <p:spPr>
          <a:xfrm>
            <a:off x="2511552" y="4447179"/>
            <a:ext cx="1094232" cy="30263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3550920" y="4422578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9" name="Connector 88"/>
          <p:cNvCxnSpPr/>
          <p:nvPr/>
        </p:nvCxnSpPr>
        <p:spPr>
          <a:xfrm flipV="1">
            <a:off x="3605784" y="4379641"/>
            <a:ext cx="1094232" cy="97801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4645152" y="4324777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1" name="Connector 90"/>
          <p:cNvCxnSpPr/>
          <p:nvPr/>
        </p:nvCxnSpPr>
        <p:spPr>
          <a:xfrm>
            <a:off x="4700016" y="4379641"/>
            <a:ext cx="1094232" cy="53530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5739384" y="4378307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3" name="Connector 92"/>
          <p:cNvCxnSpPr/>
          <p:nvPr/>
        </p:nvCxnSpPr>
        <p:spPr>
          <a:xfrm flipV="1">
            <a:off x="5794248" y="4309546"/>
            <a:ext cx="1094232" cy="123625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6833616" y="4254682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/>
          <p:cNvCxnSpPr/>
          <p:nvPr/>
        </p:nvCxnSpPr>
        <p:spPr>
          <a:xfrm>
            <a:off x="6888480" y="4309546"/>
            <a:ext cx="1094232" cy="410741"/>
          </a:xfrm>
          <a:prstGeom prst="line">
            <a:avLst/>
          </a:prstGeom>
          <a:ln w="2794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7927848" y="4665423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8055864" y="4619703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B5533A"/>
                </a:solidFill>
                <a:latin typeface="Aptos"/>
              </a:rPr>
              <a:t>Phoenix/Tucson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61288" y="5321808"/>
            <a:ext cx="51206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2019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255520" y="5321808"/>
            <a:ext cx="51206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349752" y="5321808"/>
            <a:ext cx="51206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43984" y="5321808"/>
            <a:ext cx="51206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538216" y="5321808"/>
            <a:ext cx="51206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32448" y="5321808"/>
            <a:ext cx="51206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26680" y="5321808"/>
            <a:ext cx="51206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2025 H1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759952" y="1645920"/>
            <a:ext cx="2743200" cy="435254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ounded Rectangle 105"/>
          <p:cNvSpPr/>
          <p:nvPr/>
        </p:nvSpPr>
        <p:spPr>
          <a:xfrm>
            <a:off x="9034272" y="1938528"/>
            <a:ext cx="21945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162288" y="2048256"/>
            <a:ext cx="193852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2024 LEAD VS NY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162288" y="2249424"/>
            <a:ext cx="193852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$49.8M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034272" y="2999232"/>
            <a:ext cx="21945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162288" y="3108960"/>
            <a:ext cx="193852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2025 H1 LEAD VS NY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162288" y="3310128"/>
            <a:ext cx="193852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$22.5M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34272" y="4315968"/>
            <a:ext cx="2148840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Los Angeles does not just edge out the field. It runs a different revenue tier.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Los Angeles leads organic sales, but not by much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7818120" cy="435254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417320" y="5248656"/>
            <a:ext cx="6565392" cy="0"/>
          </a:xfrm>
          <a:prstGeom prst="line">
            <a:avLst/>
          </a:prstGeom>
          <a:ln w="1651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17320" y="2414016"/>
            <a:ext cx="0" cy="2834640"/>
          </a:xfrm>
          <a:prstGeom prst="line">
            <a:avLst/>
          </a:prstGeom>
          <a:ln w="1651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17320" y="4539996"/>
            <a:ext cx="656539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2688" y="4466844"/>
            <a:ext cx="41148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$4M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17320" y="3831336"/>
            <a:ext cx="656539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32688" y="3758184"/>
            <a:ext cx="41148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$8M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17320" y="3122676"/>
            <a:ext cx="656539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32688" y="3049524"/>
            <a:ext cx="41148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$11M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7320" y="2414016"/>
            <a:ext cx="656539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2688" y="2340864"/>
            <a:ext cx="41148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175504"/>
            <a:ext cx="41148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975104"/>
            <a:ext cx="72694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 5 ORGANIC REVENUE TREND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771900"/>
            <a:ext cx="384048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$M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215798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3F728A"/>
                </a:solidFill>
                <a:latin typeface="Aptos"/>
              </a:rPr>
              <a:t>LOS ANGELES</a:t>
            </a:r>
          </a:p>
        </p:txBody>
      </p:sp>
      <p:sp>
        <p:nvSpPr>
          <p:cNvPr id="24" name="Oval 23"/>
          <p:cNvSpPr/>
          <p:nvPr/>
        </p:nvSpPr>
        <p:spPr>
          <a:xfrm>
            <a:off x="1362456" y="3509882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 flipV="1">
            <a:off x="1417320" y="3037464"/>
            <a:ext cx="1094232" cy="527282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2456688" y="2982600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" name="Connector 26"/>
          <p:cNvCxnSpPr/>
          <p:nvPr/>
        </p:nvCxnSpPr>
        <p:spPr>
          <a:xfrm flipV="1">
            <a:off x="2511552" y="2889021"/>
            <a:ext cx="1094232" cy="148443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550920" y="2834157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3605784" y="2889021"/>
            <a:ext cx="1094232" cy="168036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4645152" y="3002193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Connector 30"/>
          <p:cNvCxnSpPr/>
          <p:nvPr/>
        </p:nvCxnSpPr>
        <p:spPr>
          <a:xfrm>
            <a:off x="4700016" y="3057057"/>
            <a:ext cx="1094232" cy="108671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5739384" y="3110864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 flipV="1">
            <a:off x="5794248" y="2414016"/>
            <a:ext cx="1094232" cy="751712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6833616" y="2359152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" name="Connector 34"/>
          <p:cNvCxnSpPr/>
          <p:nvPr/>
        </p:nvCxnSpPr>
        <p:spPr>
          <a:xfrm>
            <a:off x="6888480" y="2414016"/>
            <a:ext cx="1094232" cy="1322206"/>
          </a:xfrm>
          <a:prstGeom prst="line">
            <a:avLst/>
          </a:prstGeom>
          <a:ln w="2794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7927848" y="3681358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55864" y="3635638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F728A"/>
                </a:solidFill>
                <a:latin typeface="Aptos"/>
              </a:rPr>
              <a:t>Los Angeles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15768" y="215798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NEW YORK</a:t>
            </a:r>
          </a:p>
        </p:txBody>
      </p:sp>
      <p:sp>
        <p:nvSpPr>
          <p:cNvPr id="39" name="Oval 38"/>
          <p:cNvSpPr/>
          <p:nvPr/>
        </p:nvSpPr>
        <p:spPr>
          <a:xfrm>
            <a:off x="1362456" y="3549881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 flipV="1">
            <a:off x="1417320" y="3540661"/>
            <a:ext cx="1094232" cy="64084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2456688" y="3485797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 flipV="1">
            <a:off x="2511552" y="3470645"/>
            <a:ext cx="1094232" cy="70016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550920" y="3415781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3605784" y="3470645"/>
            <a:ext cx="1094232" cy="25924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4645152" y="3441705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700016" y="3496569"/>
            <a:ext cx="1094232" cy="17439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739384" y="3459144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 flipV="1">
            <a:off x="5794248" y="2915181"/>
            <a:ext cx="1094232" cy="598827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6833616" y="2860317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6888480" y="2915181"/>
            <a:ext cx="1094232" cy="943603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927848" y="3803920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055864" y="3758200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New York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41648" y="215798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C58A2A"/>
                </a:solidFill>
                <a:latin typeface="Aptos"/>
              </a:rPr>
              <a:t>SEATTLE</a:t>
            </a:r>
          </a:p>
        </p:txBody>
      </p:sp>
      <p:sp>
        <p:nvSpPr>
          <p:cNvPr id="54" name="Oval 53"/>
          <p:cNvSpPr/>
          <p:nvPr/>
        </p:nvSpPr>
        <p:spPr>
          <a:xfrm>
            <a:off x="1362456" y="3989552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5" name="Connector 54"/>
          <p:cNvCxnSpPr/>
          <p:nvPr/>
        </p:nvCxnSpPr>
        <p:spPr>
          <a:xfrm flipV="1">
            <a:off x="1417320" y="3987975"/>
            <a:ext cx="1094232" cy="56441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2456688" y="3933111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2511552" y="3987975"/>
            <a:ext cx="1094232" cy="45678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3550920" y="397878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9" name="Connector 58"/>
          <p:cNvCxnSpPr/>
          <p:nvPr/>
        </p:nvCxnSpPr>
        <p:spPr>
          <a:xfrm flipV="1">
            <a:off x="3605784" y="3942261"/>
            <a:ext cx="1094232" cy="91392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4645152" y="3887397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1" name="Connector 60"/>
          <p:cNvCxnSpPr/>
          <p:nvPr/>
        </p:nvCxnSpPr>
        <p:spPr>
          <a:xfrm flipV="1">
            <a:off x="4700016" y="3899219"/>
            <a:ext cx="1094232" cy="43042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5739384" y="3844355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3" name="Connector 62"/>
          <p:cNvCxnSpPr/>
          <p:nvPr/>
        </p:nvCxnSpPr>
        <p:spPr>
          <a:xfrm flipV="1">
            <a:off x="5794248" y="3595061"/>
            <a:ext cx="1094232" cy="304158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6833616" y="3540197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5" name="Connector 64"/>
          <p:cNvCxnSpPr/>
          <p:nvPr/>
        </p:nvCxnSpPr>
        <p:spPr>
          <a:xfrm>
            <a:off x="6888480" y="3595061"/>
            <a:ext cx="1094232" cy="881462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7927848" y="442165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055864" y="4375939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C58A2A"/>
                </a:solidFill>
                <a:latin typeface="Aptos"/>
              </a:rPr>
              <a:t>Seattle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67528" y="215798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889A83"/>
                </a:solidFill>
                <a:latin typeface="Aptos"/>
              </a:rPr>
              <a:t>SAN FRAN</a:t>
            </a:r>
          </a:p>
        </p:txBody>
      </p:sp>
      <p:sp>
        <p:nvSpPr>
          <p:cNvPr id="69" name="Oval 68"/>
          <p:cNvSpPr/>
          <p:nvPr/>
        </p:nvSpPr>
        <p:spPr>
          <a:xfrm>
            <a:off x="1362456" y="4296836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 flipV="1">
            <a:off x="1417320" y="4007974"/>
            <a:ext cx="1094232" cy="343726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2456688" y="3953110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2" name="Connector 71"/>
          <p:cNvCxnSpPr/>
          <p:nvPr/>
        </p:nvCxnSpPr>
        <p:spPr>
          <a:xfrm flipV="1">
            <a:off x="2511552" y="3842703"/>
            <a:ext cx="1094232" cy="165271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3550920" y="3787839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4" name="Connector 73"/>
          <p:cNvCxnSpPr/>
          <p:nvPr/>
        </p:nvCxnSpPr>
        <p:spPr>
          <a:xfrm>
            <a:off x="3605784" y="3842703"/>
            <a:ext cx="1094232" cy="31082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4645152" y="3818921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6" name="Connector 75"/>
          <p:cNvCxnSpPr/>
          <p:nvPr/>
        </p:nvCxnSpPr>
        <p:spPr>
          <a:xfrm>
            <a:off x="4700016" y="3873785"/>
            <a:ext cx="1094232" cy="241987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5739384" y="4060908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8" name="Connector 77"/>
          <p:cNvCxnSpPr/>
          <p:nvPr/>
        </p:nvCxnSpPr>
        <p:spPr>
          <a:xfrm>
            <a:off x="5794248" y="4115772"/>
            <a:ext cx="1094232" cy="49058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6833616" y="4109966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0" name="Connector 79"/>
          <p:cNvCxnSpPr/>
          <p:nvPr/>
        </p:nvCxnSpPr>
        <p:spPr>
          <a:xfrm>
            <a:off x="6888480" y="4164830"/>
            <a:ext cx="1094232" cy="480674"/>
          </a:xfrm>
          <a:prstGeom prst="line">
            <a:avLst/>
          </a:prstGeom>
          <a:ln w="2794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7927848" y="4590640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055864" y="4544920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889A83"/>
                </a:solidFill>
                <a:latin typeface="Aptos"/>
              </a:rPr>
              <a:t>San Fran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93408" y="215798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B5533A"/>
                </a:solidFill>
                <a:latin typeface="Aptos"/>
              </a:rPr>
              <a:t>BALT/WASH</a:t>
            </a:r>
          </a:p>
        </p:txBody>
      </p:sp>
      <p:sp>
        <p:nvSpPr>
          <p:cNvPr id="84" name="Oval 83"/>
          <p:cNvSpPr/>
          <p:nvPr/>
        </p:nvSpPr>
        <p:spPr>
          <a:xfrm>
            <a:off x="1362456" y="4423377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5" name="Connector 84"/>
          <p:cNvCxnSpPr/>
          <p:nvPr/>
        </p:nvCxnSpPr>
        <p:spPr>
          <a:xfrm flipV="1">
            <a:off x="1417320" y="4367552"/>
            <a:ext cx="1094232" cy="110689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/>
          <p:cNvSpPr/>
          <p:nvPr/>
        </p:nvSpPr>
        <p:spPr>
          <a:xfrm>
            <a:off x="2456688" y="4312688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7" name="Connector 86"/>
          <p:cNvCxnSpPr/>
          <p:nvPr/>
        </p:nvCxnSpPr>
        <p:spPr>
          <a:xfrm flipV="1">
            <a:off x="2511552" y="4300119"/>
            <a:ext cx="1094232" cy="67433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3550920" y="4245255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9" name="Connector 88"/>
          <p:cNvCxnSpPr/>
          <p:nvPr/>
        </p:nvCxnSpPr>
        <p:spPr>
          <a:xfrm flipV="1">
            <a:off x="3605784" y="4286068"/>
            <a:ext cx="1094232" cy="14051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4645152" y="4231204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1" name="Connector 90"/>
          <p:cNvCxnSpPr/>
          <p:nvPr/>
        </p:nvCxnSpPr>
        <p:spPr>
          <a:xfrm>
            <a:off x="4700016" y="4286068"/>
            <a:ext cx="1094232" cy="137766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5739384" y="4368970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3" name="Connector 92"/>
          <p:cNvCxnSpPr/>
          <p:nvPr/>
        </p:nvCxnSpPr>
        <p:spPr>
          <a:xfrm flipV="1">
            <a:off x="5794248" y="3750647"/>
            <a:ext cx="1094232" cy="673187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6833616" y="3695783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/>
          <p:cNvCxnSpPr/>
          <p:nvPr/>
        </p:nvCxnSpPr>
        <p:spPr>
          <a:xfrm>
            <a:off x="6888480" y="3750647"/>
            <a:ext cx="1094232" cy="578854"/>
          </a:xfrm>
          <a:prstGeom prst="line">
            <a:avLst/>
          </a:prstGeom>
          <a:ln w="2794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7927848" y="4274637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8055864" y="4228917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B5533A"/>
                </a:solidFill>
                <a:latin typeface="Aptos"/>
              </a:rPr>
              <a:t>Balt/Wash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61288" y="5321808"/>
            <a:ext cx="51206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2019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255520" y="5321808"/>
            <a:ext cx="51206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349752" y="5321808"/>
            <a:ext cx="51206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43984" y="5321808"/>
            <a:ext cx="51206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538216" y="5321808"/>
            <a:ext cx="51206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32448" y="5321808"/>
            <a:ext cx="51206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26680" y="5321808"/>
            <a:ext cx="51206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2025 H1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759952" y="1645920"/>
            <a:ext cx="2743200" cy="435254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ounded Rectangle 105"/>
          <p:cNvSpPr/>
          <p:nvPr/>
        </p:nvSpPr>
        <p:spPr>
          <a:xfrm>
            <a:off x="9034272" y="1938528"/>
            <a:ext cx="21945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162288" y="2048256"/>
            <a:ext cx="193852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2024 LEAD VS NY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162288" y="2249424"/>
            <a:ext cx="193852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$2.7M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034272" y="2999232"/>
            <a:ext cx="21945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162288" y="3108960"/>
            <a:ext cx="193852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SEATTLE IN TOP TIER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162288" y="3310128"/>
            <a:ext cx="193852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Top 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34272" y="4315968"/>
            <a:ext cx="2148840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Organic is less concentrated than conventional, which is exactly why pilot choice can diverge from raw size.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Seattle leads organic penetration in most periods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700784"/>
            <a:ext cx="10789920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901952"/>
            <a:ext cx="23774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WINNER TIMELINE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2019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52928"/>
            <a:ext cx="123444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" y="2857500"/>
            <a:ext cx="119786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10128"/>
            <a:ext cx="12344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200" b="1">
                <a:solidFill>
                  <a:srgbClr val="355C47"/>
                </a:solidFill>
                <a:latin typeface="Aptos Display"/>
              </a:rPr>
              <a:t>11.82%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76272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404872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404872" y="243230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04872" y="2852928"/>
            <a:ext cx="123444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23160" y="2857500"/>
            <a:ext cx="119786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3310128"/>
            <a:ext cx="12344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200" b="1">
                <a:solidFill>
                  <a:srgbClr val="355C47"/>
                </a:solidFill>
                <a:latin typeface="Aptos Display"/>
              </a:rPr>
              <a:t>9.86%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66744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895344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895344" y="243230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95344" y="2852928"/>
            <a:ext cx="123444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913632" y="2857500"/>
            <a:ext cx="119786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3310128"/>
            <a:ext cx="12344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200" b="1">
                <a:solidFill>
                  <a:srgbClr val="355C47"/>
                </a:solidFill>
                <a:latin typeface="Aptos Display"/>
              </a:rPr>
              <a:t>10.10%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157216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385816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85816" y="243230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85816" y="2852928"/>
            <a:ext cx="123444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04104" y="2857500"/>
            <a:ext cx="119786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ORLANDO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85816" y="3310128"/>
            <a:ext cx="12344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200" b="1">
                <a:solidFill>
                  <a:srgbClr val="C58A2A"/>
                </a:solidFill>
                <a:latin typeface="Aptos Display"/>
              </a:rPr>
              <a:t>12.87%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47688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876288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76288" y="243230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76288" y="2852928"/>
            <a:ext cx="123444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94576" y="2857500"/>
            <a:ext cx="119786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76288" y="3310128"/>
            <a:ext cx="12344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200" b="1">
                <a:solidFill>
                  <a:srgbClr val="355C47"/>
                </a:solidFill>
                <a:latin typeface="Aptos Display"/>
              </a:rPr>
              <a:t>10.40%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138160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366759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366759" y="243230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66759" y="2852928"/>
            <a:ext cx="123444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85047" y="2857500"/>
            <a:ext cx="119786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59" y="3310128"/>
            <a:ext cx="12344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200" b="1">
                <a:solidFill>
                  <a:srgbClr val="355C47"/>
                </a:solidFill>
                <a:latin typeface="Aptos Display"/>
              </a:rPr>
              <a:t>11.19%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628631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857232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857232" y="2432304"/>
            <a:ext cx="12344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2025 H1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57232" y="2852928"/>
            <a:ext cx="1234440" cy="27432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875520" y="2857500"/>
            <a:ext cx="119786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CHARLOTTE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7232" y="3310128"/>
            <a:ext cx="12344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200" b="1">
                <a:solidFill>
                  <a:srgbClr val="3F728A"/>
                </a:solidFill>
                <a:latin typeface="Aptos Display"/>
              </a:rPr>
              <a:t>9.45%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32688" y="4114800"/>
            <a:ext cx="10195560" cy="914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60704" y="4242816"/>
            <a:ext cx="314248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MOST FREQUENT LEADER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0704" y="4425696"/>
            <a:ext cx="314248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100" b="1">
                <a:solidFill>
                  <a:srgbClr val="355C47"/>
                </a:solidFill>
                <a:latin typeface="Aptos Display"/>
              </a:rPr>
              <a:t>Seattle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" y="4773168"/>
            <a:ext cx="3142488" cy="1097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Wins 5 of the 7 measured periods and is the clearest indicator of organic readiness.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331208" y="4279392"/>
            <a:ext cx="0" cy="58521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459224" y="4242816"/>
            <a:ext cx="314248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BEST ONE-YEAR SHARE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59224" y="4425696"/>
            <a:ext cx="314248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100" b="1">
                <a:solidFill>
                  <a:srgbClr val="3F728A"/>
                </a:solidFill>
                <a:latin typeface="Aptos Display"/>
              </a:rPr>
              <a:t>Orlando 12.87%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9224" y="4773168"/>
            <a:ext cx="3142488" cy="1097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Orlando peaks in 2022, but it does not sustain the same multi-period lead.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729728" y="4279392"/>
            <a:ext cx="0" cy="58521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857744" y="4242816"/>
            <a:ext cx="314248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CURRENT H1 LEADER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57744" y="4425696"/>
            <a:ext cx="314248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100" b="1">
                <a:solidFill>
                  <a:srgbClr val="C58A2A"/>
                </a:solidFill>
                <a:latin typeface="Aptos Display"/>
              </a:rPr>
              <a:t>Charlotte 9.45%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57744" y="4773168"/>
            <a:ext cx="3142488" cy="1097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Charlotte leads 2025 H1, showing that penetration leadership is not static.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Organic is growing fast but still niche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00784"/>
            <a:ext cx="10744200" cy="11430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1828800"/>
            <a:ext cx="243001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2019 ORGANIC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11680"/>
            <a:ext cx="243001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100" b="1">
                <a:solidFill>
                  <a:srgbClr val="355C47"/>
                </a:solidFill>
                <a:latin typeface="Aptos Display"/>
              </a:rPr>
              <a:t>4.15%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359152"/>
            <a:ext cx="2430018" cy="3383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Organic started from a small base inside the total Hass market.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435858" y="1865376"/>
            <a:ext cx="0" cy="81381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63874" y="1828800"/>
            <a:ext cx="243001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2024 ORGANIC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3874" y="2011680"/>
            <a:ext cx="243001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100" b="1">
                <a:solidFill>
                  <a:srgbClr val="3F728A"/>
                </a:solidFill>
                <a:latin typeface="Aptos Display"/>
              </a:rPr>
              <a:t>5.91%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3874" y="2359152"/>
            <a:ext cx="2430018" cy="3383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The share has risen, but it is still a minority slice of total demand.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21908" y="1865376"/>
            <a:ext cx="0" cy="81381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49924" y="1828800"/>
            <a:ext cx="243001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ORGANIC VOLUME 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9924" y="2011680"/>
            <a:ext cx="243001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100" b="1">
                <a:solidFill>
                  <a:srgbClr val="355C47"/>
                </a:solidFill>
                <a:latin typeface="Aptos Display"/>
              </a:rPr>
              <a:t>+89.3%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9924" y="2359152"/>
            <a:ext cx="2430018" cy="3383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Organic volume grew much faster than the total category from 2019 to 2024.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07958" y="1865376"/>
            <a:ext cx="0" cy="81381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935974" y="1828800"/>
            <a:ext cx="243001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TOTAL VOLUME GROWTH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011680"/>
            <a:ext cx="243001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100" b="1">
                <a:solidFill>
                  <a:srgbClr val="B5533A"/>
                </a:solidFill>
                <a:latin typeface="Aptos Display"/>
              </a:rPr>
              <a:t>+32.8%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35974" y="2359152"/>
            <a:ext cx="2430018" cy="3383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The overall market also expanded, but at a much slower pace.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3163824"/>
            <a:ext cx="5074920" cy="256032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" y="3438144"/>
            <a:ext cx="1645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WHAT THIS MEANS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3749039"/>
            <a:ext cx="4389120" cy="1463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Growth is real enough to justify entry.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Scale is still small enough that city choice matters.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That favors a pilot, not a broad launch.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163824"/>
            <a:ext cx="5367528" cy="256032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64224" y="3438144"/>
            <a:ext cx="182880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3803904"/>
            <a:ext cx="4754880" cy="12344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1"/>
                </a:solidFill>
                <a:latin typeface="Aptos"/>
              </a:rPr>
              <a:t>Organic is growing fast, but it is not mature enough to reward a broad, undifferentiated rollout. West Valley should enter selectively.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Higher prices usually mean lower volume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82496"/>
            <a:ext cx="5669280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1901952"/>
            <a:ext cx="21945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MARKET-LEVEL RELATIONSHIP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7552" y="2212848"/>
            <a:ext cx="1417320" cy="914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15568" y="2322576"/>
            <a:ext cx="116128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PEARSON 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523744"/>
            <a:ext cx="1161288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-0.427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42032" y="2212848"/>
            <a:ext cx="1417320" cy="914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70048" y="2322576"/>
            <a:ext cx="116128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2523744"/>
            <a:ext cx="1161288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0.183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6512" y="2212848"/>
            <a:ext cx="1938528" cy="914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24528" y="2322576"/>
            <a:ext cx="1682496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ELASTICITY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2523744"/>
            <a:ext cx="1682496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-4.96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3657600"/>
            <a:ext cx="4846320" cy="1417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Price matters, but not cleanly enough to drive the whole decision.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Higher-price markets often sell fewer units.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City choice still needs local market context.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1682496"/>
            <a:ext cx="4828032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31152" y="1901952"/>
            <a:ext cx="17373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READ IT THIS 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249424"/>
            <a:ext cx="42976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000" b="1">
                <a:solidFill>
                  <a:srgbClr val="355C47"/>
                </a:solidFill>
                <a:latin typeface="Aptos Display"/>
              </a:rPr>
              <a:t>Price matters at the market level.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834640"/>
            <a:ext cx="4251960" cy="96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1"/>
                </a:solidFill>
                <a:latin typeface="Aptos"/>
              </a:rPr>
              <a:t>But it does not tell the whole story. Market mix, organic readiness, and local structure still explain why some cities are better pilot markets than others.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4187952"/>
            <a:ext cx="420624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5F6B63"/>
                </a:solidFill>
                <a:latin typeface="Aptos"/>
              </a:rPr>
              <a:t>That is why the deck separates scale, readiness, and economics instead of forcing one metric to do every job.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Within each type, price explains little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1773936"/>
            <a:ext cx="5074920" cy="36118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78992" y="2011680"/>
            <a:ext cx="182880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CONVENTIONAL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395728"/>
            <a:ext cx="137160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07008" y="2505456"/>
            <a:ext cx="111556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PEARSON 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2706624"/>
            <a:ext cx="111556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-0.026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96896" y="2395728"/>
            <a:ext cx="12801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24912" y="2505456"/>
            <a:ext cx="102412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4912" y="2706624"/>
            <a:ext cx="102412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0.001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2395728"/>
            <a:ext cx="141732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33088" y="2505456"/>
            <a:ext cx="116128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ELASTICITY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3088" y="2706624"/>
            <a:ext cx="116128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-0.39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675887"/>
            <a:ext cx="438912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Within each type, price explains little on its own. Local market structure and mix still do the real work.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1928" y="1773936"/>
            <a:ext cx="5074920" cy="36118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9672" y="2011680"/>
            <a:ext cx="182880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ORGANIC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9672" y="2395728"/>
            <a:ext cx="137160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47688" y="2505456"/>
            <a:ext cx="111556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PEARSON 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7688" y="2706624"/>
            <a:ext cx="111556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-0.044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6" y="2395728"/>
            <a:ext cx="12801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65592" y="2505456"/>
            <a:ext cx="102412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R2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706624"/>
            <a:ext cx="102412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0.002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45752" y="2395728"/>
            <a:ext cx="141732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573768" y="2505456"/>
            <a:ext cx="116128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ELASTICITY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73768" y="2706624"/>
            <a:ext cx="116128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-0.81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9672" y="3675887"/>
            <a:ext cx="438912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Within each type, price explains little on its own. Local market structure and mix still do the real work.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7552" y="5650992"/>
            <a:ext cx="10058400" cy="51206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88720" y="5815584"/>
            <a:ext cx="96926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Implication: elasticity is context, not the recommendation. City-level economics and readiness still decide the launch.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87000" y="256032"/>
            <a:ext cx="1234440" cy="27432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305288" y="260604"/>
            <a:ext cx="119786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launch still faces freight, fuel, labor, and import risk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1828800"/>
            <a:ext cx="498348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87552" y="1965960"/>
            <a:ext cx="469087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DRIVER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212848"/>
            <a:ext cx="469087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B5533A"/>
                </a:solidFill>
                <a:latin typeface="Aptos Display"/>
              </a:rPr>
              <a:t>Freight + fuel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706624"/>
            <a:ext cx="4690872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Affects landed cost and changes the margin penalty on long-haul markets.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1828800"/>
            <a:ext cx="498348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965960"/>
            <a:ext cx="469087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DRIVER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12848"/>
            <a:ext cx="469087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Imported supply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706624"/>
            <a:ext cx="4690872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Mexico and cross-border flow disruptions can tighten availability and raise uncertainty.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657600"/>
            <a:ext cx="498348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7552" y="3794760"/>
            <a:ext cx="469087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DRIVER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4041648"/>
            <a:ext cx="469087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889A83"/>
                </a:solidFill>
                <a:latin typeface="Aptos Display"/>
              </a:rPr>
              <a:t>Labor + inflation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535424"/>
            <a:ext cx="4690872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Raises operating pressure throughout sourcing, distribution, and retail execution.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4496" y="3657600"/>
            <a:ext cx="498348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3794760"/>
            <a:ext cx="469087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DRIVER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041648"/>
            <a:ext cx="469087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Seasonality + promotions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35424"/>
            <a:ext cx="4690872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Changes when the market wants volume and when it supports price.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7552" y="5650992"/>
            <a:ext cx="10058400" cy="51206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88720" y="5815584"/>
            <a:ext cx="96926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These drivers raise the cost of being wrong. That is why West Valley should launch narrowly and scale with proof.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87000" y="256032"/>
            <a:ext cx="1234440" cy="27432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305288" y="260604"/>
            <a:ext cx="119786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LA wins on scale; Seattle and the Northwest win on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1737360"/>
            <a:ext cx="6537960" cy="422452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9264" y="1956816"/>
            <a:ext cx="31089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LOS ANGELES DEMAND FACTORS (INFERRED)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2267712"/>
            <a:ext cx="2816352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" y="2404872"/>
            <a:ext cx="2523744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FACTOR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651760"/>
            <a:ext cx="2523744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Culinary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145536"/>
            <a:ext cx="252374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Avocados are deeply embedded in Mexican and California food usage, which supports frequent basket demand.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2267712"/>
            <a:ext cx="2816352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69664" y="2404872"/>
            <a:ext cx="2523744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FACTOR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9664" y="2651760"/>
            <a:ext cx="2523744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Retail + foodservice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9664" y="3145536"/>
            <a:ext cx="252374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Los Angeles has a massive grocery, restaurant, and prepared-food footprint that creates more outlets for avocado turns.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" y="3712464"/>
            <a:ext cx="2816352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78992" y="3849624"/>
            <a:ext cx="2523744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FACTOR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4096512"/>
            <a:ext cx="2523744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Freshness + familiarity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590288"/>
            <a:ext cx="252374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Proximity to California and Mexican supply likely supports habitual purchase and product confidence.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23360" y="3712464"/>
            <a:ext cx="2816352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69664" y="3849624"/>
            <a:ext cx="2523744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FACTOR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9664" y="4096512"/>
            <a:ext cx="2523744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B5533A"/>
                </a:solidFill>
                <a:latin typeface="Aptos Display"/>
              </a:rPr>
              <a:t>Health-forward demand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9664" y="4590288"/>
            <a:ext cx="2523744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Wellness-oriented and higher-income submarkets help support premium produce demand.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71231" y="1737360"/>
            <a:ext cx="3931920" cy="422452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7264" y="1956816"/>
            <a:ext cx="21945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SO WHAT FOR THE PILOT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27264" y="2267712"/>
            <a:ext cx="1572768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5280" y="2377440"/>
            <a:ext cx="1316736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LA ORGANIC SHARE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80" y="2578608"/>
            <a:ext cx="1316736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4.9%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46336" y="2267712"/>
            <a:ext cx="1572768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674352" y="2377440"/>
            <a:ext cx="1316736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LA JUNE PRICE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78608"/>
            <a:ext cx="1316736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$1.87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27264" y="3310128"/>
            <a:ext cx="1572768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955280" y="3419856"/>
            <a:ext cx="1316736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SEATTLE SHARE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3621024"/>
            <a:ext cx="1316736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11.2%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46336" y="3310128"/>
            <a:ext cx="1572768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74352" y="3419856"/>
            <a:ext cx="1316736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SELECTED-5 AVG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4352" y="3621024"/>
            <a:ext cx="1316736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$2.45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27264" y="4443984"/>
            <a:ext cx="3063240" cy="10515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Los Angeles explains where scale sits.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Seattle and the Pacific Northwest explain where premium organic entry works better.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These are inferred demand drivers, not direct causal proof.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Winning entry markets need price, readiness, and manageable miles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700784"/>
            <a:ext cx="7818120" cy="426110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901952"/>
            <a:ext cx="2560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ENTRY SCREEN LEADERBOARD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2212848"/>
          <a:ext cx="6400800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City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Price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Organic share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Miles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Profit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Pilot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Seattle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$2.66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11.2%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1,029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$15,266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Selected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Boise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$2.59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5.4%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827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$14,838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Selected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Portland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$2.54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855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$14,408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Selected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Spokane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$2.38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6.1%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1,097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$12,992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Selected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San Diego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$2.09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4.3%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253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$11,126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Selected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San Francisco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$1.97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283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$10,118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Not selected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Sacramento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$1.90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3.7%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277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$9,578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Not selected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Los Angeles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$1.87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111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$9,404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Not selected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8759952" y="1700784"/>
            <a:ext cx="2761488" cy="426110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015984" y="1993392"/>
            <a:ext cx="2240280" cy="17373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Price power filters out large but lower-value markets.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Organic readiness helps separate premium-fit cities from simple scale leaders.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Miles still matter, but they do not overturn a strong local price advantage.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4224528"/>
            <a:ext cx="2157984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4334256"/>
            <a:ext cx="190195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BRIDGE TO RECOMMENDATION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4535424"/>
            <a:ext cx="1901952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Best pilot set = top 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profit model is simple enough to audit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82496"/>
            <a:ext cx="6400800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9264" y="1901952"/>
            <a:ext cx="21031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AVERAGE UNIT ECONOMICS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926080"/>
            <a:ext cx="4389120" cy="384048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2670048"/>
            <a:ext cx="137160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REVENUE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64992"/>
            <a:ext cx="12801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"/>
              </a:rPr>
              <a:t>$19.6k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532120" y="3118104"/>
            <a:ext cx="27432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912161" y="2926080"/>
            <a:ext cx="894279" cy="384048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0" y="2670048"/>
            <a:ext cx="137160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ACQUISITION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3364992"/>
            <a:ext cx="12801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B5533A"/>
                </a:solidFill>
                <a:latin typeface="Aptos"/>
              </a:rPr>
              <a:t>$-4.0k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12161" y="3118104"/>
            <a:ext cx="27432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760335" y="2926080"/>
            <a:ext cx="426146" cy="384048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49321" y="2670048"/>
            <a:ext cx="137160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SHIPPING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041" y="3364992"/>
            <a:ext cx="12801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3F728A"/>
                </a:solidFill>
                <a:latin typeface="Aptos"/>
              </a:rPr>
              <a:t>$-1.9k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60335" y="3118104"/>
            <a:ext cx="27432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34655" y="2926080"/>
            <a:ext cx="3068695" cy="384048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97495" y="2670048"/>
            <a:ext cx="137160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PROFIT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43215" y="3364992"/>
            <a:ext cx="12801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C58A2A"/>
                </a:solidFill>
                <a:latin typeface="Aptos"/>
              </a:rPr>
              <a:t>$13.7k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4187952"/>
            <a:ext cx="566928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1"/>
                </a:solidFill>
                <a:latin typeface="Aptos"/>
              </a:rPr>
              <a:t>Each city is scored using the same 20,000-unit assumption: planned wholesale revenue minus acquisition cost and the freight formula. The simplicity is a feature because judges can audit the math quickly.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24927" y="1682496"/>
            <a:ext cx="4078224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662672" y="1956816"/>
            <a:ext cx="3566160" cy="2084831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90688" y="2084832"/>
            <a:ext cx="93268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UNITS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90688" y="2267712"/>
            <a:ext cx="93268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100" b="1">
                <a:solidFill>
                  <a:srgbClr val="355C47"/>
                </a:solidFill>
                <a:latin typeface="Aptos Display"/>
              </a:rPr>
              <a:t>20,000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90688" y="2615184"/>
            <a:ext cx="932688" cy="128015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Comparable scorecard for each city.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51392" y="2121408"/>
            <a:ext cx="0" cy="1755647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979408" y="2084832"/>
            <a:ext cx="93268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WHOLESALE PRICE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79408" y="2267712"/>
            <a:ext cx="93268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100" b="1">
                <a:solidFill>
                  <a:srgbClr val="355C47"/>
                </a:solidFill>
                <a:latin typeface="Aptos Display"/>
              </a:rPr>
              <a:t>40% of retail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9408" y="2615184"/>
            <a:ext cx="932688" cy="128015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Revenue proxy used consistently across markets.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040112" y="2121408"/>
            <a:ext cx="0" cy="1755647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168128" y="2084832"/>
            <a:ext cx="93268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FREIGHT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68128" y="2267712"/>
            <a:ext cx="93268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100" b="1">
                <a:solidFill>
                  <a:srgbClr val="C58A2A"/>
                </a:solidFill>
                <a:latin typeface="Aptos Display"/>
              </a:rPr>
              <a:t>$1,500 + $50 / 100 miles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68128" y="2615184"/>
            <a:ext cx="932688" cy="128015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Makes distance visible without overcomplicating the model.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480560"/>
            <a:ext cx="347472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This is not a full allocation model yet. It is a transparent city-selection model.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June pricing makes the Northwest the premium play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82496"/>
            <a:ext cx="6858000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1847088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 JUNE 2025 ORGANIC RETAIL PRICES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084832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Seattle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2093976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651760" y="2093976"/>
            <a:ext cx="3474720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1072" y="2048256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$2.66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32304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Boise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51760" y="2441448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651760" y="2441448"/>
            <a:ext cx="3388505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91072" y="2395728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$2.59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2779776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Portland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51760" y="2788920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651760" y="2788920"/>
            <a:ext cx="3320578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91072" y="2743200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$2.54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3127248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Spokane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51760" y="3136392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651760" y="3136392"/>
            <a:ext cx="3108960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91072" y="3090672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$2.38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3474720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San Diego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51760" y="3483864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2651760" y="3483864"/>
            <a:ext cx="2735362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91072" y="3438144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$2.09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3822192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San Francisco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51760" y="3831336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651760" y="3831336"/>
            <a:ext cx="2573383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91072" y="3785616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$1.97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" y="4169664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CincinnatiDayton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51760" y="4178808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2651760" y="4178808"/>
            <a:ext cx="2510681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91072" y="4133088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$1.92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2" y="4517136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Sacramento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51760" y="4526280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2651760" y="4526280"/>
            <a:ext cx="2484555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91072" y="4480560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$1.90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" y="4864608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Los Angeles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51760" y="4873752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2651760" y="4873752"/>
            <a:ext cx="2442754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91072" y="4828032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$1.87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" y="5212080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Atlanta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51760" y="5221224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2651760" y="5221224"/>
            <a:ext cx="2380053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91072" y="5175504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$1.82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27264" y="1682496"/>
            <a:ext cx="3675887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8083296" y="1956816"/>
            <a:ext cx="1591056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11312" y="2066544"/>
            <a:ext cx="1335024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SELECTED CITIES IN TOP 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1312" y="2267712"/>
            <a:ext cx="1335024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5/5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802368" y="1956816"/>
            <a:ext cx="1426464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930384" y="2066544"/>
            <a:ext cx="117043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TOP PRICE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30384" y="2267712"/>
            <a:ext cx="1170432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$2.66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83296" y="3145536"/>
            <a:ext cx="2926080" cy="1554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All five recommended cities also sit in the top five on June price.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That is why price support keeps beating freight pressure later in the deck.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Price is the revenue-side reason this pilot wins.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Base-case profit shows a real top-five cut 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72768"/>
            <a:ext cx="6583680" cy="44074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792224"/>
            <a:ext cx="59893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 10 CITY PROFIT RANKING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29968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Seattle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96896" y="2039112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596896" y="2039112"/>
            <a:ext cx="3246120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07608" y="1993392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$15,266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368296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Boise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96896" y="2377440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596896" y="2377440"/>
            <a:ext cx="3155321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07608" y="2331720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$14,838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2706624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Portland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96896" y="2715768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596896" y="2715768"/>
            <a:ext cx="3063884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07608" y="2670048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$14,408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044952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Spokane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96896" y="3054096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596896" y="3054096"/>
            <a:ext cx="2762567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07608" y="3008376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$12,992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3383280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San Diego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96896" y="3392424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2596896" y="3392424"/>
            <a:ext cx="2365773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07608" y="3346704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$11,126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721608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San Francisco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96896" y="3730752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596896" y="3730752"/>
            <a:ext cx="2151640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007608" y="3685032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$10,118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4059936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Sacramento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96896" y="4069080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2596896" y="4069080"/>
            <a:ext cx="2036600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007608" y="4023360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$9,578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398264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Los Angeles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596896" y="4407408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2596896" y="4407408"/>
            <a:ext cx="1999812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007608" y="4361688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$9,404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" y="4736592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CincinnatiDayton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96896" y="4745736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2596896" y="4745736"/>
            <a:ext cx="1867229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007608" y="4700016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$8,781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" y="5074920"/>
            <a:ext cx="15544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Las Vegas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96896" y="5084064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2596896" y="5084064"/>
            <a:ext cx="1746447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07608" y="5038344"/>
            <a:ext cx="868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$8,213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571231" y="1572768"/>
            <a:ext cx="3931920" cy="44074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827264" y="1828800"/>
            <a:ext cx="2560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WHY THE CUT LINE IS DEFENSIBLE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27264" y="2139696"/>
            <a:ext cx="1737360" cy="914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955280" y="2249424"/>
            <a:ext cx="148132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TOP-5 AVG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55280" y="2450592"/>
            <a:ext cx="1481328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$13.7k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56064" y="2139696"/>
            <a:ext cx="1572768" cy="914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784080" y="2249424"/>
            <a:ext cx="1316736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NEXT-5 AVG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2450592"/>
            <a:ext cx="1316736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$9.2k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27264" y="3218688"/>
            <a:ext cx="3401568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955280" y="3328416"/>
            <a:ext cx="3145536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RANK-5 VS RANK-6 GAP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80" y="3529584"/>
            <a:ext cx="3145536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C58A2A"/>
                </a:solidFill>
                <a:latin typeface="Aptos Display"/>
              </a:rPr>
              <a:t>$1k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27264" y="4315968"/>
            <a:ext cx="3108960" cy="12344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There is a real cut line after rank five.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All five win on economics, not just proximity.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That makes the recommendation easier to defend in the room.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recommendation is a West Coast cluster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3533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577340"/>
            <a:ext cx="131673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1572768"/>
            <a:ext cx="13533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25496" y="1577340"/>
            <a:ext cx="131673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BOISE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72768"/>
            <a:ext cx="13533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82896" y="1577340"/>
            <a:ext cx="131673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PORTLAND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22008" y="1572768"/>
            <a:ext cx="13533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0296" y="1577340"/>
            <a:ext cx="131673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SPOKANE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9408" y="1572768"/>
            <a:ext cx="160020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97696" y="1577340"/>
            <a:ext cx="156362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SAN DIEGO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1975104"/>
            <a:ext cx="6903720" cy="39502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2688" y="2121408"/>
            <a:ext cx="63550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GEOGRAPHIC CLUSTER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148474" y="2955889"/>
            <a:ext cx="230795" cy="1908902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9269" y="4864791"/>
            <a:ext cx="923178" cy="168432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302447" y="4471782"/>
            <a:ext cx="576986" cy="561441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879433" y="3741908"/>
            <a:ext cx="346192" cy="729874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4225625" y="3012034"/>
            <a:ext cx="1038576" cy="729874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79433" y="3798052"/>
            <a:ext cx="1846357" cy="0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533242" y="4303349"/>
            <a:ext cx="1846356" cy="0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6420" y="3348899"/>
            <a:ext cx="0" cy="1179027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280160" y="2560320"/>
            <a:ext cx="493776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WA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" y="3438144"/>
            <a:ext cx="493776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08176" y="4325111"/>
            <a:ext cx="493776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08376" y="3346704"/>
            <a:ext cx="493776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ID</a:t>
            </a:r>
          </a:p>
        </p:txBody>
      </p:sp>
      <p:sp>
        <p:nvSpPr>
          <p:cNvPr id="33" name="Oval 32"/>
          <p:cNvSpPr/>
          <p:nvPr/>
        </p:nvSpPr>
        <p:spPr>
          <a:xfrm>
            <a:off x="3566343" y="4108765"/>
            <a:ext cx="164592" cy="164592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557199" y="4264213"/>
            <a:ext cx="100584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1">
                <a:solidFill>
                  <a:srgbClr val="B5533A"/>
                </a:solidFill>
                <a:latin typeface="Aptos"/>
              </a:rPr>
              <a:t>West Valley
hub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2263872" y="2843601"/>
            <a:ext cx="1384767" cy="1347460"/>
          </a:xfrm>
          <a:prstGeom prst="line">
            <a:avLst/>
          </a:prstGeom>
          <a:ln w="1778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2190720" y="2770449"/>
            <a:ext cx="146304" cy="146304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37024" y="2770449"/>
            <a:ext cx="10058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Seattle</a:t>
            </a:r>
          </a:p>
        </p:txBody>
      </p:sp>
      <p:cxnSp>
        <p:nvCxnSpPr>
          <p:cNvPr id="38" name="Connector 37"/>
          <p:cNvCxnSpPr/>
          <p:nvPr/>
        </p:nvCxnSpPr>
        <p:spPr>
          <a:xfrm flipH="1" flipV="1">
            <a:off x="2494666" y="3405043"/>
            <a:ext cx="1153973" cy="786018"/>
          </a:xfrm>
          <a:prstGeom prst="line">
            <a:avLst/>
          </a:prstGeom>
          <a:ln w="1778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421514" y="3331891"/>
            <a:ext cx="146304" cy="146304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567818" y="3331891"/>
            <a:ext cx="10058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Portland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3648639" y="3068178"/>
            <a:ext cx="1615562" cy="1122883"/>
          </a:xfrm>
          <a:prstGeom prst="line">
            <a:avLst/>
          </a:prstGeom>
          <a:ln w="1778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191049" y="2995026"/>
            <a:ext cx="146304" cy="146304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337353" y="2995026"/>
            <a:ext cx="10058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Spokane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3648639" y="3629619"/>
            <a:ext cx="1153973" cy="561442"/>
          </a:xfrm>
          <a:prstGeom prst="line">
            <a:avLst/>
          </a:prstGeom>
          <a:ln w="1778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4729460" y="3556467"/>
            <a:ext cx="146304" cy="146304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875764" y="3556467"/>
            <a:ext cx="10058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Boise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3302447" y="4191061"/>
            <a:ext cx="346192" cy="673730"/>
          </a:xfrm>
          <a:prstGeom prst="line">
            <a:avLst/>
          </a:prstGeom>
          <a:ln w="1778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3229295" y="4791639"/>
            <a:ext cx="146304" cy="146304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375599" y="4791639"/>
            <a:ext cx="10058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San Diego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45552" y="1975104"/>
            <a:ext cx="3657600" cy="39502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101583" y="2194560"/>
            <a:ext cx="21945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WHY THE CLUSTER WINS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01583" y="2505456"/>
            <a:ext cx="1554480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29599" y="2615184"/>
            <a:ext cx="129844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AVG MILES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599" y="2816352"/>
            <a:ext cx="129844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812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84080" y="2505456"/>
            <a:ext cx="1426464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912096" y="2615184"/>
            <a:ext cx="117043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AVG PRICE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12096" y="2816352"/>
            <a:ext cx="1170432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$2.45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01583" y="3529584"/>
            <a:ext cx="3108960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229599" y="3639312"/>
            <a:ext cx="285292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LOW-MILE HEDGE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599" y="3840480"/>
            <a:ext cx="285292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San Diego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01583" y="4590288"/>
            <a:ext cx="292608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This is one coherent western lane system, not five disconnected bets.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 Northwest supplies the premium; San Diego supplies the short-haul hedge.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That makes the recommendation operational, not just analytical.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Price support beats proximity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64208"/>
            <a:ext cx="6812280" cy="425196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865376"/>
            <a:ext cx="20116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PRICE VS MILES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27048" y="4937760"/>
            <a:ext cx="5321808" cy="0"/>
          </a:xfrm>
          <a:prstGeom prst="line">
            <a:avLst/>
          </a:prstGeom>
          <a:ln w="1778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27048" y="2377440"/>
            <a:ext cx="0" cy="2560320"/>
          </a:xfrm>
          <a:prstGeom prst="line">
            <a:avLst/>
          </a:prstGeom>
          <a:ln w="1778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169677" y="2478024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6837" y="2487168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Seattle</a:t>
            </a:r>
          </a:p>
        </p:txBody>
      </p:sp>
      <p:sp>
        <p:nvSpPr>
          <p:cNvPr id="15" name="Oval 14"/>
          <p:cNvSpPr/>
          <p:nvPr/>
        </p:nvSpPr>
        <p:spPr>
          <a:xfrm>
            <a:off x="5129988" y="2647109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67148" y="2656253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Boise</a:t>
            </a:r>
          </a:p>
        </p:txBody>
      </p:sp>
      <p:sp>
        <p:nvSpPr>
          <p:cNvPr id="17" name="Oval 16"/>
          <p:cNvSpPr/>
          <p:nvPr/>
        </p:nvSpPr>
        <p:spPr>
          <a:xfrm>
            <a:off x="5274103" y="2780327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11263" y="2789471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Portland</a:t>
            </a:r>
          </a:p>
        </p:txBody>
      </p:sp>
      <p:sp>
        <p:nvSpPr>
          <p:cNvPr id="19" name="Oval 18"/>
          <p:cNvSpPr/>
          <p:nvPr/>
        </p:nvSpPr>
        <p:spPr>
          <a:xfrm>
            <a:off x="6519672" y="3195355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56832" y="3204499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Spokane</a:t>
            </a:r>
          </a:p>
        </p:txBody>
      </p:sp>
      <p:sp>
        <p:nvSpPr>
          <p:cNvPr id="21" name="Oval 20"/>
          <p:cNvSpPr/>
          <p:nvPr/>
        </p:nvSpPr>
        <p:spPr>
          <a:xfrm>
            <a:off x="2175622" y="3928057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312782" y="3937201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San Diego</a:t>
            </a:r>
          </a:p>
        </p:txBody>
      </p:sp>
      <p:sp>
        <p:nvSpPr>
          <p:cNvPr id="23" name="Oval 22"/>
          <p:cNvSpPr/>
          <p:nvPr/>
        </p:nvSpPr>
        <p:spPr>
          <a:xfrm>
            <a:off x="1444752" y="4501922"/>
            <a:ext cx="164592" cy="16459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581912" y="4511066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Los Angeles</a:t>
            </a:r>
          </a:p>
        </p:txBody>
      </p:sp>
      <p:sp>
        <p:nvSpPr>
          <p:cNvPr id="25" name="Oval 24"/>
          <p:cNvSpPr/>
          <p:nvPr/>
        </p:nvSpPr>
        <p:spPr>
          <a:xfrm>
            <a:off x="2299150" y="4419941"/>
            <a:ext cx="164592" cy="16459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436310" y="4429085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Sacramento</a:t>
            </a:r>
          </a:p>
        </p:txBody>
      </p:sp>
      <p:sp>
        <p:nvSpPr>
          <p:cNvPr id="27" name="Oval 26"/>
          <p:cNvSpPr/>
          <p:nvPr/>
        </p:nvSpPr>
        <p:spPr>
          <a:xfrm>
            <a:off x="2330032" y="4245732"/>
            <a:ext cx="164592" cy="16459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467192" y="4254876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San Francisco</a:t>
            </a:r>
          </a:p>
        </p:txBody>
      </p:sp>
      <p:sp>
        <p:nvSpPr>
          <p:cNvPr id="29" name="Oval 28"/>
          <p:cNvSpPr/>
          <p:nvPr/>
        </p:nvSpPr>
        <p:spPr>
          <a:xfrm>
            <a:off x="2345473" y="4855464"/>
            <a:ext cx="164592" cy="16459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482633" y="4864608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Las Vegas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10128" y="5413248"/>
            <a:ext cx="18288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0">
                <a:solidFill>
                  <a:srgbClr val="5F6B63"/>
                </a:solidFill>
                <a:latin typeface="Aptos"/>
              </a:rPr>
              <a:t>Higher mileage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3657600"/>
            <a:ext cx="5486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0">
                <a:solidFill>
                  <a:srgbClr val="5F6B63"/>
                </a:solidFill>
                <a:latin typeface="Aptos"/>
              </a:rPr>
              <a:t>Higher
price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45552" y="1664208"/>
            <a:ext cx="3657600" cy="425196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101583" y="1938528"/>
            <a:ext cx="1572768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599" y="2048256"/>
            <a:ext cx="1316736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SELECTED AVG PRICE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9" y="2249424"/>
            <a:ext cx="1316736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$2.45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65792" y="1938528"/>
            <a:ext cx="1481328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893808" y="2048256"/>
            <a:ext cx="1225296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NEARBY ALT.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93808" y="2249424"/>
            <a:ext cx="1225296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$1.87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01583" y="3054096"/>
            <a:ext cx="2907792" cy="17373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The winners are not simply the closest cities.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Nearby alternatives give back the freight edge through weaker pricing.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San Diego is the hedge that keeps the cluster grounded.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+50% freight cuts margin, not the city 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6903720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883664"/>
            <a:ext cx="24688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BASE VS +50% FREIGHT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04288"/>
            <a:ext cx="11887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Seattle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12848" y="2322576"/>
            <a:ext cx="2560320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212848" y="2505456"/>
            <a:ext cx="2391384" cy="146304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3480" y="2286000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$15.3k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478024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B5533A"/>
                </a:solidFill>
                <a:latin typeface="Aptos"/>
              </a:rPr>
              <a:t>$14.3k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377440"/>
            <a:ext cx="84124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B5533A"/>
                </a:solidFill>
                <a:latin typeface="Aptos"/>
              </a:rPr>
              <a:t>-$1.0k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2980944"/>
            <a:ext cx="11887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Boise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12848" y="2999232"/>
            <a:ext cx="2488703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12848" y="3182112"/>
            <a:ext cx="2328238" cy="146304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83480" y="2962656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$14.8k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3154680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B5533A"/>
                </a:solidFill>
                <a:latin typeface="Aptos"/>
              </a:rPr>
              <a:t>$13.9k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054096"/>
            <a:ext cx="84124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B5533A"/>
                </a:solidFill>
                <a:latin typeface="Aptos"/>
              </a:rPr>
              <a:t>-$957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657600"/>
            <a:ext cx="11887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Portland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12848" y="3675888"/>
            <a:ext cx="2416584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212848" y="3858768"/>
            <a:ext cx="2254944" cy="146304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83480" y="3639312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$14.4k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3831336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B5533A"/>
                </a:solidFill>
                <a:latin typeface="Aptos"/>
              </a:rPr>
              <a:t>$13.4k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3730752"/>
            <a:ext cx="84124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B5533A"/>
                </a:solidFill>
                <a:latin typeface="Aptos"/>
              </a:rPr>
              <a:t>-$964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334256"/>
            <a:ext cx="11887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Spokane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12848" y="4352544"/>
            <a:ext cx="2178926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212848" y="4535424"/>
            <a:ext cx="2007139" cy="146304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983480" y="4315968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$13.0k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3480" y="4507992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B5533A"/>
                </a:solidFill>
                <a:latin typeface="Aptos"/>
              </a:rPr>
              <a:t>$12.0k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4407408"/>
            <a:ext cx="84124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B5533A"/>
                </a:solidFill>
                <a:latin typeface="Aptos"/>
              </a:rPr>
              <a:t>-$1.0k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5010912"/>
            <a:ext cx="11887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San Diego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212848" y="5029200"/>
            <a:ext cx="1865961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2212848" y="5212080"/>
            <a:ext cx="1729564" cy="146304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983480" y="4992624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$11.1k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5184648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B5533A"/>
                </a:solidFill>
                <a:latin typeface="Aptos"/>
              </a:rPr>
              <a:t>$10.3k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5084064"/>
            <a:ext cx="84124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B5533A"/>
                </a:solidFill>
                <a:latin typeface="Aptos"/>
              </a:rPr>
              <a:t>-$813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5413248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0">
                <a:solidFill>
                  <a:srgbClr val="355C47"/>
                </a:solidFill>
                <a:latin typeface="Aptos"/>
              </a:rPr>
              <a:t>Base case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73552" y="5413248"/>
            <a:ext cx="128016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0">
                <a:solidFill>
                  <a:srgbClr val="B5533A"/>
                </a:solidFill>
                <a:latin typeface="Aptos"/>
              </a:rPr>
              <a:t>+50% freight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45552" y="1664208"/>
            <a:ext cx="3657600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8101583" y="1938528"/>
            <a:ext cx="164592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229599" y="2048256"/>
            <a:ext cx="138988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TOP-5 AVG PROFIT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599" y="2249424"/>
            <a:ext cx="138988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B5533A"/>
                </a:solidFill>
                <a:latin typeface="Aptos Display"/>
              </a:rPr>
              <a:t>$12.8k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57232" y="1938528"/>
            <a:ext cx="1353312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985248" y="2048256"/>
            <a:ext cx="10972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AVG MARGIN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85248" y="2249424"/>
            <a:ext cx="109728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64.9%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3017520"/>
            <a:ext cx="164592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229599" y="3127248"/>
            <a:ext cx="138988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MARGIN DROP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3328416"/>
            <a:ext cx="138988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B5533A"/>
                </a:solidFill>
                <a:latin typeface="Aptos Display"/>
              </a:rPr>
              <a:t>-4.9 pts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57232" y="3017520"/>
            <a:ext cx="1353312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985248" y="3127248"/>
            <a:ext cx="10972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RESULT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85248" y="3328416"/>
            <a:ext cx="109728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Same 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4160520"/>
            <a:ext cx="2889504" cy="1417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This is resilience, not immunity: average margin drops from 69.7% to 64.9%.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West Valley should hedge fuel exposure and lock carrier capacity early.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 pilot still holds because price support outruns the freight shock.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-50% freight lifts margin, not the city 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6903720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883664"/>
            <a:ext cx="24688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BASE VS -50% FREIGHT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04288"/>
            <a:ext cx="11887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Seattle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12848" y="2322576"/>
            <a:ext cx="2401841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212848" y="2505456"/>
            <a:ext cx="2560320" cy="146304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3480" y="2286000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$15.3k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478024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3F728A"/>
                </a:solidFill>
                <a:latin typeface="Aptos"/>
              </a:rPr>
              <a:t>$16.3k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377440"/>
            <a:ext cx="84124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3F728A"/>
                </a:solidFill>
                <a:latin typeface="Aptos"/>
              </a:rPr>
              <a:t>+$1.0k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2980944"/>
            <a:ext cx="11887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Boise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12848" y="2999232"/>
            <a:ext cx="2334658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12848" y="3182112"/>
            <a:ext cx="2485191" cy="146304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83480" y="2962656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$14.8k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3154680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3F728A"/>
                </a:solidFill>
                <a:latin typeface="Aptos"/>
              </a:rPr>
              <a:t>$15.8k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054096"/>
            <a:ext cx="84124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3F728A"/>
                </a:solidFill>
                <a:latin typeface="Aptos"/>
              </a:rPr>
              <a:t>+$957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657600"/>
            <a:ext cx="11887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Portland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12848" y="3675888"/>
            <a:ext cx="2267002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212848" y="3858768"/>
            <a:ext cx="2418637" cy="146304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83480" y="3639312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$14.4k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3831336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3F728A"/>
                </a:solidFill>
                <a:latin typeface="Aptos"/>
              </a:rPr>
              <a:t>$15.4k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3730752"/>
            <a:ext cx="84124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3F728A"/>
                </a:solidFill>
                <a:latin typeface="Aptos"/>
              </a:rPr>
              <a:t>+$964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334256"/>
            <a:ext cx="11887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Spokane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12848" y="4352544"/>
            <a:ext cx="2044055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212848" y="4535424"/>
            <a:ext cx="2205208" cy="146304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983480" y="4315968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$13.0k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3480" y="4507992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3F728A"/>
                </a:solidFill>
                <a:latin typeface="Aptos"/>
              </a:rPr>
              <a:t>$14.0k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4407408"/>
            <a:ext cx="84124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3F728A"/>
                </a:solidFill>
                <a:latin typeface="Aptos"/>
              </a:rPr>
              <a:t>+$1.0k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5010912"/>
            <a:ext cx="11887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San Diego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212848" y="5029200"/>
            <a:ext cx="1750462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2212848" y="5212080"/>
            <a:ext cx="1878417" cy="146304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983480" y="4992624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$11.1k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5184648"/>
            <a:ext cx="9144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0">
                <a:solidFill>
                  <a:srgbClr val="3F728A"/>
                </a:solidFill>
                <a:latin typeface="Aptos"/>
              </a:rPr>
              <a:t>$11.9k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5084064"/>
            <a:ext cx="841248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1000" b="1">
                <a:solidFill>
                  <a:srgbClr val="3F728A"/>
                </a:solidFill>
                <a:latin typeface="Aptos"/>
              </a:rPr>
              <a:t>+$813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5413248"/>
            <a:ext cx="10972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0">
                <a:solidFill>
                  <a:srgbClr val="355C47"/>
                </a:solidFill>
                <a:latin typeface="Aptos"/>
              </a:rPr>
              <a:t>Base case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73552" y="5413248"/>
            <a:ext cx="128016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0">
                <a:solidFill>
                  <a:srgbClr val="3F728A"/>
                </a:solidFill>
                <a:latin typeface="Aptos"/>
              </a:rPr>
              <a:t>-50% freight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45552" y="1664208"/>
            <a:ext cx="3657600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8101583" y="1938528"/>
            <a:ext cx="164592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229599" y="2048256"/>
            <a:ext cx="138988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TOP-5 AVG PROFIT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599" y="2249424"/>
            <a:ext cx="138988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$14.7k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57232" y="1938528"/>
            <a:ext cx="1353312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985248" y="2048256"/>
            <a:ext cx="10972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AVG MARGIN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85248" y="2249424"/>
            <a:ext cx="109728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74.6%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3017520"/>
            <a:ext cx="164592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229599" y="3127248"/>
            <a:ext cx="138988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MARGIN GAIN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3328416"/>
            <a:ext cx="138988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+4.9 pts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57232" y="3017520"/>
            <a:ext cx="1353312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985248" y="3127248"/>
            <a:ext cx="10972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RESULT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85248" y="3328416"/>
            <a:ext cx="109728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Same 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4160520"/>
            <a:ext cx="2889504" cy="1417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Lower freight lifts average margin from 69.7% to 74.6%.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Use that upside to fund service and trade support, not to chase more cities.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 same five still win, which confirms this set is strong, not fragile.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same five cities win in every freight case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6492240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865376"/>
            <a:ext cx="21945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RANK MATRIX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2194560"/>
          <a:ext cx="5943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Rank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+50%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-50%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Seattle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Seattle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Seattle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Boise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Boise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Boise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Portland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Portland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Portland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Spokane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Spokane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Spokane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San Diego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San Diego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San Diego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516368" y="1645920"/>
            <a:ext cx="3986784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772400" y="1938528"/>
            <a:ext cx="15087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00416" y="2048256"/>
            <a:ext cx="125272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RANK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0416" y="2249424"/>
            <a:ext cx="125272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1744" y="1938528"/>
            <a:ext cx="182880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09760" y="2048256"/>
            <a:ext cx="157276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SELECTED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249424"/>
            <a:ext cx="1572768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Same 5 cities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200400"/>
            <a:ext cx="3108960" cy="1645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Base, upside, and downside freight all return the same five cities in the same order.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That is the cleanest proof that the recommendation is structurally stable.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The next slide shows why: price support wins the tie-break.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Distance drives freight risk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6766560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865376"/>
            <a:ext cx="23774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MILES VS FREIGHT EXPOSURE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27048" y="4983480"/>
            <a:ext cx="5321808" cy="0"/>
          </a:xfrm>
          <a:prstGeom prst="line">
            <a:avLst/>
          </a:prstGeom>
          <a:ln w="1778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27048" y="2404872"/>
            <a:ext cx="0" cy="2578608"/>
          </a:xfrm>
          <a:prstGeom prst="line">
            <a:avLst/>
          </a:prstGeom>
          <a:ln w="1778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076749" y="4148963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95620" y="4139818"/>
            <a:ext cx="11887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Seattle</a:t>
            </a:r>
          </a:p>
        </p:txBody>
      </p:sp>
      <p:sp>
        <p:nvSpPr>
          <p:cNvPr id="15" name="Oval 14"/>
          <p:cNvSpPr/>
          <p:nvPr/>
        </p:nvSpPr>
        <p:spPr>
          <a:xfrm>
            <a:off x="2721662" y="4318508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40534" y="4309364"/>
            <a:ext cx="11887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Boise</a:t>
            </a:r>
          </a:p>
        </p:txBody>
      </p:sp>
      <p:sp>
        <p:nvSpPr>
          <p:cNvPr id="17" name="Oval 16"/>
          <p:cNvSpPr/>
          <p:nvPr/>
        </p:nvSpPr>
        <p:spPr>
          <a:xfrm>
            <a:off x="2770882" y="4295007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889754" y="4285862"/>
            <a:ext cx="11887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Portland</a:t>
            </a:r>
          </a:p>
        </p:txBody>
      </p:sp>
      <p:sp>
        <p:nvSpPr>
          <p:cNvPr id="19" name="Oval 18"/>
          <p:cNvSpPr/>
          <p:nvPr/>
        </p:nvSpPr>
        <p:spPr>
          <a:xfrm>
            <a:off x="3196283" y="4091888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15154" y="4082743"/>
            <a:ext cx="11887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Spokane</a:t>
            </a:r>
          </a:p>
        </p:txBody>
      </p:sp>
      <p:sp>
        <p:nvSpPr>
          <p:cNvPr id="21" name="Oval 20"/>
          <p:cNvSpPr/>
          <p:nvPr/>
        </p:nvSpPr>
        <p:spPr>
          <a:xfrm>
            <a:off x="1712655" y="4800286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831527" y="4791142"/>
            <a:ext cx="11887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San Diego</a:t>
            </a:r>
          </a:p>
        </p:txBody>
      </p:sp>
      <p:sp>
        <p:nvSpPr>
          <p:cNvPr id="23" name="Oval 22"/>
          <p:cNvSpPr/>
          <p:nvPr/>
        </p:nvSpPr>
        <p:spPr>
          <a:xfrm>
            <a:off x="1765391" y="4775106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754844" y="4780142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463040" y="4919472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117615" y="3174495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770664" y="4772588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133436" y="3166941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3082022" y="4146445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557078" y="2964661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242423" y="3114902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537960" y="2496312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56832" y="2487168"/>
            <a:ext cx="11887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0">
                <a:solidFill>
                  <a:srgbClr val="1F2621"/>
                </a:solidFill>
                <a:latin typeface="Aptos"/>
              </a:rPr>
              <a:t>Boston</a:t>
            </a:r>
          </a:p>
        </p:txBody>
      </p:sp>
      <p:sp>
        <p:nvSpPr>
          <p:cNvPr id="34" name="Oval 33"/>
          <p:cNvSpPr/>
          <p:nvPr/>
        </p:nvSpPr>
        <p:spPr>
          <a:xfrm>
            <a:off x="2115203" y="4608079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4961166" y="3249195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5868218" y="2816099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929525" y="3264303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303948" y="3085525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822296" y="3315503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117833" y="2696913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6179358" y="2667536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98230" y="2658392"/>
            <a:ext cx="11887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0">
                <a:solidFill>
                  <a:srgbClr val="1F2621"/>
                </a:solidFill>
                <a:latin typeface="Aptos"/>
              </a:rPr>
              <a:t>New York</a:t>
            </a:r>
          </a:p>
        </p:txBody>
      </p:sp>
      <p:sp>
        <p:nvSpPr>
          <p:cNvPr id="43" name="Oval 42"/>
          <p:cNvSpPr/>
          <p:nvPr/>
        </p:nvSpPr>
        <p:spPr>
          <a:xfrm>
            <a:off x="3815047" y="3796442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6044003" y="2732165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836359" y="3308788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178922" y="3622700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5901617" y="2800151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246156" y="2635642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65028" y="2626497"/>
            <a:ext cx="11887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0">
                <a:solidFill>
                  <a:srgbClr val="1F2621"/>
                </a:solidFill>
                <a:latin typeface="Aptos"/>
              </a:rPr>
              <a:t>Albany</a:t>
            </a:r>
          </a:p>
        </p:txBody>
      </p:sp>
      <p:sp>
        <p:nvSpPr>
          <p:cNvPr id="50" name="Oval 49"/>
          <p:cNvSpPr/>
          <p:nvPr/>
        </p:nvSpPr>
        <p:spPr>
          <a:xfrm>
            <a:off x="5535984" y="2974733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122889" y="3171977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565868" y="2960464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6001815" y="2752309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4702762" y="3372578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5762747" y="2866459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5894586" y="2803509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5977205" y="2764060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5753958" y="2870655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4504125" y="3467423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6376238" y="2573531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495109" y="2564386"/>
            <a:ext cx="11887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0">
                <a:solidFill>
                  <a:srgbClr val="1F2621"/>
                </a:solidFill>
                <a:latin typeface="Aptos"/>
              </a:rPr>
              <a:t>HartfordSpringfield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35808" y="5413248"/>
            <a:ext cx="20116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0">
                <a:solidFill>
                  <a:srgbClr val="5F6B63"/>
                </a:solidFill>
                <a:latin typeface="Aptos"/>
              </a:rPr>
              <a:t>Longer haul distance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" y="3566160"/>
            <a:ext cx="73152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0">
                <a:solidFill>
                  <a:srgbClr val="5F6B63"/>
                </a:solidFill>
                <a:latin typeface="Aptos"/>
              </a:rPr>
              <a:t>Larger
profit swing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662672" y="1645920"/>
            <a:ext cx="3840480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900416" y="1883664"/>
            <a:ext cx="23774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HOW TO READ IT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0416" y="2212848"/>
            <a:ext cx="3108960" cy="1417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 slope is the point: longer-haul cities take the biggest hit.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 recommended cities are materially less exposed than the Northeast and Midwest tail.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That makes a western pilot the smarter first move for a new entrant.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900416" y="4078224"/>
            <a:ext cx="1627632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028432" y="4187952"/>
            <a:ext cx="137160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SELECTED AVG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28432" y="4389120"/>
            <a:ext cx="137160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$953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37776" y="4078224"/>
            <a:ext cx="1389888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765792" y="4187952"/>
            <a:ext cx="1133856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EXPOSED AVG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65792" y="4389120"/>
            <a:ext cx="1133856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B5533A"/>
                </a:solidFill>
                <a:latin typeface="Aptos Display"/>
              </a:rPr>
              <a:t>$1,464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Price support decides the 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7315200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865376"/>
            <a:ext cx="26517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PRICE SUPPORT VS FREIGHT EXPOSURE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27048" y="4983480"/>
            <a:ext cx="5824728" cy="0"/>
          </a:xfrm>
          <a:prstGeom prst="line">
            <a:avLst/>
          </a:prstGeom>
          <a:ln w="1778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27048" y="2404872"/>
            <a:ext cx="0" cy="2578608"/>
          </a:xfrm>
          <a:prstGeom prst="line">
            <a:avLst/>
          </a:prstGeom>
          <a:ln w="1778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58956" y="2404872"/>
            <a:ext cx="0" cy="2578608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27048" y="4353555"/>
            <a:ext cx="5824728" cy="0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236666" y="2496312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64681" y="2478024"/>
            <a:ext cx="11430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Seattle</a:t>
            </a:r>
          </a:p>
        </p:txBody>
      </p:sp>
      <p:sp>
        <p:nvSpPr>
          <p:cNvPr id="17" name="Oval 16"/>
          <p:cNvSpPr/>
          <p:nvPr/>
        </p:nvSpPr>
        <p:spPr>
          <a:xfrm>
            <a:off x="2846391" y="2624255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74406" y="2605966"/>
            <a:ext cx="11430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Boise</a:t>
            </a:r>
          </a:p>
        </p:txBody>
      </p:sp>
      <p:sp>
        <p:nvSpPr>
          <p:cNvPr id="19" name="Oval 18"/>
          <p:cNvSpPr/>
          <p:nvPr/>
        </p:nvSpPr>
        <p:spPr>
          <a:xfrm>
            <a:off x="2900488" y="2725058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028504" y="2706770"/>
            <a:ext cx="11430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Portland</a:t>
            </a:r>
          </a:p>
        </p:txBody>
      </p:sp>
      <p:sp>
        <p:nvSpPr>
          <p:cNvPr id="21" name="Oval 20"/>
          <p:cNvSpPr/>
          <p:nvPr/>
        </p:nvSpPr>
        <p:spPr>
          <a:xfrm>
            <a:off x="3368045" y="3039100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96061" y="3020811"/>
            <a:ext cx="11430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Spokane</a:t>
            </a:r>
          </a:p>
        </p:txBody>
      </p:sp>
      <p:sp>
        <p:nvSpPr>
          <p:cNvPr id="23" name="Oval 22"/>
          <p:cNvSpPr/>
          <p:nvPr/>
        </p:nvSpPr>
        <p:spPr>
          <a:xfrm>
            <a:off x="1737392" y="3593519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865407" y="3575230"/>
            <a:ext cx="11430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San Diego</a:t>
            </a:r>
          </a:p>
        </p:txBody>
      </p:sp>
      <p:sp>
        <p:nvSpPr>
          <p:cNvPr id="25" name="Oval 24"/>
          <p:cNvSpPr/>
          <p:nvPr/>
        </p:nvSpPr>
        <p:spPr>
          <a:xfrm>
            <a:off x="1795353" y="3833896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783761" y="3965716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463040" y="4027749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479780" y="3926946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801149" y="4295266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497169" y="4120798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42462" y="4275881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962794" y="4283635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5616956" y="4306897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7040880" y="4221602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168896" y="4203313"/>
            <a:ext cx="11430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0">
                <a:solidFill>
                  <a:srgbClr val="1F2621"/>
                </a:solidFill>
                <a:latin typeface="Aptos"/>
              </a:rPr>
              <a:t>Boston</a:t>
            </a:r>
          </a:p>
        </p:txBody>
      </p:sp>
      <p:sp>
        <p:nvSpPr>
          <p:cNvPr id="36" name="Oval 35"/>
          <p:cNvSpPr/>
          <p:nvPr/>
        </p:nvSpPr>
        <p:spPr>
          <a:xfrm>
            <a:off x="2179832" y="4531766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5307828" y="4341791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6304767" y="4361176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5273051" y="4430963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5684578" y="4423209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5155195" y="4469734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6579119" y="4446471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6646741" y="4442594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048128" y="4659709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6497973" y="4520135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5170652" y="4613185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448063" y="4675217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341476" y="4617062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6720159" y="4632570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848175" y="4614281"/>
            <a:ext cx="11430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0">
                <a:solidFill>
                  <a:srgbClr val="1F2621"/>
                </a:solidFill>
                <a:latin typeface="Aptos"/>
              </a:rPr>
              <a:t>Albany</a:t>
            </a:r>
          </a:p>
        </p:txBody>
      </p:sp>
      <p:sp>
        <p:nvSpPr>
          <p:cNvPr id="51" name="Oval 50"/>
          <p:cNvSpPr/>
          <p:nvPr/>
        </p:nvSpPr>
        <p:spPr>
          <a:xfrm>
            <a:off x="5939609" y="4698480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485577" y="4729496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972454" y="4713988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6451604" y="4713988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5023816" y="4818669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6188844" y="4748882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6333748" y="4803160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6424555" y="4799283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6179184" y="4818669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4805493" y="4919472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6863131" y="4915595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991147" y="4897306"/>
            <a:ext cx="11430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0">
                <a:solidFill>
                  <a:srgbClr val="1F2621"/>
                </a:solidFill>
                <a:latin typeface="Aptos"/>
              </a:rPr>
              <a:t>HartfordSpringfield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72968" y="5413248"/>
            <a:ext cx="21031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0">
                <a:solidFill>
                  <a:srgbClr val="5F6B63"/>
                </a:solidFill>
                <a:latin typeface="Aptos"/>
              </a:rPr>
              <a:t>Higher freight sensitivity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3547872"/>
            <a:ext cx="676656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0">
                <a:solidFill>
                  <a:srgbClr val="5F6B63"/>
                </a:solidFill>
                <a:latin typeface="Aptos"/>
              </a:rPr>
              <a:t>Higher
price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47888" y="1664208"/>
            <a:ext cx="3255264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485632" y="1883664"/>
            <a:ext cx="19202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INTERPRETATION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85632" y="2212848"/>
            <a:ext cx="1353312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613648" y="2322576"/>
            <a:ext cx="10972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SELECTED AVG PRICE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3648" y="2523744"/>
            <a:ext cx="109728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C58A2A"/>
                </a:solidFill>
                <a:latin typeface="Aptos Display"/>
              </a:rPr>
              <a:t>$2.45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966960" y="2212848"/>
            <a:ext cx="1261872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0094976" y="2322576"/>
            <a:ext cx="10058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SELECTED AVG SWING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94976" y="2523744"/>
            <a:ext cx="100584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$953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85632" y="3364992"/>
            <a:ext cx="2651760" cy="1417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 recommended cities sit in the premium-price half of the chart, not the freight-risk tail.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That is why the ranking holds even when margins compress.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Price support chooses the cities; freight discipline protects the margin.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SEASONALITY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Prices reach their high point in July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766560" cy="41148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1975104"/>
            <a:ext cx="182880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MONTHLY PRICE PROFILE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35608" y="4818888"/>
            <a:ext cx="5577840" cy="0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35608" y="2560320"/>
            <a:ext cx="0" cy="2258568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380744" y="4752068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" name="Connector 13"/>
          <p:cNvCxnSpPr/>
          <p:nvPr/>
        </p:nvCxnSpPr>
        <p:spPr>
          <a:xfrm>
            <a:off x="1435608" y="4806932"/>
            <a:ext cx="490451" cy="11956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871195" y="4764024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1926059" y="4590297"/>
            <a:ext cx="490451" cy="228591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361646" y="4535433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 flipV="1">
            <a:off x="2416510" y="4349135"/>
            <a:ext cx="490451" cy="241162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2852097" y="4294271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 flipV="1">
            <a:off x="2906961" y="4293540"/>
            <a:ext cx="490451" cy="55595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3342548" y="4238676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 flipV="1">
            <a:off x="3397412" y="4240022"/>
            <a:ext cx="490451" cy="53518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832999" y="4185158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/>
          <p:cNvCxnSpPr/>
          <p:nvPr/>
        </p:nvCxnSpPr>
        <p:spPr>
          <a:xfrm flipV="1">
            <a:off x="3887863" y="4216027"/>
            <a:ext cx="490450" cy="23995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4323449" y="4161163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4378313" y="4216027"/>
            <a:ext cx="490451" cy="173732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813900" y="4334895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8" name="Connector 27"/>
          <p:cNvCxnSpPr/>
          <p:nvPr/>
        </p:nvCxnSpPr>
        <p:spPr>
          <a:xfrm>
            <a:off x="4868764" y="4389759"/>
            <a:ext cx="490451" cy="81473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5304351" y="4416368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5359215" y="4471232"/>
            <a:ext cx="490451" cy="84395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794802" y="4500763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5849666" y="4555627"/>
            <a:ext cx="490451" cy="76041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6285253" y="4576804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6340117" y="4631668"/>
            <a:ext cx="490451" cy="102353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775704" y="4679157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380744" y="348795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" name="Connector 36"/>
          <p:cNvCxnSpPr/>
          <p:nvPr/>
        </p:nvCxnSpPr>
        <p:spPr>
          <a:xfrm>
            <a:off x="1435608" y="3542820"/>
            <a:ext cx="490451" cy="11138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1871195" y="3499094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 flipV="1">
            <a:off x="1926059" y="3412656"/>
            <a:ext cx="490451" cy="141302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2361646" y="3357792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1" name="Connector 40"/>
          <p:cNvCxnSpPr/>
          <p:nvPr/>
        </p:nvCxnSpPr>
        <p:spPr>
          <a:xfrm flipV="1">
            <a:off x="2416510" y="3144979"/>
            <a:ext cx="490451" cy="267677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2852097" y="3090115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 flipV="1">
            <a:off x="2906961" y="2972631"/>
            <a:ext cx="490451" cy="172348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3342548" y="2917767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 flipV="1">
            <a:off x="3397412" y="2896184"/>
            <a:ext cx="490451" cy="76447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3832999" y="284132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 flipV="1">
            <a:off x="3887863" y="2715768"/>
            <a:ext cx="490450" cy="180416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323449" y="2660904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4378313" y="2715768"/>
            <a:ext cx="490451" cy="37812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4813900" y="269871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4868764" y="2753580"/>
            <a:ext cx="490451" cy="134552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5304351" y="2833268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5359215" y="2888132"/>
            <a:ext cx="490451" cy="203735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794802" y="3037003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5" name="Connector 54"/>
          <p:cNvCxnSpPr/>
          <p:nvPr/>
        </p:nvCxnSpPr>
        <p:spPr>
          <a:xfrm>
            <a:off x="5849666" y="3091867"/>
            <a:ext cx="490451" cy="111947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6285253" y="314895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6340117" y="3203814"/>
            <a:ext cx="490451" cy="156960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6775704" y="330591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216152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Jan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706603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Feb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97054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Mar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87505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Apr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77956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May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68407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Jun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58857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Jul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49308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Aug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39759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Sep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30210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Oct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0661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Nov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11112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Dec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40" y="3675888"/>
            <a:ext cx="365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Price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88720" y="2249424"/>
            <a:ext cx="11430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CONVENTIONAL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414016" y="2249424"/>
            <a:ext cx="11430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C58A2A"/>
                </a:solidFill>
                <a:latin typeface="Aptos"/>
              </a:rPr>
              <a:t>ORGANIC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90688" y="1737360"/>
            <a:ext cx="3712463" cy="41148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8046720" y="1993392"/>
            <a:ext cx="1609344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174736" y="2103120"/>
            <a:ext cx="135331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CONVENTIONAL PEAK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74736" y="2304288"/>
            <a:ext cx="1353312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Jul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747504" y="1993392"/>
            <a:ext cx="1499616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9875520" y="2103120"/>
            <a:ext cx="1243584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ORGANIC PEAK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75520" y="2304288"/>
            <a:ext cx="1243584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Jul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46720" y="3163824"/>
            <a:ext cx="2926080" cy="1508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Both product types peak in July, not during the highest-volume months.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That means the operating plan should switch from service protection to margin protection in summer.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Summer is the cleanest season for monetizing premium markets.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SEASONALITY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Volume peaks earlier than price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766560" cy="41148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1975104"/>
            <a:ext cx="20116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MONTHLY VOLUME PROFILE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35608" y="4818888"/>
            <a:ext cx="5577840" cy="0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35608" y="2560320"/>
            <a:ext cx="0" cy="2258568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380744" y="2695101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" name="Connector 13"/>
          <p:cNvCxnSpPr/>
          <p:nvPr/>
        </p:nvCxnSpPr>
        <p:spPr>
          <a:xfrm>
            <a:off x="1435608" y="2749965"/>
            <a:ext cx="490451" cy="130889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871195" y="2825990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1926059" y="2774568"/>
            <a:ext cx="490451" cy="106286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361646" y="2719704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>
            <a:off x="2416510" y="2774568"/>
            <a:ext cx="490451" cy="176139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2852097" y="2895843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 flipV="1">
            <a:off x="2906961" y="2715768"/>
            <a:ext cx="490451" cy="234939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3342548" y="2660904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3397412" y="2715768"/>
            <a:ext cx="490451" cy="219177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832999" y="2880081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3887863" y="2934945"/>
            <a:ext cx="490450" cy="52109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4323449" y="2932190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4378313" y="2987054"/>
            <a:ext cx="490451" cy="9695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813900" y="2941885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8" name="Connector 27"/>
          <p:cNvCxnSpPr/>
          <p:nvPr/>
        </p:nvCxnSpPr>
        <p:spPr>
          <a:xfrm>
            <a:off x="4868764" y="2996749"/>
            <a:ext cx="490451" cy="19269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5304351" y="2961154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 flipV="1">
            <a:off x="5359215" y="2995419"/>
            <a:ext cx="490451" cy="20599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794802" y="2940555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5849666" y="2995419"/>
            <a:ext cx="490451" cy="214285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6285253" y="3154840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 flipV="1">
            <a:off x="6340117" y="3045820"/>
            <a:ext cx="490451" cy="163884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775704" y="2990956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380744" y="473694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" name="Connector 36"/>
          <p:cNvCxnSpPr/>
          <p:nvPr/>
        </p:nvCxnSpPr>
        <p:spPr>
          <a:xfrm>
            <a:off x="1435608" y="4791804"/>
            <a:ext cx="490451" cy="15544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1871195" y="4752484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 flipV="1">
            <a:off x="1926059" y="4795417"/>
            <a:ext cx="490451" cy="11931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2361646" y="4740553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1" name="Connector 40"/>
          <p:cNvCxnSpPr/>
          <p:nvPr/>
        </p:nvCxnSpPr>
        <p:spPr>
          <a:xfrm>
            <a:off x="2416510" y="4795417"/>
            <a:ext cx="490451" cy="8354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2852097" y="4748907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 flipV="1">
            <a:off x="2906961" y="4796929"/>
            <a:ext cx="490451" cy="6842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3342548" y="4742065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3397412" y="4796929"/>
            <a:ext cx="490451" cy="11912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3832999" y="4753977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3887863" y="4808841"/>
            <a:ext cx="490450" cy="8269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323449" y="476224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 flipV="1">
            <a:off x="4378313" y="4816810"/>
            <a:ext cx="490451" cy="300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4813900" y="476194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 flipV="1">
            <a:off x="4868764" y="4814100"/>
            <a:ext cx="490451" cy="2710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5304351" y="475923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 flipV="1">
            <a:off x="5359215" y="4812708"/>
            <a:ext cx="490451" cy="1392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794802" y="4757844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5" name="Connector 54"/>
          <p:cNvCxnSpPr/>
          <p:nvPr/>
        </p:nvCxnSpPr>
        <p:spPr>
          <a:xfrm>
            <a:off x="5849666" y="4812708"/>
            <a:ext cx="490451" cy="6180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6285253" y="4764024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 flipV="1">
            <a:off x="6340117" y="4806239"/>
            <a:ext cx="490451" cy="12649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6775704" y="4751375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216152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Jan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706603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Feb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97054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Mar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87505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Apr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77956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May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68407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Jun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58857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Jul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49308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Aug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39759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Sep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30210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Oct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0661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Nov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11112" y="4892040"/>
            <a:ext cx="438912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Dec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40" y="3675888"/>
            <a:ext cx="365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Volume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88720" y="2249424"/>
            <a:ext cx="11430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CONVENTIONAL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414016" y="2249424"/>
            <a:ext cx="11430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C58A2A"/>
                </a:solidFill>
                <a:latin typeface="Aptos"/>
              </a:rPr>
              <a:t>ORGANIC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90688" y="1737360"/>
            <a:ext cx="3712463" cy="41148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8046720" y="1993392"/>
            <a:ext cx="1609344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174736" y="2103120"/>
            <a:ext cx="135331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CONVENTIONAL PEAK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74736" y="2304288"/>
            <a:ext cx="1353312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May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747504" y="1993392"/>
            <a:ext cx="1499616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9875520" y="2103120"/>
            <a:ext cx="1243584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ORGANIC PEAK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75520" y="2304288"/>
            <a:ext cx="1243584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Jan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46720" y="3163824"/>
            <a:ext cx="2926080" cy="1508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Organic volume peaks in January while conventional peaks in May.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Both soften into November, which is why off-peak demand support matters.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Volume timing and price timing do not line up, creating the duck-curve operating problem.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SEASONALITY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Seasonality should change when West Valley pushes volume vs margin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6070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Organic volume peaks in Jan while price peaks in Jul; that gap is the operating lever.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737360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828800"/>
            <a:ext cx="713232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Jan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17904" y="1737360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17904" y="1828800"/>
            <a:ext cx="713232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Feb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50008" y="1737360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50008" y="1828800"/>
            <a:ext cx="713232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Mar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82112" y="1737360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82112" y="1828800"/>
            <a:ext cx="713232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Apr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14216" y="1737360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014216" y="1828800"/>
            <a:ext cx="713232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May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1737360"/>
            <a:ext cx="713232" cy="438912"/>
          </a:xfrm>
          <a:prstGeom prst="roundRect">
            <a:avLst/>
          </a:prstGeom>
          <a:solidFill>
            <a:srgbClr val="FCFAF5"/>
          </a:solidFill>
          <a:ln>
            <a:solidFill>
              <a:srgbClr val="FCF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46320" y="1828800"/>
            <a:ext cx="713232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1F2621"/>
                </a:solidFill>
                <a:latin typeface="Aptos"/>
              </a:rPr>
              <a:t>Jun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78424" y="1737360"/>
            <a:ext cx="713232" cy="43891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78424" y="1828800"/>
            <a:ext cx="713232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Jul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0528" y="1737360"/>
            <a:ext cx="713232" cy="43891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10528" y="1828800"/>
            <a:ext cx="713232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Aug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42632" y="1737360"/>
            <a:ext cx="713232" cy="43891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42632" y="1828800"/>
            <a:ext cx="713232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74736" y="1737360"/>
            <a:ext cx="713232" cy="438912"/>
          </a:xfrm>
          <a:prstGeom prst="roundRect">
            <a:avLst/>
          </a:prstGeom>
          <a:solidFill>
            <a:srgbClr val="D8D1C6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74736" y="1828800"/>
            <a:ext cx="713232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1F2621"/>
                </a:solidFill>
                <a:latin typeface="Aptos"/>
              </a:rPr>
              <a:t>Oct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1737360"/>
            <a:ext cx="713232" cy="438912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006840" y="1828800"/>
            <a:ext cx="713232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Nov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38944" y="1737360"/>
            <a:ext cx="713232" cy="438912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838944" y="1828800"/>
            <a:ext cx="713232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Dec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2542032"/>
            <a:ext cx="10808208" cy="283464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" y="2761488"/>
            <a:ext cx="150876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OPERATING STANCE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9463" y="2761488"/>
            <a:ext cx="13258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WINDOW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41647" y="2761488"/>
            <a:ext cx="45720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WHAT WEST VALLEY SHOULD 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59951" y="2761488"/>
            <a:ext cx="28346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WHY IT MATTERS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" y="3090672"/>
            <a:ext cx="1298448" cy="53035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87552" y="3209544"/>
            <a:ext cx="1133856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200" b="1">
                <a:solidFill>
                  <a:srgbClr val="FCFAF5"/>
                </a:solidFill>
                <a:latin typeface="Aptos Display"/>
              </a:rPr>
              <a:t>Push volume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50592" y="3163824"/>
            <a:ext cx="114300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 b="1">
                <a:solidFill>
                  <a:srgbClr val="355C47"/>
                </a:solidFill>
                <a:latin typeface="Aptos Display"/>
              </a:rPr>
              <a:t>Jan to May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67328" y="3136392"/>
            <a:ext cx="4315968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Prioritize service, retailer availability, and clean flow while the market is naturally absorbing more units.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136392"/>
            <a:ext cx="2697480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This is the best window to prove service quality before summer pricing peaks.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" y="3822191"/>
            <a:ext cx="1298448" cy="53035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87552" y="3941063"/>
            <a:ext cx="1133856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200" b="1">
                <a:solidFill>
                  <a:srgbClr val="FCFAF5"/>
                </a:solidFill>
                <a:latin typeface="Aptos Display"/>
              </a:rPr>
              <a:t>Protect margin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50592" y="3895343"/>
            <a:ext cx="114300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 b="1">
                <a:solidFill>
                  <a:srgbClr val="C58A2A"/>
                </a:solidFill>
                <a:latin typeface="Aptos Display"/>
              </a:rPr>
              <a:t>Jul to Sep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67328" y="3867911"/>
            <a:ext cx="4315968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Hold pricing discipline and allocate the strongest fruit to the highest-paying pilot markets.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3867911"/>
            <a:ext cx="2697480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Price support is strongest here, so margin capture matters more than raw throughput.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4400" y="4553712"/>
            <a:ext cx="1298448" cy="530352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7552" y="4672584"/>
            <a:ext cx="1133856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200" b="1">
                <a:solidFill>
                  <a:srgbClr val="FCFAF5"/>
                </a:solidFill>
                <a:latin typeface="Aptos Display"/>
              </a:rPr>
              <a:t>Stimulate demand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50592" y="4626864"/>
            <a:ext cx="114300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 b="1">
                <a:solidFill>
                  <a:srgbClr val="3F728A"/>
                </a:solidFill>
                <a:latin typeface="Aptos Display"/>
              </a:rPr>
              <a:t>Nov to Feb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7328" y="4599432"/>
            <a:ext cx="4315968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Use promotions, alternate channels, and tighter inventory planning when both types soften.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4599432"/>
            <a:ext cx="2697480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Low-demand months require commercial support so the pilot does not confuse seasonality with weak economics.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8" y="5650992"/>
            <a:ext cx="1014984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5F6B63"/>
                </a:solidFill>
                <a:latin typeface="Aptos"/>
              </a:rPr>
              <a:t>Management implication: the pilot should be judged against the right seasonal job each month, not against a flat annual operating assumption.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SEASONALITY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A monthly operating calendar turns seasonality into advantage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143000"/>
            <a:ext cx="14173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READING GUIDE</a:t>
            </a:r>
          </a:p>
        </p:txBody>
      </p:sp>
      <p:sp>
        <p:nvSpPr>
          <p:cNvPr id="12" name="Oval 11"/>
          <p:cNvSpPr/>
          <p:nvPr/>
        </p:nvSpPr>
        <p:spPr>
          <a:xfrm>
            <a:off x="1938528" y="1115568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76272" y="1078992"/>
            <a:ext cx="17373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Service</a:t>
            </a:r>
          </a:p>
        </p:txBody>
      </p:sp>
      <p:sp>
        <p:nvSpPr>
          <p:cNvPr id="14" name="Oval 13"/>
          <p:cNvSpPr/>
          <p:nvPr/>
        </p:nvSpPr>
        <p:spPr>
          <a:xfrm>
            <a:off x="4178808" y="1115568"/>
            <a:ext cx="164592" cy="164592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16552" y="1078992"/>
            <a:ext cx="17373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Protect margin</a:t>
            </a:r>
          </a:p>
        </p:txBody>
      </p:sp>
      <p:sp>
        <p:nvSpPr>
          <p:cNvPr id="16" name="Oval 15"/>
          <p:cNvSpPr/>
          <p:nvPr/>
        </p:nvSpPr>
        <p:spPr>
          <a:xfrm>
            <a:off x="6419088" y="1115568"/>
            <a:ext cx="164592" cy="16459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56832" y="1078992"/>
            <a:ext cx="17373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Stimulate demand</a:t>
            </a:r>
          </a:p>
        </p:txBody>
      </p:sp>
      <p:sp>
        <p:nvSpPr>
          <p:cNvPr id="18" name="Oval 17"/>
          <p:cNvSpPr/>
          <p:nvPr/>
        </p:nvSpPr>
        <p:spPr>
          <a:xfrm>
            <a:off x="8659368" y="1115568"/>
            <a:ext cx="164592" cy="164592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97112" y="1078992"/>
            <a:ext cx="17373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Rebalance / reset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1444752"/>
            <a:ext cx="11027664" cy="3675887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749808" y="1664208"/>
          <a:ext cx="10177272" cy="288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722376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Jan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Feb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Mar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Apr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May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Jun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Jul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Aug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Sep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Oct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Nov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Dec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2376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Commercial posture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Stimulate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Stimulate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Support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Support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Service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Balance</a:t>
                      </a:r>
                    </a:p>
                  </a:txBody>
                  <a:tcPr>
                    <a:solidFill>
                      <a:srgbClr val="D8D1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Protect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Protect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Protect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Rebalance</a:t>
                      </a:r>
                    </a:p>
                  </a:txBody>
                  <a:tcPr>
                    <a:solidFill>
                      <a:srgbClr val="B55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Stimulate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Stimulate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2376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Supply posture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Flex up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Flex up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Flex up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Flex up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Peak flow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Normalize</a:t>
                      </a:r>
                    </a:p>
                  </a:txBody>
                  <a:tcPr>
                    <a:solidFill>
                      <a:srgbClr val="D8D1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Tighten mix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Tighten mix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Tighten mix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Reset</a:t>
                      </a:r>
                    </a:p>
                  </a:txBody>
                  <a:tcPr>
                    <a:solidFill>
                      <a:srgbClr val="B55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Flex down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Flex down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2376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Operating focus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Forecast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Promote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Allocate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Allocate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Service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621"/>
                          </a:solidFill>
                          <a:latin typeface="Aptos"/>
                        </a:rPr>
                        <a:t>Audit</a:t>
                      </a:r>
                    </a:p>
                  </a:txBody>
                  <a:tcPr>
                    <a:solidFill>
                      <a:srgbClr val="D8D1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Margin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Margin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Margin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Plan</a:t>
                      </a:r>
                    </a:p>
                  </a:txBody>
                  <a:tcPr>
                    <a:solidFill>
                      <a:srgbClr val="B55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Clear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CFAF5"/>
                          </a:solidFill>
                          <a:latin typeface="Aptos"/>
                        </a:rPr>
                        <a:t>Review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49808" y="5285232"/>
            <a:ext cx="10716768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" y="5376672"/>
            <a:ext cx="3316224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JAN TO MAY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5522976"/>
            <a:ext cx="3316224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700" b="1">
                <a:solidFill>
                  <a:srgbClr val="355C47"/>
                </a:solidFill>
                <a:latin typeface="Aptos Display"/>
              </a:rPr>
              <a:t>Service +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5797296"/>
            <a:ext cx="3316224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Prove availability while market volume is naturally strongest.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22064" y="5449824"/>
            <a:ext cx="0" cy="530352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50080" y="5376672"/>
            <a:ext cx="3316224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JUL TO SEP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0080" y="5522976"/>
            <a:ext cx="3316224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700" b="1">
                <a:solidFill>
                  <a:srgbClr val="355C47"/>
                </a:solidFill>
                <a:latin typeface="Aptos Display"/>
              </a:rPr>
              <a:t>Margin season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0080" y="5797296"/>
            <a:ext cx="3316224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Allocate tightly and protect price in the premium window.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94320" y="5449824"/>
            <a:ext cx="0" cy="530352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022336" y="5376672"/>
            <a:ext cx="3316224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NOV TO FEB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2336" y="5522976"/>
            <a:ext cx="3316224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700" b="1">
                <a:solidFill>
                  <a:srgbClr val="C58A2A"/>
                </a:solidFill>
                <a:latin typeface="Aptos Display"/>
              </a:rPr>
              <a:t>Demand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2336" y="5797296"/>
            <a:ext cx="3316224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Use promotions and lean inventory to protect demand.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SEASONALITY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Growers need flex contracts, cold-chain discipline, and backup lanes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24128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Build seasonality discipline into contracts and execution rules before the pilot scales.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572768"/>
            <a:ext cx="10789920" cy="4343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0976" y="1810512"/>
            <a:ext cx="169164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LEVER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810512"/>
            <a:ext cx="27432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HOW IT SHOULD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41848" y="1810512"/>
            <a:ext cx="36576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CRITICAL OPERATING MOVE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27463" y="1810512"/>
            <a:ext cx="196596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WHY IT MATTERS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" y="2121408"/>
            <a:ext cx="1417320" cy="749808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24128" y="2304288"/>
            <a:ext cx="1225296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400" b="1">
                <a:solidFill>
                  <a:srgbClr val="FCFAF5"/>
                </a:solidFill>
                <a:latin typeface="Aptos Display"/>
              </a:rPr>
              <a:t>Contract tiers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5184" y="2231136"/>
            <a:ext cx="2377440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Base + flex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248" y="2194560"/>
            <a:ext cx="347472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Lock a stable base commitment, then layer in seasonal flex volume so supply can expand without year-round overcommitment.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194560"/>
            <a:ext cx="178308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Prevents the pilot from buying peak-season optionality with permanent fixed cost.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2688" y="3191256"/>
            <a:ext cx="1417320" cy="749808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4128" y="3374136"/>
            <a:ext cx="1225296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400" b="1">
                <a:solidFill>
                  <a:srgbClr val="FCFAF5"/>
                </a:solidFill>
                <a:latin typeface="Aptos Display"/>
              </a:rPr>
              <a:t>Cold-chain readiness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15184" y="3300984"/>
            <a:ext cx="2377440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1">
                <a:solidFill>
                  <a:srgbClr val="3F728A"/>
                </a:solidFill>
                <a:latin typeface="Aptos Display"/>
              </a:rPr>
              <a:t>Protect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3264408"/>
            <a:ext cx="347472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Tighten transit monitoring, storage discipline, and receiving checks during the months when flow is highest.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3728" y="3264408"/>
            <a:ext cx="178308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Spoilage and service misses can erase good city economics faster than freight swings do.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" y="4261104"/>
            <a:ext cx="1417320" cy="749808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24128" y="4443984"/>
            <a:ext cx="1225296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400" b="1">
                <a:solidFill>
                  <a:srgbClr val="FCFAF5"/>
                </a:solidFill>
                <a:latin typeface="Aptos Display"/>
              </a:rPr>
              <a:t>Alternate lanes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4370832"/>
            <a:ext cx="2377440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1">
                <a:solidFill>
                  <a:srgbClr val="B5533A"/>
                </a:solidFill>
                <a:latin typeface="Aptos Display"/>
              </a:rPr>
              <a:t>Reduce disruption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3248" y="4334256"/>
            <a:ext cx="347472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Pre-qualify backup carriers and routes before the peak season so lane shocks do not force reactive reallocations.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53728" y="4334256"/>
            <a:ext cx="178308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The pilot should never have to choose between service and margin because a lane fails.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5303520"/>
            <a:ext cx="10149840" cy="420624"/>
          </a:xfrm>
          <a:prstGeom prst="roundRect">
            <a:avLst/>
          </a:prstGeom>
          <a:solidFill>
            <a:srgbClr val="F7F3EC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78992" y="5422392"/>
            <a:ext cx="132588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OPERATING RULE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23744" y="5385816"/>
            <a:ext cx="821131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Contract base volume, protect the cold chain, and pre-book fallback lanes before peak flow starts.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SEASONALITY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Trade associations should protect off-peak retailer demand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5156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Aim off-peak support at buyers, trade calendars, and food-service pull, not generic consumer messaging alone.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645920"/>
            <a:ext cx="6675120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0976" y="1874519"/>
            <a:ext cx="256032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OFF-PEAK BUYER PLAYBOOK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" y="2212848"/>
            <a:ext cx="310896" cy="3108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2286000"/>
            <a:ext cx="201168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2194560"/>
            <a:ext cx="182880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RETAIL PROMO CALENDAR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2377440"/>
            <a:ext cx="525780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Concentrate retailer ads, features, and display support in Nov-Feb when baseline turns are softest.</a:t>
            </a:r>
          </a:p>
        </p:txBody>
      </p:sp>
      <p:sp>
        <p:nvSpPr>
          <p:cNvPr id="18" name="Oval 17"/>
          <p:cNvSpPr/>
          <p:nvPr/>
        </p:nvSpPr>
        <p:spPr>
          <a:xfrm>
            <a:off x="1005840" y="3054096"/>
            <a:ext cx="310896" cy="310896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3127248"/>
            <a:ext cx="201168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6464" y="3035808"/>
            <a:ext cx="182880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FOOD-SERVICE CHANNELS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3218688"/>
            <a:ext cx="525780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Lean harder on restaurants, prepared foods, and institutional buyers when retail pull weakens.</a:t>
            </a:r>
          </a:p>
        </p:txBody>
      </p:sp>
      <p:sp>
        <p:nvSpPr>
          <p:cNvPr id="22" name="Oval 21"/>
          <p:cNvSpPr/>
          <p:nvPr/>
        </p:nvSpPr>
        <p:spPr>
          <a:xfrm>
            <a:off x="1005840" y="3895344"/>
            <a:ext cx="310896" cy="3108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968496"/>
            <a:ext cx="201168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6464" y="3877056"/>
            <a:ext cx="182880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TRADE FUNDS + SLOTTING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6464" y="4059936"/>
            <a:ext cx="525780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Use trade dollars, temporary allowances, and slotting support to win attention in soft months.</a:t>
            </a:r>
          </a:p>
        </p:txBody>
      </p:sp>
      <p:sp>
        <p:nvSpPr>
          <p:cNvPr id="26" name="Oval 25"/>
          <p:cNvSpPr/>
          <p:nvPr/>
        </p:nvSpPr>
        <p:spPr>
          <a:xfrm>
            <a:off x="1005840" y="4736592"/>
            <a:ext cx="310896" cy="31089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1560" y="4809744"/>
            <a:ext cx="201168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6464" y="4718304"/>
            <a:ext cx="182880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SHELF DISCIPLINE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6464" y="4901184"/>
            <a:ext cx="525780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Coordinate assortment, facing, and freshness standards so promotions convert to repeat orders.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1645920"/>
            <a:ext cx="3840480" cy="43159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36992" y="1874519"/>
            <a:ext cx="21945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WHERE TO PUSH HARDER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36992" y="2212848"/>
            <a:ext cx="1645920" cy="82296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65008" y="2322576"/>
            <a:ext cx="138988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SOFTEST MONTHS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2523744"/>
            <a:ext cx="1389888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Nov to Feb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46920" y="2212848"/>
            <a:ext cx="1600200" cy="82296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774936" y="2322576"/>
            <a:ext cx="134416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PRIMARY BUYER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74936" y="2523744"/>
            <a:ext cx="1344168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C58A2A"/>
                </a:solidFill>
                <a:latin typeface="Aptos Display"/>
              </a:rPr>
              <a:t>Retail + FS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3246120"/>
            <a:ext cx="3154680" cy="1554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Do not mistake seasonal softness for launch failure.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Push through buyer calendars, not just consumer media.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Separate repeat demand from promo-driven lift.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36992" y="4864608"/>
            <a:ext cx="3154680" cy="8229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083296" y="4956048"/>
            <a:ext cx="286207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EXECUTION RULE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83296" y="5138928"/>
            <a:ext cx="286207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800" b="1">
                <a:solidFill>
                  <a:srgbClr val="C58A2A"/>
                </a:solidFill>
                <a:latin typeface="Aptos Display"/>
              </a:rPr>
              <a:t>Front-load trade support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3296" y="5413248"/>
            <a:ext cx="286207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Spend trade dollars and retailer attention in Nov-Feb, not when summer demand is already doing the work.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SEASONALITY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Monthly S&amp;OP should align growers, West Valley, and retailers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5156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One monthly forum should translate market signals into volume, routing, and promotion decisions.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700784"/>
            <a:ext cx="301752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23544" y="1837944"/>
            <a:ext cx="272491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GROWERS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2084832"/>
            <a:ext cx="272491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Supply commitment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2578608"/>
            <a:ext cx="2724912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Provide base volume, flex capacity, and harvest timing updates.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1700784"/>
            <a:ext cx="301752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54296" y="1837944"/>
            <a:ext cx="272491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WEST VALLEY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2084832"/>
            <a:ext cx="272491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Control tower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2578608"/>
            <a:ext cx="2724912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Convert price, freight, and demand signals into city allocation decisions.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38744" y="1700784"/>
            <a:ext cx="301752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85048" y="1837944"/>
            <a:ext cx="272491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RETAILERS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2084832"/>
            <a:ext cx="272491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Demand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5048" y="2578608"/>
            <a:ext cx="2724912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Feed promo calendars, replenishment risk, and reorder visibility into the review.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3493008"/>
            <a:ext cx="8458200" cy="106070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176272" y="3749039"/>
            <a:ext cx="292608" cy="29260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03704" y="3822191"/>
            <a:ext cx="219456" cy="1097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749039"/>
            <a:ext cx="14630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1">
                <a:solidFill>
                  <a:srgbClr val="355C47"/>
                </a:solidFill>
                <a:latin typeface="Aptos Display"/>
              </a:rPr>
              <a:t>Forecast demand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867912" y="3895344"/>
            <a:ext cx="292608" cy="0"/>
          </a:xfrm>
          <a:prstGeom prst="line">
            <a:avLst/>
          </a:prstGeom>
          <a:ln w="2286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215383" y="3749039"/>
            <a:ext cx="292608" cy="29260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42815" y="3822191"/>
            <a:ext cx="219456" cy="1097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9431" y="3749039"/>
            <a:ext cx="14630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1">
                <a:solidFill>
                  <a:srgbClr val="355C47"/>
                </a:solidFill>
                <a:latin typeface="Aptos Display"/>
              </a:rPr>
              <a:t>Lock commitments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07023" y="3895344"/>
            <a:ext cx="292608" cy="0"/>
          </a:xfrm>
          <a:prstGeom prst="line">
            <a:avLst/>
          </a:prstGeom>
          <a:ln w="2286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6254496" y="3749039"/>
            <a:ext cx="292608" cy="29260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81928" y="3822191"/>
            <a:ext cx="219456" cy="1097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38544" y="3749039"/>
            <a:ext cx="14630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1">
                <a:solidFill>
                  <a:srgbClr val="355C47"/>
                </a:solidFill>
                <a:latin typeface="Aptos Display"/>
              </a:rPr>
              <a:t>Allocate by city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946136" y="3895344"/>
            <a:ext cx="292608" cy="0"/>
          </a:xfrm>
          <a:prstGeom prst="line">
            <a:avLst/>
          </a:prstGeom>
          <a:ln w="2286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8293608" y="3749039"/>
            <a:ext cx="292608" cy="29260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21040" y="3822191"/>
            <a:ext cx="219456" cy="1097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77656" y="3749039"/>
            <a:ext cx="14630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1">
                <a:solidFill>
                  <a:srgbClr val="355C47"/>
                </a:solidFill>
                <a:latin typeface="Aptos Display"/>
              </a:rPr>
              <a:t>Review margin + service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8096" y="4791456"/>
            <a:ext cx="10744200" cy="96926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96112" y="4919472"/>
            <a:ext cx="332536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CADENCE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" y="5102352"/>
            <a:ext cx="332536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100" b="1">
                <a:solidFill>
                  <a:srgbClr val="355C47"/>
                </a:solidFill>
                <a:latin typeface="Aptos Display"/>
              </a:rPr>
              <a:t>Monthly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6112" y="5449824"/>
            <a:ext cx="332536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Update commitments and allocations every month, not quarterly.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349496" y="4956048"/>
            <a:ext cx="0" cy="640080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477512" y="4919472"/>
            <a:ext cx="332536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DECISION OUTPUT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7512" y="5102352"/>
            <a:ext cx="332536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100" b="1">
                <a:solidFill>
                  <a:srgbClr val="3F728A"/>
                </a:solidFill>
                <a:latin typeface="Aptos Display"/>
              </a:rPr>
              <a:t>Commit + allocate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77512" y="5449824"/>
            <a:ext cx="332536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Reset grower volume, lanes, and promo timing in the same review.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930896" y="4956048"/>
            <a:ext cx="0" cy="640080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058912" y="4919472"/>
            <a:ext cx="332536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SUCCESS SIGNAL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58912" y="5102352"/>
            <a:ext cx="332536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100" b="1">
                <a:solidFill>
                  <a:srgbClr val="C58A2A"/>
                </a:solidFill>
                <a:latin typeface="Aptos Display"/>
              </a:rPr>
              <a:t>Margin + service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8912" y="5449824"/>
            <a:ext cx="332536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Higher realized margin should not come with fill-rate or freshness slippage.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Launch in 2026, then scale only what the pilot proves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06070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Treat year one as a live test of economics, service, and demand quality, not a commitment to broad expansion.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00200"/>
            <a:ext cx="7680960" cy="443484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810512"/>
            <a:ext cx="182880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ROLLOUT ROADMAP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148840"/>
            <a:ext cx="960120" cy="676656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2688" y="2276856"/>
            <a:ext cx="91440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800" b="1">
                <a:solidFill>
                  <a:srgbClr val="FCFAF5"/>
                </a:solidFill>
                <a:latin typeface="Aptos Display"/>
              </a:rPr>
              <a:t>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84831" y="2148840"/>
            <a:ext cx="4160520" cy="676656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67712" y="2240280"/>
            <a:ext cx="3749039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2423160"/>
            <a:ext cx="3749039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Launch the five-city test and prove realized margin, fill rate, and spoilage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82512" y="2148840"/>
            <a:ext cx="1737360" cy="676656"/>
          </a:xfrm>
          <a:prstGeom prst="roundRect">
            <a:avLst/>
          </a:prstGeom>
          <a:solidFill>
            <a:srgbClr val="FFFDF9"/>
          </a:solidFill>
          <a:ln w="15240"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9672" y="2240280"/>
            <a:ext cx="1481328" cy="40233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What must be true: city economics hold in live execution.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429000"/>
            <a:ext cx="960120" cy="676656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2688" y="3557016"/>
            <a:ext cx="91440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800" b="1">
                <a:solidFill>
                  <a:srgbClr val="FCFAF5"/>
                </a:solidFill>
                <a:latin typeface="Aptos Display"/>
              </a:rPr>
              <a:t>2027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84831" y="3429000"/>
            <a:ext cx="4160520" cy="676656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267712" y="3520440"/>
            <a:ext cx="3749039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EXPAND SELECTIVELY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67712" y="3703320"/>
            <a:ext cx="3749039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Add retailer doors only in markets where reorder behavior and service levels remain strong.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82512" y="3429000"/>
            <a:ext cx="1737360" cy="676656"/>
          </a:xfrm>
          <a:prstGeom prst="roundRect">
            <a:avLst/>
          </a:prstGeom>
          <a:solidFill>
            <a:srgbClr val="FFFDF9"/>
          </a:solidFill>
          <a:ln w="15240"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19672" y="3520440"/>
            <a:ext cx="1481328" cy="40233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What must be true: economics survive broader coverage.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709160"/>
            <a:ext cx="960120" cy="676656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2688" y="4837176"/>
            <a:ext cx="91440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800" b="1">
                <a:solidFill>
                  <a:srgbClr val="FCFAF5"/>
                </a:solidFill>
                <a:latin typeface="Aptos Display"/>
              </a:rPr>
              <a:t>2028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84831" y="4709160"/>
            <a:ext cx="4160520" cy="676656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67712" y="4800600"/>
            <a:ext cx="3749039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OPTIMIZE 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7712" y="4983480"/>
            <a:ext cx="3749039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Tighten grower contracts, allocation logic, and seasonal playbooks around what the pilot confirms.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2512" y="4709160"/>
            <a:ext cx="1737360" cy="676656"/>
          </a:xfrm>
          <a:prstGeom prst="roundRect">
            <a:avLst/>
          </a:prstGeom>
          <a:solidFill>
            <a:srgbClr val="FFFDF9"/>
          </a:solidFill>
          <a:ln w="1524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19672" y="4800600"/>
            <a:ext cx="1481328" cy="40233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What must be true: process gains are repeatable.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05088" y="1600200"/>
            <a:ext cx="2788920" cy="44348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42832" y="1810512"/>
            <a:ext cx="2011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SCALE ONLY IF</a:t>
            </a:r>
          </a:p>
        </p:txBody>
      </p:sp>
      <p:sp>
        <p:nvSpPr>
          <p:cNvPr id="35" name="Oval 34"/>
          <p:cNvSpPr/>
          <p:nvPr/>
        </p:nvSpPr>
        <p:spPr>
          <a:xfrm>
            <a:off x="8979408" y="2240280"/>
            <a:ext cx="256032" cy="25603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308592" y="2221992"/>
            <a:ext cx="17373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08592" y="2404872"/>
            <a:ext cx="182880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Realized margin beats the base case after freight and spoilage.</a:t>
            </a:r>
          </a:p>
        </p:txBody>
      </p:sp>
      <p:sp>
        <p:nvSpPr>
          <p:cNvPr id="38" name="Oval 37"/>
          <p:cNvSpPr/>
          <p:nvPr/>
        </p:nvSpPr>
        <p:spPr>
          <a:xfrm>
            <a:off x="8979408" y="3337560"/>
            <a:ext cx="256032" cy="25603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308592" y="3319272"/>
            <a:ext cx="17373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SERVICE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08592" y="3502152"/>
            <a:ext cx="182880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Fill rate holds through peak-season pressure.</a:t>
            </a:r>
          </a:p>
        </p:txBody>
      </p:sp>
      <p:sp>
        <p:nvSpPr>
          <p:cNvPr id="41" name="Oval 40"/>
          <p:cNvSpPr/>
          <p:nvPr/>
        </p:nvSpPr>
        <p:spPr>
          <a:xfrm>
            <a:off x="8979408" y="4434840"/>
            <a:ext cx="256032" cy="256032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308592" y="4416552"/>
            <a:ext cx="17373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DEMAND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08592" y="4599432"/>
            <a:ext cx="182880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Retailers reorder because demand is repeatable, not launch noise.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Pilot KPIs should prove margin, service, spoilage, and repeat orders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27632"/>
            <a:ext cx="3657600" cy="4343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47088"/>
            <a:ext cx="164592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HEALTH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2240280"/>
            <a:ext cx="201168" cy="64008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98448" y="2258568"/>
            <a:ext cx="17373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GROSS MARGIN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41448"/>
            <a:ext cx="274320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Proof that premium pricing survives live execution.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383280"/>
            <a:ext cx="201168" cy="64008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98448" y="3401568"/>
            <a:ext cx="17373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FILL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3584448"/>
            <a:ext cx="274320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Proof that service can scale without breaking.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4526280"/>
            <a:ext cx="201168" cy="64008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4544568"/>
            <a:ext cx="17373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REORDER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4727448"/>
            <a:ext cx="274320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Proof that demand repeats after launch week.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1627632"/>
            <a:ext cx="6812280" cy="4343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64608" y="1847088"/>
            <a:ext cx="228600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PILOT SCORECARD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4864608" y="2148840"/>
          <a:ext cx="635508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KPI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Why it matters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Cadence / owner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Realized gross margin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Confirms whether forecast economics survive live execution.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Weekly / finance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Freight per unit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Shows whether routing and carrier discipline are improving.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Weekly / logistics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Fill rate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Measures retailer execution quality during seasonal peaks.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Weekly / operations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Spoilage rate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Captures cold-chain and freshness failures directly.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Weekly / operations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Reorder rate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Tests whether demand is repeatable beyond launch.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Monthly / commercial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Forecast accuracy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Shows whether monthly S&amp;OP is improving allocation decisions.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Monthly / planning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Scale should follow stage gates, not geography ambition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069848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The model can choose where to test, but scale should still depend on live pilot evidence.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057400"/>
            <a:ext cx="2240280" cy="384048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0664" y="2130552"/>
            <a:ext cx="21031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STEP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42032"/>
            <a:ext cx="2240280" cy="1691640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" y="2743200"/>
            <a:ext cx="19202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700" b="1">
                <a:solidFill>
                  <a:srgbClr val="355C47"/>
                </a:solidFill>
                <a:latin typeface="Aptos Display"/>
              </a:rPr>
              <a:t>Pilot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3108960"/>
            <a:ext cx="1920240" cy="594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Launch and collect clean economics by city.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53512" y="3364992"/>
            <a:ext cx="475488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502152" y="2057400"/>
            <a:ext cx="2240280" cy="384048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57016" y="2130552"/>
            <a:ext cx="21031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STEP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02152" y="2542032"/>
            <a:ext cx="2240280" cy="1691640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48456" y="2743200"/>
            <a:ext cx="19202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700" b="1">
                <a:solidFill>
                  <a:srgbClr val="3F728A"/>
                </a:solidFill>
                <a:latin typeface="Aptos Display"/>
              </a:rPr>
              <a:t>Economics 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8456" y="3108960"/>
            <a:ext cx="1920240" cy="594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Confirm realized margin and freight per unit.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69864" y="3364992"/>
            <a:ext cx="475488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18504" y="2057400"/>
            <a:ext cx="2240280" cy="384048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30552"/>
            <a:ext cx="21031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STEP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42032"/>
            <a:ext cx="2240280" cy="1691640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64808" y="2743200"/>
            <a:ext cx="19202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700" b="1">
                <a:solidFill>
                  <a:srgbClr val="889A83"/>
                </a:solidFill>
                <a:latin typeface="Aptos Display"/>
              </a:rPr>
              <a:t>Service verified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3108960"/>
            <a:ext cx="1920240" cy="594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Confirm fill rate, spoilage control, and reorder behavior.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586216" y="3364992"/>
            <a:ext cx="475488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4856" y="2057400"/>
            <a:ext cx="2240280" cy="384048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89720" y="2130552"/>
            <a:ext cx="21031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STEP 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4856" y="2542032"/>
            <a:ext cx="2240280" cy="1691640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281160" y="2743200"/>
            <a:ext cx="19202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700" b="1">
                <a:solidFill>
                  <a:srgbClr val="C58A2A"/>
                </a:solidFill>
                <a:latin typeface="Aptos Display"/>
              </a:rPr>
              <a:t>Scale selectively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3108960"/>
            <a:ext cx="1920240" cy="594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Expand only where pilot evidence remains strong.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7552" y="4617720"/>
            <a:ext cx="10012680" cy="868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115568" y="4727448"/>
            <a:ext cx="1051560" cy="649224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170432" y="4782312"/>
            <a:ext cx="941832" cy="5394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TAKEAWAY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59152" y="4709160"/>
            <a:ext cx="6217920" cy="6858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Use the pilot to validate economics and service before adding geography.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668512" y="4745736"/>
            <a:ext cx="0" cy="612648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833104" y="4709160"/>
            <a:ext cx="1938528" cy="6858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000" b="0">
                <a:solidFill>
                  <a:srgbClr val="5F6B63"/>
                </a:solidFill>
                <a:latin typeface="Aptos"/>
              </a:rPr>
              <a:t>The model is strong enough to choose where to test, not yet strong enough to dictate exact retailer-level allocation.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RISKS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Top risks are freight, competitors, import disruption, and forecast error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1600200"/>
            <a:ext cx="6858000" cy="41148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4187952" y="1810512"/>
            <a:ext cx="0" cy="365760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5840" y="3657600"/>
            <a:ext cx="6291072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200400" y="1673352"/>
            <a:ext cx="2011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High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504688"/>
            <a:ext cx="201168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Low 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383280"/>
            <a:ext cx="82296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Low
prob.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383280"/>
            <a:ext cx="82296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High
prob.</a:t>
            </a:r>
          </a:p>
        </p:txBody>
      </p:sp>
      <p:sp>
        <p:nvSpPr>
          <p:cNvPr id="18" name="Oval 17"/>
          <p:cNvSpPr/>
          <p:nvPr/>
        </p:nvSpPr>
        <p:spPr>
          <a:xfrm>
            <a:off x="5989320" y="2240280"/>
            <a:ext cx="749808" cy="74980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15000" y="3008376"/>
            <a:ext cx="132588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0">
                <a:solidFill>
                  <a:srgbClr val="1F2621"/>
                </a:solidFill>
                <a:latin typeface="Aptos"/>
              </a:rPr>
              <a:t>Freight spikes</a:t>
            </a:r>
          </a:p>
        </p:txBody>
      </p:sp>
      <p:sp>
        <p:nvSpPr>
          <p:cNvPr id="20" name="Oval 19"/>
          <p:cNvSpPr/>
          <p:nvPr/>
        </p:nvSpPr>
        <p:spPr>
          <a:xfrm>
            <a:off x="4526280" y="1938528"/>
            <a:ext cx="749808" cy="74980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51960" y="2706624"/>
            <a:ext cx="132588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0">
                <a:solidFill>
                  <a:srgbClr val="1F2621"/>
                </a:solidFill>
                <a:latin typeface="Aptos"/>
              </a:rPr>
              <a:t>Import disruption</a:t>
            </a:r>
          </a:p>
        </p:txBody>
      </p:sp>
      <p:sp>
        <p:nvSpPr>
          <p:cNvPr id="22" name="Oval 21"/>
          <p:cNvSpPr/>
          <p:nvPr/>
        </p:nvSpPr>
        <p:spPr>
          <a:xfrm>
            <a:off x="5852160" y="2651760"/>
            <a:ext cx="749808" cy="74980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77840" y="3419856"/>
            <a:ext cx="132588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0">
                <a:solidFill>
                  <a:srgbClr val="1F2621"/>
                </a:solidFill>
                <a:latin typeface="Aptos"/>
              </a:rPr>
              <a:t>Competitor response</a:t>
            </a:r>
          </a:p>
        </p:txBody>
      </p:sp>
      <p:sp>
        <p:nvSpPr>
          <p:cNvPr id="24" name="Oval 23"/>
          <p:cNvSpPr/>
          <p:nvPr/>
        </p:nvSpPr>
        <p:spPr>
          <a:xfrm>
            <a:off x="4800600" y="3200400"/>
            <a:ext cx="749808" cy="74980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26280" y="3968496"/>
            <a:ext cx="132588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0">
                <a:solidFill>
                  <a:srgbClr val="1F2621"/>
                </a:solidFill>
                <a:latin typeface="Aptos"/>
              </a:rPr>
              <a:t>Forecast error</a:t>
            </a:r>
          </a:p>
        </p:txBody>
      </p:sp>
      <p:sp>
        <p:nvSpPr>
          <p:cNvPr id="26" name="Oval 25"/>
          <p:cNvSpPr/>
          <p:nvPr/>
        </p:nvSpPr>
        <p:spPr>
          <a:xfrm>
            <a:off x="5212080" y="3977639"/>
            <a:ext cx="749808" cy="74980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37760" y="4745736"/>
            <a:ext cx="132588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0">
                <a:solidFill>
                  <a:srgbClr val="1F2621"/>
                </a:solidFill>
                <a:latin typeface="Aptos"/>
              </a:rPr>
              <a:t>Retailer uptake</a:t>
            </a:r>
          </a:p>
        </p:txBody>
      </p:sp>
      <p:sp>
        <p:nvSpPr>
          <p:cNvPr id="28" name="Oval 27"/>
          <p:cNvSpPr/>
          <p:nvPr/>
        </p:nvSpPr>
        <p:spPr>
          <a:xfrm>
            <a:off x="3794760" y="3767328"/>
            <a:ext cx="749808" cy="74980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20440" y="4535424"/>
            <a:ext cx="132588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100" b="0">
                <a:solidFill>
                  <a:srgbClr val="1F2621"/>
                </a:solidFill>
                <a:latin typeface="Aptos"/>
              </a:rPr>
              <a:t>Spoilage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18704" y="1600200"/>
            <a:ext cx="3529584" cy="41148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56448" y="1810512"/>
            <a:ext cx="21945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WATCHLIST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2212848"/>
            <a:ext cx="2560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B5533A"/>
                </a:solidFill>
                <a:latin typeface="Aptos"/>
              </a:rPr>
              <a:t>FREIGHT SPIKES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2395728"/>
            <a:ext cx="2743200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Pre-book core lanes and keep alternates ready before peak season.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3328415"/>
            <a:ext cx="2560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COMPETITOR RESPONSE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3511295"/>
            <a:ext cx="2743200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Expect promotions or buyer pressure from Central Valley rivals and hold a firm margin floor.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79" y="4443983"/>
            <a:ext cx="2560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3F728A"/>
                </a:solidFill>
                <a:latin typeface="Aptos"/>
              </a:rPr>
              <a:t>IMPORT DISRUPTION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79" y="4626863"/>
            <a:ext cx="2743200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Use flexible grower commitments and staggered sourcing windows.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79" y="5559552"/>
            <a:ext cx="2560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3F728A"/>
                </a:solidFill>
                <a:latin typeface="Aptos"/>
              </a:rPr>
              <a:t>FORECAST ERROR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79" y="5742432"/>
            <a:ext cx="2743200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Re-run allocation monthly using realized pilot demand.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RISKS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Each major risk already has a countermeasure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042416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Every major threat should already have a response and owner before West Valley scales.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691640"/>
          <a:ext cx="108356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Trigger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Countermeasure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Freight spikes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Peak-season lane tightness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Lock core carrier capacity and maintain alternate lanes.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Logistics lead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Import or supply disruption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Supply interruption or customs delay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Use flexible grower contracts and staggered commitments.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Sourcing lead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Spoilage / service failures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Shrink or weak fill-rate trend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Tighten cold-chain controls and receiving discipline.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Operations lead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Forecast error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Demand misses by city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Run monthly S&amp;OP and reallocate by city using realized demand.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Commercial lead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Retailer uptake risk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Weak reorder behavior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Require stage gates before expanding beyond the pilot.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General manager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68680" y="5650992"/>
            <a:ext cx="9966960" cy="56692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833872"/>
            <a:ext cx="960120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Operating principle: the pilot should never carry an unmanaged risk; every major threat must already have a trigger, action, and owner before scale decisions are made.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14432" y="256032"/>
            <a:ext cx="1170432" cy="274320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332720" y="260604"/>
            <a:ext cx="113385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CAVEAT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model is ready for city choice, not exact allocation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212080" cy="33832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63640" y="1737360"/>
            <a:ext cx="5212080" cy="33832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1938528"/>
            <a:ext cx="210312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What we can defend 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240280"/>
            <a:ext cx="4663440" cy="2606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The cleaned dataset resolves to 40 city markets even though the case text references 41 metro regions.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The model is strong enough to choose where to test because every city is scored on the same 20,000-unit basis.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The ranking is resilient: all 40 cities remain profitable even at +50% shipping, so this is an optimization problem.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938528"/>
            <a:ext cx="228600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1">
                <a:solidFill>
                  <a:srgbClr val="B5533A"/>
                </a:solidFill>
                <a:latin typeface="Aptos Display"/>
              </a:rPr>
              <a:t>What still needs more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240280"/>
            <a:ext cx="4663440" cy="2606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- 2025 is partial-year data only and June 2025 retail price is used as the simple proxy for June 2026 retail price.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The model does not include shrink, retailer-level demand curves, or a fully expanded operating cost stack.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That means the deck can defend city selection now, but not exact retailer-by-retailer allocation yet.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440680"/>
            <a:ext cx="10012680" cy="6583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88720" y="5650992"/>
            <a:ext cx="201168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NEXT DATA TO COLLECT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596128"/>
            <a:ext cx="7726679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Pilot reorder behavior, lane-level spoilage, and retailer response would move West Valley from city choice to exact allocation.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Launch the 5-city pilot, then scale only with proof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27632"/>
            <a:ext cx="6400800" cy="443484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865376"/>
            <a:ext cx="237744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FINAL 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157984"/>
            <a:ext cx="5212080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600" b="1">
                <a:solidFill>
                  <a:srgbClr val="355C47"/>
                </a:solidFill>
                <a:latin typeface="Aptos Display"/>
              </a:rPr>
              <a:t>Launch Seattle, Boise, Portland, Spokane, and San Diego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834640"/>
            <a:ext cx="5440680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The recommendation holds because premium pricing stays stronger than modeled freight swings and seasonality can be managed.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3547872"/>
            <a:ext cx="1060704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0976" y="3552444"/>
            <a:ext cx="102412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84831" y="3547872"/>
            <a:ext cx="950976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03119" y="3552444"/>
            <a:ext cx="914400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BOISE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27248" y="3547872"/>
            <a:ext cx="1115568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45536" y="3552444"/>
            <a:ext cx="1078992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PORTLAND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3547872"/>
            <a:ext cx="1069848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52544" y="3552444"/>
            <a:ext cx="1033272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SPOKANE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95544" y="3547872"/>
            <a:ext cx="1271016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513832" y="3552444"/>
            <a:ext cx="1234440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SAN DIEGO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315968"/>
            <a:ext cx="1682496" cy="96926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42416" y="4425696"/>
            <a:ext cx="1426464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AVG PROFIT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" y="4626864"/>
            <a:ext cx="1426464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$13.7k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98064" y="4315968"/>
            <a:ext cx="1682496" cy="96926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926080" y="4425696"/>
            <a:ext cx="1426464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TOP-5 MARGIN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626864"/>
            <a:ext cx="1426464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69.7%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81728" y="4315968"/>
            <a:ext cx="1682496" cy="96926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09744" y="4425696"/>
            <a:ext cx="1426464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FREIGHT 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9744" y="4626864"/>
            <a:ext cx="1426464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900" b="1">
                <a:solidFill>
                  <a:srgbClr val="C58A2A"/>
                </a:solidFill>
                <a:latin typeface="Aptos Display"/>
              </a:rPr>
              <a:t>Same 5 cities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52360" y="1773936"/>
            <a:ext cx="4069080" cy="1152144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598664" y="1911096"/>
            <a:ext cx="377647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ECONOMICS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98664" y="2157984"/>
            <a:ext cx="377647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$13.7k avg profit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98664" y="2651760"/>
            <a:ext cx="3776472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The top five produce a meaningfully better profit tier than the next options.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52360" y="3127248"/>
            <a:ext cx="4069080" cy="1152144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98664" y="3264408"/>
            <a:ext cx="377647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RESILIENCE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8664" y="3511296"/>
            <a:ext cx="377647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Same 5 cities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98664" y="4005072"/>
            <a:ext cx="3776472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The ranking is unchanged in the base, +50%, and -50% freight cases.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52360" y="4480560"/>
            <a:ext cx="4069080" cy="1152144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98664" y="4617720"/>
            <a:ext cx="377647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OPERATING DISCIPLINE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98664" y="4864608"/>
            <a:ext cx="377647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Pilot before scale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98664" y="5358384"/>
            <a:ext cx="3776472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Scale only where live margin, service, and reorder data confirm the model.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52360" y="5522976"/>
            <a:ext cx="4069080" cy="566928"/>
          </a:xfrm>
          <a:prstGeom prst="roundRect">
            <a:avLst/>
          </a:prstGeom>
          <a:solidFill>
            <a:srgbClr val="F7F3EC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626096" y="5669280"/>
            <a:ext cx="365760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Next step: launch, measure live economics, then scale selectively rather than assuming the model is already fully proven.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SOURCES AND BACKUP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Appendix: sources, assumptions, and backup exhibits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664208"/>
            <a:ext cx="3657600" cy="42062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35424" y="1664208"/>
            <a:ext cx="3090672" cy="42062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790688" y="1664208"/>
            <a:ext cx="3657600" cy="42062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1901952"/>
            <a:ext cx="237744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Primary sources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240280"/>
            <a:ext cx="3200400" cy="31546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case_full.md and case_context.md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case_comp_data.csv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outputs/question_1.md through outputs/question_9.md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q5 to q7 profitability scenario CSVs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q8 seasonality CSVs and charts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1901952"/>
            <a:ext cx="219456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Core assumptions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2240280"/>
            <a:ext cx="2670048" cy="31546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- 20,000-unit comparable city scorecards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June 2025 retail price used as June 2026 proxy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Wholesale price modeled at 40% of retail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$0.20 acquisition cost per avocado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Shipping = $1,500 fixed + $50 per 100 miles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1901952"/>
            <a:ext cx="25603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Backup exhibits available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2240280"/>
            <a:ext cx="3154680" cy="31546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Winner matrix and city trend lines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Growth/share bridge and elasticity visuals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Selection matrix, frontier zoom, and freight sensitivity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Seasonality price and volume charts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Model caveats and implementation stage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6071616"/>
            <a:ext cx="1005840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0">
                <a:solidFill>
                  <a:srgbClr val="5F6B63"/>
                </a:solidFill>
                <a:latin typeface="Aptos"/>
              </a:rPr>
              <a:t>Use this appendix to answer questions on data scope, scenario assumptions, seasonality, or why the five-city recommendation stays stable under freight stress.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4804</Words>
  <Application>Microsoft Office PowerPoint</Application>
  <PresentationFormat>Widescreen</PresentationFormat>
  <Paragraphs>1116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Edward Liu</cp:lastModifiedBy>
  <cp:revision>1</cp:revision>
  <dcterms:created xsi:type="dcterms:W3CDTF">2013-01-27T09:14:16Z</dcterms:created>
  <dcterms:modified xsi:type="dcterms:W3CDTF">2026-03-20T18:58:13Z</dcterms:modified>
  <cp:category/>
</cp:coreProperties>
</file>