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21824" y="256032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40112" y="260604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DECISION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59536"/>
            <a:ext cx="53492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 FRESH DISTRIBUTION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133856"/>
            <a:ext cx="6583680" cy="1737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900" b="1">
                <a:solidFill>
                  <a:srgbClr val="355C47"/>
                </a:solidFill>
                <a:latin typeface="Aptos Display"/>
              </a:rPr>
              <a:t>A disciplined 5-city pilot is the right way to enter organic Hass avocados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630936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This deck argues for a selective launch, not a broad rollout, by testing price support, organic readiness, freight resilience, and seasonality in the supplied city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22191"/>
            <a:ext cx="201168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3931919"/>
            <a:ext cx="17556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PILOT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4133087"/>
            <a:ext cx="1755648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20,000 organic 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24912" y="3822191"/>
            <a:ext cx="182880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2928" y="3931919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4133087"/>
            <a:ext cx="1572768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40 city markets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01184" y="3822191"/>
            <a:ext cx="1965960" cy="8412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3931919"/>
            <a:ext cx="1709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33087"/>
            <a:ext cx="1709928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2019 to Jun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1170432"/>
            <a:ext cx="361188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444752"/>
            <a:ext cx="2560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DECISION TO PROVE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1737360"/>
            <a:ext cx="2999232" cy="7863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Win the right five cities first, then earn the right to scale.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697480"/>
            <a:ext cx="2880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THIS DECK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926080"/>
            <a:ext cx="2852928" cy="12984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support beats raw market size.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top cities hold through freight shocks.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changes how the pilot should run.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29200"/>
            <a:ext cx="6400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Prepared as an anonymized submission for the 2026 IMA Student Case Competition. The deck is designed to stand alone without speaker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a disciplined 5-city organic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653796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557784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9504"/>
            <a:ext cx="544068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These five cities combine premium June pricing, organic readiness, and manageable freight better than a broad national rollout.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80"/>
            <a:ext cx="105156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616452"/>
            <a:ext cx="10149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3611880"/>
            <a:ext cx="96012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616452"/>
            <a:ext cx="92354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81528" y="3611880"/>
            <a:ext cx="11247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9816" y="3616452"/>
            <a:ext cx="10881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611880"/>
            <a:ext cx="107899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3616452"/>
            <a:ext cx="104241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31536" y="3611880"/>
            <a:ext cx="129844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9824" y="3616452"/>
            <a:ext cx="12618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626864"/>
            <a:ext cx="15727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4368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2384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4626864"/>
            <a:ext cx="15727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69.7%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2624" y="4315968"/>
            <a:ext cx="1828800" cy="9875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626864"/>
            <a:ext cx="15727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79792" y="1737360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1837944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THESE CITIES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6096" y="2020824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55C47"/>
                </a:solidFill>
                <a:latin typeface="Aptos Display"/>
              </a:rPr>
              <a:t>Premium price markets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2322576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top five also rank as the strongest June organic price markets in the model.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79792" y="3127248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26096" y="3227832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 LIST HOLDS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3410712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3712464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city set does not change in the base, +50%, or -50% freight cases.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79792" y="4517136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6096" y="4617720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HOW TO OPERATE 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6096" y="4800600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C58A2A"/>
                </a:solidFill>
                <a:latin typeface="Aptos Display"/>
              </a:rPr>
              <a:t>Pilot before scale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6096" y="5102352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Launch narrowly, learn fast, then scale only where margin and service hold.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Model note: each city is scored on the same 20,000-unit scenario using June 2025 price as the June 2026 proxy.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Volume peaks before price</a:t>
            </a:r>
          </a:p>
        </p:txBody>
      </p:sp>
      <p:pic>
        <p:nvPicPr>
          <p:cNvPr id="9" name="Picture 8" descr="q8_seasonalit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06" y="1417320"/>
            <a:ext cx="4845403" cy="2834640"/>
          </a:xfrm>
          <a:prstGeom prst="rect">
            <a:avLst/>
          </a:prstGeom>
        </p:spPr>
      </p:pic>
      <p:pic>
        <p:nvPicPr>
          <p:cNvPr id="10" name="Picture 9" descr="q8_seasonality_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299" y="1417320"/>
            <a:ext cx="4832777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407408"/>
            <a:ext cx="534924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Volume arrives early. Organic volume peaks in January, conventional peaks in May, and both soften into November.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4407408"/>
            <a:ext cx="534924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Price crests later. Both organic and conventional prices peak in July and bottom in February.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919472"/>
            <a:ext cx="1083564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0">
                <a:solidFill>
                  <a:srgbClr val="5F6B63"/>
                </a:solidFill>
                <a:latin typeface="Aptos"/>
              </a:rPr>
              <a:t>The market absorbs more units before it offers peak pricing, so timing affects margin capture, promotions, and inventory allocation.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676656"/>
            <a:ext cx="11430000" cy="50749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ck_q2_growth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484" y="841248"/>
            <a:ext cx="10560550" cy="47365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" y="5504688"/>
            <a:ext cx="10972800" cy="6583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5614416"/>
            <a:ext cx="1051560" cy="43891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669280"/>
            <a:ext cx="94183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5596128"/>
            <a:ext cx="71780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Organic is still a niche share of the total market, but it is growing materially faster than the overall Hass category.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62872" y="5632704"/>
            <a:ext cx="0" cy="40233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27464" y="5596128"/>
            <a:ext cx="1938528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Use this as market context, not as a launch recommendation by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Three filters should decide the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82496"/>
            <a:ext cx="1078992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901952"/>
            <a:ext cx="2788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GOOD LOOKS LIKE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1901952"/>
            <a:ext cx="4800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EVIDENCE IN THE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1901952"/>
            <a:ext cx="19202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249424"/>
            <a:ext cx="1261872" cy="67665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404872"/>
            <a:ext cx="10789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Price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322576"/>
            <a:ext cx="26517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$2.09 to $2.66 June 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2304288"/>
            <a:ext cx="4526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selected five are also the five highest-price June 2025 organic markets.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304288"/>
            <a:ext cx="1097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Price support is the first screen, not a nice-to-have.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127248"/>
            <a:ext cx="1261872" cy="67665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282696"/>
            <a:ext cx="10789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Organic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3200400"/>
            <a:ext cx="26517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Seattle leads 5 of 7 periods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3182112"/>
            <a:ext cx="4526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Penetration differs sharply by city, so the launch must favor markets already buying premium mix.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3182112"/>
            <a:ext cx="1097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Scale alone is not enough to win an organic pilot.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005072"/>
            <a:ext cx="1261872" cy="67665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160520"/>
            <a:ext cx="10789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CFAF5"/>
                </a:solidFill>
                <a:latin typeface="Aptos Display"/>
              </a:rPr>
              <a:t>Route efficiency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2" y="4078224"/>
            <a:ext cx="26517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B5533A"/>
                </a:solidFill>
                <a:latin typeface="Aptos Display"/>
              </a:rPr>
              <a:t>$813 to $1.0k profit loss at +50% freight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2" y="4059936"/>
            <a:ext cx="4526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The recommended cities keep the same ranking even after a large shipping shock.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4059936"/>
            <a:ext cx="1097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Freight can cut margin, but it does not break the top five.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85232"/>
            <a:ext cx="10881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These three filters explain why the Pacific Northwest plus San Diego survives every screen that follows.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wins Q1 in every period and both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781812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47088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WINNER HEATMAP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1901952"/>
            <a:ext cx="18288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0096" y="1901952"/>
            <a:ext cx="18288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F728A"/>
                </a:solidFill>
                <a:latin typeface="Aptos"/>
              </a:rPr>
              <a:t>ORGANIC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304288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7712" y="2212848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267712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267712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$168.4M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2212848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2267712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2267712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$9.1M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798064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2706624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761488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761488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$183.5M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92624" y="2706624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2761488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2761488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291840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67712" y="3200400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255264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255264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$185.8M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92624" y="3200400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3255264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255264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$12.7M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3785616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67712" y="3694176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3749040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749040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$200.9M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92624" y="3694176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02352" y="3749040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50992" y="3749040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$11.8M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" y="4279392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67712" y="4187952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4242816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4242816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$183.9M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92624" y="4187952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02352" y="4242816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4242816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$11.2M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773168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67712" y="4681728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4736592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6080" y="4736592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$211.2M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92624" y="4681728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02352" y="4736592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50992" y="4736592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$15.3M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" y="5266944"/>
            <a:ext cx="107899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67712" y="5175504"/>
            <a:ext cx="2395728" cy="365760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5230368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LA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26080" y="5230368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$113.2M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2624" y="5175504"/>
            <a:ext cx="2395728" cy="365760"/>
          </a:xfrm>
          <a:prstGeom prst="roundRect">
            <a:avLst/>
          </a:prstGeom>
          <a:solidFill>
            <a:srgbClr val="EEF4F2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02352" y="5230368"/>
            <a:ext cx="4206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F728A"/>
                </a:solidFill>
                <a:latin typeface="Aptos Display"/>
              </a:rPr>
              <a:t>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50992" y="5230368"/>
            <a:ext cx="15727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1F2621"/>
                </a:solidFill>
                <a:latin typeface="Aptos"/>
              </a:rPr>
              <a:t>$8.1M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2688" y="5486400"/>
            <a:ext cx="7315200" cy="4206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60704" y="5596128"/>
            <a:ext cx="1051560" cy="20116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5568" y="5650992"/>
            <a:ext cx="941832" cy="914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04288" y="5577840"/>
            <a:ext cx="5742432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Q1 is unambiguous: Los Angeles wins both product types in every required period.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1627632"/>
            <a:ext cx="274320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034272" y="1938528"/>
            <a:ext cx="102412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62288" y="2048256"/>
            <a:ext cx="76809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WINNER CELLS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62288" y="2249424"/>
            <a:ext cx="76809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14/14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131552" y="1938528"/>
            <a:ext cx="109728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59568" y="2048256"/>
            <a:ext cx="8412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CONV.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59568" y="2249424"/>
            <a:ext cx="84124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$211.2M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ORGANIC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$15.3M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4187952"/>
            <a:ext cx="2176272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Los Angeles wins scale decisively.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answers Q1 cleanly.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It does not win the pilot by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is the conventional revenue outlier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781812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72768" y="5248656"/>
            <a:ext cx="5513832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72768" y="2414016"/>
            <a:ext cx="0" cy="283464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72768" y="453999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2688" y="446684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$100M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72768" y="383133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32688" y="375818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$200M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72768" y="312267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304952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$300M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72768" y="241401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2688" y="234086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$400M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17550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75104"/>
            <a:ext cx="72694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CONVENTIONAL REVENUE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771900"/>
            <a:ext cx="384048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sp>
        <p:nvSpPr>
          <p:cNvPr id="24" name="Oval 23"/>
          <p:cNvSpPr/>
          <p:nvPr/>
        </p:nvSpPr>
        <p:spPr>
          <a:xfrm>
            <a:off x="1517904" y="400011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572768" y="3948489"/>
            <a:ext cx="918972" cy="106492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436876" y="389362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2491740" y="3932094"/>
            <a:ext cx="918972" cy="16395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355848" y="387723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410712" y="3825065"/>
            <a:ext cx="918972" cy="107029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274820" y="377020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329684" y="3825065"/>
            <a:ext cx="918972" cy="120547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193792" y="389074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5248656" y="3751738"/>
            <a:ext cx="918972" cy="193874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12764" y="369687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167628" y="3751738"/>
            <a:ext cx="918972" cy="694773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031736" y="439164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sp>
        <p:nvSpPr>
          <p:cNvPr id="38" name="Oval 37"/>
          <p:cNvSpPr/>
          <p:nvPr/>
        </p:nvSpPr>
        <p:spPr>
          <a:xfrm>
            <a:off x="1517904" y="436477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572768" y="4275043"/>
            <a:ext cx="918972" cy="144599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436876" y="422017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491740" y="4275043"/>
            <a:ext cx="918972" cy="8867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355848" y="430884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3410712" y="4318433"/>
            <a:ext cx="918972" cy="4528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274820" y="426356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329684" y="4318433"/>
            <a:ext cx="918972" cy="5732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193792" y="4320891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5248656" y="4104563"/>
            <a:ext cx="918972" cy="27119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112764" y="404969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167628" y="4104563"/>
            <a:ext cx="918972" cy="501309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031736" y="455100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2452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sp>
        <p:nvSpPr>
          <p:cNvPr id="52" name="Oval 51"/>
          <p:cNvSpPr/>
          <p:nvPr/>
        </p:nvSpPr>
        <p:spPr>
          <a:xfrm>
            <a:off x="1517904" y="473711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572768" y="4771970"/>
            <a:ext cx="918972" cy="20010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2436876" y="471710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491740" y="4771970"/>
            <a:ext cx="918972" cy="33838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3355848" y="4750944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410712" y="4745353"/>
            <a:ext cx="918972" cy="60455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274820" y="4690489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4329684" y="4745353"/>
            <a:ext cx="918972" cy="58067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193792" y="474855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5248656" y="4729658"/>
            <a:ext cx="918972" cy="73762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112764" y="4674794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167628" y="4729658"/>
            <a:ext cx="918972" cy="217279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7031736" y="4892073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5040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sp>
        <p:nvSpPr>
          <p:cNvPr id="66" name="Oval 65"/>
          <p:cNvSpPr/>
          <p:nvPr/>
        </p:nvSpPr>
        <p:spPr>
          <a:xfrm>
            <a:off x="1517904" y="477243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1572768" y="4769107"/>
            <a:ext cx="918972" cy="58189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436876" y="471424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491740" y="4769107"/>
            <a:ext cx="918972" cy="34434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355848" y="4748677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3410712" y="4786798"/>
            <a:ext cx="918972" cy="16743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274820" y="4731934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4329684" y="4786798"/>
            <a:ext cx="918972" cy="33019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193792" y="476495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5248656" y="4709856"/>
            <a:ext cx="918972" cy="109961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112764" y="465499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167628" y="4709856"/>
            <a:ext cx="918972" cy="243424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7031736" y="4898416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7628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80" name="Oval 79"/>
          <p:cNvSpPr/>
          <p:nvPr/>
        </p:nvSpPr>
        <p:spPr>
          <a:xfrm>
            <a:off x="1517904" y="4808073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1572768" y="4825412"/>
            <a:ext cx="918972" cy="3752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2436876" y="4770548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2491740" y="4825412"/>
            <a:ext cx="918972" cy="1598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3355848" y="4786529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3410712" y="4789746"/>
            <a:ext cx="918972" cy="51647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4274820" y="4734882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329684" y="4789746"/>
            <a:ext cx="918972" cy="28268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193792" y="476315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5248656" y="4752730"/>
            <a:ext cx="918972" cy="65284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112764" y="4697866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67628" y="4752730"/>
            <a:ext cx="918972" cy="216905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7031736" y="4914771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7114032" y="4407408"/>
            <a:ext cx="18288" cy="39103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159752" y="427939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7114032" y="4590288"/>
            <a:ext cx="18288" cy="15584"/>
          </a:xfrm>
          <a:prstGeom prst="line">
            <a:avLst/>
          </a:prstGeom>
          <a:ln w="114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159752" y="446227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cxnSp>
        <p:nvCxnSpPr>
          <p:cNvPr id="97" name="Connector 96"/>
          <p:cNvCxnSpPr/>
          <p:nvPr/>
        </p:nvCxnSpPr>
        <p:spPr>
          <a:xfrm flipV="1">
            <a:off x="7114032" y="4773168"/>
            <a:ext cx="18288" cy="173769"/>
          </a:xfrm>
          <a:prstGeom prst="line">
            <a:avLst/>
          </a:prstGeom>
          <a:ln w="114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59752" y="464515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114032" y="4953280"/>
            <a:ext cx="18288" cy="2768"/>
          </a:xfrm>
          <a:prstGeom prst="line">
            <a:avLst/>
          </a:prstGeom>
          <a:ln w="114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159752" y="482803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114032" y="4969635"/>
            <a:ext cx="18288" cy="169293"/>
          </a:xfrm>
          <a:prstGeom prst="line">
            <a:avLst/>
          </a:prstGeom>
          <a:ln w="114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159752" y="501091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16736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5708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54680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73652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92624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11596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30568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759952" y="1645920"/>
            <a:ext cx="274320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9034272" y="1938528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62288" y="2048256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LEAD VS NY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162288" y="2249424"/>
            <a:ext cx="19385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$49.8M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2025 H1 LEAD VS NY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$22.5M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4315968"/>
            <a:ext cx="214884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Los Angeles does not just edge out the field. It runs a different revenue tier.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leads organic sales, but not by much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781812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72768" y="5248656"/>
            <a:ext cx="5513832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72768" y="2414016"/>
            <a:ext cx="0" cy="283464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72768" y="453999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2688" y="446684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$5M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72768" y="383133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32688" y="375818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72768" y="312267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304952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$15M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72768" y="2414016"/>
            <a:ext cx="551383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2688" y="234086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17550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75104"/>
            <a:ext cx="72694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ORGANIC REVENUE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771900"/>
            <a:ext cx="384048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sp>
        <p:nvSpPr>
          <p:cNvPr id="24" name="Oval 23"/>
          <p:cNvSpPr/>
          <p:nvPr/>
        </p:nvSpPr>
        <p:spPr>
          <a:xfrm>
            <a:off x="1517904" y="3908484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572768" y="3560880"/>
            <a:ext cx="918972" cy="402468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436876" y="350601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2491740" y="3447575"/>
            <a:ext cx="918972" cy="113305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355848" y="3392711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410712" y="3447575"/>
            <a:ext cx="918972" cy="128260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274820" y="3520971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329684" y="3575835"/>
            <a:ext cx="918972" cy="82947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193792" y="3603918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5248656" y="3085010"/>
            <a:ext cx="918972" cy="573772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12764" y="303014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167628" y="3085010"/>
            <a:ext cx="918972" cy="1009223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031736" y="4039369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sp>
        <p:nvSpPr>
          <p:cNvPr id="38" name="Oval 37"/>
          <p:cNvSpPr/>
          <p:nvPr/>
        </p:nvSpPr>
        <p:spPr>
          <a:xfrm>
            <a:off x="1517904" y="393901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572768" y="3944964"/>
            <a:ext cx="918972" cy="48915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436876" y="389010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491740" y="3891521"/>
            <a:ext cx="918972" cy="53443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355848" y="383665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410712" y="3891521"/>
            <a:ext cx="918972" cy="19788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274820" y="385644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329684" y="3911309"/>
            <a:ext cx="918972" cy="13311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193792" y="386975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5248656" y="3467543"/>
            <a:ext cx="918972" cy="457077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112764" y="341267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167628" y="3467543"/>
            <a:ext cx="918972" cy="720241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031736" y="413292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2452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sp>
        <p:nvSpPr>
          <p:cNvPr id="52" name="Oval 51"/>
          <p:cNvSpPr/>
          <p:nvPr/>
        </p:nvSpPr>
        <p:spPr>
          <a:xfrm>
            <a:off x="1517904" y="427461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572768" y="4286393"/>
            <a:ext cx="918972" cy="43081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2436876" y="423152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491740" y="4286393"/>
            <a:ext cx="918972" cy="34866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3355848" y="426639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410712" y="4251501"/>
            <a:ext cx="918972" cy="69758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274820" y="419663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4329684" y="4218647"/>
            <a:ext cx="918972" cy="32854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193792" y="416378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5248656" y="3986487"/>
            <a:ext cx="918972" cy="23216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112764" y="393162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167628" y="3986487"/>
            <a:ext cx="918972" cy="672809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7031736" y="460443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5040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66" name="Oval 65"/>
          <p:cNvSpPr/>
          <p:nvPr/>
        </p:nvSpPr>
        <p:spPr>
          <a:xfrm>
            <a:off x="1517904" y="4509156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1572768" y="4301658"/>
            <a:ext cx="918972" cy="262362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436876" y="4246794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2491740" y="4175509"/>
            <a:ext cx="918972" cy="126149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355848" y="4120645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410712" y="4175509"/>
            <a:ext cx="918972" cy="23725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274820" y="4144370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4329684" y="4199234"/>
            <a:ext cx="918972" cy="184705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193792" y="4329075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248656" y="4383939"/>
            <a:ext cx="918972" cy="3744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112764" y="4366521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167628" y="4421385"/>
            <a:ext cx="918972" cy="366892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7031736" y="473341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76288" y="215798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sp>
        <p:nvSpPr>
          <p:cNvPr id="80" name="Oval 79"/>
          <p:cNvSpPr/>
          <p:nvPr/>
        </p:nvSpPr>
        <p:spPr>
          <a:xfrm>
            <a:off x="1517904" y="4605744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1572768" y="4576120"/>
            <a:ext cx="918972" cy="84488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2436876" y="4521256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2491740" y="4524649"/>
            <a:ext cx="918972" cy="5147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3355848" y="446978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3410712" y="4513924"/>
            <a:ext cx="918972" cy="1072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4274820" y="445906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329684" y="4513924"/>
            <a:ext cx="918972" cy="10515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193792" y="456421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5248656" y="4105244"/>
            <a:ext cx="918972" cy="51383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112764" y="405038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67628" y="4105244"/>
            <a:ext cx="918972" cy="441832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7031736" y="4492212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7114032" y="4094233"/>
            <a:ext cx="18288" cy="54864"/>
          </a:xfrm>
          <a:prstGeom prst="line">
            <a:avLst/>
          </a:prstGeom>
          <a:ln w="114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159752" y="4021081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114032" y="4187784"/>
            <a:ext cx="18288" cy="144193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159752" y="4203961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114032" y="4547076"/>
            <a:ext cx="18288" cy="54864"/>
          </a:xfrm>
          <a:prstGeom prst="line">
            <a:avLst/>
          </a:prstGeom>
          <a:ln w="114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59752" y="447392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114032" y="4659296"/>
            <a:ext cx="18288" cy="125524"/>
          </a:xfrm>
          <a:prstGeom prst="line">
            <a:avLst/>
          </a:prstGeom>
          <a:ln w="114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159752" y="465680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114032" y="4788277"/>
            <a:ext cx="18288" cy="179423"/>
          </a:xfrm>
          <a:prstGeom prst="line">
            <a:avLst/>
          </a:prstGeom>
          <a:ln w="114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159752" y="483968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16736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5708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54680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73652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92624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11596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30568" y="5321808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759952" y="1645920"/>
            <a:ext cx="2743200" cy="435254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9034272" y="1938528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62288" y="2048256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 LEAD VS NY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162288" y="2249424"/>
            <a:ext cx="19385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$2.7M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034272" y="2999232"/>
            <a:ext cx="21945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162288" y="3108960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 IN TOP TIER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2288" y="3310128"/>
            <a:ext cx="19385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Top 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4315968"/>
            <a:ext cx="214884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Organic is less concentrated than conventional, which is exactly why pilot choice can diverge from raw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Seattle leads organic penetration in most periods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107899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WINNER TIMELINE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11.82%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76272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40487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04872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9.86%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6744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895344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95344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13632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10.10%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157216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85816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5816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2852928"/>
            <a:ext cx="123444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ORLANDO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85816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C58A2A"/>
                </a:solidFill>
                <a:latin typeface="Aptos Display"/>
              </a:rPr>
              <a:t>12.87%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47688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76288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6288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76288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94576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10.40%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38160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66759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59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66759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7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59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11.19%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628631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85723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57232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57232" y="2852928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0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CHARLOTTE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F728A"/>
                </a:solidFill>
                <a:latin typeface="Aptos Display"/>
              </a:rPr>
              <a:t>9.45%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2688" y="3968496"/>
            <a:ext cx="10195560" cy="11155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" y="4069080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MOST FREQUENT LEADER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" y="4224528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Seattle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" y="4480560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Wins 5 of the 7 measured periods and is the clearest indicator of organic readiness.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331208" y="4133088"/>
            <a:ext cx="0" cy="786384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459224" y="4069080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BEST ONE-YEAR SHARE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59224" y="4224528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Orlando 12.87%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9224" y="4480560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Orlando peaks in 2022, but it does not sustain the same multi-period lead.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729728" y="4133088"/>
            <a:ext cx="0" cy="786384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7744" y="4069080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CURRENT H1 LEADER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57744" y="4224528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Charlotte 9.45%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57744" y="4480560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Charlotte leads 2025 H1, showing that penetration leadership is not static.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Organic is growing fast but still niche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00784"/>
            <a:ext cx="10744200" cy="11430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01368"/>
            <a:ext cx="243001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2019 ORGANIC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56816"/>
            <a:ext cx="243001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4.15%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12848"/>
            <a:ext cx="2430018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Organic started from a small base inside the total Hass market.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3585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63874" y="1801368"/>
            <a:ext cx="243001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2024 ORGANIC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3874" y="1956816"/>
            <a:ext cx="243001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5.91%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3874" y="2212848"/>
            <a:ext cx="2430018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The share has risen, but it is still a minority slice of total demand.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190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49924" y="1801368"/>
            <a:ext cx="243001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VOLUME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1956816"/>
            <a:ext cx="243001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+89.3%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9924" y="2212848"/>
            <a:ext cx="2430018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Organic volume grew much faster than the total category from 2019 to 2024.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07958" y="1865376"/>
            <a:ext cx="0" cy="81381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5974" y="1801368"/>
            <a:ext cx="243001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TOTAL VOLUME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1956816"/>
            <a:ext cx="243001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B5533A"/>
                </a:solidFill>
                <a:latin typeface="Aptos Display"/>
              </a:rPr>
              <a:t>+32.8%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5974" y="2212848"/>
            <a:ext cx="2430018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The overall market also expanded, but at a much slower pace.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163824"/>
            <a:ext cx="5074920" cy="25603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3438144"/>
            <a:ext cx="16459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THIS MEANS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749039"/>
            <a:ext cx="438912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Growth is real enough to justify entry.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Scale is still small enough that city choice matters.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favors a pilot, not a broad launch.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163824"/>
            <a:ext cx="5367528" cy="25603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3438144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3803904"/>
            <a:ext cx="4754880" cy="12344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Organic is growing fast, but it is not mature enough to reward a broad, undifferentiated rollout. West Valley should enter selectively.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Higher prices usually mean lower volume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566928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01952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MARKET-LEVEL RELATIONSHIP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2212848"/>
            <a:ext cx="141732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1612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523744"/>
            <a:ext cx="1161288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-0.427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42032" y="2212848"/>
            <a:ext cx="141732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0048" y="2322576"/>
            <a:ext cx="11612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23744"/>
            <a:ext cx="1161288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0.183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6512" y="2212848"/>
            <a:ext cx="1938528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8" y="2322576"/>
            <a:ext cx="168249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2523744"/>
            <a:ext cx="1682496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-4.96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657600"/>
            <a:ext cx="4846320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matters, but not cleanly enough to drive the whole decision.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Higher-price markets often sell fewer units.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City choice still needs local market context.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1682496"/>
            <a:ext cx="4828032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190195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READ IT THIS 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249424"/>
            <a:ext cx="4297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000" b="1">
                <a:solidFill>
                  <a:srgbClr val="355C47"/>
                </a:solidFill>
                <a:latin typeface="Aptos Display"/>
              </a:rPr>
              <a:t>Price matters at the market level.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834640"/>
            <a:ext cx="4251960" cy="960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But it does not tell the whole story. Market mix, organic readiness, and local structure still explain why some cities are better pilot markets than others.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4187952"/>
            <a:ext cx="42062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That is why the deck separates scale, readiness, and economics instead of forcing one metric to do every job.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Within each type, price explains little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773936"/>
            <a:ext cx="5074920" cy="36118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011680"/>
            <a:ext cx="1828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CONVENTIONAL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395728"/>
            <a:ext cx="13716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505456"/>
            <a:ext cx="11155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706624"/>
            <a:ext cx="11155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-0.026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96896" y="2395728"/>
            <a:ext cx="12801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505456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706624"/>
            <a:ext cx="10241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0.001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2395728"/>
            <a:ext cx="14173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33088" y="2505456"/>
            <a:ext cx="11612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2706624"/>
            <a:ext cx="11612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675887"/>
            <a:ext cx="43891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Within each type, price explains little on its own. Local market structure and mix still do the real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1773936"/>
            <a:ext cx="5074920" cy="36118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011680"/>
            <a:ext cx="1828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ORGANIC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2395728"/>
            <a:ext cx="13716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2505456"/>
            <a:ext cx="11155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06624"/>
            <a:ext cx="11155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-0.044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2395728"/>
            <a:ext cx="12801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5592" y="2505456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706624"/>
            <a:ext cx="10241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0.002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45752" y="2395728"/>
            <a:ext cx="14173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73768" y="2505456"/>
            <a:ext cx="11612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ELASTICITY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73768" y="2706624"/>
            <a:ext cx="11612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-0.81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3675887"/>
            <a:ext cx="43891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Within each type, price explains little on its own. Local market structure and mix still do the real work.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" y="5650992"/>
            <a:ext cx="10058400" cy="5120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5815584"/>
            <a:ext cx="96926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Implication: elasticity is context, not the recommendation. City-level economics and readiness still decide the launch.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launch still faces freight, fuel, labor, and import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18288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965960"/>
            <a:ext cx="46908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212848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Freight + fuel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706624"/>
            <a:ext cx="469087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Affects landed cost and changes the margin penalty on long-haul markets.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46908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12848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Imported supply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06624"/>
            <a:ext cx="469087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Mexico and cross-border flow disruptions can tighten availability and raise uncertainty.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6576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794760"/>
            <a:ext cx="46908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041648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889A83"/>
                </a:solidFill>
                <a:latin typeface="Aptos Display"/>
              </a:rPr>
              <a:t>Labor + inflation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535424"/>
            <a:ext cx="469087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Raises operating pressure throughout sourcing, distribution, and retail execution.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3657600"/>
            <a:ext cx="498348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794760"/>
            <a:ext cx="46908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DRIVER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41648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Seasonality + promotions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35424"/>
            <a:ext cx="469087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Changes when the market wants volume and when it supports price.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650992"/>
            <a:ext cx="10058400" cy="5120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815584"/>
            <a:ext cx="96926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These drivers raise the cost of being wrong. That is why West Valley should launch narrowly and scale with proof.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 wins on scale; Seattle and the Northwest win on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737360"/>
            <a:ext cx="6537960" cy="42245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1956816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LOS ANGELES DEMAND FACTORS (INFERRED)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2249424"/>
            <a:ext cx="2816352" cy="129844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350008"/>
            <a:ext cx="252374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532888"/>
            <a:ext cx="2523744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55C47"/>
                </a:solidFill>
                <a:latin typeface="Aptos Display"/>
              </a:rPr>
              <a:t>Culinary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34640"/>
            <a:ext cx="2523744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Avocados are deeply embedded in Mexican and California food usage, which supports frequent basket demand.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249424"/>
            <a:ext cx="2816352" cy="129844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4" y="2350008"/>
            <a:ext cx="252374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4" y="2532888"/>
            <a:ext cx="2523744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F728A"/>
                </a:solidFill>
                <a:latin typeface="Aptos Display"/>
              </a:rPr>
              <a:t>Retail + foodservice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4" y="2834640"/>
            <a:ext cx="2523744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Los Angeles has a massive grocery, restaurant, and prepared-food footprint that creates more outlets for avocado turns.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3822191"/>
            <a:ext cx="2816352" cy="129844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922775"/>
            <a:ext cx="252374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4105655"/>
            <a:ext cx="2523744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C58A2A"/>
                </a:solidFill>
                <a:latin typeface="Aptos Display"/>
              </a:rPr>
              <a:t>Freshness + familiarity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523744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Proximity to California and Mexican supply likely supports habitual purchase and product confidence.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3822191"/>
            <a:ext cx="2816352" cy="129844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9664" y="3922775"/>
            <a:ext cx="252374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FACTOR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4" y="4105655"/>
            <a:ext cx="2523744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B5533A"/>
                </a:solidFill>
                <a:latin typeface="Aptos Display"/>
              </a:rPr>
              <a:t>Health-forward demand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9664" y="4407407"/>
            <a:ext cx="2523744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Wellness-oriented and higher-income submarkets help support premium produce demand.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71231" y="1737360"/>
            <a:ext cx="3931920" cy="42245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7264" y="1956816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SO WHAT FOR THE PILOT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27264" y="2267712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2377440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LA ORGANIC SHARE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0" y="2578608"/>
            <a:ext cx="1316736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4.9%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46336" y="2267712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4352" y="2377440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LA JUNE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78608"/>
            <a:ext cx="1316736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$1.87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27264" y="3310128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0" y="3419856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3621024"/>
            <a:ext cx="1316736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11.2%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46336" y="3310128"/>
            <a:ext cx="1572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2" y="3419856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SELECTED-5 AVG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621024"/>
            <a:ext cx="1316736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$2.45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27264" y="4443984"/>
            <a:ext cx="306324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Los Angeles explains where scale sits.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Seattle and the Pacific Northwest explain where premium organic entry works better.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These are inferred demand drivers, not direct causal proof.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Winning entry markets need price, readiness, and manageable miles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7818120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ENTRY SCREEN LEADERBOARD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212848"/>
          <a:ext cx="6400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188720"/>
                <a:gridCol w="914400"/>
                <a:gridCol w="1143000"/>
                <a:gridCol w="868680"/>
              </a:tblGrid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City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Organic share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Miles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Profit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Pilot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1,029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$15,266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$2.59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5.4%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827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$14,838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$2.54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855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$14,408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$12,992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$2.09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253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$11,126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Francisco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283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$10,118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Sacramento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$1.90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3.7%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277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$9,578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Los Angeles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$1.87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111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$9,404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759952" y="1700784"/>
            <a:ext cx="2761488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5984" y="1993392"/>
            <a:ext cx="224028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power filters out large but lower-value markets.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 readiness helps separate premium-fit cities from simple scale leaders.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Miles still matter, but they do not overturn a strong local price advantage.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4224528"/>
            <a:ext cx="215798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4334256"/>
            <a:ext cx="19019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BRIDGE TO RECOMMENDATION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535424"/>
            <a:ext cx="190195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Best pilot set = top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profit model is simple enough to audit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40080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9019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AVERAGE UNIT ECONOMICS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907792"/>
            <a:ext cx="4251960" cy="38404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349240" y="3099816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7227" y="2907792"/>
            <a:ext cx="866333" cy="384048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757227" y="3099816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73179" y="2907792"/>
            <a:ext cx="658368" cy="38404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373179" y="3099816"/>
            <a:ext cx="27432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647499" y="2907792"/>
            <a:ext cx="2972798" cy="384048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2633472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46704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$19.6k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633472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346704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B5533A"/>
                </a:solidFill>
                <a:latin typeface="Aptos"/>
              </a:rPr>
              <a:t>$-4.0k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633472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SHIPPING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346704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F728A"/>
                </a:solidFill>
                <a:latin typeface="Aptos"/>
              </a:rPr>
              <a:t>$-1.9k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2633472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346704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C58A2A"/>
                </a:solidFill>
                <a:latin typeface="Aptos"/>
              </a:rPr>
              <a:t>$13.7k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187952"/>
            <a:ext cx="566928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1"/>
                </a:solidFill>
                <a:latin typeface="Aptos"/>
              </a:rPr>
              <a:t>Each city is scored using the same 20,000-unit assumption: planned wholesale revenue minus acquisition cost and the freight formula. The simplicity is a feature because judges can audit the math quickly.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1682496"/>
            <a:ext cx="4078224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662672" y="1956816"/>
            <a:ext cx="3566160" cy="2084831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90688" y="2084832"/>
            <a:ext cx="9326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90688" y="2267712"/>
            <a:ext cx="9326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20,000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0688" y="2615184"/>
            <a:ext cx="932688" cy="128015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Comparable scorecard for each city.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51392" y="2121408"/>
            <a:ext cx="0" cy="1755647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2084832"/>
            <a:ext cx="9326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WHOLESALE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2267712"/>
            <a:ext cx="9326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40% of retail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9408" y="2615184"/>
            <a:ext cx="932688" cy="128015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Revenue proxy used consistently across markets.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040112" y="2121408"/>
            <a:ext cx="0" cy="1755647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168128" y="2084832"/>
            <a:ext cx="9326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8128" y="2267712"/>
            <a:ext cx="9326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C58A2A"/>
                </a:solidFill>
                <a:latin typeface="Aptos Display"/>
              </a:rPr>
              <a:t>$1,500 + $50 / 100 miles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615184"/>
            <a:ext cx="932688" cy="1280159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Makes distance visible without overcomplicating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480560"/>
            <a:ext cx="347472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This is not a full allocation model yet. It is a transparent city-selection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June pricing makes the Northwest the premium 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85800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217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JUNE 2025 ORGANIC RETAIL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8483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93976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093976"/>
            <a:ext cx="347472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04825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3230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2441448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51760" y="2441448"/>
            <a:ext cx="3388505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39572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77977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2788920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651760" y="2788920"/>
            <a:ext cx="3320578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274320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312724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36392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51760" y="3136392"/>
            <a:ext cx="310896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309067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47472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3483864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651760" y="3483864"/>
            <a:ext cx="2735362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343814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$2.09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382219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San Fran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831336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51760" y="3831336"/>
            <a:ext cx="2573383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378561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416966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Cincy/Dayton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51760" y="4178808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651760" y="4178808"/>
            <a:ext cx="2510681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413308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451713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51760" y="4526280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651760" y="4526280"/>
            <a:ext cx="2484555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448056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486460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51760" y="4873752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651760" y="4873752"/>
            <a:ext cx="2442754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91072" y="482803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521208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Atlanta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5221224"/>
            <a:ext cx="34747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51760" y="5221224"/>
            <a:ext cx="2380053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1072" y="517550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$1.82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27264" y="1682496"/>
            <a:ext cx="3675887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83296" y="1956816"/>
            <a:ext cx="159105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11312" y="2066544"/>
            <a:ext cx="133502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 CITIES IN TOP 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2" y="2267712"/>
            <a:ext cx="133502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5/5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02368" y="1956816"/>
            <a:ext cx="142646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30384" y="2066544"/>
            <a:ext cx="117043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TOP PRICE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0384" y="2267712"/>
            <a:ext cx="117043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$2.66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296" y="3145536"/>
            <a:ext cx="2926080" cy="1554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All five recommended cities also sit in the top five on June price.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is why price support keeps beating freight pressure later in the deck.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Price is the revenue-side reason this pilot wins.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Base-case profit shows a real top-five cut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658368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59893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10 CITY PROFIT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996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07608" y="199339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$15,266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6829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96896" y="237744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96896" y="2377440"/>
            <a:ext cx="3155321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7608" y="233172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70662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271576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96896" y="2715768"/>
            <a:ext cx="3063884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07608" y="267004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04495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96896" y="305409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96896" y="3054096"/>
            <a:ext cx="2762567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07608" y="300837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$12,992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38328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96896" y="339242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96896" y="3392424"/>
            <a:ext cx="236577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7608" y="334670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$11,126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72160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San Fran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96896" y="373075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96896" y="3730752"/>
            <a:ext cx="215164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07608" y="368503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$10,118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405993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406908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96896" y="4069080"/>
            <a:ext cx="203660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07608" y="402336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$9,578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9826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96896" y="440740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596896" y="4407408"/>
            <a:ext cx="1999812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07608" y="436168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$9,404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473659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Cincy/Dayton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96896" y="474573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96896" y="4745736"/>
            <a:ext cx="1867229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470001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$8,781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507492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96896" y="508406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596896" y="5084064"/>
            <a:ext cx="1746447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07608" y="503834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$8,213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1" y="1572768"/>
            <a:ext cx="393192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27264" y="1828800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CUT LINE IS DEFENSIBLE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27264" y="2139696"/>
            <a:ext cx="173736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2249424"/>
            <a:ext cx="14813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2450592"/>
            <a:ext cx="1481328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56064" y="2139696"/>
            <a:ext cx="1572768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84080" y="2249424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NEXT-5 AVG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2450592"/>
            <a:ext cx="1316736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$9.2k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27264" y="3218688"/>
            <a:ext cx="34015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80" y="3328416"/>
            <a:ext cx="31455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VS RANK-6 GAP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80" y="3529584"/>
            <a:ext cx="314553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264" y="4315968"/>
            <a:ext cx="3108960" cy="12344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There is a real cut line after rank five.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All five win on economics, not just proximity.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makes the recommendation easier to defend in the room.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recommendation is a West Coast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28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220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02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1572768"/>
            <a:ext cx="160020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577340"/>
            <a:ext cx="156362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1975104"/>
            <a:ext cx="690372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121408"/>
            <a:ext cx="63550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GEOGRAPHIC CLUSTER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48474" y="2955889"/>
            <a:ext cx="230795" cy="190890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9269" y="4864791"/>
            <a:ext cx="923178" cy="16843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302447" y="4471782"/>
            <a:ext cx="576986" cy="561441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879433" y="3741908"/>
            <a:ext cx="346192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225625" y="3012034"/>
            <a:ext cx="1038576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79433" y="3798052"/>
            <a:ext cx="1846357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33242" y="4303349"/>
            <a:ext cx="1846356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6420" y="3348899"/>
            <a:ext cx="0" cy="1179027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80160" y="2560320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WA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438144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4325111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8376" y="3346704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ID</a:t>
            </a:r>
          </a:p>
        </p:txBody>
      </p:sp>
      <p:sp>
        <p:nvSpPr>
          <p:cNvPr id="33" name="Oval 32"/>
          <p:cNvSpPr/>
          <p:nvPr/>
        </p:nvSpPr>
        <p:spPr>
          <a:xfrm>
            <a:off x="3566343" y="4108765"/>
            <a:ext cx="164592" cy="164592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7199" y="4264213"/>
            <a:ext cx="10058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B5533A"/>
                </a:solidFill>
                <a:latin typeface="Aptos"/>
              </a:rPr>
              <a:t>West Valley
hub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263872" y="2843601"/>
            <a:ext cx="1384767" cy="134746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190720" y="277044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18736" y="2733873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7024" y="2752161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494666" y="3405043"/>
            <a:ext cx="1153973" cy="786018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421514" y="3331891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58090" y="3203875"/>
            <a:ext cx="932688" cy="182880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76378" y="3222163"/>
            <a:ext cx="8961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3648639" y="3068178"/>
            <a:ext cx="1615562" cy="1122883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91049" y="2995026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37353" y="2958450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55641" y="2976738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3648639" y="3629619"/>
            <a:ext cx="1153973" cy="561442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29460" y="3556467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894052" y="3647907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12340" y="3666195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3302447" y="4191061"/>
            <a:ext cx="346192" cy="67373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229295" y="479163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375599" y="4828215"/>
            <a:ext cx="1024128" cy="182880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3887" y="4846503"/>
            <a:ext cx="9875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45552" y="1975104"/>
            <a:ext cx="365760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2194560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CLUSTER WINS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01583" y="2505456"/>
            <a:ext cx="155448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599" y="2615184"/>
            <a:ext cx="12984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MILES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9" y="2816352"/>
            <a:ext cx="129844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812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2505456"/>
            <a:ext cx="1426464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2615184"/>
            <a:ext cx="117043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PRICE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12096" y="2816352"/>
            <a:ext cx="117043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$2.45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01583" y="3529584"/>
            <a:ext cx="310896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599" y="3639312"/>
            <a:ext cx="2852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LOW-MILE HEDGE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599" y="3840480"/>
            <a:ext cx="285292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San Diego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3" y="4590288"/>
            <a:ext cx="292608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This is one coherent western lane system, not five disconnected bets.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Northwest supplies the premium; San Diego supplies the short-haul hedge.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makes the recommendation operational, not just analytical.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support beats proximity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681228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65376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PRICE VS MILES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67128" y="4937760"/>
            <a:ext cx="3749040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7128" y="2377440"/>
            <a:ext cx="0" cy="256032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575317" y="2478024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07258" y="2647109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13722" y="2780327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33872" y="3195355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24754" y="3928057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84832" y="4501922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16009" y="4419941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38822" y="4245732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50229" y="4855464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>
            <a:off x="1133856" y="4242816"/>
            <a:ext cx="1723838" cy="85212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70432" y="4114800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San Fran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33856" y="4443984"/>
            <a:ext cx="1701025" cy="58253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70432" y="4315968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1133856" y="4584218"/>
            <a:ext cx="1069848" cy="60934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0432" y="4517136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1133856" y="4846320"/>
            <a:ext cx="1735245" cy="91440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170432" y="4718304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694189" y="2560320"/>
            <a:ext cx="349995" cy="54864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80760" y="2487168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4926130" y="2729405"/>
            <a:ext cx="1118054" cy="86947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80760" y="2688336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032594" y="2862623"/>
            <a:ext cx="1011590" cy="154897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080760" y="2889504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5952744" y="3277651"/>
            <a:ext cx="91440" cy="54864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80760" y="3204499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743626" y="4010353"/>
            <a:ext cx="3300558" cy="54864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80760" y="3937201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10128" y="5413248"/>
            <a:ext cx="18288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 mileage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3657600"/>
            <a:ext cx="548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
price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45552" y="1664208"/>
            <a:ext cx="365760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01583" y="1938528"/>
            <a:ext cx="15727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9" y="2048256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PRICE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599" y="2249424"/>
            <a:ext cx="131673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$2.45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65792" y="1938528"/>
            <a:ext cx="148132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93808" y="2048256"/>
            <a:ext cx="122529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NEARBY ALT.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93808" y="2249424"/>
            <a:ext cx="122529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$1.87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01583" y="3054096"/>
            <a:ext cx="2907792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winners are not simply the closest cities.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Nearby alternatives give back the freight edge through weaker pricing.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San Diego is the hedge that keeps the cluster grounded.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+50% freight cuts margin, not the city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9037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83664"/>
            <a:ext cx="24688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VS +50% FREIGHT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322576"/>
            <a:ext cx="2560320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2848" y="2505456"/>
            <a:ext cx="239138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7802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$14.3k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377440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-$1.0k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980944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12848" y="2999232"/>
            <a:ext cx="2488703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12848" y="3182112"/>
            <a:ext cx="2328238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296265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15468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$13.9k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054096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657600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12848" y="3675888"/>
            <a:ext cx="2416584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12848" y="3858768"/>
            <a:ext cx="225494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363931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83133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$13.4k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730752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334256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4352544"/>
            <a:ext cx="2178926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12848" y="4535424"/>
            <a:ext cx="2007139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80" y="431596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$13.0k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450799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$12.0k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407408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-$1.0k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010912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5029200"/>
            <a:ext cx="1865961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12848" y="5212080"/>
            <a:ext cx="1729564" cy="146304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3480" y="499262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$11.1k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518464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B5533A"/>
                </a:solidFill>
                <a:latin typeface="Aptos"/>
              </a:rPr>
              <a:t>$10.3k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5084064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B5533A"/>
                </a:solidFill>
                <a:latin typeface="Aptos"/>
              </a:rPr>
              <a:t>-$813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5413248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355C47"/>
                </a:solidFill>
                <a:latin typeface="Aptos"/>
              </a:rPr>
              <a:t>Base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3552" y="5413248"/>
            <a:ext cx="12801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B5533A"/>
                </a:solidFill>
                <a:latin typeface="Aptos"/>
              </a:rPr>
              <a:t>+50% freight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664208"/>
            <a:ext cx="36576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01583" y="1938528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9" y="2048256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 PROFIT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9" y="2249424"/>
            <a:ext cx="13898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$12.8k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7232" y="1938528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85248" y="2048256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2249424"/>
            <a:ext cx="109728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64.9%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3017520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599" y="3127248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 DROP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3328416"/>
            <a:ext cx="13898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-4.9 pts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57232" y="3017520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85248" y="3127248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3328416"/>
            <a:ext cx="109728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Same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4160520"/>
            <a:ext cx="2889504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This is resilience, not immunity: average margin drops from 69.7% to 64.9%.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West Valley should hedge fuel exposure and lock carrier capacity early.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pilot still holds because price support outruns the freight shock.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-50% freight lifts margin, not the city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9037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83664"/>
            <a:ext cx="24688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VS -50% FREIGHT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322576"/>
            <a:ext cx="2401841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2848" y="2505456"/>
            <a:ext cx="2560320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7802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$16.3k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377440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+$1.0k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980944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12848" y="2999232"/>
            <a:ext cx="2334658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12848" y="3182112"/>
            <a:ext cx="2485191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296265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15468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$15.8k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054096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657600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12848" y="3675888"/>
            <a:ext cx="2267002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12848" y="3858768"/>
            <a:ext cx="2418637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363931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$14.4k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83133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$15.4k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730752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334256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4352544"/>
            <a:ext cx="2044055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12848" y="4535424"/>
            <a:ext cx="2205208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80" y="431596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$13.0k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450799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$14.0k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407408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+$1.0k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010912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5029200"/>
            <a:ext cx="1750462" cy="146304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12848" y="5212080"/>
            <a:ext cx="1878417" cy="146304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3480" y="499262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55C47"/>
                </a:solidFill>
                <a:latin typeface="Aptos"/>
              </a:rPr>
              <a:t>$11.1k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518464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3F728A"/>
                </a:solidFill>
                <a:latin typeface="Aptos"/>
              </a:rPr>
              <a:t>$11.9k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5084064"/>
            <a:ext cx="84124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3F728A"/>
                </a:solidFill>
                <a:latin typeface="Aptos"/>
              </a:rPr>
              <a:t>+$813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5413248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355C47"/>
                </a:solidFill>
                <a:latin typeface="Aptos"/>
              </a:rPr>
              <a:t>Base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3552" y="5413248"/>
            <a:ext cx="12801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3F728A"/>
                </a:solidFill>
                <a:latin typeface="Aptos"/>
              </a:rPr>
              <a:t>-50% freight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664208"/>
            <a:ext cx="36576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01583" y="1938528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9" y="2048256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 PROFIT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9" y="2249424"/>
            <a:ext cx="13898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$14.7k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7232" y="1938528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85248" y="2048256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2249424"/>
            <a:ext cx="109728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74.6%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3017520"/>
            <a:ext cx="16459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599" y="3127248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 GAIN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3328416"/>
            <a:ext cx="13898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+4.9 pts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57232" y="3017520"/>
            <a:ext cx="135331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85248" y="3127248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3328416"/>
            <a:ext cx="109728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Same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4160520"/>
            <a:ext cx="2889504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Lower freight lifts average margin from 69.7% to 74.6%.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Use that upside to fund service and trade support, not to chase more cities.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same five still win, which confirms this set is strong, not fragile.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same five cities win in every freight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649224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 MATRIX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19456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737360"/>
                <a:gridCol w="1737360"/>
                <a:gridCol w="173736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Rank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+50%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-50%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516368" y="1645920"/>
            <a:ext cx="3986784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1938528"/>
            <a:ext cx="15087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416" y="2048256"/>
            <a:ext cx="12527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RANK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0416" y="2249424"/>
            <a:ext cx="12527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1938528"/>
            <a:ext cx="18288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04825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49424"/>
            <a:ext cx="15727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Same 5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00400"/>
            <a:ext cx="310896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Base, upside, and downside freight all return the same five cities in the same order.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is the cleanest proof that the recommendation is structurally stable.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next slide shows why: price support wins the tie-break.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Distance drives freight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676656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MILES VS FREIGHT EXPOSURE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4983480"/>
            <a:ext cx="3703320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75688" y="2404872"/>
            <a:ext cx="0" cy="2578608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189251" y="4148963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0134" y="431850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6051" y="4295007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76479" y="409188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93832" y="4800286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32314" y="4775106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24618" y="47801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11680" y="491947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78532" y="317449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36163" y="477258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90077" y="316694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93099" y="414644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99221" y="296466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69608" y="311490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15000" y="249631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7583" y="460807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64367" y="324919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26270" y="281609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41277" y="326430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14504" y="308552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463029" y="331550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8421" y="269691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53318" y="2667536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28009" y="37964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54545" y="273216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73291" y="330878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993540" y="3622700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250642" y="280015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502062" y="2635642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83828" y="297473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82380" y="3171977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005635" y="2960464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323759" y="275230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5801" y="3372578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149304" y="286645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45511" y="2803509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05800" y="2764060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142890" y="2870655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30850" y="3467423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596986" y="2573531"/>
            <a:ext cx="128016" cy="12801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88720" y="4087368"/>
            <a:ext cx="2115191" cy="68528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188720" y="3959352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188720" y="4212971"/>
            <a:ext cx="2027963" cy="75565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188720" y="4160520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188720" y="4359015"/>
            <a:ext cx="1804763" cy="130689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188720" y="4361688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188720" y="4382516"/>
            <a:ext cx="1768846" cy="308356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188720" y="4562856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188720" y="4864294"/>
            <a:ext cx="1032544" cy="27746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188720" y="4764024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cxnSp>
        <p:nvCxnSpPr>
          <p:cNvPr id="63" name="Connector 62"/>
          <p:cNvCxnSpPr/>
          <p:nvPr/>
        </p:nvCxnSpPr>
        <p:spPr>
          <a:xfrm flipH="1" flipV="1">
            <a:off x="5815584" y="2560320"/>
            <a:ext cx="950976" cy="54864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25312" y="2487168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Boston</a:t>
            </a:r>
          </a:p>
        </p:txBody>
      </p:sp>
      <p:cxnSp>
        <p:nvCxnSpPr>
          <p:cNvPr id="65" name="Connector 64"/>
          <p:cNvCxnSpPr/>
          <p:nvPr/>
        </p:nvCxnSpPr>
        <p:spPr>
          <a:xfrm flipH="1" flipV="1">
            <a:off x="5697570" y="2637539"/>
            <a:ext cx="1068990" cy="178813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925312" y="2688336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HartfordSpringfield</a:t>
            </a:r>
          </a:p>
        </p:txBody>
      </p:sp>
      <p:cxnSp>
        <p:nvCxnSpPr>
          <p:cNvPr id="67" name="Connector 66"/>
          <p:cNvCxnSpPr/>
          <p:nvPr/>
        </p:nvCxnSpPr>
        <p:spPr>
          <a:xfrm flipH="1" flipV="1">
            <a:off x="5602646" y="2699650"/>
            <a:ext cx="1163914" cy="317870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925312" y="2889504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Albany</a:t>
            </a:r>
          </a:p>
        </p:txBody>
      </p:sp>
      <p:cxnSp>
        <p:nvCxnSpPr>
          <p:cNvPr id="69" name="Connector 68"/>
          <p:cNvCxnSpPr/>
          <p:nvPr/>
        </p:nvCxnSpPr>
        <p:spPr>
          <a:xfrm flipH="1" flipV="1">
            <a:off x="5553902" y="2731544"/>
            <a:ext cx="1212658" cy="487144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925312" y="3090672"/>
            <a:ext cx="85953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New York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35808" y="5413248"/>
            <a:ext cx="20116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Longer haul distance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384" y="3566160"/>
            <a:ext cx="731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Larger
profit swing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662672" y="1645920"/>
            <a:ext cx="384048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00416" y="1883664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HOW TO READ 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0416" y="2212848"/>
            <a:ext cx="3108960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slope is the point: longer-haul cities take the biggest hit.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recommended cities are materially less exposed than the Northeast and Midwest tail.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makes a western pilot the smarter first move for a new entrant.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00416" y="4078224"/>
            <a:ext cx="162763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28432" y="4187952"/>
            <a:ext cx="1371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28432" y="4389120"/>
            <a:ext cx="13716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$953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637776" y="4078224"/>
            <a:ext cx="138988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765792" y="4187952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EXPOSED AVG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5792" y="4389120"/>
            <a:ext cx="113385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$1,464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support decides the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73152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6517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PRICE SUPPORT VS FREIGHT EXPOSURE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27048" y="4983480"/>
            <a:ext cx="5824728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7048" y="2404872"/>
            <a:ext cx="0" cy="2578608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8956" y="2404872"/>
            <a:ext cx="0" cy="2578608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27048" y="4353555"/>
            <a:ext cx="5824728" cy="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236666" y="2496312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681" y="2478024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sp>
        <p:nvSpPr>
          <p:cNvPr id="17" name="Oval 16"/>
          <p:cNvSpPr/>
          <p:nvPr/>
        </p:nvSpPr>
        <p:spPr>
          <a:xfrm>
            <a:off x="2846391" y="2624255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4406" y="2605966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sp>
        <p:nvSpPr>
          <p:cNvPr id="19" name="Oval 18"/>
          <p:cNvSpPr/>
          <p:nvPr/>
        </p:nvSpPr>
        <p:spPr>
          <a:xfrm>
            <a:off x="2900488" y="2725058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8504" y="2706770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sp>
        <p:nvSpPr>
          <p:cNvPr id="21" name="Oval 20"/>
          <p:cNvSpPr/>
          <p:nvPr/>
        </p:nvSpPr>
        <p:spPr>
          <a:xfrm>
            <a:off x="3368045" y="3039100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6061" y="3020811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sp>
        <p:nvSpPr>
          <p:cNvPr id="23" name="Oval 22"/>
          <p:cNvSpPr/>
          <p:nvPr/>
        </p:nvSpPr>
        <p:spPr>
          <a:xfrm>
            <a:off x="1737392" y="3593519"/>
            <a:ext cx="128016" cy="12801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65407" y="3575230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25" name="Oval 24"/>
          <p:cNvSpPr/>
          <p:nvPr/>
        </p:nvSpPr>
        <p:spPr>
          <a:xfrm>
            <a:off x="1795353" y="383389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83761" y="396571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63040" y="402774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79780" y="392694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01149" y="429526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97169" y="412079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42462" y="427588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62794" y="428363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16956" y="4306897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40880" y="422160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8896" y="4203313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Boston</a:t>
            </a:r>
          </a:p>
        </p:txBody>
      </p:sp>
      <p:sp>
        <p:nvSpPr>
          <p:cNvPr id="36" name="Oval 35"/>
          <p:cNvSpPr/>
          <p:nvPr/>
        </p:nvSpPr>
        <p:spPr>
          <a:xfrm>
            <a:off x="2179832" y="453176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7828" y="434179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04767" y="436117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273051" y="4430963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4578" y="442320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55195" y="4469734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79119" y="4446471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46741" y="4442594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48128" y="465970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7973" y="452013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170652" y="461318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448063" y="4675217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1476" y="461706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720159" y="463257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48175" y="4614281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Albany</a:t>
            </a:r>
          </a:p>
        </p:txBody>
      </p:sp>
      <p:sp>
        <p:nvSpPr>
          <p:cNvPr id="51" name="Oval 50"/>
          <p:cNvSpPr/>
          <p:nvPr/>
        </p:nvSpPr>
        <p:spPr>
          <a:xfrm>
            <a:off x="5939609" y="469848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485577" y="4729496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72454" y="471398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51604" y="4713988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23816" y="481866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188844" y="474888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333748" y="4803160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24555" y="4799283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79184" y="4818669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05493" y="4919472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63131" y="4915595"/>
            <a:ext cx="128016" cy="128016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91147" y="4897306"/>
            <a:ext cx="1143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1F2621"/>
                </a:solidFill>
                <a:latin typeface="Aptos"/>
              </a:rPr>
              <a:t>HartfordSpringfield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72968" y="5413248"/>
            <a:ext cx="21031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 freight sensitivity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547872"/>
            <a:ext cx="67665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Higher
price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47888" y="1664208"/>
            <a:ext cx="3255264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85632" y="1883664"/>
            <a:ext cx="19202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INTERPRETATION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85632" y="2212848"/>
            <a:ext cx="1353312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13648" y="2322576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PRICE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3648" y="2523744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$2.45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66960" y="2212848"/>
            <a:ext cx="1261872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094976" y="2322576"/>
            <a:ext cx="10058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SWING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94976" y="2523744"/>
            <a:ext cx="100584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$953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85632" y="3364992"/>
            <a:ext cx="2651760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recommended cities sit in the premium-price half of the chart, not the freight-risk tail.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is why the ranking holds even when margins compress.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Price support chooses the cities; freight discipline protects the margin.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Prices reach their high point in July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MONTHLY PRICE PROFILE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82496" y="4818888"/>
            <a:ext cx="5330952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82496" y="2560320"/>
            <a:ext cx="0" cy="2258568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" y="474573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82496" y="4398264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42416" y="4325112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82496" y="3977640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42416" y="3904488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$1.40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82496" y="3557016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2416" y="348386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$1.60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82496" y="3136392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42416" y="3063240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$1.80</a:t>
            </a:r>
          </a:p>
        </p:txBody>
      </p:sp>
      <p:sp>
        <p:nvSpPr>
          <p:cNvPr id="22" name="Oval 21"/>
          <p:cNvSpPr/>
          <p:nvPr/>
        </p:nvSpPr>
        <p:spPr>
          <a:xfrm>
            <a:off x="1627632" y="461127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82496" y="4666140"/>
            <a:ext cx="477982" cy="953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105614" y="462081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160478" y="4493307"/>
            <a:ext cx="477982" cy="18237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583596" y="443844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2638460" y="4300907"/>
            <a:ext cx="477981" cy="19240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061577" y="424604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116441" y="4256553"/>
            <a:ext cx="477982" cy="44354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539559" y="420168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594423" y="4213855"/>
            <a:ext cx="477982" cy="4269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017541" y="415899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4072405" y="4194713"/>
            <a:ext cx="477982" cy="1914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495523" y="413984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550387" y="4194713"/>
            <a:ext cx="477982" cy="138604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73505" y="427845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028369" y="4333317"/>
            <a:ext cx="477982" cy="6500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451487" y="434345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506351" y="4398317"/>
            <a:ext cx="477981" cy="6733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29468" y="441078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984332" y="4465647"/>
            <a:ext cx="477982" cy="6066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07450" y="447144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62314" y="4526313"/>
            <a:ext cx="477982" cy="8165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885432" y="455310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27632" y="36027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682496" y="3657624"/>
            <a:ext cx="477982" cy="888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105614" y="36116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160478" y="3553778"/>
            <a:ext cx="477982" cy="11273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583596" y="349891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638460" y="3340224"/>
            <a:ext cx="477981" cy="213554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061577" y="32853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116441" y="3202724"/>
            <a:ext cx="477982" cy="13750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3539559" y="31478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594423" y="3141733"/>
            <a:ext cx="477982" cy="60991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017541" y="308686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072405" y="2997796"/>
            <a:ext cx="477982" cy="14393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495523" y="294293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550387" y="2997796"/>
            <a:ext cx="477982" cy="3016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973505" y="297309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028369" y="3027963"/>
            <a:ext cx="477982" cy="10734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451487" y="30804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506351" y="3135310"/>
            <a:ext cx="477981" cy="16254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929468" y="324298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984332" y="3297850"/>
            <a:ext cx="477982" cy="89313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407450" y="333229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462314" y="3387163"/>
            <a:ext cx="477982" cy="125223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885432" y="345752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30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41022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19004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9698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4967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52949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30931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08913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689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64876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42858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" y="2249424"/>
            <a:ext cx="585216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PRICE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10512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35808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Jul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Jul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Both product types peak in July, not during the highest-volume months.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means the operating plan should switch from service protection to margin protection in summer.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Summer is the cleanest season for monetizing premium markets.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Volume peaks earlier than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MONTHLY VOLUME PROFILE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82496" y="4818888"/>
            <a:ext cx="5330952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82496" y="2560320"/>
            <a:ext cx="0" cy="2258568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" y="474573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82496" y="4117848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42416" y="404469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50,000,000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82496" y="3416808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42416" y="334365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100,000,000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82496" y="2715768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2416" y="264261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150,000,000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82496" y="2014728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42416" y="194157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200,000,000</a:t>
            </a:r>
          </a:p>
        </p:txBody>
      </p:sp>
      <p:sp>
        <p:nvSpPr>
          <p:cNvPr id="22" name="Oval 21"/>
          <p:cNvSpPr/>
          <p:nvPr/>
        </p:nvSpPr>
        <p:spPr>
          <a:xfrm>
            <a:off x="1627632" y="322651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82496" y="3281383"/>
            <a:ext cx="477982" cy="9331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105614" y="331983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160478" y="3298923"/>
            <a:ext cx="477982" cy="7577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583596" y="324405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2638460" y="3298923"/>
            <a:ext cx="477981" cy="125581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061577" y="336964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116441" y="3257001"/>
            <a:ext cx="477982" cy="167503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539559" y="320213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594423" y="3257001"/>
            <a:ext cx="477982" cy="156265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017541" y="335840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072405" y="3413266"/>
            <a:ext cx="477982" cy="3715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495523" y="339555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550387" y="3450418"/>
            <a:ext cx="477982" cy="691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73505" y="340246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028369" y="3457330"/>
            <a:ext cx="477982" cy="1373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451487" y="341620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5506351" y="3456382"/>
            <a:ext cx="477981" cy="1468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29468" y="340151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984332" y="3456382"/>
            <a:ext cx="477982" cy="15277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07450" y="355429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6462314" y="3492316"/>
            <a:ext cx="477982" cy="11684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885432" y="343745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27632" y="468227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682496" y="4737134"/>
            <a:ext cx="477982" cy="1108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105614" y="469335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160478" y="4739710"/>
            <a:ext cx="477982" cy="850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583596" y="46848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638460" y="4739710"/>
            <a:ext cx="477981" cy="595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061577" y="469080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116441" y="4740788"/>
            <a:ext cx="477982" cy="4878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3539559" y="468592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594423" y="4740788"/>
            <a:ext cx="477982" cy="8493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017541" y="469441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072405" y="4749281"/>
            <a:ext cx="477982" cy="5895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495523" y="470031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4550387" y="4754962"/>
            <a:ext cx="477982" cy="214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973505" y="470009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5028369" y="4753030"/>
            <a:ext cx="477982" cy="193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451487" y="469816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5506351" y="4752038"/>
            <a:ext cx="477981" cy="99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929468" y="469717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984332" y="4752038"/>
            <a:ext cx="477982" cy="440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407450" y="470158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6462314" y="4747426"/>
            <a:ext cx="477982" cy="9018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885432" y="469256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30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41022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19004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9698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4967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52949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30931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08913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689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64876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42858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" y="2249424"/>
            <a:ext cx="585216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VOLUME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10512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35808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May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Jan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 volume peaks in January while conventional peaks in May.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Both soften into November, which is why off-peak demand support matters.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Volume timing and price timing do not line up, creating the duck-curve operating problem.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Seasonality should change when West Valley pushes volume vs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Organic volume peaks in Jan while price peaks in Jul; that gap is the operating lever.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7904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Feb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0008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82112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82112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Apr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4216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14216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737360"/>
            <a:ext cx="713232" cy="438912"/>
          </a:xfrm>
          <a:prstGeom prst="roundRect">
            <a:avLst/>
          </a:prstGeom>
          <a:solidFill>
            <a:srgbClr val="FCFAF5"/>
          </a:solidFill>
          <a:ln>
            <a:solidFill>
              <a:srgbClr val="FCF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Jun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78424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7842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Jul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Aug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42632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42632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1737360"/>
            <a:ext cx="713232" cy="438912"/>
          </a:xfrm>
          <a:prstGeom prst="roundRect">
            <a:avLst/>
          </a:prstGeom>
          <a:solidFill>
            <a:srgbClr val="D8D1C6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4736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Oct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Nov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38944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894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2542032"/>
            <a:ext cx="10808208" cy="28346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2761488"/>
            <a:ext cx="15087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STANCE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3" y="2761488"/>
            <a:ext cx="13258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1647" y="2761488"/>
            <a:ext cx="4572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WEST VALLEY SHOULD 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9951" y="2761488"/>
            <a:ext cx="2834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3090672"/>
            <a:ext cx="1298448" cy="53035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2" y="3209544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Push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2" y="3163824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Jan to May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67328" y="3136392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Prioritize service, retailer availability, and clean flow while the market is naturally absorbing more units.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136392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This is the best window to prove service quality before summer pricing peaks.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822191"/>
            <a:ext cx="1298448" cy="53035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3941063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Protect 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50592" y="3895343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C58A2A"/>
                </a:solidFill>
                <a:latin typeface="Aptos Display"/>
              </a:rPr>
              <a:t>Jul to Sep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7328" y="3867911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Hold pricing discipline and allocate the strongest fruit to the highest-paying pilot markets.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867911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Price support is strongest here, so margin capture matters more than raw throughput.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" y="4553712"/>
            <a:ext cx="1298448" cy="53035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2" y="4672584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Stimulate demand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50592" y="4626864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4599432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promotions, alternate channels, and tighter inventory planning when both types soften.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599432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Low-demand months require commercial support so the pilot does not confuse seasonality with weak economics.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5650992"/>
            <a:ext cx="101498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Management implication: the pilot should be judged against the right seasonal job each month, not against a flat annual operating assumption.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 monthly operating calendar turns seasonality into advantage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143000"/>
            <a:ext cx="14173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READING GUIDE</a:t>
            </a:r>
          </a:p>
        </p:txBody>
      </p:sp>
      <p:sp>
        <p:nvSpPr>
          <p:cNvPr id="12" name="Oval 11"/>
          <p:cNvSpPr/>
          <p:nvPr/>
        </p:nvSpPr>
        <p:spPr>
          <a:xfrm>
            <a:off x="1938528" y="1115568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6272" y="1078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4178808" y="1115568"/>
            <a:ext cx="164592" cy="164592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1078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Protect margin</a:t>
            </a:r>
          </a:p>
        </p:txBody>
      </p:sp>
      <p:sp>
        <p:nvSpPr>
          <p:cNvPr id="16" name="Oval 15"/>
          <p:cNvSpPr/>
          <p:nvPr/>
        </p:nvSpPr>
        <p:spPr>
          <a:xfrm>
            <a:off x="6419088" y="1115568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078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Stimulate demand</a:t>
            </a:r>
          </a:p>
        </p:txBody>
      </p:sp>
      <p:sp>
        <p:nvSpPr>
          <p:cNvPr id="18" name="Oval 17"/>
          <p:cNvSpPr/>
          <p:nvPr/>
        </p:nvSpPr>
        <p:spPr>
          <a:xfrm>
            <a:off x="8659368" y="1115568"/>
            <a:ext cx="164592" cy="164592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7112" y="1078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Rebalance / 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1444752"/>
            <a:ext cx="11027664" cy="3675887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49808" y="1664208"/>
          <a:ext cx="10698480" cy="288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7223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Jan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Feb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Mar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Apr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May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Jun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Jul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Aug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Sep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Oct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Nov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Dec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Commercial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Balance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Rebalance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Supply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Peak flow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Normalize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Reset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Operating focus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Forecast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Promote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2621"/>
                          </a:solidFill>
                          <a:latin typeface="Aptos"/>
                        </a:rPr>
                        <a:t>Audit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Plan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Clear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CFAF5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49808" y="5285232"/>
            <a:ext cx="10716768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376672"/>
            <a:ext cx="3316224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JAN TO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522976"/>
            <a:ext cx="3316224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Service +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5779008"/>
            <a:ext cx="3316224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Prove availability while market volume is naturally strongest.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22064" y="5449824"/>
            <a:ext cx="0" cy="530352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50080" y="5376672"/>
            <a:ext cx="3316224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JUL TO SEP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5522976"/>
            <a:ext cx="3316224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Margin season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0080" y="5779008"/>
            <a:ext cx="3316224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Allocate tightly and protect price in the premium window.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94320" y="5449824"/>
            <a:ext cx="0" cy="530352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22336" y="5376672"/>
            <a:ext cx="3316224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NOV TO FEB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2336" y="5522976"/>
            <a:ext cx="3316224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Demand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2336" y="5779008"/>
            <a:ext cx="3316224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Use promotions and lean inventory to protect demand.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Growers need flex contracts, cold-chain discipline, and backup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2412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Build seasonality discipline into contracts and execution rules before the pilot scales.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572768"/>
            <a:ext cx="1078992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14400" y="1828800"/>
          <a:ext cx="10442448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3794760"/>
                <a:gridCol w="3172968"/>
              </a:tblGrid>
              <a:tr h="42062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Lever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How it should work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Critical operating move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Contract tiers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55C47"/>
                          </a:solidFill>
                          <a:latin typeface="Aptos Display"/>
                        </a:rPr>
                        <a:t>Base + flex volume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Lock a stable base commitment, then layer in seasonal flex volume so supply can expand without year-round overcommitment.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Prevents the pilot from buying peak-season optionality with permanent fixed cost.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Cold-chain readiness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F728A"/>
                          </a:solidFill>
                          <a:latin typeface="Aptos Display"/>
                        </a:rPr>
                        <a:t>Protect service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Tighten transit monitoring, storage discipline, and receiving checks during the months when flow is highest.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Spoilage and service misses can erase good city economics faster than freight swings do.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Alternate lanes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B5533A"/>
                          </a:solidFill>
                          <a:latin typeface="Aptos Display"/>
                        </a:rPr>
                        <a:t>Reduce disruption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Pre-qualify backup carriers and routes before the peak season so lane shocks do not force reactive reallocations.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The pilot should never have to choose between service and margin because a lane fails.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932688" y="5303520"/>
            <a:ext cx="10149840" cy="420624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422392"/>
            <a:ext cx="13258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5385816"/>
            <a:ext cx="8211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Contract base volume, protect the cold chain, and pre-book fallback lanes before peak flow starts.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Trade associations should protect off-peak retailer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Aim off-peak support at buyers, trade calendars, and food-service pull, not generic consumer messaging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645920"/>
            <a:ext cx="667512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1874519"/>
            <a:ext cx="2560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OFF-PEAK BUYER PLAYBOOK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2212848"/>
            <a:ext cx="310896" cy="3108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286000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2194560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RETAIL PROMO CALENDAR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377440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Concentrate retailer ads, features, and display support in Nov-Feb when baseline turns are softest.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127248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3035808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FOOD-SERVICE CHANNELS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3218688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Lean harder on restaurants, prepared foods, and institutional buyers when retail pull weakens.</a:t>
            </a:r>
          </a:p>
        </p:txBody>
      </p:sp>
      <p:sp>
        <p:nvSpPr>
          <p:cNvPr id="22" name="Oval 21"/>
          <p:cNvSpPr/>
          <p:nvPr/>
        </p:nvSpPr>
        <p:spPr>
          <a:xfrm>
            <a:off x="1005840" y="3895344"/>
            <a:ext cx="310896" cy="3108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968496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877056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TRADE FUNDS + SLOTTING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4059936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trade dollars, temporary allowances, and slotting support to win attention in soft months.</a:t>
            </a:r>
          </a:p>
        </p:txBody>
      </p:sp>
      <p:sp>
        <p:nvSpPr>
          <p:cNvPr id="26" name="Oval 25"/>
          <p:cNvSpPr/>
          <p:nvPr/>
        </p:nvSpPr>
        <p:spPr>
          <a:xfrm>
            <a:off x="1005840" y="4736592"/>
            <a:ext cx="310896" cy="31089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809744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718304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SHELF DISCIPLINE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901184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Coordinate assortment, facing, and freshness standards so promotions convert to repeat orders.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1645920"/>
            <a:ext cx="3840480" cy="4315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1874519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WHERE TO PUSH HARDER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36992" y="2212848"/>
            <a:ext cx="164592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2322576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SOFTEST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523744"/>
            <a:ext cx="1389888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2212848"/>
            <a:ext cx="160020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4936" y="2322576"/>
            <a:ext cx="13441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PRIMARY BUYER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4936" y="2523744"/>
            <a:ext cx="1344168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Retail + 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246120"/>
            <a:ext cx="3154680" cy="1554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Do not mistake seasonal softness for launch failure.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Push through buyer calendars, not just consumer media.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Separate repeat demand from promo-driven lift.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36992" y="4864608"/>
            <a:ext cx="3154680" cy="8229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3296" y="4956048"/>
            <a:ext cx="28620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EXECUTION RULE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83296" y="5138928"/>
            <a:ext cx="28620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Front-load trade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3296" y="5413248"/>
            <a:ext cx="28620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Spend trade dollars and retailer attention in Nov-Feb, not when summer demand is already doing the work.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SEASONALITY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Monthly S&amp;OP should align growers, West Valley, and retailers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One monthly forum should translate market signals into volume, routing, and promotion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GROWERS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Supply commitment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Provide base volume, flex capacity, and harvest timing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Control tower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Convert price, freight, and demand signals into city allocation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RETAILERS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Demand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Feed promo calendars, replenishment risk, and reorder visibility into the review.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93008"/>
            <a:ext cx="8458200" cy="10607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76272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03704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Forecast demand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67912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215383" y="3749039"/>
            <a:ext cx="292608" cy="2926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42815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1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Lock commitments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07023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54496" y="3749039"/>
            <a:ext cx="292608" cy="2926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81928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Allocate by city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46136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293608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77656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Review margin + service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" y="4791456"/>
            <a:ext cx="10744200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CADENCE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Monthly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Update commitments and allocations every month, not quarterly.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494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4775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DECISION 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5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Commit + allocate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75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Reset grower volume, lanes, and promo timing in the same review.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308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0589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SUCCESS SIGNAL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589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Margin and service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89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Higher realized margin should not come with fill-rate or freshness slippage.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in 2026, then scale only what the pilot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Treat year one as a live test of economics, service, and demand quality, not a commitment to broad expansion.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00200"/>
            <a:ext cx="7680960" cy="4434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10512"/>
            <a:ext cx="1828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ROLLOUT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960120" cy="67665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27685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84831" y="214884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67712" y="224028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242316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Launch the five-city test and prove realized margin, fill rate, and spoilage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2512" y="214884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4028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city economics hold in live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429000"/>
            <a:ext cx="960120" cy="67665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5701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84831" y="342900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67712" y="352044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EXPAND SELECTIVELY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7712" y="370332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Add retailer doors only in markets where reorder behavior and service levels remain strong.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342900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economics survive broader coverage.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709160"/>
            <a:ext cx="960120" cy="676656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83717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84831" y="470916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67712" y="480060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OPTIMIZE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7712" y="498348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Tighten grower contracts, allocation logic, and seasonal playbooks around what the pilot confirms.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470916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480060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process gains are repeatable.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05088" y="1600200"/>
            <a:ext cx="2788920" cy="44348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SCALE ONLY IF</a:t>
            </a:r>
          </a:p>
        </p:txBody>
      </p:sp>
      <p:sp>
        <p:nvSpPr>
          <p:cNvPr id="35" name="Oval 34"/>
          <p:cNvSpPr/>
          <p:nvPr/>
        </p:nvSpPr>
        <p:spPr>
          <a:xfrm>
            <a:off x="8979408" y="2240280"/>
            <a:ext cx="256032" cy="25603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08592" y="2221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08592" y="240487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Realized margin beats the base case after freight and spoilage.</a:t>
            </a:r>
          </a:p>
        </p:txBody>
      </p:sp>
      <p:sp>
        <p:nvSpPr>
          <p:cNvPr id="38" name="Oval 37"/>
          <p:cNvSpPr/>
          <p:nvPr/>
        </p:nvSpPr>
        <p:spPr>
          <a:xfrm>
            <a:off x="8979408" y="3337560"/>
            <a:ext cx="256032" cy="25603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08592" y="331927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SERVICE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08592" y="350215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Fill rate holds through peak-season pressure.</a:t>
            </a:r>
          </a:p>
        </p:txBody>
      </p:sp>
      <p:sp>
        <p:nvSpPr>
          <p:cNvPr id="41" name="Oval 40"/>
          <p:cNvSpPr/>
          <p:nvPr/>
        </p:nvSpPr>
        <p:spPr>
          <a:xfrm>
            <a:off x="8979408" y="4434840"/>
            <a:ext cx="256032" cy="256032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08592" y="441655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DEMAND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8592" y="459943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Retailers reorder because demand is repeatable, not launch noise.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Pilot KPIs should prove margin, service, spoilage, and repeat 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27632"/>
            <a:ext cx="365760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47088"/>
            <a:ext cx="16459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HEALTH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240280"/>
            <a:ext cx="201168" cy="64008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258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GROSS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41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premium pricing survives live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383280"/>
            <a:ext cx="201168" cy="64008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3401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FILL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584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service can scale without breaking.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526280"/>
            <a:ext cx="201168" cy="64008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544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REORDER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4727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demand repeats after launch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1627632"/>
            <a:ext cx="681228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4608" y="1847088"/>
            <a:ext cx="22860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PILOT SCORECARD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864608" y="2148840"/>
          <a:ext cx="6355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63240"/>
                <a:gridCol w="1463040"/>
              </a:tblGrid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KPI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Cadence / 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Realized gross margin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Confirms whether forecast economics survive live execution.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finance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per unit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routing and carrier discipline are improving.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logistics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Fill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Measures retailer execution quality during seasonal peaks.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 rate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Captures cold-chain and freshness failures directly.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Reorder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Tests whether demand is repeatable beyond launch.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commercial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accuracy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monthly S&amp;OP is improving allocation decisions.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planning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Scale should follow stage gates, not geography ambition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 model can choose where to test, but scale should still depend on live pilot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2240280" cy="38404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Pilot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Launch and collect clean economics by city.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53512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02152" y="2057400"/>
            <a:ext cx="2240280" cy="38404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7016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2152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8456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F728A"/>
                </a:solidFill>
                <a:latin typeface="Aptos Display"/>
              </a:rPr>
              <a:t>Economics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8456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realized margin and freight per unit.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9864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18504" y="2057400"/>
            <a:ext cx="2240280" cy="384048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889A83"/>
                </a:solidFill>
                <a:latin typeface="Aptos Display"/>
              </a:rPr>
              <a:t>Service 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fill rate, spoilage control, and reorder behavior.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86216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4856" y="2057400"/>
            <a:ext cx="2240280" cy="384048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4856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60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Scale selectively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Expand only where pilot evidence remains strong.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" y="4617720"/>
            <a:ext cx="10012680" cy="868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15568" y="4727448"/>
            <a:ext cx="1051560" cy="649224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82312"/>
            <a:ext cx="941832" cy="5394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9152" y="4709160"/>
            <a:ext cx="621792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Use the pilot to validate economics and service before adding geography.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68512" y="4745736"/>
            <a:ext cx="0" cy="612648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833104" y="4709160"/>
            <a:ext cx="1938528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The model is strong enough to choose where to test, not yet strong enough to dictate exact retailer-level allocation.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Top risks are freight, competitors, import disruption, and forecast error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600200"/>
            <a:ext cx="685800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187952" y="1810512"/>
            <a:ext cx="0" cy="365760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3657600"/>
            <a:ext cx="6291072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200400" y="1673352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04688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8328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
prob.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38328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
prob.</a:t>
            </a:r>
          </a:p>
        </p:txBody>
      </p:sp>
      <p:sp>
        <p:nvSpPr>
          <p:cNvPr id="18" name="Oval 17"/>
          <p:cNvSpPr/>
          <p:nvPr/>
        </p:nvSpPr>
        <p:spPr>
          <a:xfrm>
            <a:off x="6144768" y="2066543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15584" y="2852927"/>
            <a:ext cx="17830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Freight spikes</a:t>
            </a:r>
          </a:p>
        </p:txBody>
      </p:sp>
      <p:sp>
        <p:nvSpPr>
          <p:cNvPr id="20" name="Oval 19"/>
          <p:cNvSpPr/>
          <p:nvPr/>
        </p:nvSpPr>
        <p:spPr>
          <a:xfrm>
            <a:off x="4407408" y="1901952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2688336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Import disruption</a:t>
            </a:r>
          </a:p>
        </p:txBody>
      </p:sp>
      <p:sp>
        <p:nvSpPr>
          <p:cNvPr id="22" name="Oval 21"/>
          <p:cNvSpPr/>
          <p:nvPr/>
        </p:nvSpPr>
        <p:spPr>
          <a:xfrm>
            <a:off x="5440680" y="2706624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493008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Competitor 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320040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986784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Forecast error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3977639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2" y="4764024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Retailer uptake</a:t>
            </a:r>
          </a:p>
        </p:txBody>
      </p:sp>
      <p:sp>
        <p:nvSpPr>
          <p:cNvPr id="28" name="Oval 27"/>
          <p:cNvSpPr/>
          <p:nvPr/>
        </p:nvSpPr>
        <p:spPr>
          <a:xfrm>
            <a:off x="3794760" y="3767328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4553712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Spoilage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18704" y="1600200"/>
            <a:ext cx="3529584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1810512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WATCHLIST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2212848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FREIGHT SPIKES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395728"/>
            <a:ext cx="2743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Pre-book core lanes and keep alternates ready before peak season.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328415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COMPETITOR 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3511295"/>
            <a:ext cx="2743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Expect promotions or buyer pressure from Central Valley rivals and hold a firm margin floor.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4443983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IMPORT DISRUPTION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626863"/>
            <a:ext cx="2743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flexible grower commitments and staggered sourcing windows.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5559552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FORECAST ERROR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5742432"/>
            <a:ext cx="2743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Re-run allocation monthly using realized pilot demand.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Each major risk already has a countermeasure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424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Every major threat should already have a response and owner before West Valley scales.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691640"/>
          <a:ext cx="10835639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148840"/>
                <a:gridCol w="4526280"/>
                <a:gridCol w="2286000"/>
              </a:tblGrid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Countermeasure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spikes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Peak-season lane tightness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Lock core carrier capacity and maintain alternate lanes.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Logistics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Import or supply disruption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Supply interruption or customs delay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Use flexible grower contracts and staggered commitments.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Sourcing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 / service failures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Shrink or weak fill-rate trend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Tighten cold-chain controls and receiving discipline.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Operations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error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Demand misses by city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Run monthly S&amp;OP and reallocate by city using realized demand.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Commercial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Retailer uptake risk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Weak reorder behavior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Require stage gates before expanding beyond the pilot.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General manager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8680" y="5650992"/>
            <a:ext cx="99669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833872"/>
            <a:ext cx="96012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Operating principle: the pilot should never carry an unmanaged risk; every major threat must already have a trigger, action, and owner before scale decisions are made.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14432" y="256032"/>
            <a:ext cx="1170432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0" y="260604"/>
            <a:ext cx="113385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CAVEAT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model is ready for city choice, not exact allocation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What we can defend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4663440" cy="2606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cleaned dataset resolves to 40 city markets even though the case text references 41 metro regions.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model is strong enough to choose where to test because every city is scored on the same 20,000-unit basis.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ranking is resilient: all 40 cities remain profitable even at +50% shipping, so this is an optimization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22860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What still needs more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80"/>
            <a:ext cx="4663440" cy="2606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- 2025 is partial-year data only and June 2025 retail price is used as the simple proxy for June 2026 retail price.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model does not include shrink, retailer-level demand curves, or a fully expanded operating cost stack.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That means the deck can defend city selection now, but not exact retailer-by-retailer allocation yet.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440680"/>
            <a:ext cx="10012680" cy="6583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650992"/>
            <a:ext cx="20116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 DATA TO 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596128"/>
            <a:ext cx="7726679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Pilot reorder behavior, lane-level spoilage, and retailer response would move West Valley from city choice to exact allocation.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the 5-city pilot, then scale only with proof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6400800" cy="4434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3774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FINAL 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157984"/>
            <a:ext cx="52120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6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834640"/>
            <a:ext cx="54406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recommendation holds because premium pricing stays stronger than modeled freight swings and seasonality can be managed.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3547872"/>
            <a:ext cx="1060704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552444"/>
            <a:ext cx="1024128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84831" y="3547872"/>
            <a:ext cx="950976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19" y="3552444"/>
            <a:ext cx="914400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3547872"/>
            <a:ext cx="111556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3552444"/>
            <a:ext cx="107899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547872"/>
            <a:ext cx="106984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552444"/>
            <a:ext cx="10332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95544" y="3547872"/>
            <a:ext cx="1271016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3832" y="3552444"/>
            <a:ext cx="1234440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4425696"/>
            <a:ext cx="142646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4626864"/>
            <a:ext cx="1426464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8064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0" y="4425696"/>
            <a:ext cx="142646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626864"/>
            <a:ext cx="1426464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69.7%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1728" y="4315968"/>
            <a:ext cx="1682496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9744" y="4425696"/>
            <a:ext cx="142646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FREIGHT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4626864"/>
            <a:ext cx="1426464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Same 5 cities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1773936"/>
            <a:ext cx="4069080" cy="115214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98664" y="1874520"/>
            <a:ext cx="3776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ECONOMICS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98664" y="2057400"/>
            <a:ext cx="37764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55C47"/>
                </a:solidFill>
                <a:latin typeface="Aptos Display"/>
              </a:rPr>
              <a:t>$13.7k avg profit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8664" y="2359152"/>
            <a:ext cx="377647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top five produce a meaningfully better profit tier than the next options.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3127248"/>
            <a:ext cx="4069080" cy="115214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98664" y="3227832"/>
            <a:ext cx="3776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RESILIENCE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8664" y="3410712"/>
            <a:ext cx="37764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98664" y="3712464"/>
            <a:ext cx="377647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ranking is unchanged in the base, +50%, and -50% freight cases.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4187952"/>
            <a:ext cx="4069080" cy="1225296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98664" y="4288536"/>
            <a:ext cx="37764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OPERATING DISCIPLINE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8664" y="4471416"/>
            <a:ext cx="37764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C58A2A"/>
                </a:solidFill>
                <a:latin typeface="Aptos Display"/>
              </a:rPr>
              <a:t>Pilot before scale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8664" y="4773168"/>
            <a:ext cx="3776472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Scale only where live margin, service, and reorder data confirm the model.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5522976"/>
            <a:ext cx="4069080" cy="566928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26096" y="5669280"/>
            <a:ext cx="3657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Next step: launch, measure live economics, then scale selectively rather than assuming the model is already fully proven.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SOURCES AND BACKUP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Appendix: sources, assumptions, and backup exhibits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664208"/>
            <a:ext cx="3090672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90688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01952"/>
            <a:ext cx="23774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Primary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3200400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case_full.md and case_context.md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case_comp_data.csv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outputs/question_1.md through outputs/question_9.md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q5 to q7 profitability scenario CSVs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q8 seasonality CSVs and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1901952"/>
            <a:ext cx="21945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Core assumptions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240280"/>
            <a:ext cx="2670048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- 20,000-unit comparable city scorecards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June 2025 retail price used as June 2026 proxy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Wholesale price modeled at 40% of retail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$0.20 acquisition cost per avocado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Shipping = $1,500 fixed + $50 per 100 miles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901952"/>
            <a:ext cx="25603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Backup exhibits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154680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Winner matrix and city trend lines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Growth/share bridge and elasticity visuals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Selection matrix, frontier zoom, and freight sensitivity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price and volume charts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Model caveats and implementation stage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6071616"/>
            <a:ext cx="10058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Use this appendix to answer questions on data scope, scenario assumptions, seasonality, or why the five-city recommendation stays stable under freight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