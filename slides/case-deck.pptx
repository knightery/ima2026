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519672"/>
            <a:ext cx="3108960" cy="164592"/>
          </a:xfrm>
          <a:prstGeom prst="rect">
            <a:avLst/>
          </a:prstGeom>
          <a:noFill/>
        </p:spPr>
        <p:txBody>
          <a:bodyPr wrap="square" lIns="27432" rIns="27432" tIns="27432" bIns="27432" anchor="t">
            <a:spAutoFit/>
          </a:bodyPr>
          <a:lstStyle/>
          <a:p>
            <a:pPr algn="l"/>
            <a:r>
              <a:rPr sz="900" b="0">
                <a:solidFill>
                  <a:srgbClr val="5F6B63"/>
                </a:solidFill>
                <a:latin typeface="Aptos"/>
              </a:rPr>
              <a:t>ANONYMIZED TEAM SUBMISSION</a:t>
            </a:r>
          </a:p>
        </p:txBody>
      </p:sp>
      <p:sp>
        <p:nvSpPr>
          <p:cNvPr id="6" name="TextBox 5"/>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a:t>
            </a:r>
          </a:p>
        </p:txBody>
      </p:sp>
      <p:sp>
        <p:nvSpPr>
          <p:cNvPr id="7" name="Rounded Rectangle 6"/>
          <p:cNvSpPr/>
          <p:nvPr/>
        </p:nvSpPr>
        <p:spPr>
          <a:xfrm>
            <a:off x="10021824" y="256032"/>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40112" y="260604"/>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DECISION DECK</a:t>
            </a:r>
          </a:p>
        </p:txBody>
      </p:sp>
      <p:sp>
        <p:nvSpPr>
          <p:cNvPr id="9" name="TextBox 8"/>
          <p:cNvSpPr txBox="1"/>
          <p:nvPr/>
        </p:nvSpPr>
        <p:spPr>
          <a:xfrm>
            <a:off x="548640" y="859536"/>
            <a:ext cx="5349240" cy="182880"/>
          </a:xfrm>
          <a:prstGeom prst="rect">
            <a:avLst/>
          </a:prstGeom>
          <a:noFill/>
        </p:spPr>
        <p:txBody>
          <a:bodyPr wrap="square" lIns="27432" rIns="27432" tIns="27432" bIns="27432" anchor="t">
            <a:spAutoFit/>
          </a:bodyPr>
          <a:lstStyle/>
          <a:p>
            <a:pPr algn="l"/>
            <a:r>
              <a:rPr sz="1100" b="1">
                <a:solidFill>
                  <a:srgbClr val="5F6B63"/>
                </a:solidFill>
                <a:latin typeface="Aptos"/>
              </a:rPr>
              <a:t>WEST VALLEY FRESH DISTRIBUTION COMPANY</a:t>
            </a:r>
          </a:p>
        </p:txBody>
      </p:sp>
      <p:sp>
        <p:nvSpPr>
          <p:cNvPr id="10" name="TextBox 9"/>
          <p:cNvSpPr txBox="1"/>
          <p:nvPr/>
        </p:nvSpPr>
        <p:spPr>
          <a:xfrm>
            <a:off x="548640" y="1133856"/>
            <a:ext cx="6583680" cy="1737360"/>
          </a:xfrm>
          <a:prstGeom prst="rect">
            <a:avLst/>
          </a:prstGeom>
          <a:noFill/>
        </p:spPr>
        <p:txBody>
          <a:bodyPr wrap="square" lIns="27432" rIns="27432" tIns="27432" bIns="27432" anchor="t">
            <a:spAutoFit/>
          </a:bodyPr>
          <a:lstStyle/>
          <a:p>
            <a:pPr algn="l"/>
            <a:r>
              <a:rPr sz="2900" b="1">
                <a:solidFill>
                  <a:srgbClr val="355C47"/>
                </a:solidFill>
                <a:latin typeface="Aptos Display"/>
              </a:rPr>
              <a:t>A disciplined 5-city pilot is the right way to enter organic Hass avocados</a:t>
            </a:r>
          </a:p>
        </p:txBody>
      </p:sp>
      <p:sp>
        <p:nvSpPr>
          <p:cNvPr id="11" name="TextBox 10"/>
          <p:cNvSpPr txBox="1"/>
          <p:nvPr/>
        </p:nvSpPr>
        <p:spPr>
          <a:xfrm>
            <a:off x="548640" y="2907792"/>
            <a:ext cx="6309360" cy="585216"/>
          </a:xfrm>
          <a:prstGeom prst="rect">
            <a:avLst/>
          </a:prstGeom>
          <a:noFill/>
        </p:spPr>
        <p:txBody>
          <a:bodyPr wrap="square" lIns="27432" rIns="27432" tIns="27432" bIns="27432" anchor="t">
            <a:spAutoFit/>
          </a:bodyPr>
          <a:lstStyle/>
          <a:p>
            <a:pPr algn="l"/>
            <a:r>
              <a:rPr sz="1500" b="0">
                <a:solidFill>
                  <a:srgbClr val="1F2621"/>
                </a:solidFill>
                <a:latin typeface="Aptos"/>
              </a:rPr>
              <a:t>This deck argues for a selective launch, not a broad rollout, by testing price support, organic readiness, freight resilience, and seasonality in the supplied city data.</a:t>
            </a:r>
          </a:p>
        </p:txBody>
      </p:sp>
      <p:sp>
        <p:nvSpPr>
          <p:cNvPr id="12" name="Rounded Rectangle 11"/>
          <p:cNvSpPr/>
          <p:nvPr/>
        </p:nvSpPr>
        <p:spPr>
          <a:xfrm>
            <a:off x="548640" y="3822191"/>
            <a:ext cx="201168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3931919"/>
            <a:ext cx="1755648" cy="164592"/>
          </a:xfrm>
          <a:prstGeom prst="rect">
            <a:avLst/>
          </a:prstGeom>
          <a:noFill/>
        </p:spPr>
        <p:txBody>
          <a:bodyPr wrap="square" lIns="27432" rIns="27432" tIns="27432" bIns="27432" anchor="t">
            <a:spAutoFit/>
          </a:bodyPr>
          <a:lstStyle/>
          <a:p>
            <a:pPr algn="l"/>
            <a:r>
              <a:rPr sz="1000" b="1">
                <a:solidFill>
                  <a:srgbClr val="5F6B63"/>
                </a:solidFill>
                <a:latin typeface="Aptos"/>
              </a:rPr>
              <a:t>PILOT ORDER</a:t>
            </a:r>
          </a:p>
        </p:txBody>
      </p:sp>
      <p:sp>
        <p:nvSpPr>
          <p:cNvPr id="14" name="TextBox 13"/>
          <p:cNvSpPr txBox="1"/>
          <p:nvPr/>
        </p:nvSpPr>
        <p:spPr>
          <a:xfrm>
            <a:off x="676656" y="4133087"/>
            <a:ext cx="1755648" cy="420624"/>
          </a:xfrm>
          <a:prstGeom prst="rect">
            <a:avLst/>
          </a:prstGeom>
          <a:noFill/>
        </p:spPr>
        <p:txBody>
          <a:bodyPr wrap="square" lIns="27432" rIns="27432" tIns="27432" bIns="27432" anchor="ctr">
            <a:spAutoFit/>
          </a:bodyPr>
          <a:lstStyle/>
          <a:p>
            <a:pPr algn="l"/>
            <a:r>
              <a:rPr sz="1900" b="1">
                <a:solidFill>
                  <a:srgbClr val="355C47"/>
                </a:solidFill>
                <a:latin typeface="Aptos Display"/>
              </a:rPr>
              <a:t>20,000 organic units</a:t>
            </a:r>
          </a:p>
        </p:txBody>
      </p:sp>
      <p:sp>
        <p:nvSpPr>
          <p:cNvPr id="15" name="Rounded Rectangle 14"/>
          <p:cNvSpPr/>
          <p:nvPr/>
        </p:nvSpPr>
        <p:spPr>
          <a:xfrm>
            <a:off x="2724912" y="3822191"/>
            <a:ext cx="182880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52928" y="3931919"/>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MARKET SCOPE</a:t>
            </a:r>
          </a:p>
        </p:txBody>
      </p:sp>
      <p:sp>
        <p:nvSpPr>
          <p:cNvPr id="17" name="TextBox 16"/>
          <p:cNvSpPr txBox="1"/>
          <p:nvPr/>
        </p:nvSpPr>
        <p:spPr>
          <a:xfrm>
            <a:off x="2852928" y="4133087"/>
            <a:ext cx="1572768" cy="420624"/>
          </a:xfrm>
          <a:prstGeom prst="rect">
            <a:avLst/>
          </a:prstGeom>
          <a:noFill/>
        </p:spPr>
        <p:txBody>
          <a:bodyPr wrap="square" lIns="27432" rIns="27432" tIns="27432" bIns="27432" anchor="ctr">
            <a:spAutoFit/>
          </a:bodyPr>
          <a:lstStyle/>
          <a:p>
            <a:pPr algn="l"/>
            <a:r>
              <a:rPr sz="1900" b="1">
                <a:solidFill>
                  <a:srgbClr val="355C47"/>
                </a:solidFill>
                <a:latin typeface="Aptos Display"/>
              </a:rPr>
              <a:t>40 city markets</a:t>
            </a:r>
          </a:p>
        </p:txBody>
      </p:sp>
      <p:sp>
        <p:nvSpPr>
          <p:cNvPr id="18" name="Rounded Rectangle 17"/>
          <p:cNvSpPr/>
          <p:nvPr/>
        </p:nvSpPr>
        <p:spPr>
          <a:xfrm>
            <a:off x="4901184" y="3822191"/>
            <a:ext cx="196596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0" y="3931919"/>
            <a:ext cx="1709928" cy="164592"/>
          </a:xfrm>
          <a:prstGeom prst="rect">
            <a:avLst/>
          </a:prstGeom>
          <a:noFill/>
        </p:spPr>
        <p:txBody>
          <a:bodyPr wrap="square" lIns="27432" rIns="27432" tIns="27432" bIns="27432" anchor="t">
            <a:spAutoFit/>
          </a:bodyPr>
          <a:lstStyle/>
          <a:p>
            <a:pPr algn="l"/>
            <a:r>
              <a:rPr sz="1000" b="1">
                <a:solidFill>
                  <a:srgbClr val="5F6B63"/>
                </a:solidFill>
                <a:latin typeface="Aptos"/>
              </a:rPr>
              <a:t>HISTORY</a:t>
            </a:r>
          </a:p>
        </p:txBody>
      </p:sp>
      <p:sp>
        <p:nvSpPr>
          <p:cNvPr id="20" name="TextBox 19"/>
          <p:cNvSpPr txBox="1"/>
          <p:nvPr/>
        </p:nvSpPr>
        <p:spPr>
          <a:xfrm>
            <a:off x="5029200" y="4133087"/>
            <a:ext cx="1709928" cy="420624"/>
          </a:xfrm>
          <a:prstGeom prst="rect">
            <a:avLst/>
          </a:prstGeom>
          <a:noFill/>
        </p:spPr>
        <p:txBody>
          <a:bodyPr wrap="square" lIns="27432" rIns="27432" tIns="27432" bIns="27432" anchor="ctr">
            <a:spAutoFit/>
          </a:bodyPr>
          <a:lstStyle/>
          <a:p>
            <a:pPr algn="l"/>
            <a:r>
              <a:rPr sz="1900" b="1">
                <a:solidFill>
                  <a:srgbClr val="3F728A"/>
                </a:solidFill>
                <a:latin typeface="Aptos Display"/>
              </a:rPr>
              <a:t>2019 to Jun 2025</a:t>
            </a:r>
          </a:p>
        </p:txBody>
      </p:sp>
      <p:sp>
        <p:nvSpPr>
          <p:cNvPr id="21" name="Rounded Rectangle 20"/>
          <p:cNvSpPr/>
          <p:nvPr/>
        </p:nvSpPr>
        <p:spPr>
          <a:xfrm>
            <a:off x="7818120" y="1170432"/>
            <a:ext cx="361188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65008" y="1444752"/>
            <a:ext cx="2560320" cy="182880"/>
          </a:xfrm>
          <a:prstGeom prst="rect">
            <a:avLst/>
          </a:prstGeom>
          <a:noFill/>
        </p:spPr>
        <p:txBody>
          <a:bodyPr wrap="square" lIns="27432" rIns="27432" tIns="27432" bIns="27432" anchor="t">
            <a:spAutoFit/>
          </a:bodyPr>
          <a:lstStyle/>
          <a:p>
            <a:pPr algn="l"/>
            <a:r>
              <a:rPr sz="1100" b="1">
                <a:solidFill>
                  <a:srgbClr val="5F6B63"/>
                </a:solidFill>
                <a:latin typeface="Aptos"/>
              </a:rPr>
              <a:t>DECISION TO PROVE</a:t>
            </a:r>
          </a:p>
        </p:txBody>
      </p:sp>
      <p:sp>
        <p:nvSpPr>
          <p:cNvPr id="23" name="TextBox 22"/>
          <p:cNvSpPr txBox="1"/>
          <p:nvPr/>
        </p:nvSpPr>
        <p:spPr>
          <a:xfrm>
            <a:off x="8065008" y="1737360"/>
            <a:ext cx="2999232" cy="786384"/>
          </a:xfrm>
          <a:prstGeom prst="rect">
            <a:avLst/>
          </a:prstGeom>
          <a:noFill/>
        </p:spPr>
        <p:txBody>
          <a:bodyPr wrap="square" lIns="27432" rIns="27432" tIns="27432" bIns="27432" anchor="t">
            <a:spAutoFit/>
          </a:bodyPr>
          <a:lstStyle/>
          <a:p>
            <a:pPr algn="l"/>
            <a:r>
              <a:rPr sz="2100" b="1">
                <a:solidFill>
                  <a:srgbClr val="355C47"/>
                </a:solidFill>
                <a:latin typeface="Aptos Display"/>
              </a:rPr>
              <a:t>Win the right five cities first, then earn the right to scale.</a:t>
            </a:r>
          </a:p>
        </p:txBody>
      </p:sp>
      <p:sp>
        <p:nvSpPr>
          <p:cNvPr id="24" name="TextBox 23"/>
          <p:cNvSpPr txBox="1"/>
          <p:nvPr/>
        </p:nvSpPr>
        <p:spPr>
          <a:xfrm>
            <a:off x="8065008" y="2697480"/>
            <a:ext cx="2880360" cy="164592"/>
          </a:xfrm>
          <a:prstGeom prst="rect">
            <a:avLst/>
          </a:prstGeom>
          <a:noFill/>
        </p:spPr>
        <p:txBody>
          <a:bodyPr wrap="square" lIns="27432" rIns="27432" tIns="27432" bIns="27432" anchor="t">
            <a:spAutoFit/>
          </a:bodyPr>
          <a:lstStyle/>
          <a:p>
            <a:pPr algn="l"/>
            <a:r>
              <a:rPr sz="1000" b="1">
                <a:solidFill>
                  <a:srgbClr val="5F6B63"/>
                </a:solidFill>
                <a:latin typeface="Aptos"/>
              </a:rPr>
              <a:t>THIS DECK TESTS</a:t>
            </a:r>
          </a:p>
        </p:txBody>
      </p:sp>
      <p:sp>
        <p:nvSpPr>
          <p:cNvPr id="25" name="TextBox 24"/>
          <p:cNvSpPr txBox="1"/>
          <p:nvPr/>
        </p:nvSpPr>
        <p:spPr>
          <a:xfrm>
            <a:off x="8065008" y="2926080"/>
            <a:ext cx="2852928" cy="1298448"/>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Price support beats raw market size.</a:t>
            </a:r>
          </a:p>
          <a:p>
            <a:pPr algn="l">
              <a:lnSpc>
                <a:spcPct val="115000"/>
              </a:lnSpc>
            </a:pPr>
            <a:r>
              <a:rPr sz="1300">
                <a:solidFill>
                  <a:srgbClr val="1F2621"/>
                </a:solidFill>
                <a:latin typeface="Aptos"/>
              </a:rPr>
              <a:t>- The top cities hold through freight shocks.</a:t>
            </a:r>
          </a:p>
          <a:p>
            <a:pPr algn="l">
              <a:lnSpc>
                <a:spcPct val="115000"/>
              </a:lnSpc>
            </a:pPr>
            <a:r>
              <a:rPr sz="1300">
                <a:solidFill>
                  <a:srgbClr val="1F2621"/>
                </a:solidFill>
                <a:latin typeface="Aptos"/>
              </a:rPr>
              <a:t>- Seasonality changes how the pilot should run.</a:t>
            </a:r>
          </a:p>
        </p:txBody>
      </p:sp>
      <p:sp>
        <p:nvSpPr>
          <p:cNvPr id="26" name="TextBox 25"/>
          <p:cNvSpPr txBox="1"/>
          <p:nvPr/>
        </p:nvSpPr>
        <p:spPr>
          <a:xfrm>
            <a:off x="548640" y="5029200"/>
            <a:ext cx="6400800" cy="411480"/>
          </a:xfrm>
          <a:prstGeom prst="rect">
            <a:avLst/>
          </a:prstGeom>
          <a:noFill/>
        </p:spPr>
        <p:txBody>
          <a:bodyPr wrap="square" lIns="27432" rIns="27432" tIns="27432" bIns="27432" anchor="t">
            <a:spAutoFit/>
          </a:bodyPr>
          <a:lstStyle/>
          <a:p>
            <a:pPr algn="l"/>
            <a:r>
              <a:rPr sz="1200" b="0">
                <a:solidFill>
                  <a:srgbClr val="5F6B63"/>
                </a:solidFill>
                <a:latin typeface="Aptos"/>
              </a:rPr>
              <a:t>Prepared as an anonymized submission for the 2026 IMA Student Case Competition. The deck is designed to stand alone without speaker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EXECUTIVE SUMMARY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a disciplined 5-city organic pilot</a:t>
            </a:r>
          </a:p>
        </p:txBody>
      </p:sp>
      <p:sp>
        <p:nvSpPr>
          <p:cNvPr id="9" name="Rounded Rectangle 8"/>
          <p:cNvSpPr/>
          <p:nvPr/>
        </p:nvSpPr>
        <p:spPr>
          <a:xfrm>
            <a:off x="658368" y="1627632"/>
            <a:ext cx="653796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901952"/>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RECOMMENDATION</a:t>
            </a:r>
          </a:p>
        </p:txBody>
      </p:sp>
      <p:sp>
        <p:nvSpPr>
          <p:cNvPr id="11" name="TextBox 10"/>
          <p:cNvSpPr txBox="1"/>
          <p:nvPr/>
        </p:nvSpPr>
        <p:spPr>
          <a:xfrm>
            <a:off x="914400" y="2212848"/>
            <a:ext cx="5577840" cy="713232"/>
          </a:xfrm>
          <a:prstGeom prst="rect">
            <a:avLst/>
          </a:prstGeom>
          <a:noFill/>
        </p:spPr>
        <p:txBody>
          <a:bodyPr wrap="square" lIns="27432" rIns="27432" tIns="27432" bIns="27432" anchor="t">
            <a:spAutoFit/>
          </a:bodyPr>
          <a:lstStyle/>
          <a:p>
            <a:pPr algn="l"/>
            <a:r>
              <a:rPr sz="2500" b="1">
                <a:solidFill>
                  <a:srgbClr val="355C47"/>
                </a:solidFill>
                <a:latin typeface="Aptos Display"/>
              </a:rPr>
              <a:t>Launch Seattle, Boise, Portland, Spokane, and San Diego first.</a:t>
            </a:r>
          </a:p>
        </p:txBody>
      </p:sp>
      <p:sp>
        <p:nvSpPr>
          <p:cNvPr id="12" name="TextBox 11"/>
          <p:cNvSpPr txBox="1"/>
          <p:nvPr/>
        </p:nvSpPr>
        <p:spPr>
          <a:xfrm>
            <a:off x="914400" y="2889504"/>
            <a:ext cx="5440680" cy="475488"/>
          </a:xfrm>
          <a:prstGeom prst="rect">
            <a:avLst/>
          </a:prstGeom>
          <a:noFill/>
        </p:spPr>
        <p:txBody>
          <a:bodyPr wrap="square" lIns="27432" rIns="27432" tIns="27432" bIns="27432" anchor="t">
            <a:spAutoFit/>
          </a:bodyPr>
          <a:lstStyle/>
          <a:p>
            <a:pPr algn="l"/>
            <a:r>
              <a:rPr sz="1500" b="0">
                <a:solidFill>
                  <a:srgbClr val="1F2621"/>
                </a:solidFill>
                <a:latin typeface="Aptos"/>
              </a:rPr>
              <a:t>These five cities combine premium June pricing, organic readiness, and manageable freight better than a broad national rollout.</a:t>
            </a:r>
          </a:p>
        </p:txBody>
      </p:sp>
      <p:sp>
        <p:nvSpPr>
          <p:cNvPr id="13" name="Rounded Rectangle 12"/>
          <p:cNvSpPr/>
          <p:nvPr/>
        </p:nvSpPr>
        <p:spPr>
          <a:xfrm>
            <a:off x="914400" y="3611880"/>
            <a:ext cx="105156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616452"/>
            <a:ext cx="101498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Rounded Rectangle 14"/>
          <p:cNvSpPr/>
          <p:nvPr/>
        </p:nvSpPr>
        <p:spPr>
          <a:xfrm>
            <a:off x="2048256" y="3611880"/>
            <a:ext cx="96012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66544" y="3616452"/>
            <a:ext cx="923544"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7" name="Rounded Rectangle 16"/>
          <p:cNvSpPr/>
          <p:nvPr/>
        </p:nvSpPr>
        <p:spPr>
          <a:xfrm>
            <a:off x="3081528" y="3611880"/>
            <a:ext cx="11247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9816" y="3616452"/>
            <a:ext cx="1088136"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9" name="Rounded Rectangle 18"/>
          <p:cNvSpPr/>
          <p:nvPr/>
        </p:nvSpPr>
        <p:spPr>
          <a:xfrm>
            <a:off x="4279392" y="3611880"/>
            <a:ext cx="107899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7680" y="3616452"/>
            <a:ext cx="1042416"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21" name="Rounded Rectangle 20"/>
          <p:cNvSpPr/>
          <p:nvPr/>
        </p:nvSpPr>
        <p:spPr>
          <a:xfrm>
            <a:off x="5431536" y="3611880"/>
            <a:ext cx="129844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49824" y="3616452"/>
            <a:ext cx="1261872"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23" name="Rounded Rectangle 22"/>
          <p:cNvSpPr/>
          <p:nvPr/>
        </p:nvSpPr>
        <p:spPr>
          <a:xfrm>
            <a:off x="896112"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AVG PROFIT</a:t>
            </a:r>
          </a:p>
        </p:txBody>
      </p:sp>
      <p:sp>
        <p:nvSpPr>
          <p:cNvPr id="25" name="TextBox 24"/>
          <p:cNvSpPr txBox="1"/>
          <p:nvPr/>
        </p:nvSpPr>
        <p:spPr>
          <a:xfrm>
            <a:off x="1024128" y="4626864"/>
            <a:ext cx="1572768" cy="566928"/>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26" name="Rounded Rectangle 25"/>
          <p:cNvSpPr/>
          <p:nvPr/>
        </p:nvSpPr>
        <p:spPr>
          <a:xfrm>
            <a:off x="2944368"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72384"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28" name="TextBox 27"/>
          <p:cNvSpPr txBox="1"/>
          <p:nvPr/>
        </p:nvSpPr>
        <p:spPr>
          <a:xfrm>
            <a:off x="3072384" y="4626864"/>
            <a:ext cx="1572768" cy="566928"/>
          </a:xfrm>
          <a:prstGeom prst="rect">
            <a:avLst/>
          </a:prstGeom>
          <a:noFill/>
        </p:spPr>
        <p:txBody>
          <a:bodyPr wrap="square" lIns="27432" rIns="27432" tIns="27432" bIns="27432" anchor="ctr">
            <a:spAutoFit/>
          </a:bodyPr>
          <a:lstStyle/>
          <a:p>
            <a:pPr algn="l"/>
            <a:r>
              <a:rPr sz="1900" b="1">
                <a:solidFill>
                  <a:srgbClr val="3F728A"/>
                </a:solidFill>
                <a:latin typeface="Aptos Display"/>
              </a:rPr>
              <a:t>69.7%</a:t>
            </a:r>
          </a:p>
        </p:txBody>
      </p:sp>
      <p:sp>
        <p:nvSpPr>
          <p:cNvPr id="29" name="Rounded Rectangle 28"/>
          <p:cNvSpPr/>
          <p:nvPr/>
        </p:nvSpPr>
        <p:spPr>
          <a:xfrm>
            <a:off x="4992624"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0640"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RANK-5 GAP</a:t>
            </a:r>
          </a:p>
        </p:txBody>
      </p:sp>
      <p:sp>
        <p:nvSpPr>
          <p:cNvPr id="31" name="TextBox 30"/>
          <p:cNvSpPr txBox="1"/>
          <p:nvPr/>
        </p:nvSpPr>
        <p:spPr>
          <a:xfrm>
            <a:off x="5120640" y="4626864"/>
            <a:ext cx="1572768" cy="566928"/>
          </a:xfrm>
          <a:prstGeom prst="rect">
            <a:avLst/>
          </a:prstGeom>
          <a:noFill/>
        </p:spPr>
        <p:txBody>
          <a:bodyPr wrap="square" lIns="27432" rIns="27432" tIns="27432" bIns="27432" anchor="ctr">
            <a:spAutoFit/>
          </a:bodyPr>
          <a:lstStyle/>
          <a:p>
            <a:pPr algn="l"/>
            <a:r>
              <a:rPr sz="1900" b="1">
                <a:solidFill>
                  <a:srgbClr val="C58A2A"/>
                </a:solidFill>
                <a:latin typeface="Aptos Display"/>
              </a:rPr>
              <a:t>$1k</a:t>
            </a:r>
          </a:p>
        </p:txBody>
      </p:sp>
      <p:sp>
        <p:nvSpPr>
          <p:cNvPr id="32" name="Rounded Rectangle 31"/>
          <p:cNvSpPr/>
          <p:nvPr/>
        </p:nvSpPr>
        <p:spPr>
          <a:xfrm>
            <a:off x="7479792" y="1737360"/>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26096" y="1837944"/>
            <a:ext cx="3730752" cy="164592"/>
          </a:xfrm>
          <a:prstGeom prst="rect">
            <a:avLst/>
          </a:prstGeom>
          <a:noFill/>
        </p:spPr>
        <p:txBody>
          <a:bodyPr wrap="square" lIns="27432" rIns="27432" tIns="27432" bIns="27432" anchor="t">
            <a:spAutoFit/>
          </a:bodyPr>
          <a:lstStyle/>
          <a:p>
            <a:pPr algn="l"/>
            <a:r>
              <a:rPr sz="1100" b="1">
                <a:solidFill>
                  <a:srgbClr val="5F6B63"/>
                </a:solidFill>
                <a:latin typeface="Aptos"/>
              </a:rPr>
              <a:t>WHY THESE CITIES</a:t>
            </a:r>
          </a:p>
        </p:txBody>
      </p:sp>
      <p:sp>
        <p:nvSpPr>
          <p:cNvPr id="34" name="TextBox 33"/>
          <p:cNvSpPr txBox="1"/>
          <p:nvPr/>
        </p:nvSpPr>
        <p:spPr>
          <a:xfrm>
            <a:off x="7626096" y="2020824"/>
            <a:ext cx="3730752" cy="256032"/>
          </a:xfrm>
          <a:prstGeom prst="rect">
            <a:avLst/>
          </a:prstGeom>
          <a:noFill/>
        </p:spPr>
        <p:txBody>
          <a:bodyPr wrap="square" lIns="27432" rIns="27432" tIns="27432" bIns="27432" anchor="t">
            <a:spAutoFit/>
          </a:bodyPr>
          <a:lstStyle/>
          <a:p>
            <a:pPr algn="l"/>
            <a:r>
              <a:rPr sz="1600" b="1">
                <a:solidFill>
                  <a:srgbClr val="355C47"/>
                </a:solidFill>
                <a:latin typeface="Aptos Display"/>
              </a:rPr>
              <a:t>Premium price markets</a:t>
            </a:r>
          </a:p>
        </p:txBody>
      </p:sp>
      <p:sp>
        <p:nvSpPr>
          <p:cNvPr id="35" name="TextBox 34"/>
          <p:cNvSpPr txBox="1"/>
          <p:nvPr/>
        </p:nvSpPr>
        <p:spPr>
          <a:xfrm>
            <a:off x="7626096" y="2322576"/>
            <a:ext cx="3730752" cy="457200"/>
          </a:xfrm>
          <a:prstGeom prst="rect">
            <a:avLst/>
          </a:prstGeom>
          <a:noFill/>
        </p:spPr>
        <p:txBody>
          <a:bodyPr wrap="square" lIns="27432" rIns="27432" tIns="27432" bIns="27432" anchor="t">
            <a:spAutoFit/>
          </a:bodyPr>
          <a:lstStyle/>
          <a:p>
            <a:pPr algn="l"/>
            <a:r>
              <a:rPr sz="1000" b="0">
                <a:solidFill>
                  <a:srgbClr val="1F2621"/>
                </a:solidFill>
                <a:latin typeface="Aptos"/>
              </a:rPr>
              <a:t>The top five also rank as the strongest June organic price markets in the model.</a:t>
            </a:r>
          </a:p>
        </p:txBody>
      </p:sp>
      <p:sp>
        <p:nvSpPr>
          <p:cNvPr id="36" name="Rounded Rectangle 35"/>
          <p:cNvSpPr/>
          <p:nvPr/>
        </p:nvSpPr>
        <p:spPr>
          <a:xfrm>
            <a:off x="7479792" y="3127248"/>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26096" y="3227832"/>
            <a:ext cx="3730752" cy="164592"/>
          </a:xfrm>
          <a:prstGeom prst="rect">
            <a:avLst/>
          </a:prstGeom>
          <a:noFill/>
        </p:spPr>
        <p:txBody>
          <a:bodyPr wrap="square" lIns="27432" rIns="27432" tIns="27432" bIns="27432" anchor="t">
            <a:spAutoFit/>
          </a:bodyPr>
          <a:lstStyle/>
          <a:p>
            <a:pPr algn="l"/>
            <a:r>
              <a:rPr sz="1100" b="1">
                <a:solidFill>
                  <a:srgbClr val="5F6B63"/>
                </a:solidFill>
                <a:latin typeface="Aptos"/>
              </a:rPr>
              <a:t>WHY THE LIST HOLDS</a:t>
            </a:r>
          </a:p>
        </p:txBody>
      </p:sp>
      <p:sp>
        <p:nvSpPr>
          <p:cNvPr id="38" name="TextBox 37"/>
          <p:cNvSpPr txBox="1"/>
          <p:nvPr/>
        </p:nvSpPr>
        <p:spPr>
          <a:xfrm>
            <a:off x="7626096" y="3410712"/>
            <a:ext cx="3730752" cy="256032"/>
          </a:xfrm>
          <a:prstGeom prst="rect">
            <a:avLst/>
          </a:prstGeom>
          <a:noFill/>
        </p:spPr>
        <p:txBody>
          <a:bodyPr wrap="square" lIns="27432" rIns="27432" tIns="27432" bIns="27432" anchor="t">
            <a:spAutoFit/>
          </a:bodyPr>
          <a:lstStyle/>
          <a:p>
            <a:pPr algn="l"/>
            <a:r>
              <a:rPr sz="1600" b="1">
                <a:solidFill>
                  <a:srgbClr val="3F728A"/>
                </a:solidFill>
                <a:latin typeface="Aptos Display"/>
              </a:rPr>
              <a:t>Same 5 cities</a:t>
            </a:r>
          </a:p>
        </p:txBody>
      </p:sp>
      <p:sp>
        <p:nvSpPr>
          <p:cNvPr id="39" name="TextBox 38"/>
          <p:cNvSpPr txBox="1"/>
          <p:nvPr/>
        </p:nvSpPr>
        <p:spPr>
          <a:xfrm>
            <a:off x="7626096" y="3712464"/>
            <a:ext cx="3730752" cy="457200"/>
          </a:xfrm>
          <a:prstGeom prst="rect">
            <a:avLst/>
          </a:prstGeom>
          <a:noFill/>
        </p:spPr>
        <p:txBody>
          <a:bodyPr wrap="square" lIns="27432" rIns="27432" tIns="27432" bIns="27432" anchor="t">
            <a:spAutoFit/>
          </a:bodyPr>
          <a:lstStyle/>
          <a:p>
            <a:pPr algn="l"/>
            <a:r>
              <a:rPr sz="1000" b="0">
                <a:solidFill>
                  <a:srgbClr val="1F2621"/>
                </a:solidFill>
                <a:latin typeface="Aptos"/>
              </a:rPr>
              <a:t>The city set does not change in the base, +50%, or -50% freight cases.</a:t>
            </a:r>
          </a:p>
        </p:txBody>
      </p:sp>
      <p:sp>
        <p:nvSpPr>
          <p:cNvPr id="40" name="Rounded Rectangle 39"/>
          <p:cNvSpPr/>
          <p:nvPr/>
        </p:nvSpPr>
        <p:spPr>
          <a:xfrm>
            <a:off x="7479792" y="4517136"/>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26096" y="4617720"/>
            <a:ext cx="3730752" cy="164592"/>
          </a:xfrm>
          <a:prstGeom prst="rect">
            <a:avLst/>
          </a:prstGeom>
          <a:noFill/>
        </p:spPr>
        <p:txBody>
          <a:bodyPr wrap="square" lIns="27432" rIns="27432" tIns="27432" bIns="27432" anchor="t">
            <a:spAutoFit/>
          </a:bodyPr>
          <a:lstStyle/>
          <a:p>
            <a:pPr algn="l"/>
            <a:r>
              <a:rPr sz="1100" b="1">
                <a:solidFill>
                  <a:srgbClr val="5F6B63"/>
                </a:solidFill>
                <a:latin typeface="Aptos"/>
              </a:rPr>
              <a:t>HOW TO OPERATE IT</a:t>
            </a:r>
          </a:p>
        </p:txBody>
      </p:sp>
      <p:sp>
        <p:nvSpPr>
          <p:cNvPr id="42" name="TextBox 41"/>
          <p:cNvSpPr txBox="1"/>
          <p:nvPr/>
        </p:nvSpPr>
        <p:spPr>
          <a:xfrm>
            <a:off x="7626096" y="4800600"/>
            <a:ext cx="3730752" cy="256032"/>
          </a:xfrm>
          <a:prstGeom prst="rect">
            <a:avLst/>
          </a:prstGeom>
          <a:noFill/>
        </p:spPr>
        <p:txBody>
          <a:bodyPr wrap="square" lIns="27432" rIns="27432" tIns="27432" bIns="27432" anchor="t">
            <a:spAutoFit/>
          </a:bodyPr>
          <a:lstStyle/>
          <a:p>
            <a:pPr algn="l"/>
            <a:r>
              <a:rPr sz="1600" b="1">
                <a:solidFill>
                  <a:srgbClr val="C58A2A"/>
                </a:solidFill>
                <a:latin typeface="Aptos Display"/>
              </a:rPr>
              <a:t>Pilot before scale</a:t>
            </a:r>
          </a:p>
        </p:txBody>
      </p:sp>
      <p:sp>
        <p:nvSpPr>
          <p:cNvPr id="43" name="TextBox 42"/>
          <p:cNvSpPr txBox="1"/>
          <p:nvPr/>
        </p:nvSpPr>
        <p:spPr>
          <a:xfrm>
            <a:off x="7626096" y="5102352"/>
            <a:ext cx="3730752" cy="457200"/>
          </a:xfrm>
          <a:prstGeom prst="rect">
            <a:avLst/>
          </a:prstGeom>
          <a:noFill/>
        </p:spPr>
        <p:txBody>
          <a:bodyPr wrap="square" lIns="27432" rIns="27432" tIns="27432" bIns="27432" anchor="t">
            <a:spAutoFit/>
          </a:bodyPr>
          <a:lstStyle/>
          <a:p>
            <a:pPr algn="l"/>
            <a:r>
              <a:rPr sz="1000" b="0">
                <a:solidFill>
                  <a:srgbClr val="1F2621"/>
                </a:solidFill>
                <a:latin typeface="Aptos"/>
              </a:rPr>
              <a:t>Launch narrowly, learn fast, then scale only where margin and service hold.</a:t>
            </a:r>
          </a:p>
        </p:txBody>
      </p:sp>
      <p:sp>
        <p:nvSpPr>
          <p:cNvPr id="44" name="TextBox 43"/>
          <p:cNvSpPr txBox="1"/>
          <p:nvPr/>
        </p:nvSpPr>
        <p:spPr>
          <a:xfrm>
            <a:off x="548640" y="5577840"/>
            <a:ext cx="10972800" cy="320040"/>
          </a:xfrm>
          <a:prstGeom prst="rect">
            <a:avLst/>
          </a:prstGeom>
          <a:noFill/>
        </p:spPr>
        <p:txBody>
          <a:bodyPr wrap="square" lIns="27432" rIns="27432" tIns="27432" bIns="27432" anchor="t">
            <a:spAutoFit/>
          </a:bodyPr>
          <a:lstStyle/>
          <a:p>
            <a:pPr algn="l"/>
            <a:r>
              <a:rPr sz="1300" b="0">
                <a:solidFill>
                  <a:srgbClr val="5F6B63"/>
                </a:solidFill>
                <a:latin typeface="Aptos"/>
              </a:rPr>
              <a:t>Model note: each city is scored on the same 20,000-unit scenario using June 2025 price as the June 2026 proxy.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Volume peaks before price</a:t>
            </a:r>
          </a:p>
        </p:txBody>
      </p:sp>
      <p:sp>
        <p:nvSpPr>
          <p:cNvPr id="9" name="TextBox 8"/>
          <p:cNvSpPr txBox="1"/>
          <p:nvPr/>
        </p:nvSpPr>
        <p:spPr>
          <a:xfrm>
            <a:off x="548640" y="1078992"/>
            <a:ext cx="10698480" cy="320040"/>
          </a:xfrm>
          <a:prstGeom prst="rect">
            <a:avLst/>
          </a:prstGeom>
          <a:noFill/>
        </p:spPr>
        <p:txBody>
          <a:bodyPr wrap="square" lIns="27432" rIns="27432" tIns="27432" bIns="27432" anchor="t">
            <a:spAutoFit/>
          </a:bodyPr>
          <a:lstStyle/>
          <a:p>
            <a:pPr algn="l"/>
            <a:r>
              <a:rPr sz="1300" b="0">
                <a:solidFill>
                  <a:srgbClr val="5F6B63"/>
                </a:solidFill>
                <a:latin typeface="Aptos"/>
              </a:rPr>
              <a:t>Seasonality is not symmetrical: product arrives before the market pays peak price.</a:t>
            </a:r>
          </a:p>
        </p:txBody>
      </p:sp>
      <p:sp>
        <p:nvSpPr>
          <p:cNvPr id="10" name="Rounded Rectangle 9"/>
          <p:cNvSpPr/>
          <p:nvPr/>
        </p:nvSpPr>
        <p:spPr>
          <a:xfrm>
            <a:off x="749808" y="1664208"/>
            <a:ext cx="5230368" cy="38404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901952"/>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MONTHLY VOLUME PROFILE</a:t>
            </a:r>
          </a:p>
        </p:txBody>
      </p:sp>
      <p:cxnSp>
        <p:nvCxnSpPr>
          <p:cNvPr id="12" name="Connector 11"/>
          <p:cNvCxnSpPr/>
          <p:nvPr/>
        </p:nvCxnSpPr>
        <p:spPr>
          <a:xfrm>
            <a:off x="1645920" y="3959352"/>
            <a:ext cx="3941064"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645920" y="2432304"/>
            <a:ext cx="0" cy="1527048"/>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05840" y="388620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0</a:t>
            </a:r>
          </a:p>
        </p:txBody>
      </p:sp>
      <p:cxnSp>
        <p:nvCxnSpPr>
          <p:cNvPr id="15" name="Connector 14"/>
          <p:cNvCxnSpPr/>
          <p:nvPr/>
        </p:nvCxnSpPr>
        <p:spPr>
          <a:xfrm>
            <a:off x="1645920" y="3502152"/>
            <a:ext cx="394106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342900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50,000,000</a:t>
            </a:r>
          </a:p>
        </p:txBody>
      </p:sp>
      <p:cxnSp>
        <p:nvCxnSpPr>
          <p:cNvPr id="17" name="Connector 16"/>
          <p:cNvCxnSpPr/>
          <p:nvPr/>
        </p:nvCxnSpPr>
        <p:spPr>
          <a:xfrm>
            <a:off x="1645920" y="3044952"/>
            <a:ext cx="394106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5840" y="297180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100,000,000</a:t>
            </a:r>
          </a:p>
        </p:txBody>
      </p:sp>
      <p:cxnSp>
        <p:nvCxnSpPr>
          <p:cNvPr id="19" name="Connector 18"/>
          <p:cNvCxnSpPr/>
          <p:nvPr/>
        </p:nvCxnSpPr>
        <p:spPr>
          <a:xfrm>
            <a:off x="1645920" y="2587752"/>
            <a:ext cx="394106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05840" y="251460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150,000,000</a:t>
            </a:r>
          </a:p>
        </p:txBody>
      </p:sp>
      <p:cxnSp>
        <p:nvCxnSpPr>
          <p:cNvPr id="21" name="Connector 20"/>
          <p:cNvCxnSpPr/>
          <p:nvPr/>
        </p:nvCxnSpPr>
        <p:spPr>
          <a:xfrm>
            <a:off x="1645920" y="2130552"/>
            <a:ext cx="394106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5840" y="205740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200,000,000</a:t>
            </a:r>
          </a:p>
        </p:txBody>
      </p:sp>
      <p:sp>
        <p:nvSpPr>
          <p:cNvPr id="23" name="Oval 22"/>
          <p:cNvSpPr/>
          <p:nvPr/>
        </p:nvSpPr>
        <p:spPr>
          <a:xfrm>
            <a:off x="1591056" y="290176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1645920" y="2956631"/>
            <a:ext cx="351628" cy="6086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1942684" y="296262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V="1">
            <a:off x="1997548" y="2968071"/>
            <a:ext cx="351629" cy="4942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2294313" y="291320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2349177" y="2968071"/>
            <a:ext cx="351628" cy="8190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645941" y="299510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V="1">
            <a:off x="2700805" y="2940730"/>
            <a:ext cx="351628" cy="109241"/>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2997569" y="288586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3052433" y="2940730"/>
            <a:ext cx="351629" cy="10191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3349198" y="298777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04062" y="3042642"/>
            <a:ext cx="351628" cy="2422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3700826" y="301200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755690" y="3066871"/>
            <a:ext cx="351629" cy="450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052455" y="301651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107319" y="3071379"/>
            <a:ext cx="351628" cy="896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4404083" y="302547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Connector 39"/>
          <p:cNvCxnSpPr/>
          <p:nvPr/>
        </p:nvCxnSpPr>
        <p:spPr>
          <a:xfrm flipV="1">
            <a:off x="4458947" y="3070761"/>
            <a:ext cx="351628" cy="957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4755711" y="301589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4810575" y="3070761"/>
            <a:ext cx="351629" cy="99637"/>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5107340" y="311553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flipV="1">
            <a:off x="5162204" y="3094196"/>
            <a:ext cx="351628" cy="7620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5458968" y="3039332"/>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591056" y="385117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645920" y="3906034"/>
            <a:ext cx="351628" cy="722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1942684" y="385839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flipV="1">
            <a:off x="1997548" y="3907714"/>
            <a:ext cx="351629" cy="554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2294313" y="385285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2349177" y="3907714"/>
            <a:ext cx="351628" cy="3885"/>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2645941" y="3856735"/>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flipV="1">
            <a:off x="2700805" y="3908417"/>
            <a:ext cx="351628" cy="318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2997569" y="3853553"/>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3052433" y="3908417"/>
            <a:ext cx="351629" cy="5539"/>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3349198" y="385909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3404062" y="3913956"/>
            <a:ext cx="351628" cy="3845"/>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3700826" y="386293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flipV="1">
            <a:off x="3755690" y="3917661"/>
            <a:ext cx="351629" cy="14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052455" y="386279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V="1">
            <a:off x="4107319" y="3916401"/>
            <a:ext cx="351628" cy="126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4404083" y="386153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flipV="1">
            <a:off x="4458947" y="3915754"/>
            <a:ext cx="351628" cy="64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4755711" y="386089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4810575" y="3915754"/>
            <a:ext cx="351629" cy="287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5107340" y="386376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flipV="1">
            <a:off x="5162204" y="3912746"/>
            <a:ext cx="351628" cy="588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5458968" y="385788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26464"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Jan</a:t>
            </a:r>
          </a:p>
        </p:txBody>
      </p:sp>
      <p:sp>
        <p:nvSpPr>
          <p:cNvPr id="70" name="TextBox 69"/>
          <p:cNvSpPr txBox="1"/>
          <p:nvPr/>
        </p:nvSpPr>
        <p:spPr>
          <a:xfrm>
            <a:off x="1778092"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Feb</a:t>
            </a:r>
          </a:p>
        </p:txBody>
      </p:sp>
      <p:sp>
        <p:nvSpPr>
          <p:cNvPr id="71" name="TextBox 70"/>
          <p:cNvSpPr txBox="1"/>
          <p:nvPr/>
        </p:nvSpPr>
        <p:spPr>
          <a:xfrm>
            <a:off x="2129721"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Mar</a:t>
            </a:r>
          </a:p>
        </p:txBody>
      </p:sp>
      <p:sp>
        <p:nvSpPr>
          <p:cNvPr id="72" name="TextBox 71"/>
          <p:cNvSpPr txBox="1"/>
          <p:nvPr/>
        </p:nvSpPr>
        <p:spPr>
          <a:xfrm>
            <a:off x="2481349"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Apr</a:t>
            </a:r>
          </a:p>
        </p:txBody>
      </p:sp>
      <p:sp>
        <p:nvSpPr>
          <p:cNvPr id="73" name="TextBox 72"/>
          <p:cNvSpPr txBox="1"/>
          <p:nvPr/>
        </p:nvSpPr>
        <p:spPr>
          <a:xfrm>
            <a:off x="2832977"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May</a:t>
            </a:r>
          </a:p>
        </p:txBody>
      </p:sp>
      <p:sp>
        <p:nvSpPr>
          <p:cNvPr id="74" name="TextBox 73"/>
          <p:cNvSpPr txBox="1"/>
          <p:nvPr/>
        </p:nvSpPr>
        <p:spPr>
          <a:xfrm>
            <a:off x="3184606"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Jun</a:t>
            </a:r>
          </a:p>
        </p:txBody>
      </p:sp>
      <p:sp>
        <p:nvSpPr>
          <p:cNvPr id="75" name="TextBox 74"/>
          <p:cNvSpPr txBox="1"/>
          <p:nvPr/>
        </p:nvSpPr>
        <p:spPr>
          <a:xfrm>
            <a:off x="3536234"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Jul</a:t>
            </a:r>
          </a:p>
        </p:txBody>
      </p:sp>
      <p:sp>
        <p:nvSpPr>
          <p:cNvPr id="76" name="TextBox 75"/>
          <p:cNvSpPr txBox="1"/>
          <p:nvPr/>
        </p:nvSpPr>
        <p:spPr>
          <a:xfrm>
            <a:off x="3887863"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Aug</a:t>
            </a:r>
          </a:p>
        </p:txBody>
      </p:sp>
      <p:sp>
        <p:nvSpPr>
          <p:cNvPr id="77" name="TextBox 76"/>
          <p:cNvSpPr txBox="1"/>
          <p:nvPr/>
        </p:nvSpPr>
        <p:spPr>
          <a:xfrm>
            <a:off x="4239491"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Sep</a:t>
            </a:r>
          </a:p>
        </p:txBody>
      </p:sp>
      <p:sp>
        <p:nvSpPr>
          <p:cNvPr id="78" name="TextBox 77"/>
          <p:cNvSpPr txBox="1"/>
          <p:nvPr/>
        </p:nvSpPr>
        <p:spPr>
          <a:xfrm>
            <a:off x="4591119"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Oct</a:t>
            </a:r>
          </a:p>
        </p:txBody>
      </p:sp>
      <p:sp>
        <p:nvSpPr>
          <p:cNvPr id="79" name="TextBox 78"/>
          <p:cNvSpPr txBox="1"/>
          <p:nvPr/>
        </p:nvSpPr>
        <p:spPr>
          <a:xfrm>
            <a:off x="4942748"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Nov</a:t>
            </a:r>
          </a:p>
        </p:txBody>
      </p:sp>
      <p:sp>
        <p:nvSpPr>
          <p:cNvPr id="80" name="TextBox 79"/>
          <p:cNvSpPr txBox="1"/>
          <p:nvPr/>
        </p:nvSpPr>
        <p:spPr>
          <a:xfrm>
            <a:off x="5294376"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Dec</a:t>
            </a:r>
          </a:p>
        </p:txBody>
      </p:sp>
      <p:sp>
        <p:nvSpPr>
          <p:cNvPr id="81" name="TextBox 80"/>
          <p:cNvSpPr txBox="1"/>
          <p:nvPr/>
        </p:nvSpPr>
        <p:spPr>
          <a:xfrm>
            <a:off x="1005840" y="2121408"/>
            <a:ext cx="585216" cy="128016"/>
          </a:xfrm>
          <a:prstGeom prst="rect">
            <a:avLst/>
          </a:prstGeom>
          <a:noFill/>
        </p:spPr>
        <p:txBody>
          <a:bodyPr wrap="square" lIns="27432" rIns="27432" tIns="27432" bIns="27432" anchor="t">
            <a:spAutoFit/>
          </a:bodyPr>
          <a:lstStyle/>
          <a:p>
            <a:pPr algn="l"/>
            <a:r>
              <a:rPr sz="900" b="1">
                <a:solidFill>
                  <a:srgbClr val="5F6B63"/>
                </a:solidFill>
                <a:latin typeface="Aptos"/>
              </a:rPr>
              <a:t>VOLUME</a:t>
            </a:r>
          </a:p>
        </p:txBody>
      </p:sp>
      <p:sp>
        <p:nvSpPr>
          <p:cNvPr id="82" name="TextBox 81"/>
          <p:cNvSpPr txBox="1"/>
          <p:nvPr/>
        </p:nvSpPr>
        <p:spPr>
          <a:xfrm>
            <a:off x="1773936" y="2121408"/>
            <a:ext cx="1143000" cy="128016"/>
          </a:xfrm>
          <a:prstGeom prst="rect">
            <a:avLst/>
          </a:prstGeom>
          <a:noFill/>
        </p:spPr>
        <p:txBody>
          <a:bodyPr wrap="square" lIns="27432" rIns="27432" tIns="27432" bIns="27432" anchor="t">
            <a:spAutoFit/>
          </a:bodyPr>
          <a:lstStyle/>
          <a:p>
            <a:pPr algn="l"/>
            <a:r>
              <a:rPr sz="1000" b="1">
                <a:solidFill>
                  <a:srgbClr val="355C47"/>
                </a:solidFill>
                <a:latin typeface="Aptos"/>
              </a:rPr>
              <a:t>CONVENTIONAL</a:t>
            </a:r>
          </a:p>
        </p:txBody>
      </p:sp>
      <p:sp>
        <p:nvSpPr>
          <p:cNvPr id="83" name="TextBox 82"/>
          <p:cNvSpPr txBox="1"/>
          <p:nvPr/>
        </p:nvSpPr>
        <p:spPr>
          <a:xfrm>
            <a:off x="2999232" y="2121408"/>
            <a:ext cx="1143000" cy="128016"/>
          </a:xfrm>
          <a:prstGeom prst="rect">
            <a:avLst/>
          </a:prstGeom>
          <a:noFill/>
        </p:spPr>
        <p:txBody>
          <a:bodyPr wrap="square" lIns="27432" rIns="27432" tIns="27432" bIns="27432" anchor="t">
            <a:spAutoFit/>
          </a:bodyPr>
          <a:lstStyle/>
          <a:p>
            <a:pPr algn="l"/>
            <a:r>
              <a:rPr sz="1000" b="1">
                <a:solidFill>
                  <a:srgbClr val="C58A2A"/>
                </a:solidFill>
                <a:latin typeface="Aptos"/>
              </a:rPr>
              <a:t>ORGANIC</a:t>
            </a:r>
          </a:p>
        </p:txBody>
      </p:sp>
      <p:sp>
        <p:nvSpPr>
          <p:cNvPr id="84" name="Rounded Rectangle 83"/>
          <p:cNvSpPr/>
          <p:nvPr/>
        </p:nvSpPr>
        <p:spPr>
          <a:xfrm>
            <a:off x="987552" y="4663440"/>
            <a:ext cx="1481328" cy="7315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115568" y="4773168"/>
            <a:ext cx="1225296" cy="164592"/>
          </a:xfrm>
          <a:prstGeom prst="rect">
            <a:avLst/>
          </a:prstGeom>
          <a:noFill/>
        </p:spPr>
        <p:txBody>
          <a:bodyPr wrap="square" lIns="27432" rIns="27432" tIns="27432" bIns="27432" anchor="t">
            <a:spAutoFit/>
          </a:bodyPr>
          <a:lstStyle/>
          <a:p>
            <a:pPr algn="ctr"/>
            <a:r>
              <a:rPr sz="1000" b="1">
                <a:solidFill>
                  <a:srgbClr val="5F6B63"/>
                </a:solidFill>
                <a:latin typeface="Aptos"/>
              </a:rPr>
              <a:t>CONV. PEAK</a:t>
            </a:r>
          </a:p>
        </p:txBody>
      </p:sp>
      <p:sp>
        <p:nvSpPr>
          <p:cNvPr id="86" name="TextBox 85"/>
          <p:cNvSpPr txBox="1"/>
          <p:nvPr/>
        </p:nvSpPr>
        <p:spPr>
          <a:xfrm>
            <a:off x="1115568" y="4974336"/>
            <a:ext cx="1225296" cy="310896"/>
          </a:xfrm>
          <a:prstGeom prst="rect">
            <a:avLst/>
          </a:prstGeom>
          <a:noFill/>
        </p:spPr>
        <p:txBody>
          <a:bodyPr wrap="square" lIns="27432" rIns="27432" tIns="27432" bIns="27432" anchor="ctr">
            <a:spAutoFit/>
          </a:bodyPr>
          <a:lstStyle/>
          <a:p>
            <a:pPr algn="ctr"/>
            <a:r>
              <a:rPr sz="1900" b="1">
                <a:solidFill>
                  <a:srgbClr val="355C47"/>
                </a:solidFill>
                <a:latin typeface="Aptos Display"/>
              </a:rPr>
              <a:t>May</a:t>
            </a:r>
          </a:p>
        </p:txBody>
      </p:sp>
      <p:sp>
        <p:nvSpPr>
          <p:cNvPr id="87" name="Rounded Rectangle 86"/>
          <p:cNvSpPr/>
          <p:nvPr/>
        </p:nvSpPr>
        <p:spPr>
          <a:xfrm>
            <a:off x="2615184" y="4663440"/>
            <a:ext cx="1481328" cy="7315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743200" y="4773168"/>
            <a:ext cx="1225296" cy="164592"/>
          </a:xfrm>
          <a:prstGeom prst="rect">
            <a:avLst/>
          </a:prstGeom>
          <a:noFill/>
        </p:spPr>
        <p:txBody>
          <a:bodyPr wrap="square" lIns="27432" rIns="27432" tIns="27432" bIns="27432" anchor="t">
            <a:spAutoFit/>
          </a:bodyPr>
          <a:lstStyle/>
          <a:p>
            <a:pPr algn="ctr"/>
            <a:r>
              <a:rPr sz="1000" b="1">
                <a:solidFill>
                  <a:srgbClr val="5F6B63"/>
                </a:solidFill>
                <a:latin typeface="Aptos"/>
              </a:rPr>
              <a:t>ORG. PEAK</a:t>
            </a:r>
          </a:p>
        </p:txBody>
      </p:sp>
      <p:sp>
        <p:nvSpPr>
          <p:cNvPr id="89" name="TextBox 88"/>
          <p:cNvSpPr txBox="1"/>
          <p:nvPr/>
        </p:nvSpPr>
        <p:spPr>
          <a:xfrm>
            <a:off x="2743200" y="4974336"/>
            <a:ext cx="1225296" cy="310896"/>
          </a:xfrm>
          <a:prstGeom prst="rect">
            <a:avLst/>
          </a:prstGeom>
          <a:noFill/>
        </p:spPr>
        <p:txBody>
          <a:bodyPr wrap="square" lIns="27432" rIns="27432" tIns="27432" bIns="27432" anchor="ctr">
            <a:spAutoFit/>
          </a:bodyPr>
          <a:lstStyle/>
          <a:p>
            <a:pPr algn="ctr"/>
            <a:r>
              <a:rPr sz="1900" b="1">
                <a:solidFill>
                  <a:srgbClr val="3F728A"/>
                </a:solidFill>
                <a:latin typeface="Aptos Display"/>
              </a:rPr>
              <a:t>Jan</a:t>
            </a:r>
          </a:p>
        </p:txBody>
      </p:sp>
      <p:sp>
        <p:nvSpPr>
          <p:cNvPr id="90" name="TextBox 89"/>
          <p:cNvSpPr txBox="1"/>
          <p:nvPr/>
        </p:nvSpPr>
        <p:spPr>
          <a:xfrm>
            <a:off x="4261104" y="4718304"/>
            <a:ext cx="1353312" cy="402336"/>
          </a:xfrm>
          <a:prstGeom prst="rect">
            <a:avLst/>
          </a:prstGeom>
          <a:noFill/>
        </p:spPr>
        <p:txBody>
          <a:bodyPr wrap="square" lIns="27432" rIns="27432" tIns="27432" bIns="27432" anchor="t">
            <a:spAutoFit/>
          </a:bodyPr>
          <a:lstStyle/>
          <a:p>
            <a:pPr algn="l"/>
            <a:r>
              <a:rPr sz="1000" b="0">
                <a:solidFill>
                  <a:srgbClr val="1F2621"/>
                </a:solidFill>
                <a:latin typeface="Aptos"/>
              </a:rPr>
              <a:t>Supply arrives earliest in organic, then broadens into the spring conventional peak.</a:t>
            </a:r>
          </a:p>
        </p:txBody>
      </p:sp>
      <p:sp>
        <p:nvSpPr>
          <p:cNvPr id="91" name="Rounded Rectangle 90"/>
          <p:cNvSpPr/>
          <p:nvPr/>
        </p:nvSpPr>
        <p:spPr>
          <a:xfrm>
            <a:off x="6217920" y="1664208"/>
            <a:ext cx="5230368" cy="38404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55664" y="1901952"/>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MONTHLY PRICE PROFILE</a:t>
            </a:r>
          </a:p>
        </p:txBody>
      </p:sp>
      <p:cxnSp>
        <p:nvCxnSpPr>
          <p:cNvPr id="93" name="Connector 92"/>
          <p:cNvCxnSpPr/>
          <p:nvPr/>
        </p:nvCxnSpPr>
        <p:spPr>
          <a:xfrm>
            <a:off x="7114032" y="3959352"/>
            <a:ext cx="3941064"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7114032" y="2432304"/>
            <a:ext cx="0" cy="1527048"/>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6473952" y="388620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a:t>
            </a:r>
          </a:p>
        </p:txBody>
      </p:sp>
      <p:cxnSp>
        <p:nvCxnSpPr>
          <p:cNvPr id="96" name="Connector 95"/>
          <p:cNvCxnSpPr/>
          <p:nvPr/>
        </p:nvCxnSpPr>
        <p:spPr>
          <a:xfrm>
            <a:off x="7114032" y="3685032"/>
            <a:ext cx="394106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6473952" y="361188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$1.20</a:t>
            </a:r>
          </a:p>
        </p:txBody>
      </p:sp>
      <p:cxnSp>
        <p:nvCxnSpPr>
          <p:cNvPr id="98" name="Connector 97"/>
          <p:cNvCxnSpPr/>
          <p:nvPr/>
        </p:nvCxnSpPr>
        <p:spPr>
          <a:xfrm>
            <a:off x="7114032" y="3410712"/>
            <a:ext cx="394106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6473952" y="333756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$1.40</a:t>
            </a:r>
          </a:p>
        </p:txBody>
      </p:sp>
      <p:cxnSp>
        <p:nvCxnSpPr>
          <p:cNvPr id="100" name="Connector 99"/>
          <p:cNvCxnSpPr/>
          <p:nvPr/>
        </p:nvCxnSpPr>
        <p:spPr>
          <a:xfrm>
            <a:off x="7114032" y="3136392"/>
            <a:ext cx="394106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6473952" y="306324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$1.60</a:t>
            </a:r>
          </a:p>
        </p:txBody>
      </p:sp>
      <p:cxnSp>
        <p:nvCxnSpPr>
          <p:cNvPr id="102" name="Connector 101"/>
          <p:cNvCxnSpPr/>
          <p:nvPr/>
        </p:nvCxnSpPr>
        <p:spPr>
          <a:xfrm>
            <a:off x="7114032" y="2862072"/>
            <a:ext cx="394106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6473952" y="278892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$1.80</a:t>
            </a:r>
          </a:p>
        </p:txBody>
      </p:sp>
      <p:sp>
        <p:nvSpPr>
          <p:cNvPr id="104" name="Oval 103"/>
          <p:cNvSpPr/>
          <p:nvPr/>
        </p:nvSpPr>
        <p:spPr>
          <a:xfrm>
            <a:off x="7059168" y="380487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Connector 104"/>
          <p:cNvCxnSpPr/>
          <p:nvPr/>
        </p:nvCxnSpPr>
        <p:spPr>
          <a:xfrm>
            <a:off x="7114032" y="3859734"/>
            <a:ext cx="351628" cy="6221"/>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06" name="Oval 105"/>
          <p:cNvSpPr/>
          <p:nvPr/>
        </p:nvSpPr>
        <p:spPr>
          <a:xfrm>
            <a:off x="7410796" y="381109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7" name="Connector 106"/>
          <p:cNvCxnSpPr/>
          <p:nvPr/>
        </p:nvCxnSpPr>
        <p:spPr>
          <a:xfrm flipV="1">
            <a:off x="7465660" y="3747017"/>
            <a:ext cx="351629" cy="11893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08" name="Oval 107"/>
          <p:cNvSpPr/>
          <p:nvPr/>
        </p:nvSpPr>
        <p:spPr>
          <a:xfrm>
            <a:off x="7762425" y="369215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9" name="Connector 108"/>
          <p:cNvCxnSpPr/>
          <p:nvPr/>
        </p:nvCxnSpPr>
        <p:spPr>
          <a:xfrm flipV="1">
            <a:off x="7817289" y="3621538"/>
            <a:ext cx="351628" cy="12547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10" name="Oval 109"/>
          <p:cNvSpPr/>
          <p:nvPr/>
        </p:nvSpPr>
        <p:spPr>
          <a:xfrm>
            <a:off x="8114053" y="356667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1" name="Connector 110"/>
          <p:cNvCxnSpPr/>
          <p:nvPr/>
        </p:nvCxnSpPr>
        <p:spPr>
          <a:xfrm flipV="1">
            <a:off x="8168917" y="3592612"/>
            <a:ext cx="351628" cy="2892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12" name="Oval 111"/>
          <p:cNvSpPr/>
          <p:nvPr/>
        </p:nvSpPr>
        <p:spPr>
          <a:xfrm>
            <a:off x="8465681" y="353774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3" name="Connector 112"/>
          <p:cNvCxnSpPr/>
          <p:nvPr/>
        </p:nvCxnSpPr>
        <p:spPr>
          <a:xfrm flipV="1">
            <a:off x="8520545" y="3564766"/>
            <a:ext cx="351629" cy="2784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14" name="Oval 113"/>
          <p:cNvSpPr/>
          <p:nvPr/>
        </p:nvSpPr>
        <p:spPr>
          <a:xfrm>
            <a:off x="8817310" y="3509902"/>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5" name="Connector 114"/>
          <p:cNvCxnSpPr/>
          <p:nvPr/>
        </p:nvCxnSpPr>
        <p:spPr>
          <a:xfrm flipV="1">
            <a:off x="8872174" y="3552281"/>
            <a:ext cx="351628" cy="12485"/>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16" name="Oval 115"/>
          <p:cNvSpPr/>
          <p:nvPr/>
        </p:nvSpPr>
        <p:spPr>
          <a:xfrm>
            <a:off x="9168938" y="349741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7" name="Connector 116"/>
          <p:cNvCxnSpPr/>
          <p:nvPr/>
        </p:nvCxnSpPr>
        <p:spPr>
          <a:xfrm>
            <a:off x="9223802" y="3552281"/>
            <a:ext cx="351629" cy="90394"/>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18" name="Oval 117"/>
          <p:cNvSpPr/>
          <p:nvPr/>
        </p:nvSpPr>
        <p:spPr>
          <a:xfrm>
            <a:off x="9520567" y="358781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9" name="Connector 118"/>
          <p:cNvCxnSpPr/>
          <p:nvPr/>
        </p:nvCxnSpPr>
        <p:spPr>
          <a:xfrm>
            <a:off x="9575431" y="3642675"/>
            <a:ext cx="351628" cy="42391"/>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20" name="Oval 119"/>
          <p:cNvSpPr/>
          <p:nvPr/>
        </p:nvSpPr>
        <p:spPr>
          <a:xfrm>
            <a:off x="9872195" y="3630202"/>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1" name="Connector 120"/>
          <p:cNvCxnSpPr/>
          <p:nvPr/>
        </p:nvCxnSpPr>
        <p:spPr>
          <a:xfrm>
            <a:off x="9927059" y="3685066"/>
            <a:ext cx="351628" cy="43911"/>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22" name="Oval 121"/>
          <p:cNvSpPr/>
          <p:nvPr/>
        </p:nvSpPr>
        <p:spPr>
          <a:xfrm>
            <a:off x="10223823" y="367411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3" name="Connector 122"/>
          <p:cNvCxnSpPr/>
          <p:nvPr/>
        </p:nvCxnSpPr>
        <p:spPr>
          <a:xfrm>
            <a:off x="10278687" y="3728977"/>
            <a:ext cx="351629" cy="39565"/>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24" name="Oval 123"/>
          <p:cNvSpPr/>
          <p:nvPr/>
        </p:nvSpPr>
        <p:spPr>
          <a:xfrm>
            <a:off x="10575452" y="371367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5" name="Connector 124"/>
          <p:cNvCxnSpPr/>
          <p:nvPr/>
        </p:nvCxnSpPr>
        <p:spPr>
          <a:xfrm>
            <a:off x="10630316" y="3768542"/>
            <a:ext cx="351628" cy="5325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126" name="Oval 125"/>
          <p:cNvSpPr/>
          <p:nvPr/>
        </p:nvSpPr>
        <p:spPr>
          <a:xfrm>
            <a:off x="10927080" y="376693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7059168" y="314714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8" name="Connector 127"/>
          <p:cNvCxnSpPr/>
          <p:nvPr/>
        </p:nvCxnSpPr>
        <p:spPr>
          <a:xfrm>
            <a:off x="7114032" y="3202006"/>
            <a:ext cx="351628" cy="5795"/>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29" name="Oval 128"/>
          <p:cNvSpPr/>
          <p:nvPr/>
        </p:nvSpPr>
        <p:spPr>
          <a:xfrm>
            <a:off x="7410796" y="315293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0" name="Connector 129"/>
          <p:cNvCxnSpPr/>
          <p:nvPr/>
        </p:nvCxnSpPr>
        <p:spPr>
          <a:xfrm flipV="1">
            <a:off x="7465660" y="3134280"/>
            <a:ext cx="351629" cy="73521"/>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31" name="Oval 130"/>
          <p:cNvSpPr/>
          <p:nvPr/>
        </p:nvSpPr>
        <p:spPr>
          <a:xfrm>
            <a:off x="7762425" y="307941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2" name="Connector 131"/>
          <p:cNvCxnSpPr/>
          <p:nvPr/>
        </p:nvCxnSpPr>
        <p:spPr>
          <a:xfrm flipV="1">
            <a:off x="7817289" y="2995006"/>
            <a:ext cx="351628" cy="13927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33" name="Oval 132"/>
          <p:cNvSpPr/>
          <p:nvPr/>
        </p:nvSpPr>
        <p:spPr>
          <a:xfrm>
            <a:off x="8114053" y="294014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4" name="Connector 133"/>
          <p:cNvCxnSpPr/>
          <p:nvPr/>
        </p:nvCxnSpPr>
        <p:spPr>
          <a:xfrm flipV="1">
            <a:off x="8168917" y="2905332"/>
            <a:ext cx="351628" cy="8967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8465681" y="285046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6" name="Connector 135"/>
          <p:cNvCxnSpPr/>
          <p:nvPr/>
        </p:nvCxnSpPr>
        <p:spPr>
          <a:xfrm flipV="1">
            <a:off x="8520545" y="2865555"/>
            <a:ext cx="351629" cy="3977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37" name="Oval 136"/>
          <p:cNvSpPr/>
          <p:nvPr/>
        </p:nvSpPr>
        <p:spPr>
          <a:xfrm>
            <a:off x="8817310" y="2810691"/>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8" name="Connector 137"/>
          <p:cNvCxnSpPr/>
          <p:nvPr/>
        </p:nvCxnSpPr>
        <p:spPr>
          <a:xfrm flipV="1">
            <a:off x="8872174" y="2771684"/>
            <a:ext cx="351628" cy="93871"/>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39" name="Oval 138"/>
          <p:cNvSpPr/>
          <p:nvPr/>
        </p:nvSpPr>
        <p:spPr>
          <a:xfrm>
            <a:off x="9168938" y="271682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0" name="Connector 139"/>
          <p:cNvCxnSpPr/>
          <p:nvPr/>
        </p:nvCxnSpPr>
        <p:spPr>
          <a:xfrm>
            <a:off x="9223802" y="2771684"/>
            <a:ext cx="351629" cy="19673"/>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9520567" y="2736493"/>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2" name="Connector 141"/>
          <p:cNvCxnSpPr/>
          <p:nvPr/>
        </p:nvCxnSpPr>
        <p:spPr>
          <a:xfrm>
            <a:off x="9575431" y="2791357"/>
            <a:ext cx="351628" cy="70009"/>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43" name="Oval 142"/>
          <p:cNvSpPr/>
          <p:nvPr/>
        </p:nvSpPr>
        <p:spPr>
          <a:xfrm>
            <a:off x="9872195" y="280650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4" name="Connector 143"/>
          <p:cNvCxnSpPr/>
          <p:nvPr/>
        </p:nvCxnSpPr>
        <p:spPr>
          <a:xfrm>
            <a:off x="9927059" y="2861366"/>
            <a:ext cx="351628" cy="106005"/>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45" name="Oval 144"/>
          <p:cNvSpPr/>
          <p:nvPr/>
        </p:nvSpPr>
        <p:spPr>
          <a:xfrm>
            <a:off x="10223823" y="291250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6" name="Connector 145"/>
          <p:cNvCxnSpPr/>
          <p:nvPr/>
        </p:nvCxnSpPr>
        <p:spPr>
          <a:xfrm>
            <a:off x="10278687" y="2967371"/>
            <a:ext cx="351629" cy="5824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47" name="Oval 146"/>
          <p:cNvSpPr/>
          <p:nvPr/>
        </p:nvSpPr>
        <p:spPr>
          <a:xfrm>
            <a:off x="10575452" y="297075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8" name="Connector 147"/>
          <p:cNvCxnSpPr/>
          <p:nvPr/>
        </p:nvCxnSpPr>
        <p:spPr>
          <a:xfrm>
            <a:off x="10630316" y="3025618"/>
            <a:ext cx="351628" cy="8166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149" name="Oval 148"/>
          <p:cNvSpPr/>
          <p:nvPr/>
        </p:nvSpPr>
        <p:spPr>
          <a:xfrm>
            <a:off x="10927080" y="305242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6894576"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Jan</a:t>
            </a:r>
          </a:p>
        </p:txBody>
      </p:sp>
      <p:sp>
        <p:nvSpPr>
          <p:cNvPr id="151" name="TextBox 150"/>
          <p:cNvSpPr txBox="1"/>
          <p:nvPr/>
        </p:nvSpPr>
        <p:spPr>
          <a:xfrm>
            <a:off x="7246204"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Feb</a:t>
            </a:r>
          </a:p>
        </p:txBody>
      </p:sp>
      <p:sp>
        <p:nvSpPr>
          <p:cNvPr id="152" name="TextBox 151"/>
          <p:cNvSpPr txBox="1"/>
          <p:nvPr/>
        </p:nvSpPr>
        <p:spPr>
          <a:xfrm>
            <a:off x="7597833"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Mar</a:t>
            </a:r>
          </a:p>
        </p:txBody>
      </p:sp>
      <p:sp>
        <p:nvSpPr>
          <p:cNvPr id="153" name="TextBox 152"/>
          <p:cNvSpPr txBox="1"/>
          <p:nvPr/>
        </p:nvSpPr>
        <p:spPr>
          <a:xfrm>
            <a:off x="7949461"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Apr</a:t>
            </a:r>
          </a:p>
        </p:txBody>
      </p:sp>
      <p:sp>
        <p:nvSpPr>
          <p:cNvPr id="154" name="TextBox 153"/>
          <p:cNvSpPr txBox="1"/>
          <p:nvPr/>
        </p:nvSpPr>
        <p:spPr>
          <a:xfrm>
            <a:off x="8301089"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May</a:t>
            </a:r>
          </a:p>
        </p:txBody>
      </p:sp>
      <p:sp>
        <p:nvSpPr>
          <p:cNvPr id="155" name="TextBox 154"/>
          <p:cNvSpPr txBox="1"/>
          <p:nvPr/>
        </p:nvSpPr>
        <p:spPr>
          <a:xfrm>
            <a:off x="8652718"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Jun</a:t>
            </a:r>
          </a:p>
        </p:txBody>
      </p:sp>
      <p:sp>
        <p:nvSpPr>
          <p:cNvPr id="156" name="TextBox 155"/>
          <p:cNvSpPr txBox="1"/>
          <p:nvPr/>
        </p:nvSpPr>
        <p:spPr>
          <a:xfrm>
            <a:off x="9004346"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Jul</a:t>
            </a:r>
          </a:p>
        </p:txBody>
      </p:sp>
      <p:sp>
        <p:nvSpPr>
          <p:cNvPr id="157" name="TextBox 156"/>
          <p:cNvSpPr txBox="1"/>
          <p:nvPr/>
        </p:nvSpPr>
        <p:spPr>
          <a:xfrm>
            <a:off x="9355975"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Aug</a:t>
            </a:r>
          </a:p>
        </p:txBody>
      </p:sp>
      <p:sp>
        <p:nvSpPr>
          <p:cNvPr id="158" name="TextBox 157"/>
          <p:cNvSpPr txBox="1"/>
          <p:nvPr/>
        </p:nvSpPr>
        <p:spPr>
          <a:xfrm>
            <a:off x="9707603"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Sep</a:t>
            </a:r>
          </a:p>
        </p:txBody>
      </p:sp>
      <p:sp>
        <p:nvSpPr>
          <p:cNvPr id="159" name="TextBox 158"/>
          <p:cNvSpPr txBox="1"/>
          <p:nvPr/>
        </p:nvSpPr>
        <p:spPr>
          <a:xfrm>
            <a:off x="10059231"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Oct</a:t>
            </a:r>
          </a:p>
        </p:txBody>
      </p:sp>
      <p:sp>
        <p:nvSpPr>
          <p:cNvPr id="160" name="TextBox 159"/>
          <p:cNvSpPr txBox="1"/>
          <p:nvPr/>
        </p:nvSpPr>
        <p:spPr>
          <a:xfrm>
            <a:off x="10410860"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Nov</a:t>
            </a:r>
          </a:p>
        </p:txBody>
      </p:sp>
      <p:sp>
        <p:nvSpPr>
          <p:cNvPr id="161" name="TextBox 160"/>
          <p:cNvSpPr txBox="1"/>
          <p:nvPr/>
        </p:nvSpPr>
        <p:spPr>
          <a:xfrm>
            <a:off x="10762488" y="4032504"/>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Dec</a:t>
            </a:r>
          </a:p>
        </p:txBody>
      </p:sp>
      <p:sp>
        <p:nvSpPr>
          <p:cNvPr id="162" name="TextBox 161"/>
          <p:cNvSpPr txBox="1"/>
          <p:nvPr/>
        </p:nvSpPr>
        <p:spPr>
          <a:xfrm>
            <a:off x="6473952" y="2121408"/>
            <a:ext cx="585216" cy="128016"/>
          </a:xfrm>
          <a:prstGeom prst="rect">
            <a:avLst/>
          </a:prstGeom>
          <a:noFill/>
        </p:spPr>
        <p:txBody>
          <a:bodyPr wrap="square" lIns="27432" rIns="27432" tIns="27432" bIns="27432" anchor="t">
            <a:spAutoFit/>
          </a:bodyPr>
          <a:lstStyle/>
          <a:p>
            <a:pPr algn="l"/>
            <a:r>
              <a:rPr sz="900" b="1">
                <a:solidFill>
                  <a:srgbClr val="5F6B63"/>
                </a:solidFill>
                <a:latin typeface="Aptos"/>
              </a:rPr>
              <a:t>PRICE</a:t>
            </a:r>
          </a:p>
        </p:txBody>
      </p:sp>
      <p:sp>
        <p:nvSpPr>
          <p:cNvPr id="163" name="TextBox 162"/>
          <p:cNvSpPr txBox="1"/>
          <p:nvPr/>
        </p:nvSpPr>
        <p:spPr>
          <a:xfrm>
            <a:off x="7242048" y="2121408"/>
            <a:ext cx="1143000" cy="128016"/>
          </a:xfrm>
          <a:prstGeom prst="rect">
            <a:avLst/>
          </a:prstGeom>
          <a:noFill/>
        </p:spPr>
        <p:txBody>
          <a:bodyPr wrap="square" lIns="27432" rIns="27432" tIns="27432" bIns="27432" anchor="t">
            <a:spAutoFit/>
          </a:bodyPr>
          <a:lstStyle/>
          <a:p>
            <a:pPr algn="l"/>
            <a:r>
              <a:rPr sz="1000" b="1">
                <a:solidFill>
                  <a:srgbClr val="355C47"/>
                </a:solidFill>
                <a:latin typeface="Aptos"/>
              </a:rPr>
              <a:t>CONVENTIONAL</a:t>
            </a:r>
          </a:p>
        </p:txBody>
      </p:sp>
      <p:sp>
        <p:nvSpPr>
          <p:cNvPr id="164" name="TextBox 163"/>
          <p:cNvSpPr txBox="1"/>
          <p:nvPr/>
        </p:nvSpPr>
        <p:spPr>
          <a:xfrm>
            <a:off x="8467344" y="2121408"/>
            <a:ext cx="1143000" cy="128016"/>
          </a:xfrm>
          <a:prstGeom prst="rect">
            <a:avLst/>
          </a:prstGeom>
          <a:noFill/>
        </p:spPr>
        <p:txBody>
          <a:bodyPr wrap="square" lIns="27432" rIns="27432" tIns="27432" bIns="27432" anchor="t">
            <a:spAutoFit/>
          </a:bodyPr>
          <a:lstStyle/>
          <a:p>
            <a:pPr algn="l"/>
            <a:r>
              <a:rPr sz="1000" b="1">
                <a:solidFill>
                  <a:srgbClr val="C58A2A"/>
                </a:solidFill>
                <a:latin typeface="Aptos"/>
              </a:rPr>
              <a:t>ORGANIC</a:t>
            </a:r>
          </a:p>
        </p:txBody>
      </p:sp>
      <p:sp>
        <p:nvSpPr>
          <p:cNvPr id="165" name="Rounded Rectangle 164"/>
          <p:cNvSpPr/>
          <p:nvPr/>
        </p:nvSpPr>
        <p:spPr>
          <a:xfrm>
            <a:off x="6455664" y="4663440"/>
            <a:ext cx="1481328" cy="7315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583680" y="4773168"/>
            <a:ext cx="1225296" cy="164592"/>
          </a:xfrm>
          <a:prstGeom prst="rect">
            <a:avLst/>
          </a:prstGeom>
          <a:noFill/>
        </p:spPr>
        <p:txBody>
          <a:bodyPr wrap="square" lIns="27432" rIns="27432" tIns="27432" bIns="27432" anchor="t">
            <a:spAutoFit/>
          </a:bodyPr>
          <a:lstStyle/>
          <a:p>
            <a:pPr algn="ctr"/>
            <a:r>
              <a:rPr sz="1000" b="1">
                <a:solidFill>
                  <a:srgbClr val="5F6B63"/>
                </a:solidFill>
                <a:latin typeface="Aptos"/>
              </a:rPr>
              <a:t>BOTH PEAK</a:t>
            </a:r>
          </a:p>
        </p:txBody>
      </p:sp>
      <p:sp>
        <p:nvSpPr>
          <p:cNvPr id="167" name="TextBox 166"/>
          <p:cNvSpPr txBox="1"/>
          <p:nvPr/>
        </p:nvSpPr>
        <p:spPr>
          <a:xfrm>
            <a:off x="6583680" y="4974336"/>
            <a:ext cx="1225296" cy="310896"/>
          </a:xfrm>
          <a:prstGeom prst="rect">
            <a:avLst/>
          </a:prstGeom>
          <a:noFill/>
        </p:spPr>
        <p:txBody>
          <a:bodyPr wrap="square" lIns="27432" rIns="27432" tIns="27432" bIns="27432" anchor="ctr">
            <a:spAutoFit/>
          </a:bodyPr>
          <a:lstStyle/>
          <a:p>
            <a:pPr algn="ctr"/>
            <a:r>
              <a:rPr sz="1900" b="1">
                <a:solidFill>
                  <a:srgbClr val="C58A2A"/>
                </a:solidFill>
                <a:latin typeface="Aptos Display"/>
              </a:rPr>
              <a:t>Jul</a:t>
            </a:r>
          </a:p>
        </p:txBody>
      </p:sp>
      <p:sp>
        <p:nvSpPr>
          <p:cNvPr id="168" name="Rounded Rectangle 167"/>
          <p:cNvSpPr/>
          <p:nvPr/>
        </p:nvSpPr>
        <p:spPr>
          <a:xfrm>
            <a:off x="8083296" y="4663440"/>
            <a:ext cx="1481328" cy="7315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8211312" y="4773168"/>
            <a:ext cx="1225296" cy="164592"/>
          </a:xfrm>
          <a:prstGeom prst="rect">
            <a:avLst/>
          </a:prstGeom>
          <a:noFill/>
        </p:spPr>
        <p:txBody>
          <a:bodyPr wrap="square" lIns="27432" rIns="27432" tIns="27432" bIns="27432" anchor="t">
            <a:spAutoFit/>
          </a:bodyPr>
          <a:lstStyle/>
          <a:p>
            <a:pPr algn="ctr"/>
            <a:r>
              <a:rPr sz="1000" b="1">
                <a:solidFill>
                  <a:srgbClr val="5F6B63"/>
                </a:solidFill>
                <a:latin typeface="Aptos"/>
              </a:rPr>
              <a:t>PRICE FLOOR</a:t>
            </a:r>
          </a:p>
        </p:txBody>
      </p:sp>
      <p:sp>
        <p:nvSpPr>
          <p:cNvPr id="170" name="TextBox 169"/>
          <p:cNvSpPr txBox="1"/>
          <p:nvPr/>
        </p:nvSpPr>
        <p:spPr>
          <a:xfrm>
            <a:off x="8211312" y="4974336"/>
            <a:ext cx="1225296" cy="310896"/>
          </a:xfrm>
          <a:prstGeom prst="rect">
            <a:avLst/>
          </a:prstGeom>
          <a:noFill/>
        </p:spPr>
        <p:txBody>
          <a:bodyPr wrap="square" lIns="27432" rIns="27432" tIns="27432" bIns="27432" anchor="ctr">
            <a:spAutoFit/>
          </a:bodyPr>
          <a:lstStyle/>
          <a:p>
            <a:pPr algn="ctr"/>
            <a:r>
              <a:rPr sz="1900" b="1">
                <a:solidFill>
                  <a:srgbClr val="B5533A"/>
                </a:solidFill>
                <a:latin typeface="Aptos Display"/>
              </a:rPr>
              <a:t>Feb</a:t>
            </a:r>
          </a:p>
        </p:txBody>
      </p:sp>
      <p:sp>
        <p:nvSpPr>
          <p:cNvPr id="171" name="TextBox 170"/>
          <p:cNvSpPr txBox="1"/>
          <p:nvPr/>
        </p:nvSpPr>
        <p:spPr>
          <a:xfrm>
            <a:off x="9729216" y="4718304"/>
            <a:ext cx="1353312" cy="402336"/>
          </a:xfrm>
          <a:prstGeom prst="rect">
            <a:avLst/>
          </a:prstGeom>
          <a:noFill/>
        </p:spPr>
        <p:txBody>
          <a:bodyPr wrap="square" lIns="27432" rIns="27432" tIns="27432" bIns="27432" anchor="t">
            <a:spAutoFit/>
          </a:bodyPr>
          <a:lstStyle/>
          <a:p>
            <a:pPr algn="l"/>
            <a:r>
              <a:rPr sz="1000" b="0">
                <a:solidFill>
                  <a:srgbClr val="1F2621"/>
                </a:solidFill>
                <a:latin typeface="Aptos"/>
              </a:rPr>
              <a:t>Both price curves crest in July, months after the main volume build.</a:t>
            </a:r>
          </a:p>
        </p:txBody>
      </p:sp>
      <p:sp>
        <p:nvSpPr>
          <p:cNvPr id="172" name="Rounded Rectangle 171"/>
          <p:cNvSpPr/>
          <p:nvPr/>
        </p:nvSpPr>
        <p:spPr>
          <a:xfrm>
            <a:off x="786384" y="5632704"/>
            <a:ext cx="10625328" cy="4572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ounded Rectangle 172"/>
          <p:cNvSpPr/>
          <p:nvPr/>
        </p:nvSpPr>
        <p:spPr>
          <a:xfrm>
            <a:off x="914400" y="5742432"/>
            <a:ext cx="1051560" cy="23774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69264" y="5797296"/>
            <a:ext cx="941832" cy="128016"/>
          </a:xfrm>
          <a:prstGeom prst="rect">
            <a:avLst/>
          </a:prstGeom>
          <a:noFill/>
        </p:spPr>
        <p:txBody>
          <a:bodyPr wrap="square" lIns="27432" rIns="27432" tIns="27432" bIns="27432" anchor="ctr">
            <a:spAutoFit/>
          </a:bodyPr>
          <a:lstStyle/>
          <a:p>
            <a:pPr algn="ctr"/>
            <a:r>
              <a:rPr sz="1000" b="1">
                <a:solidFill>
                  <a:srgbClr val="FCFAF5"/>
                </a:solidFill>
                <a:latin typeface="Aptos"/>
              </a:rPr>
              <a:t>TAKEAWAY</a:t>
            </a:r>
          </a:p>
        </p:txBody>
      </p:sp>
      <p:sp>
        <p:nvSpPr>
          <p:cNvPr id="175" name="TextBox 174"/>
          <p:cNvSpPr txBox="1"/>
          <p:nvPr/>
        </p:nvSpPr>
        <p:spPr>
          <a:xfrm>
            <a:off x="2157984" y="5724144"/>
            <a:ext cx="6830568" cy="274320"/>
          </a:xfrm>
          <a:prstGeom prst="rect">
            <a:avLst/>
          </a:prstGeom>
          <a:noFill/>
        </p:spPr>
        <p:txBody>
          <a:bodyPr wrap="square" lIns="27432" rIns="27432" tIns="27432" bIns="27432" anchor="ctr">
            <a:spAutoFit/>
          </a:bodyPr>
          <a:lstStyle/>
          <a:p>
            <a:pPr algn="l"/>
            <a:r>
              <a:rPr sz="1200" b="1">
                <a:solidFill>
                  <a:srgbClr val="1F2621"/>
                </a:solidFill>
                <a:latin typeface="Aptos"/>
              </a:rPr>
              <a:t>The market absorbs more units before it offers peak pricing, so timing decisions materially affect realized margin.</a:t>
            </a:r>
          </a:p>
        </p:txBody>
      </p:sp>
      <p:cxnSp>
        <p:nvCxnSpPr>
          <p:cNvPr id="176" name="Connector 175"/>
          <p:cNvCxnSpPr/>
          <p:nvPr/>
        </p:nvCxnSpPr>
        <p:spPr>
          <a:xfrm>
            <a:off x="9079992" y="5760720"/>
            <a:ext cx="0" cy="201168"/>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9244584" y="5724144"/>
            <a:ext cx="1938528" cy="274320"/>
          </a:xfrm>
          <a:prstGeom prst="rect">
            <a:avLst/>
          </a:prstGeom>
          <a:noFill/>
        </p:spPr>
        <p:txBody>
          <a:bodyPr wrap="square" lIns="27432" rIns="27432" tIns="27432" bIns="27432" anchor="ctr">
            <a:spAutoFit/>
          </a:bodyPr>
          <a:lstStyle/>
          <a:p>
            <a:pPr algn="l"/>
            <a:r>
              <a:rPr sz="1000" b="0">
                <a:solidFill>
                  <a:srgbClr val="5F6B63"/>
                </a:solidFill>
                <a:latin typeface="Aptos"/>
              </a:rPr>
              <a:t>This timing gap becomes the operating playbook in the seasonality section later in the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4</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Organic is growing faster than the total market</a:t>
            </a:r>
          </a:p>
        </p:txBody>
      </p:sp>
      <p:sp>
        <p:nvSpPr>
          <p:cNvPr id="9" name="Rounded Rectangle 8"/>
          <p:cNvSpPr/>
          <p:nvPr/>
        </p:nvSpPr>
        <p:spPr>
          <a:xfrm>
            <a:off x="749808" y="1664208"/>
            <a:ext cx="10771632" cy="1097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764792"/>
            <a:ext cx="2436876" cy="146304"/>
          </a:xfrm>
          <a:prstGeom prst="rect">
            <a:avLst/>
          </a:prstGeom>
          <a:noFill/>
        </p:spPr>
        <p:txBody>
          <a:bodyPr wrap="square" lIns="27432" rIns="27432" tIns="27432" bIns="27432" anchor="t">
            <a:spAutoFit/>
          </a:bodyPr>
          <a:lstStyle/>
          <a:p>
            <a:pPr algn="l"/>
            <a:r>
              <a:rPr sz="1000" b="1">
                <a:solidFill>
                  <a:srgbClr val="5F6B63"/>
                </a:solidFill>
                <a:latin typeface="Aptos"/>
              </a:rPr>
              <a:t>ORGANIC VOLUME GROWTH</a:t>
            </a:r>
          </a:p>
        </p:txBody>
      </p:sp>
      <p:sp>
        <p:nvSpPr>
          <p:cNvPr id="11" name="TextBox 10"/>
          <p:cNvSpPr txBox="1"/>
          <p:nvPr/>
        </p:nvSpPr>
        <p:spPr>
          <a:xfrm>
            <a:off x="877824" y="1920240"/>
            <a:ext cx="2436876" cy="237744"/>
          </a:xfrm>
          <a:prstGeom prst="rect">
            <a:avLst/>
          </a:prstGeom>
          <a:noFill/>
        </p:spPr>
        <p:txBody>
          <a:bodyPr wrap="square" lIns="27432" rIns="27432" tIns="27432" bIns="27432" anchor="t">
            <a:spAutoFit/>
          </a:bodyPr>
          <a:lstStyle/>
          <a:p>
            <a:pPr algn="l"/>
            <a:r>
              <a:rPr sz="1800" b="1">
                <a:solidFill>
                  <a:srgbClr val="355C47"/>
                </a:solidFill>
                <a:latin typeface="Aptos Display"/>
              </a:rPr>
              <a:t>+89.3%</a:t>
            </a:r>
          </a:p>
        </p:txBody>
      </p:sp>
      <p:sp>
        <p:nvSpPr>
          <p:cNvPr id="12" name="TextBox 11"/>
          <p:cNvSpPr txBox="1"/>
          <p:nvPr/>
        </p:nvSpPr>
        <p:spPr>
          <a:xfrm>
            <a:off x="877824" y="2176272"/>
            <a:ext cx="2436876" cy="493776"/>
          </a:xfrm>
          <a:prstGeom prst="rect">
            <a:avLst/>
          </a:prstGeom>
          <a:noFill/>
        </p:spPr>
        <p:txBody>
          <a:bodyPr wrap="square" lIns="27432" rIns="27432" tIns="27432" bIns="27432" anchor="t">
            <a:spAutoFit/>
          </a:bodyPr>
          <a:lstStyle/>
          <a:p>
            <a:pPr algn="l"/>
            <a:r>
              <a:rPr sz="1100" b="0">
                <a:solidFill>
                  <a:srgbClr val="1F2621"/>
                </a:solidFill>
                <a:latin typeface="Aptos"/>
              </a:rPr>
              <a:t>Organic nearly doubled from 2019 to 2024, far outpacing category growth.</a:t>
            </a:r>
          </a:p>
        </p:txBody>
      </p:sp>
      <p:cxnSp>
        <p:nvCxnSpPr>
          <p:cNvPr id="13" name="Connector 12"/>
          <p:cNvCxnSpPr/>
          <p:nvPr/>
        </p:nvCxnSpPr>
        <p:spPr>
          <a:xfrm>
            <a:off x="3442716" y="1828800"/>
            <a:ext cx="0" cy="76809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570732" y="1764792"/>
            <a:ext cx="2436876" cy="146304"/>
          </a:xfrm>
          <a:prstGeom prst="rect">
            <a:avLst/>
          </a:prstGeom>
          <a:noFill/>
        </p:spPr>
        <p:txBody>
          <a:bodyPr wrap="square" lIns="27432" rIns="27432" tIns="27432" bIns="27432" anchor="t">
            <a:spAutoFit/>
          </a:bodyPr>
          <a:lstStyle/>
          <a:p>
            <a:pPr algn="l"/>
            <a:r>
              <a:rPr sz="1000" b="1">
                <a:solidFill>
                  <a:srgbClr val="5F6B63"/>
                </a:solidFill>
                <a:latin typeface="Aptos"/>
              </a:rPr>
              <a:t>TOTAL VOLUME GROWTH</a:t>
            </a:r>
          </a:p>
        </p:txBody>
      </p:sp>
      <p:sp>
        <p:nvSpPr>
          <p:cNvPr id="15" name="TextBox 14"/>
          <p:cNvSpPr txBox="1"/>
          <p:nvPr/>
        </p:nvSpPr>
        <p:spPr>
          <a:xfrm>
            <a:off x="3570732" y="1920240"/>
            <a:ext cx="2436876" cy="237744"/>
          </a:xfrm>
          <a:prstGeom prst="rect">
            <a:avLst/>
          </a:prstGeom>
          <a:noFill/>
        </p:spPr>
        <p:txBody>
          <a:bodyPr wrap="square" lIns="27432" rIns="27432" tIns="27432" bIns="27432" anchor="t">
            <a:spAutoFit/>
          </a:bodyPr>
          <a:lstStyle/>
          <a:p>
            <a:pPr algn="l"/>
            <a:r>
              <a:rPr sz="1800" b="1">
                <a:solidFill>
                  <a:srgbClr val="3F728A"/>
                </a:solidFill>
                <a:latin typeface="Aptos Display"/>
              </a:rPr>
              <a:t>+32.8%</a:t>
            </a:r>
          </a:p>
        </p:txBody>
      </p:sp>
      <p:sp>
        <p:nvSpPr>
          <p:cNvPr id="16" name="TextBox 15"/>
          <p:cNvSpPr txBox="1"/>
          <p:nvPr/>
        </p:nvSpPr>
        <p:spPr>
          <a:xfrm>
            <a:off x="3570732" y="2176272"/>
            <a:ext cx="2436876" cy="493776"/>
          </a:xfrm>
          <a:prstGeom prst="rect">
            <a:avLst/>
          </a:prstGeom>
          <a:noFill/>
        </p:spPr>
        <p:txBody>
          <a:bodyPr wrap="square" lIns="27432" rIns="27432" tIns="27432" bIns="27432" anchor="t">
            <a:spAutoFit/>
          </a:bodyPr>
          <a:lstStyle/>
          <a:p>
            <a:pPr algn="l"/>
            <a:r>
              <a:rPr sz="1100" b="0">
                <a:solidFill>
                  <a:srgbClr val="1F2621"/>
                </a:solidFill>
                <a:latin typeface="Aptos"/>
              </a:rPr>
              <a:t>The total Hass market expanded too, but at a materially slower rate.</a:t>
            </a:r>
          </a:p>
        </p:txBody>
      </p:sp>
      <p:cxnSp>
        <p:nvCxnSpPr>
          <p:cNvPr id="17" name="Connector 16"/>
          <p:cNvCxnSpPr/>
          <p:nvPr/>
        </p:nvCxnSpPr>
        <p:spPr>
          <a:xfrm>
            <a:off x="6135624" y="1828800"/>
            <a:ext cx="0" cy="76809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63640" y="1764792"/>
            <a:ext cx="2436876" cy="146304"/>
          </a:xfrm>
          <a:prstGeom prst="rect">
            <a:avLst/>
          </a:prstGeom>
          <a:noFill/>
        </p:spPr>
        <p:txBody>
          <a:bodyPr wrap="square" lIns="27432" rIns="27432" tIns="27432" bIns="27432" anchor="t">
            <a:spAutoFit/>
          </a:bodyPr>
          <a:lstStyle/>
          <a:p>
            <a:pPr algn="l"/>
            <a:r>
              <a:rPr sz="1000" b="1">
                <a:solidFill>
                  <a:srgbClr val="5F6B63"/>
                </a:solidFill>
                <a:latin typeface="Aptos"/>
              </a:rPr>
              <a:t>2019 ORGANIC SHARE</a:t>
            </a:r>
          </a:p>
        </p:txBody>
      </p:sp>
      <p:sp>
        <p:nvSpPr>
          <p:cNvPr id="19" name="TextBox 18"/>
          <p:cNvSpPr txBox="1"/>
          <p:nvPr/>
        </p:nvSpPr>
        <p:spPr>
          <a:xfrm>
            <a:off x="6263640" y="1920240"/>
            <a:ext cx="2436876" cy="237744"/>
          </a:xfrm>
          <a:prstGeom prst="rect">
            <a:avLst/>
          </a:prstGeom>
          <a:noFill/>
        </p:spPr>
        <p:txBody>
          <a:bodyPr wrap="square" lIns="27432" rIns="27432" tIns="27432" bIns="27432" anchor="t">
            <a:spAutoFit/>
          </a:bodyPr>
          <a:lstStyle/>
          <a:p>
            <a:pPr algn="l"/>
            <a:r>
              <a:rPr sz="1800" b="1">
                <a:solidFill>
                  <a:srgbClr val="C58A2A"/>
                </a:solidFill>
                <a:latin typeface="Aptos Display"/>
              </a:rPr>
              <a:t>4.15%</a:t>
            </a:r>
          </a:p>
        </p:txBody>
      </p:sp>
      <p:sp>
        <p:nvSpPr>
          <p:cNvPr id="20" name="TextBox 19"/>
          <p:cNvSpPr txBox="1"/>
          <p:nvPr/>
        </p:nvSpPr>
        <p:spPr>
          <a:xfrm>
            <a:off x="6263640" y="2176272"/>
            <a:ext cx="2436876" cy="493776"/>
          </a:xfrm>
          <a:prstGeom prst="rect">
            <a:avLst/>
          </a:prstGeom>
          <a:noFill/>
        </p:spPr>
        <p:txBody>
          <a:bodyPr wrap="square" lIns="27432" rIns="27432" tIns="27432" bIns="27432" anchor="t">
            <a:spAutoFit/>
          </a:bodyPr>
          <a:lstStyle/>
          <a:p>
            <a:pPr algn="l"/>
            <a:r>
              <a:rPr sz="1100" b="0">
                <a:solidFill>
                  <a:srgbClr val="1F2621"/>
                </a:solidFill>
                <a:latin typeface="Aptos"/>
              </a:rPr>
              <a:t>Organic began as a small niche inside the overall market.</a:t>
            </a:r>
          </a:p>
        </p:txBody>
      </p:sp>
      <p:cxnSp>
        <p:nvCxnSpPr>
          <p:cNvPr id="21" name="Connector 20"/>
          <p:cNvCxnSpPr/>
          <p:nvPr/>
        </p:nvCxnSpPr>
        <p:spPr>
          <a:xfrm>
            <a:off x="8828532" y="1828800"/>
            <a:ext cx="0" cy="76809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956548" y="1764792"/>
            <a:ext cx="2436876" cy="146304"/>
          </a:xfrm>
          <a:prstGeom prst="rect">
            <a:avLst/>
          </a:prstGeom>
          <a:noFill/>
        </p:spPr>
        <p:txBody>
          <a:bodyPr wrap="square" lIns="27432" rIns="27432" tIns="27432" bIns="27432" anchor="t">
            <a:spAutoFit/>
          </a:bodyPr>
          <a:lstStyle/>
          <a:p>
            <a:pPr algn="l"/>
            <a:r>
              <a:rPr sz="1000" b="1">
                <a:solidFill>
                  <a:srgbClr val="5F6B63"/>
                </a:solidFill>
                <a:latin typeface="Aptos"/>
              </a:rPr>
              <a:t>2024 ORGANIC SHARE</a:t>
            </a:r>
          </a:p>
        </p:txBody>
      </p:sp>
      <p:sp>
        <p:nvSpPr>
          <p:cNvPr id="23" name="TextBox 22"/>
          <p:cNvSpPr txBox="1"/>
          <p:nvPr/>
        </p:nvSpPr>
        <p:spPr>
          <a:xfrm>
            <a:off x="8956548" y="1920240"/>
            <a:ext cx="2436876" cy="237744"/>
          </a:xfrm>
          <a:prstGeom prst="rect">
            <a:avLst/>
          </a:prstGeom>
          <a:noFill/>
        </p:spPr>
        <p:txBody>
          <a:bodyPr wrap="square" lIns="27432" rIns="27432" tIns="27432" bIns="27432" anchor="t">
            <a:spAutoFit/>
          </a:bodyPr>
          <a:lstStyle/>
          <a:p>
            <a:pPr algn="l"/>
            <a:r>
              <a:rPr sz="1800" b="1">
                <a:solidFill>
                  <a:srgbClr val="B5533A"/>
                </a:solidFill>
                <a:latin typeface="Aptos Display"/>
              </a:rPr>
              <a:t>5.91%</a:t>
            </a:r>
          </a:p>
        </p:txBody>
      </p:sp>
      <p:sp>
        <p:nvSpPr>
          <p:cNvPr id="24" name="TextBox 23"/>
          <p:cNvSpPr txBox="1"/>
          <p:nvPr/>
        </p:nvSpPr>
        <p:spPr>
          <a:xfrm>
            <a:off x="8956548" y="2176272"/>
            <a:ext cx="2436876" cy="493776"/>
          </a:xfrm>
          <a:prstGeom prst="rect">
            <a:avLst/>
          </a:prstGeom>
          <a:noFill/>
        </p:spPr>
        <p:txBody>
          <a:bodyPr wrap="square" lIns="27432" rIns="27432" tIns="27432" bIns="27432" anchor="t">
            <a:spAutoFit/>
          </a:bodyPr>
          <a:lstStyle/>
          <a:p>
            <a:pPr algn="l"/>
            <a:r>
              <a:rPr sz="1100" b="0">
                <a:solidFill>
                  <a:srgbClr val="1F2621"/>
                </a:solidFill>
                <a:latin typeface="Aptos"/>
              </a:rPr>
              <a:t>Share is still modest, but the direction of travel is clear.</a:t>
            </a:r>
          </a:p>
        </p:txBody>
      </p:sp>
      <p:sp>
        <p:nvSpPr>
          <p:cNvPr id="25" name="Rounded Rectangle 24"/>
          <p:cNvSpPr/>
          <p:nvPr/>
        </p:nvSpPr>
        <p:spPr>
          <a:xfrm>
            <a:off x="749808" y="3054096"/>
            <a:ext cx="5230368" cy="245059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3291840"/>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INDEXED VOLUME GROWTH</a:t>
            </a:r>
          </a:p>
        </p:txBody>
      </p:sp>
      <p:sp>
        <p:nvSpPr>
          <p:cNvPr id="27" name="TextBox 26"/>
          <p:cNvSpPr txBox="1"/>
          <p:nvPr/>
        </p:nvSpPr>
        <p:spPr>
          <a:xfrm>
            <a:off x="987552" y="3474720"/>
            <a:ext cx="1097280" cy="146304"/>
          </a:xfrm>
          <a:prstGeom prst="rect">
            <a:avLst/>
          </a:prstGeom>
          <a:noFill/>
        </p:spPr>
        <p:txBody>
          <a:bodyPr wrap="square" lIns="27432" rIns="27432" tIns="27432" bIns="27432" anchor="t">
            <a:spAutoFit/>
          </a:bodyPr>
          <a:lstStyle/>
          <a:p>
            <a:pPr algn="l"/>
            <a:r>
              <a:rPr sz="1000" b="0">
                <a:solidFill>
                  <a:srgbClr val="5F6B63"/>
                </a:solidFill>
                <a:latin typeface="Aptos"/>
              </a:rPr>
              <a:t>2019 = 100</a:t>
            </a:r>
          </a:p>
        </p:txBody>
      </p:sp>
      <p:cxnSp>
        <p:nvCxnSpPr>
          <p:cNvPr id="28" name="Connector 27"/>
          <p:cNvCxnSpPr/>
          <p:nvPr/>
        </p:nvCxnSpPr>
        <p:spPr>
          <a:xfrm>
            <a:off x="1389888" y="5047488"/>
            <a:ext cx="4078224" cy="0"/>
          </a:xfrm>
          <a:prstGeom prst="line">
            <a:avLst/>
          </a:prstGeom>
          <a:ln w="1397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389888" y="3803904"/>
            <a:ext cx="0" cy="1243584"/>
          </a:xfrm>
          <a:prstGeom prst="line">
            <a:avLst/>
          </a:prstGeom>
          <a:ln w="13970">
            <a:solidFill>
              <a:srgbClr val="D8D1C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7280" y="4974336"/>
            <a:ext cx="256032" cy="146304"/>
          </a:xfrm>
          <a:prstGeom prst="rect">
            <a:avLst/>
          </a:prstGeom>
          <a:noFill/>
        </p:spPr>
        <p:txBody>
          <a:bodyPr wrap="square" lIns="27432" rIns="27432" tIns="27432" bIns="27432" anchor="t">
            <a:spAutoFit/>
          </a:bodyPr>
          <a:lstStyle/>
          <a:p>
            <a:pPr algn="r"/>
            <a:r>
              <a:rPr sz="800" b="0">
                <a:solidFill>
                  <a:srgbClr val="5F6B63"/>
                </a:solidFill>
                <a:latin typeface="Aptos"/>
              </a:rPr>
              <a:t>0</a:t>
            </a:r>
          </a:p>
        </p:txBody>
      </p:sp>
      <p:cxnSp>
        <p:nvCxnSpPr>
          <p:cNvPr id="31" name="Connector 30"/>
          <p:cNvCxnSpPr/>
          <p:nvPr/>
        </p:nvCxnSpPr>
        <p:spPr>
          <a:xfrm>
            <a:off x="1389888" y="4736592"/>
            <a:ext cx="407822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7280" y="4663440"/>
            <a:ext cx="256032" cy="146304"/>
          </a:xfrm>
          <a:prstGeom prst="rect">
            <a:avLst/>
          </a:prstGeom>
          <a:noFill/>
        </p:spPr>
        <p:txBody>
          <a:bodyPr wrap="square" lIns="27432" rIns="27432" tIns="27432" bIns="27432" anchor="t">
            <a:spAutoFit/>
          </a:bodyPr>
          <a:lstStyle/>
          <a:p>
            <a:pPr algn="r"/>
            <a:r>
              <a:rPr sz="800" b="0">
                <a:solidFill>
                  <a:srgbClr val="5F6B63"/>
                </a:solidFill>
                <a:latin typeface="Aptos"/>
              </a:rPr>
              <a:t>50</a:t>
            </a:r>
          </a:p>
        </p:txBody>
      </p:sp>
      <p:cxnSp>
        <p:nvCxnSpPr>
          <p:cNvPr id="33" name="Connector 32"/>
          <p:cNvCxnSpPr/>
          <p:nvPr/>
        </p:nvCxnSpPr>
        <p:spPr>
          <a:xfrm>
            <a:off x="1389888" y="4425696"/>
            <a:ext cx="407822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97280" y="4352544"/>
            <a:ext cx="256032" cy="146304"/>
          </a:xfrm>
          <a:prstGeom prst="rect">
            <a:avLst/>
          </a:prstGeom>
          <a:noFill/>
        </p:spPr>
        <p:txBody>
          <a:bodyPr wrap="square" lIns="27432" rIns="27432" tIns="27432" bIns="27432" anchor="t">
            <a:spAutoFit/>
          </a:bodyPr>
          <a:lstStyle/>
          <a:p>
            <a:pPr algn="r"/>
            <a:r>
              <a:rPr sz="800" b="0">
                <a:solidFill>
                  <a:srgbClr val="5F6B63"/>
                </a:solidFill>
                <a:latin typeface="Aptos"/>
              </a:rPr>
              <a:t>100</a:t>
            </a:r>
          </a:p>
        </p:txBody>
      </p:sp>
      <p:cxnSp>
        <p:nvCxnSpPr>
          <p:cNvPr id="35" name="Connector 34"/>
          <p:cNvCxnSpPr/>
          <p:nvPr/>
        </p:nvCxnSpPr>
        <p:spPr>
          <a:xfrm>
            <a:off x="1389888" y="4114800"/>
            <a:ext cx="407822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097280" y="4041648"/>
            <a:ext cx="256032" cy="146304"/>
          </a:xfrm>
          <a:prstGeom prst="rect">
            <a:avLst/>
          </a:prstGeom>
          <a:noFill/>
        </p:spPr>
        <p:txBody>
          <a:bodyPr wrap="square" lIns="27432" rIns="27432" tIns="27432" bIns="27432" anchor="t">
            <a:spAutoFit/>
          </a:bodyPr>
          <a:lstStyle/>
          <a:p>
            <a:pPr algn="r"/>
            <a:r>
              <a:rPr sz="800" b="0">
                <a:solidFill>
                  <a:srgbClr val="5F6B63"/>
                </a:solidFill>
                <a:latin typeface="Aptos"/>
              </a:rPr>
              <a:t>150</a:t>
            </a:r>
          </a:p>
        </p:txBody>
      </p:sp>
      <p:cxnSp>
        <p:nvCxnSpPr>
          <p:cNvPr id="37" name="Connector 36"/>
          <p:cNvCxnSpPr/>
          <p:nvPr/>
        </p:nvCxnSpPr>
        <p:spPr>
          <a:xfrm>
            <a:off x="1389888" y="3803904"/>
            <a:ext cx="4078224"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097280" y="3730752"/>
            <a:ext cx="256032" cy="146304"/>
          </a:xfrm>
          <a:prstGeom prst="rect">
            <a:avLst/>
          </a:prstGeom>
          <a:noFill/>
        </p:spPr>
        <p:txBody>
          <a:bodyPr wrap="square" lIns="27432" rIns="27432" tIns="27432" bIns="27432" anchor="t">
            <a:spAutoFit/>
          </a:bodyPr>
          <a:lstStyle/>
          <a:p>
            <a:pPr algn="r"/>
            <a:r>
              <a:rPr sz="800" b="0">
                <a:solidFill>
                  <a:srgbClr val="5F6B63"/>
                </a:solidFill>
                <a:latin typeface="Aptos"/>
              </a:rPr>
              <a:t>200</a:t>
            </a:r>
          </a:p>
        </p:txBody>
      </p:sp>
      <p:cxnSp>
        <p:nvCxnSpPr>
          <p:cNvPr id="39" name="Connector 38"/>
          <p:cNvCxnSpPr/>
          <p:nvPr/>
        </p:nvCxnSpPr>
        <p:spPr>
          <a:xfrm>
            <a:off x="1389888" y="4425696"/>
            <a:ext cx="4078224" cy="0"/>
          </a:xfrm>
          <a:prstGeom prst="line">
            <a:avLst/>
          </a:prstGeom>
          <a:ln w="12700">
            <a:solidFill>
              <a:srgbClr val="C58A2A"/>
            </a:solidFill>
            <a:prstDash val="sysDash"/>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1938528" y="4221988"/>
            <a:ext cx="749808" cy="825499"/>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38528" y="4057396"/>
            <a:ext cx="749808" cy="146304"/>
          </a:xfrm>
          <a:prstGeom prst="rect">
            <a:avLst/>
          </a:prstGeom>
          <a:noFill/>
        </p:spPr>
        <p:txBody>
          <a:bodyPr wrap="square" lIns="27432" rIns="27432" tIns="27432" bIns="27432" anchor="t">
            <a:spAutoFit/>
          </a:bodyPr>
          <a:lstStyle/>
          <a:p>
            <a:pPr algn="ctr"/>
            <a:r>
              <a:rPr sz="1000" b="1">
                <a:solidFill>
                  <a:srgbClr val="3F728A"/>
                </a:solidFill>
                <a:latin typeface="Aptos"/>
              </a:rPr>
              <a:t>132.8</a:t>
            </a:r>
          </a:p>
        </p:txBody>
      </p:sp>
      <p:sp>
        <p:nvSpPr>
          <p:cNvPr id="42" name="TextBox 41"/>
          <p:cNvSpPr txBox="1"/>
          <p:nvPr/>
        </p:nvSpPr>
        <p:spPr>
          <a:xfrm>
            <a:off x="1810512" y="5102352"/>
            <a:ext cx="1005840" cy="256032"/>
          </a:xfrm>
          <a:prstGeom prst="rect">
            <a:avLst/>
          </a:prstGeom>
          <a:noFill/>
        </p:spPr>
        <p:txBody>
          <a:bodyPr wrap="square" lIns="27432" rIns="27432" tIns="27432" bIns="27432" anchor="t">
            <a:spAutoFit/>
          </a:bodyPr>
          <a:lstStyle/>
          <a:p>
            <a:pPr algn="ctr"/>
            <a:r>
              <a:rPr sz="1000" b="1">
                <a:solidFill>
                  <a:srgbClr val="1F2621"/>
                </a:solidFill>
                <a:latin typeface="Aptos"/>
              </a:rPr>
              <a:t>Total market</a:t>
            </a:r>
          </a:p>
        </p:txBody>
      </p:sp>
      <p:sp>
        <p:nvSpPr>
          <p:cNvPr id="43" name="Rounded Rectangle 42"/>
          <p:cNvSpPr/>
          <p:nvPr/>
        </p:nvSpPr>
        <p:spPr>
          <a:xfrm>
            <a:off x="3584448" y="3870386"/>
            <a:ext cx="749808" cy="1177101"/>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84448" y="3705794"/>
            <a:ext cx="749808" cy="146304"/>
          </a:xfrm>
          <a:prstGeom prst="rect">
            <a:avLst/>
          </a:prstGeom>
          <a:noFill/>
        </p:spPr>
        <p:txBody>
          <a:bodyPr wrap="square" lIns="27432" rIns="27432" tIns="27432" bIns="27432" anchor="t">
            <a:spAutoFit/>
          </a:bodyPr>
          <a:lstStyle/>
          <a:p>
            <a:pPr algn="ctr"/>
            <a:r>
              <a:rPr sz="1000" b="1">
                <a:solidFill>
                  <a:srgbClr val="355C47"/>
                </a:solidFill>
                <a:latin typeface="Aptos"/>
              </a:rPr>
              <a:t>189.3</a:t>
            </a:r>
          </a:p>
        </p:txBody>
      </p:sp>
      <p:sp>
        <p:nvSpPr>
          <p:cNvPr id="45" name="TextBox 44"/>
          <p:cNvSpPr txBox="1"/>
          <p:nvPr/>
        </p:nvSpPr>
        <p:spPr>
          <a:xfrm>
            <a:off x="3456432" y="5102352"/>
            <a:ext cx="1005840" cy="256032"/>
          </a:xfrm>
          <a:prstGeom prst="rect">
            <a:avLst/>
          </a:prstGeom>
          <a:noFill/>
        </p:spPr>
        <p:txBody>
          <a:bodyPr wrap="square" lIns="27432" rIns="27432" tIns="27432" bIns="27432" anchor="t">
            <a:spAutoFit/>
          </a:bodyPr>
          <a:lstStyle/>
          <a:p>
            <a:pPr algn="ctr"/>
            <a:r>
              <a:rPr sz="1000" b="1">
                <a:solidFill>
                  <a:srgbClr val="1F2621"/>
                </a:solidFill>
                <a:latin typeface="Aptos"/>
              </a:rPr>
              <a:t>Organic</a:t>
            </a:r>
          </a:p>
        </p:txBody>
      </p:sp>
      <p:sp>
        <p:nvSpPr>
          <p:cNvPr id="46" name="Rounded Rectangle 45"/>
          <p:cNvSpPr/>
          <p:nvPr/>
        </p:nvSpPr>
        <p:spPr>
          <a:xfrm>
            <a:off x="6217920" y="3054096"/>
            <a:ext cx="5230368" cy="245059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5664" y="3291840"/>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ORGANIC SHARE BRIDGE</a:t>
            </a:r>
          </a:p>
        </p:txBody>
      </p:sp>
      <p:sp>
        <p:nvSpPr>
          <p:cNvPr id="48" name="TextBox 47"/>
          <p:cNvSpPr txBox="1"/>
          <p:nvPr/>
        </p:nvSpPr>
        <p:spPr>
          <a:xfrm>
            <a:off x="6455664" y="3474720"/>
            <a:ext cx="1280160" cy="146304"/>
          </a:xfrm>
          <a:prstGeom prst="rect">
            <a:avLst/>
          </a:prstGeom>
          <a:noFill/>
        </p:spPr>
        <p:txBody>
          <a:bodyPr wrap="square" lIns="27432" rIns="27432" tIns="27432" bIns="27432" anchor="t">
            <a:spAutoFit/>
          </a:bodyPr>
          <a:lstStyle/>
          <a:p>
            <a:pPr algn="l"/>
            <a:r>
              <a:rPr sz="1000" b="0">
                <a:solidFill>
                  <a:srgbClr val="5F6B63"/>
                </a:solidFill>
                <a:latin typeface="Aptos"/>
              </a:rPr>
              <a:t>Share of total volume</a:t>
            </a:r>
          </a:p>
        </p:txBody>
      </p:sp>
      <p:cxnSp>
        <p:nvCxnSpPr>
          <p:cNvPr id="49" name="Connector 48"/>
          <p:cNvCxnSpPr/>
          <p:nvPr/>
        </p:nvCxnSpPr>
        <p:spPr>
          <a:xfrm>
            <a:off x="6858000" y="5047488"/>
            <a:ext cx="4114800" cy="0"/>
          </a:xfrm>
          <a:prstGeom prst="line">
            <a:avLst/>
          </a:prstGeom>
          <a:ln w="1397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858000" y="3803904"/>
            <a:ext cx="0" cy="1243584"/>
          </a:xfrm>
          <a:prstGeom prst="line">
            <a:avLst/>
          </a:prstGeom>
          <a:ln w="13970">
            <a:solidFill>
              <a:srgbClr val="D8D1C6"/>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565392" y="4974336"/>
            <a:ext cx="237744" cy="146304"/>
          </a:xfrm>
          <a:prstGeom prst="rect">
            <a:avLst/>
          </a:prstGeom>
          <a:noFill/>
        </p:spPr>
        <p:txBody>
          <a:bodyPr wrap="square" lIns="27432" rIns="27432" tIns="27432" bIns="27432" anchor="t">
            <a:spAutoFit/>
          </a:bodyPr>
          <a:lstStyle/>
          <a:p>
            <a:pPr algn="r"/>
            <a:r>
              <a:rPr sz="800" b="0">
                <a:solidFill>
                  <a:srgbClr val="5F6B63"/>
                </a:solidFill>
                <a:latin typeface="Aptos"/>
              </a:rPr>
              <a:t>0%</a:t>
            </a:r>
          </a:p>
        </p:txBody>
      </p:sp>
      <p:cxnSp>
        <p:nvCxnSpPr>
          <p:cNvPr id="52" name="Connector 51"/>
          <p:cNvCxnSpPr/>
          <p:nvPr/>
        </p:nvCxnSpPr>
        <p:spPr>
          <a:xfrm>
            <a:off x="6858000" y="4692178"/>
            <a:ext cx="4114800"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565392" y="4619026"/>
            <a:ext cx="237744" cy="146304"/>
          </a:xfrm>
          <a:prstGeom prst="rect">
            <a:avLst/>
          </a:prstGeom>
          <a:noFill/>
        </p:spPr>
        <p:txBody>
          <a:bodyPr wrap="square" lIns="27432" rIns="27432" tIns="27432" bIns="27432" anchor="t">
            <a:spAutoFit/>
          </a:bodyPr>
          <a:lstStyle/>
          <a:p>
            <a:pPr algn="r"/>
            <a:r>
              <a:rPr sz="800" b="0">
                <a:solidFill>
                  <a:srgbClr val="5F6B63"/>
                </a:solidFill>
                <a:latin typeface="Aptos"/>
              </a:rPr>
              <a:t>2%</a:t>
            </a:r>
          </a:p>
        </p:txBody>
      </p:sp>
      <p:cxnSp>
        <p:nvCxnSpPr>
          <p:cNvPr id="54" name="Connector 53"/>
          <p:cNvCxnSpPr/>
          <p:nvPr/>
        </p:nvCxnSpPr>
        <p:spPr>
          <a:xfrm>
            <a:off x="6858000" y="4336869"/>
            <a:ext cx="4114800"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565392" y="4263717"/>
            <a:ext cx="237744" cy="146304"/>
          </a:xfrm>
          <a:prstGeom prst="rect">
            <a:avLst/>
          </a:prstGeom>
          <a:noFill/>
        </p:spPr>
        <p:txBody>
          <a:bodyPr wrap="square" lIns="27432" rIns="27432" tIns="27432" bIns="27432" anchor="t">
            <a:spAutoFit/>
          </a:bodyPr>
          <a:lstStyle/>
          <a:p>
            <a:pPr algn="r"/>
            <a:r>
              <a:rPr sz="800" b="0">
                <a:solidFill>
                  <a:srgbClr val="5F6B63"/>
                </a:solidFill>
                <a:latin typeface="Aptos"/>
              </a:rPr>
              <a:t>4%</a:t>
            </a:r>
          </a:p>
        </p:txBody>
      </p:sp>
      <p:cxnSp>
        <p:nvCxnSpPr>
          <p:cNvPr id="56" name="Connector 55"/>
          <p:cNvCxnSpPr/>
          <p:nvPr/>
        </p:nvCxnSpPr>
        <p:spPr>
          <a:xfrm>
            <a:off x="6858000" y="3981559"/>
            <a:ext cx="4114800"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565392" y="3908407"/>
            <a:ext cx="237744" cy="146304"/>
          </a:xfrm>
          <a:prstGeom prst="rect">
            <a:avLst/>
          </a:prstGeom>
          <a:noFill/>
        </p:spPr>
        <p:txBody>
          <a:bodyPr wrap="square" lIns="27432" rIns="27432" tIns="27432" bIns="27432" anchor="t">
            <a:spAutoFit/>
          </a:bodyPr>
          <a:lstStyle/>
          <a:p>
            <a:pPr algn="r"/>
            <a:r>
              <a:rPr sz="800" b="0">
                <a:solidFill>
                  <a:srgbClr val="5F6B63"/>
                </a:solidFill>
                <a:latin typeface="Aptos"/>
              </a:rPr>
              <a:t>6%</a:t>
            </a:r>
          </a:p>
        </p:txBody>
      </p:sp>
      <p:sp>
        <p:nvSpPr>
          <p:cNvPr id="58" name="Rounded Rectangle 57"/>
          <p:cNvSpPr/>
          <p:nvPr/>
        </p:nvSpPr>
        <p:spPr>
          <a:xfrm>
            <a:off x="7406640" y="4310884"/>
            <a:ext cx="676656" cy="736603"/>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351776" y="4146292"/>
            <a:ext cx="786384" cy="146304"/>
          </a:xfrm>
          <a:prstGeom prst="rect">
            <a:avLst/>
          </a:prstGeom>
          <a:noFill/>
        </p:spPr>
        <p:txBody>
          <a:bodyPr wrap="square" lIns="27432" rIns="27432" tIns="27432" bIns="27432" anchor="t">
            <a:spAutoFit/>
          </a:bodyPr>
          <a:lstStyle/>
          <a:p>
            <a:pPr algn="ctr"/>
            <a:r>
              <a:rPr sz="1000" b="1">
                <a:solidFill>
                  <a:srgbClr val="3F728A"/>
                </a:solidFill>
                <a:latin typeface="Aptos"/>
              </a:rPr>
              <a:t>4.15%</a:t>
            </a:r>
          </a:p>
        </p:txBody>
      </p:sp>
      <p:sp>
        <p:nvSpPr>
          <p:cNvPr id="60" name="TextBox 59"/>
          <p:cNvSpPr txBox="1"/>
          <p:nvPr/>
        </p:nvSpPr>
        <p:spPr>
          <a:xfrm>
            <a:off x="7296912" y="5102352"/>
            <a:ext cx="896112" cy="256032"/>
          </a:xfrm>
          <a:prstGeom prst="rect">
            <a:avLst/>
          </a:prstGeom>
          <a:noFill/>
        </p:spPr>
        <p:txBody>
          <a:bodyPr wrap="square" lIns="27432" rIns="27432" tIns="27432" bIns="27432" anchor="t">
            <a:spAutoFit/>
          </a:bodyPr>
          <a:lstStyle/>
          <a:p>
            <a:pPr algn="ctr"/>
            <a:r>
              <a:rPr sz="1000" b="1">
                <a:solidFill>
                  <a:srgbClr val="1F2621"/>
                </a:solidFill>
                <a:latin typeface="Aptos"/>
              </a:rPr>
              <a:t>2019 share</a:t>
            </a:r>
          </a:p>
        </p:txBody>
      </p:sp>
      <p:sp>
        <p:nvSpPr>
          <p:cNvPr id="61" name="Rounded Rectangle 60"/>
          <p:cNvSpPr/>
          <p:nvPr/>
        </p:nvSpPr>
        <p:spPr>
          <a:xfrm>
            <a:off x="8531352" y="3997145"/>
            <a:ext cx="676656" cy="313739"/>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76488" y="3832553"/>
            <a:ext cx="786384" cy="146304"/>
          </a:xfrm>
          <a:prstGeom prst="rect">
            <a:avLst/>
          </a:prstGeom>
          <a:noFill/>
        </p:spPr>
        <p:txBody>
          <a:bodyPr wrap="square" lIns="27432" rIns="27432" tIns="27432" bIns="27432" anchor="t">
            <a:spAutoFit/>
          </a:bodyPr>
          <a:lstStyle/>
          <a:p>
            <a:pPr algn="ctr"/>
            <a:r>
              <a:rPr sz="1000" b="1">
                <a:solidFill>
                  <a:srgbClr val="C58A2A"/>
                </a:solidFill>
                <a:latin typeface="Aptos"/>
              </a:rPr>
              <a:t>+1.77 pts</a:t>
            </a:r>
          </a:p>
        </p:txBody>
      </p:sp>
      <p:sp>
        <p:nvSpPr>
          <p:cNvPr id="63" name="TextBox 62"/>
          <p:cNvSpPr txBox="1"/>
          <p:nvPr/>
        </p:nvSpPr>
        <p:spPr>
          <a:xfrm>
            <a:off x="8421624" y="5102352"/>
            <a:ext cx="896112" cy="256032"/>
          </a:xfrm>
          <a:prstGeom prst="rect">
            <a:avLst/>
          </a:prstGeom>
          <a:noFill/>
        </p:spPr>
        <p:txBody>
          <a:bodyPr wrap="square" lIns="27432" rIns="27432" tIns="27432" bIns="27432" anchor="t">
            <a:spAutoFit/>
          </a:bodyPr>
          <a:lstStyle/>
          <a:p>
            <a:pPr algn="ctr"/>
            <a:r>
              <a:rPr sz="1000" b="1">
                <a:solidFill>
                  <a:srgbClr val="1F2621"/>
                </a:solidFill>
                <a:latin typeface="Aptos"/>
              </a:rPr>
              <a:t>Share gain</a:t>
            </a:r>
          </a:p>
        </p:txBody>
      </p:sp>
      <p:sp>
        <p:nvSpPr>
          <p:cNvPr id="64" name="Rounded Rectangle 63"/>
          <p:cNvSpPr/>
          <p:nvPr/>
        </p:nvSpPr>
        <p:spPr>
          <a:xfrm>
            <a:off x="9656063" y="3997145"/>
            <a:ext cx="676656" cy="105034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601199" y="3832553"/>
            <a:ext cx="786384" cy="146304"/>
          </a:xfrm>
          <a:prstGeom prst="rect">
            <a:avLst/>
          </a:prstGeom>
          <a:noFill/>
        </p:spPr>
        <p:txBody>
          <a:bodyPr wrap="square" lIns="27432" rIns="27432" tIns="27432" bIns="27432" anchor="t">
            <a:spAutoFit/>
          </a:bodyPr>
          <a:lstStyle/>
          <a:p>
            <a:pPr algn="ctr"/>
            <a:r>
              <a:rPr sz="1000" b="1">
                <a:solidFill>
                  <a:srgbClr val="355C47"/>
                </a:solidFill>
                <a:latin typeface="Aptos"/>
              </a:rPr>
              <a:t>5.91%</a:t>
            </a:r>
          </a:p>
        </p:txBody>
      </p:sp>
      <p:sp>
        <p:nvSpPr>
          <p:cNvPr id="66" name="TextBox 65"/>
          <p:cNvSpPr txBox="1"/>
          <p:nvPr/>
        </p:nvSpPr>
        <p:spPr>
          <a:xfrm>
            <a:off x="9546335" y="5102352"/>
            <a:ext cx="896112" cy="256032"/>
          </a:xfrm>
          <a:prstGeom prst="rect">
            <a:avLst/>
          </a:prstGeom>
          <a:noFill/>
        </p:spPr>
        <p:txBody>
          <a:bodyPr wrap="square" lIns="27432" rIns="27432" tIns="27432" bIns="27432" anchor="t">
            <a:spAutoFit/>
          </a:bodyPr>
          <a:lstStyle/>
          <a:p>
            <a:pPr algn="ctr"/>
            <a:r>
              <a:rPr sz="1000" b="1">
                <a:solidFill>
                  <a:srgbClr val="1F2621"/>
                </a:solidFill>
                <a:latin typeface="Aptos"/>
              </a:rPr>
              <a:t>2024 share</a:t>
            </a:r>
          </a:p>
        </p:txBody>
      </p:sp>
      <p:sp>
        <p:nvSpPr>
          <p:cNvPr id="67" name="Rounded Rectangle 66"/>
          <p:cNvSpPr/>
          <p:nvPr/>
        </p:nvSpPr>
        <p:spPr>
          <a:xfrm>
            <a:off x="786384" y="5632704"/>
            <a:ext cx="10625328" cy="4572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914400" y="5742432"/>
            <a:ext cx="1051560" cy="237744"/>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69264" y="5797296"/>
            <a:ext cx="941832" cy="128016"/>
          </a:xfrm>
          <a:prstGeom prst="rect">
            <a:avLst/>
          </a:prstGeom>
          <a:noFill/>
        </p:spPr>
        <p:txBody>
          <a:bodyPr wrap="square" lIns="27432" rIns="27432" tIns="27432" bIns="27432" anchor="ctr">
            <a:spAutoFit/>
          </a:bodyPr>
          <a:lstStyle/>
          <a:p>
            <a:pPr algn="ctr"/>
            <a:r>
              <a:rPr sz="1000" b="1">
                <a:solidFill>
                  <a:srgbClr val="FCFAF5"/>
                </a:solidFill>
                <a:latin typeface="Aptos"/>
              </a:rPr>
              <a:t>TAKEAWAY</a:t>
            </a:r>
          </a:p>
        </p:txBody>
      </p:sp>
      <p:sp>
        <p:nvSpPr>
          <p:cNvPr id="70" name="TextBox 69"/>
          <p:cNvSpPr txBox="1"/>
          <p:nvPr/>
        </p:nvSpPr>
        <p:spPr>
          <a:xfrm>
            <a:off x="2157984" y="5724144"/>
            <a:ext cx="6830568" cy="274320"/>
          </a:xfrm>
          <a:prstGeom prst="rect">
            <a:avLst/>
          </a:prstGeom>
          <a:noFill/>
        </p:spPr>
        <p:txBody>
          <a:bodyPr wrap="square" lIns="27432" rIns="27432" tIns="27432" bIns="27432" anchor="ctr">
            <a:spAutoFit/>
          </a:bodyPr>
          <a:lstStyle/>
          <a:p>
            <a:pPr algn="l"/>
            <a:r>
              <a:rPr sz="1200" b="1">
                <a:solidFill>
                  <a:srgbClr val="1F2621"/>
                </a:solidFill>
                <a:latin typeface="Aptos"/>
              </a:rPr>
              <a:t>Organic is still a niche share of the total market, but it is growing materially faster than the overall Hass category.</a:t>
            </a:r>
          </a:p>
        </p:txBody>
      </p:sp>
      <p:cxnSp>
        <p:nvCxnSpPr>
          <p:cNvPr id="71" name="Connector 70"/>
          <p:cNvCxnSpPr/>
          <p:nvPr/>
        </p:nvCxnSpPr>
        <p:spPr>
          <a:xfrm>
            <a:off x="9079992" y="5760720"/>
            <a:ext cx="0" cy="201168"/>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244584" y="5724144"/>
            <a:ext cx="1938528" cy="274320"/>
          </a:xfrm>
          <a:prstGeom prst="rect">
            <a:avLst/>
          </a:prstGeom>
          <a:noFill/>
        </p:spPr>
        <p:txBody>
          <a:bodyPr wrap="square" lIns="27432" rIns="27432" tIns="27432" bIns="27432" anchor="ctr">
            <a:spAutoFit/>
          </a:bodyPr>
          <a:lstStyle/>
          <a:p>
            <a:pPr algn="l"/>
            <a:r>
              <a:rPr sz="1000" b="0">
                <a:solidFill>
                  <a:srgbClr val="5F6B63"/>
                </a:solidFill>
                <a:latin typeface="Aptos"/>
              </a:rPr>
              <a:t>Use this as market context, not as a launch recommendation by itself.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Three filters should decide the pilot</a:t>
            </a:r>
          </a:p>
        </p:txBody>
      </p:sp>
      <p:sp>
        <p:nvSpPr>
          <p:cNvPr id="9" name="Rounded Rectangle 8"/>
          <p:cNvSpPr/>
          <p:nvPr/>
        </p:nvSpPr>
        <p:spPr>
          <a:xfrm>
            <a:off x="713232" y="1682496"/>
            <a:ext cx="1078992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901952"/>
            <a:ext cx="1463040" cy="164592"/>
          </a:xfrm>
          <a:prstGeom prst="rect">
            <a:avLst/>
          </a:prstGeom>
          <a:noFill/>
        </p:spPr>
        <p:txBody>
          <a:bodyPr wrap="square" lIns="27432" rIns="27432" tIns="27432" bIns="27432" anchor="t">
            <a:spAutoFit/>
          </a:bodyPr>
          <a:lstStyle/>
          <a:p>
            <a:pPr algn="l"/>
            <a:r>
              <a:rPr sz="1000" b="1">
                <a:solidFill>
                  <a:srgbClr val="5F6B63"/>
                </a:solidFill>
                <a:latin typeface="Aptos"/>
              </a:rPr>
              <a:t>FILTER</a:t>
            </a:r>
          </a:p>
        </p:txBody>
      </p:sp>
      <p:sp>
        <p:nvSpPr>
          <p:cNvPr id="11" name="TextBox 10"/>
          <p:cNvSpPr txBox="1"/>
          <p:nvPr/>
        </p:nvSpPr>
        <p:spPr>
          <a:xfrm>
            <a:off x="2487168" y="1901952"/>
            <a:ext cx="2788920" cy="164592"/>
          </a:xfrm>
          <a:prstGeom prst="rect">
            <a:avLst/>
          </a:prstGeom>
          <a:noFill/>
        </p:spPr>
        <p:txBody>
          <a:bodyPr wrap="square" lIns="27432" rIns="27432" tIns="27432" bIns="27432" anchor="t">
            <a:spAutoFit/>
          </a:bodyPr>
          <a:lstStyle/>
          <a:p>
            <a:pPr algn="l"/>
            <a:r>
              <a:rPr sz="1000" b="1">
                <a:solidFill>
                  <a:srgbClr val="5F6B63"/>
                </a:solidFill>
                <a:latin typeface="Aptos"/>
              </a:rPr>
              <a:t>WHAT GOOD LOOKS LIKE</a:t>
            </a:r>
          </a:p>
        </p:txBody>
      </p:sp>
      <p:sp>
        <p:nvSpPr>
          <p:cNvPr id="12" name="TextBox 11"/>
          <p:cNvSpPr txBox="1"/>
          <p:nvPr/>
        </p:nvSpPr>
        <p:spPr>
          <a:xfrm>
            <a:off x="5385816" y="1901952"/>
            <a:ext cx="4800600" cy="164592"/>
          </a:xfrm>
          <a:prstGeom prst="rect">
            <a:avLst/>
          </a:prstGeom>
          <a:noFill/>
        </p:spPr>
        <p:txBody>
          <a:bodyPr wrap="square" lIns="27432" rIns="27432" tIns="27432" bIns="27432" anchor="t">
            <a:spAutoFit/>
          </a:bodyPr>
          <a:lstStyle/>
          <a:p>
            <a:pPr algn="l"/>
            <a:r>
              <a:rPr sz="1000" b="1">
                <a:solidFill>
                  <a:srgbClr val="5F6B63"/>
                </a:solidFill>
                <a:latin typeface="Aptos"/>
              </a:rPr>
              <a:t>EVIDENCE IN THE MODEL</a:t>
            </a:r>
          </a:p>
        </p:txBody>
      </p:sp>
      <p:sp>
        <p:nvSpPr>
          <p:cNvPr id="13" name="TextBox 12"/>
          <p:cNvSpPr txBox="1"/>
          <p:nvPr/>
        </p:nvSpPr>
        <p:spPr>
          <a:xfrm>
            <a:off x="10296144" y="1901952"/>
            <a:ext cx="1920240" cy="164592"/>
          </a:xfrm>
          <a:prstGeom prst="rect">
            <a:avLst/>
          </a:prstGeom>
          <a:noFill/>
        </p:spPr>
        <p:txBody>
          <a:bodyPr wrap="square" lIns="27432" rIns="27432" tIns="27432" bIns="27432" anchor="t">
            <a:spAutoFit/>
          </a:bodyPr>
          <a:lstStyle/>
          <a:p>
            <a:pPr algn="l"/>
            <a:r>
              <a:rPr sz="1000" b="1">
                <a:solidFill>
                  <a:srgbClr val="5F6B63"/>
                </a:solidFill>
                <a:latin typeface="Aptos"/>
              </a:rPr>
              <a:t>WHY IT MATTERS</a:t>
            </a:r>
          </a:p>
        </p:txBody>
      </p:sp>
      <p:sp>
        <p:nvSpPr>
          <p:cNvPr id="14" name="Rounded Rectangle 13"/>
          <p:cNvSpPr/>
          <p:nvPr/>
        </p:nvSpPr>
        <p:spPr>
          <a:xfrm>
            <a:off x="914400" y="2249424"/>
            <a:ext cx="1261872" cy="676656"/>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2404872"/>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Price support</a:t>
            </a:r>
          </a:p>
        </p:txBody>
      </p:sp>
      <p:sp>
        <p:nvSpPr>
          <p:cNvPr id="16" name="TextBox 15"/>
          <p:cNvSpPr txBox="1"/>
          <p:nvPr/>
        </p:nvSpPr>
        <p:spPr>
          <a:xfrm>
            <a:off x="2450592" y="2322576"/>
            <a:ext cx="2651760" cy="512064"/>
          </a:xfrm>
          <a:prstGeom prst="rect">
            <a:avLst/>
          </a:prstGeom>
          <a:noFill/>
        </p:spPr>
        <p:txBody>
          <a:bodyPr wrap="square" lIns="27432" rIns="27432" tIns="27432" bIns="27432" anchor="t">
            <a:spAutoFit/>
          </a:bodyPr>
          <a:lstStyle/>
          <a:p>
            <a:pPr algn="l"/>
            <a:r>
              <a:rPr sz="1400" b="1">
                <a:solidFill>
                  <a:srgbClr val="355C47"/>
                </a:solidFill>
                <a:latin typeface="Aptos Display"/>
              </a:rPr>
              <a:t>$2.09 to $2.66 June pricing</a:t>
            </a:r>
          </a:p>
        </p:txBody>
      </p:sp>
      <p:sp>
        <p:nvSpPr>
          <p:cNvPr id="17" name="TextBox 16"/>
          <p:cNvSpPr txBox="1"/>
          <p:nvPr/>
        </p:nvSpPr>
        <p:spPr>
          <a:xfrm>
            <a:off x="5285232" y="2304288"/>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The selected five are also the five highest-price June 2025 organic markets.</a:t>
            </a:r>
          </a:p>
        </p:txBody>
      </p:sp>
      <p:sp>
        <p:nvSpPr>
          <p:cNvPr id="18" name="TextBox 17"/>
          <p:cNvSpPr txBox="1"/>
          <p:nvPr/>
        </p:nvSpPr>
        <p:spPr>
          <a:xfrm>
            <a:off x="10012680" y="2304288"/>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Price support is the first screen, not a nice-to-have.</a:t>
            </a:r>
          </a:p>
        </p:txBody>
      </p:sp>
      <p:sp>
        <p:nvSpPr>
          <p:cNvPr id="19" name="Rounded Rectangle 18"/>
          <p:cNvSpPr/>
          <p:nvPr/>
        </p:nvSpPr>
        <p:spPr>
          <a:xfrm>
            <a:off x="914400" y="3127248"/>
            <a:ext cx="1261872" cy="676656"/>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3282696"/>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Organic readiness</a:t>
            </a:r>
          </a:p>
        </p:txBody>
      </p:sp>
      <p:sp>
        <p:nvSpPr>
          <p:cNvPr id="21" name="TextBox 20"/>
          <p:cNvSpPr txBox="1"/>
          <p:nvPr/>
        </p:nvSpPr>
        <p:spPr>
          <a:xfrm>
            <a:off x="2450592" y="3200400"/>
            <a:ext cx="2651760" cy="512064"/>
          </a:xfrm>
          <a:prstGeom prst="rect">
            <a:avLst/>
          </a:prstGeom>
          <a:noFill/>
        </p:spPr>
        <p:txBody>
          <a:bodyPr wrap="square" lIns="27432" rIns="27432" tIns="27432" bIns="27432" anchor="t">
            <a:spAutoFit/>
          </a:bodyPr>
          <a:lstStyle/>
          <a:p>
            <a:pPr algn="l"/>
            <a:r>
              <a:rPr sz="1400" b="1">
                <a:solidFill>
                  <a:srgbClr val="3F728A"/>
                </a:solidFill>
                <a:latin typeface="Aptos Display"/>
              </a:rPr>
              <a:t>Seattle leads 5 of 7 periods</a:t>
            </a:r>
          </a:p>
        </p:txBody>
      </p:sp>
      <p:sp>
        <p:nvSpPr>
          <p:cNvPr id="22" name="TextBox 21"/>
          <p:cNvSpPr txBox="1"/>
          <p:nvPr/>
        </p:nvSpPr>
        <p:spPr>
          <a:xfrm>
            <a:off x="5285232" y="3182112"/>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Penetration differs sharply by city, so the launch must favor markets already buying premium mix.</a:t>
            </a:r>
          </a:p>
        </p:txBody>
      </p:sp>
      <p:sp>
        <p:nvSpPr>
          <p:cNvPr id="23" name="TextBox 22"/>
          <p:cNvSpPr txBox="1"/>
          <p:nvPr/>
        </p:nvSpPr>
        <p:spPr>
          <a:xfrm>
            <a:off x="10012680" y="3182112"/>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Scale alone is not enough to win an organic pilot.</a:t>
            </a:r>
          </a:p>
        </p:txBody>
      </p:sp>
      <p:sp>
        <p:nvSpPr>
          <p:cNvPr id="24" name="Rounded Rectangle 23"/>
          <p:cNvSpPr/>
          <p:nvPr/>
        </p:nvSpPr>
        <p:spPr>
          <a:xfrm>
            <a:off x="914400" y="4005072"/>
            <a:ext cx="1261872" cy="676656"/>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160520"/>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Route efficiency</a:t>
            </a:r>
          </a:p>
        </p:txBody>
      </p:sp>
      <p:sp>
        <p:nvSpPr>
          <p:cNvPr id="26" name="TextBox 25"/>
          <p:cNvSpPr txBox="1"/>
          <p:nvPr/>
        </p:nvSpPr>
        <p:spPr>
          <a:xfrm>
            <a:off x="2450592" y="4078224"/>
            <a:ext cx="2651760" cy="512064"/>
          </a:xfrm>
          <a:prstGeom prst="rect">
            <a:avLst/>
          </a:prstGeom>
          <a:noFill/>
        </p:spPr>
        <p:txBody>
          <a:bodyPr wrap="square" lIns="27432" rIns="27432" tIns="27432" bIns="27432" anchor="t">
            <a:spAutoFit/>
          </a:bodyPr>
          <a:lstStyle/>
          <a:p>
            <a:pPr algn="l"/>
            <a:r>
              <a:rPr sz="1400" b="1">
                <a:solidFill>
                  <a:srgbClr val="B5533A"/>
                </a:solidFill>
                <a:latin typeface="Aptos Display"/>
              </a:rPr>
              <a:t>$813 to $1.0k profit loss at +50% freight</a:t>
            </a:r>
          </a:p>
        </p:txBody>
      </p:sp>
      <p:sp>
        <p:nvSpPr>
          <p:cNvPr id="27" name="TextBox 26"/>
          <p:cNvSpPr txBox="1"/>
          <p:nvPr/>
        </p:nvSpPr>
        <p:spPr>
          <a:xfrm>
            <a:off x="5285232" y="4059936"/>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The recommended cities keep the same ranking even after a large shipping shock.</a:t>
            </a:r>
          </a:p>
        </p:txBody>
      </p:sp>
      <p:sp>
        <p:nvSpPr>
          <p:cNvPr id="28" name="TextBox 27"/>
          <p:cNvSpPr txBox="1"/>
          <p:nvPr/>
        </p:nvSpPr>
        <p:spPr>
          <a:xfrm>
            <a:off x="10012680" y="4059936"/>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Freight can cut margin, but it does not break the top five.</a:t>
            </a:r>
          </a:p>
        </p:txBody>
      </p:sp>
      <p:sp>
        <p:nvSpPr>
          <p:cNvPr id="29" name="TextBox 28"/>
          <p:cNvSpPr txBox="1"/>
          <p:nvPr/>
        </p:nvSpPr>
        <p:spPr>
          <a:xfrm>
            <a:off x="548640" y="5285232"/>
            <a:ext cx="10881360" cy="320040"/>
          </a:xfrm>
          <a:prstGeom prst="rect">
            <a:avLst/>
          </a:prstGeom>
          <a:noFill/>
        </p:spPr>
        <p:txBody>
          <a:bodyPr wrap="square" lIns="27432" rIns="27432" tIns="27432" bIns="27432" anchor="t">
            <a:spAutoFit/>
          </a:bodyPr>
          <a:lstStyle/>
          <a:p>
            <a:pPr algn="l"/>
            <a:r>
              <a:rPr sz="1300" b="0">
                <a:solidFill>
                  <a:srgbClr val="5F6B63"/>
                </a:solidFill>
                <a:latin typeface="Aptos"/>
              </a:rPr>
              <a:t>These three filters explain why the Pacific Northwest plus San Diego survives every screen that follows.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Los Angeles wins Q1 and remains the conventional revenue outlier</a:t>
            </a:r>
          </a:p>
        </p:txBody>
      </p:sp>
      <p:sp>
        <p:nvSpPr>
          <p:cNvPr id="9" name="Rounded Rectangle 8"/>
          <p:cNvSpPr/>
          <p:nvPr/>
        </p:nvSpPr>
        <p:spPr>
          <a:xfrm>
            <a:off x="713232" y="1645920"/>
            <a:ext cx="781812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572768" y="5248656"/>
            <a:ext cx="5513832" cy="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72768" y="2414016"/>
            <a:ext cx="0" cy="283464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2768" y="453999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32688" y="446684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$100M</a:t>
            </a:r>
          </a:p>
        </p:txBody>
      </p:sp>
      <p:cxnSp>
        <p:nvCxnSpPr>
          <p:cNvPr id="14" name="Connector 13"/>
          <p:cNvCxnSpPr/>
          <p:nvPr/>
        </p:nvCxnSpPr>
        <p:spPr>
          <a:xfrm>
            <a:off x="1572768" y="383133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32688" y="375818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$200M</a:t>
            </a:r>
          </a:p>
        </p:txBody>
      </p:sp>
      <p:cxnSp>
        <p:nvCxnSpPr>
          <p:cNvPr id="16" name="Connector 15"/>
          <p:cNvCxnSpPr/>
          <p:nvPr/>
        </p:nvCxnSpPr>
        <p:spPr>
          <a:xfrm>
            <a:off x="1572768" y="312267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32688" y="304952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$300M</a:t>
            </a:r>
          </a:p>
        </p:txBody>
      </p:sp>
      <p:cxnSp>
        <p:nvCxnSpPr>
          <p:cNvPr id="18" name="Connector 17"/>
          <p:cNvCxnSpPr/>
          <p:nvPr/>
        </p:nvCxnSpPr>
        <p:spPr>
          <a:xfrm>
            <a:off x="1572768" y="241401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32688" y="234086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$400M</a:t>
            </a:r>
          </a:p>
        </p:txBody>
      </p:sp>
      <p:sp>
        <p:nvSpPr>
          <p:cNvPr id="20" name="TextBox 19"/>
          <p:cNvSpPr txBox="1"/>
          <p:nvPr/>
        </p:nvSpPr>
        <p:spPr>
          <a:xfrm>
            <a:off x="932688" y="517550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$0M</a:t>
            </a:r>
          </a:p>
        </p:txBody>
      </p:sp>
      <p:sp>
        <p:nvSpPr>
          <p:cNvPr id="21" name="TextBox 20"/>
          <p:cNvSpPr txBox="1"/>
          <p:nvPr/>
        </p:nvSpPr>
        <p:spPr>
          <a:xfrm>
            <a:off x="914400" y="1975104"/>
            <a:ext cx="7269480" cy="146304"/>
          </a:xfrm>
          <a:prstGeom prst="rect">
            <a:avLst/>
          </a:prstGeom>
          <a:noFill/>
        </p:spPr>
        <p:txBody>
          <a:bodyPr wrap="square" lIns="27432" rIns="27432" tIns="27432" bIns="27432" anchor="t">
            <a:spAutoFit/>
          </a:bodyPr>
          <a:lstStyle/>
          <a:p>
            <a:pPr algn="l"/>
            <a:r>
              <a:rPr sz="1000" b="1">
                <a:solidFill>
                  <a:srgbClr val="5F6B63"/>
                </a:solidFill>
                <a:latin typeface="Aptos"/>
              </a:rPr>
              <a:t>TOP 5 CONVENTIONAL REVENUE TREND</a:t>
            </a:r>
          </a:p>
        </p:txBody>
      </p:sp>
      <p:sp>
        <p:nvSpPr>
          <p:cNvPr id="22" name="TextBox 21"/>
          <p:cNvSpPr txBox="1"/>
          <p:nvPr/>
        </p:nvSpPr>
        <p:spPr>
          <a:xfrm>
            <a:off x="896112" y="3771900"/>
            <a:ext cx="384048" cy="256032"/>
          </a:xfrm>
          <a:prstGeom prst="rect">
            <a:avLst/>
          </a:prstGeom>
          <a:noFill/>
        </p:spPr>
        <p:txBody>
          <a:bodyPr wrap="square" lIns="27432" rIns="27432" tIns="27432" bIns="27432" anchor="t">
            <a:spAutoFit/>
          </a:bodyPr>
          <a:lstStyle/>
          <a:p>
            <a:pPr algn="ctr"/>
            <a:r>
              <a:rPr sz="900" b="0">
                <a:solidFill>
                  <a:srgbClr val="5F6B63"/>
                </a:solidFill>
                <a:latin typeface="Aptos"/>
              </a:rPr>
              <a:t>$M</a:t>
            </a:r>
          </a:p>
        </p:txBody>
      </p:sp>
      <p:sp>
        <p:nvSpPr>
          <p:cNvPr id="23" name="TextBox 22"/>
          <p:cNvSpPr txBox="1"/>
          <p:nvPr/>
        </p:nvSpPr>
        <p:spPr>
          <a:xfrm>
            <a:off x="1572768" y="2157984"/>
            <a:ext cx="1234440" cy="146304"/>
          </a:xfrm>
          <a:prstGeom prst="rect">
            <a:avLst/>
          </a:prstGeom>
          <a:noFill/>
        </p:spPr>
        <p:txBody>
          <a:bodyPr wrap="square" lIns="27432" rIns="27432" tIns="27432" bIns="27432" anchor="t">
            <a:spAutoFit/>
          </a:bodyPr>
          <a:lstStyle/>
          <a:p>
            <a:pPr algn="l"/>
            <a:r>
              <a:rPr sz="1000" b="1">
                <a:solidFill>
                  <a:srgbClr val="355C47"/>
                </a:solidFill>
                <a:latin typeface="Aptos"/>
              </a:rPr>
              <a:t>LOS ANGELES</a:t>
            </a:r>
          </a:p>
        </p:txBody>
      </p:sp>
      <p:sp>
        <p:nvSpPr>
          <p:cNvPr id="24" name="Oval 23"/>
          <p:cNvSpPr/>
          <p:nvPr/>
        </p:nvSpPr>
        <p:spPr>
          <a:xfrm>
            <a:off x="1517904" y="400011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1572768" y="3948489"/>
            <a:ext cx="918972" cy="106492"/>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436876" y="389362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2491740" y="3932094"/>
            <a:ext cx="918972" cy="16395"/>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55848" y="387723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3410712" y="3825065"/>
            <a:ext cx="918972" cy="107029"/>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4274820" y="377020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4329684" y="3825065"/>
            <a:ext cx="918972" cy="120547"/>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193792" y="389074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5248656" y="3751738"/>
            <a:ext cx="918972" cy="193874"/>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112764" y="369687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6167628" y="3751738"/>
            <a:ext cx="918972" cy="694773"/>
          </a:xfrm>
          <a:prstGeom prst="line">
            <a:avLst/>
          </a:prstGeom>
          <a:ln w="27940">
            <a:solidFill>
              <a:srgbClr val="355C47"/>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31736" y="439164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98648" y="2157984"/>
            <a:ext cx="1234440" cy="146304"/>
          </a:xfrm>
          <a:prstGeom prst="rect">
            <a:avLst/>
          </a:prstGeom>
          <a:noFill/>
        </p:spPr>
        <p:txBody>
          <a:bodyPr wrap="square" lIns="27432" rIns="27432" tIns="27432" bIns="27432" anchor="t">
            <a:spAutoFit/>
          </a:bodyPr>
          <a:lstStyle/>
          <a:p>
            <a:pPr algn="l"/>
            <a:r>
              <a:rPr sz="1000" b="1">
                <a:solidFill>
                  <a:srgbClr val="C58A2A"/>
                </a:solidFill>
                <a:latin typeface="Aptos"/>
              </a:rPr>
              <a:t>NEW YORK</a:t>
            </a:r>
          </a:p>
        </p:txBody>
      </p:sp>
      <p:sp>
        <p:nvSpPr>
          <p:cNvPr id="38" name="Oval 37"/>
          <p:cNvSpPr/>
          <p:nvPr/>
        </p:nvSpPr>
        <p:spPr>
          <a:xfrm>
            <a:off x="1517904" y="436477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1572768" y="4275043"/>
            <a:ext cx="918972" cy="144599"/>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436876" y="422017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2491740" y="4275043"/>
            <a:ext cx="918972" cy="88670"/>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3355848" y="430884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3410712" y="4318433"/>
            <a:ext cx="918972" cy="45280"/>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4274820" y="426356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4329684" y="4318433"/>
            <a:ext cx="918972" cy="57322"/>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5193792" y="4320891"/>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flipV="1">
            <a:off x="5248656" y="4104563"/>
            <a:ext cx="918972" cy="271192"/>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112764" y="404969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167628" y="4104563"/>
            <a:ext cx="918972" cy="501309"/>
          </a:xfrm>
          <a:prstGeom prst="line">
            <a:avLst/>
          </a:prstGeom>
          <a:ln w="27940">
            <a:solidFill>
              <a:srgbClr val="C58A2A"/>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7031736" y="455100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24528" y="2157984"/>
            <a:ext cx="1234440" cy="146304"/>
          </a:xfrm>
          <a:prstGeom prst="rect">
            <a:avLst/>
          </a:prstGeom>
          <a:noFill/>
        </p:spPr>
        <p:txBody>
          <a:bodyPr wrap="square" lIns="27432" rIns="27432" tIns="27432" bIns="27432" anchor="t">
            <a:spAutoFit/>
          </a:bodyPr>
          <a:lstStyle/>
          <a:p>
            <a:pPr algn="l"/>
            <a:r>
              <a:rPr sz="1000" b="1">
                <a:solidFill>
                  <a:srgbClr val="3F728A"/>
                </a:solidFill>
                <a:latin typeface="Aptos"/>
              </a:rPr>
              <a:t>DALLAS/FW</a:t>
            </a:r>
          </a:p>
        </p:txBody>
      </p:sp>
      <p:sp>
        <p:nvSpPr>
          <p:cNvPr id="52" name="Oval 51"/>
          <p:cNvSpPr/>
          <p:nvPr/>
        </p:nvSpPr>
        <p:spPr>
          <a:xfrm>
            <a:off x="1517904" y="473711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flipV="1">
            <a:off x="1572768" y="4771970"/>
            <a:ext cx="918972" cy="20010"/>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2436876" y="471710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2491740" y="4771970"/>
            <a:ext cx="918972" cy="33838"/>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3355848" y="4750944"/>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V="1">
            <a:off x="3410712" y="4745353"/>
            <a:ext cx="918972" cy="60455"/>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4274820" y="4690489"/>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4329684" y="4745353"/>
            <a:ext cx="918972" cy="58067"/>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5193792" y="474855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V="1">
            <a:off x="5248656" y="4729658"/>
            <a:ext cx="918972" cy="73762"/>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112764" y="4674794"/>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a:off x="6167628" y="4729658"/>
            <a:ext cx="918972" cy="217279"/>
          </a:xfrm>
          <a:prstGeom prst="line">
            <a:avLst/>
          </a:prstGeom>
          <a:ln w="27940">
            <a:solidFill>
              <a:srgbClr val="3F728A"/>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7031736" y="4892073"/>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550408" y="2157984"/>
            <a:ext cx="1234440" cy="146304"/>
          </a:xfrm>
          <a:prstGeom prst="rect">
            <a:avLst/>
          </a:prstGeom>
          <a:noFill/>
        </p:spPr>
        <p:txBody>
          <a:bodyPr wrap="square" lIns="27432" rIns="27432" tIns="27432" bIns="27432" anchor="t">
            <a:spAutoFit/>
          </a:bodyPr>
          <a:lstStyle/>
          <a:p>
            <a:pPr algn="l"/>
            <a:r>
              <a:rPr sz="1000" b="1">
                <a:solidFill>
                  <a:srgbClr val="889A83"/>
                </a:solidFill>
                <a:latin typeface="Aptos"/>
              </a:rPr>
              <a:t>BALT/WASH</a:t>
            </a:r>
          </a:p>
        </p:txBody>
      </p:sp>
      <p:sp>
        <p:nvSpPr>
          <p:cNvPr id="66" name="Oval 65"/>
          <p:cNvSpPr/>
          <p:nvPr/>
        </p:nvSpPr>
        <p:spPr>
          <a:xfrm>
            <a:off x="1517904" y="4772432"/>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flipV="1">
            <a:off x="1572768" y="4769107"/>
            <a:ext cx="918972" cy="58189"/>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2436876" y="4714243"/>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a:off x="2491740" y="4769107"/>
            <a:ext cx="918972" cy="34434"/>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3355848" y="4748677"/>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flipV="1">
            <a:off x="3410712" y="4786798"/>
            <a:ext cx="918972" cy="16743"/>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4274820" y="4731934"/>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4329684" y="4786798"/>
            <a:ext cx="918972" cy="33019"/>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5193792" y="4764953"/>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5" name="Connector 74"/>
          <p:cNvCxnSpPr/>
          <p:nvPr/>
        </p:nvCxnSpPr>
        <p:spPr>
          <a:xfrm flipV="1">
            <a:off x="5248656" y="4709856"/>
            <a:ext cx="918972" cy="109961"/>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6112764" y="4654992"/>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a:off x="6167628" y="4709856"/>
            <a:ext cx="918972" cy="243424"/>
          </a:xfrm>
          <a:prstGeom prst="line">
            <a:avLst/>
          </a:prstGeom>
          <a:ln w="27940">
            <a:solidFill>
              <a:srgbClr val="889A83"/>
            </a:solidFill>
          </a:ln>
        </p:spPr>
        <p:style>
          <a:lnRef idx="2">
            <a:schemeClr val="accent1"/>
          </a:lnRef>
          <a:fillRef idx="0">
            <a:schemeClr val="accent1"/>
          </a:fillRef>
          <a:effectRef idx="1">
            <a:schemeClr val="accent1"/>
          </a:effectRef>
          <a:fontRef idx="minor">
            <a:schemeClr val="tx1"/>
          </a:fontRef>
        </p:style>
      </p:cxnSp>
      <p:sp>
        <p:nvSpPr>
          <p:cNvPr id="78" name="Oval 77"/>
          <p:cNvSpPr/>
          <p:nvPr/>
        </p:nvSpPr>
        <p:spPr>
          <a:xfrm>
            <a:off x="7031736" y="4898416"/>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76288" y="2157984"/>
            <a:ext cx="1234440" cy="146304"/>
          </a:xfrm>
          <a:prstGeom prst="rect">
            <a:avLst/>
          </a:prstGeom>
          <a:noFill/>
        </p:spPr>
        <p:txBody>
          <a:bodyPr wrap="square" lIns="27432" rIns="27432" tIns="27432" bIns="27432" anchor="t">
            <a:spAutoFit/>
          </a:bodyPr>
          <a:lstStyle/>
          <a:p>
            <a:pPr algn="l"/>
            <a:r>
              <a:rPr sz="1000" b="1">
                <a:solidFill>
                  <a:srgbClr val="B5533A"/>
                </a:solidFill>
                <a:latin typeface="Aptos"/>
              </a:rPr>
              <a:t>PHOENIX/TUCSON</a:t>
            </a:r>
          </a:p>
        </p:txBody>
      </p:sp>
      <p:sp>
        <p:nvSpPr>
          <p:cNvPr id="80" name="Oval 79"/>
          <p:cNvSpPr/>
          <p:nvPr/>
        </p:nvSpPr>
        <p:spPr>
          <a:xfrm>
            <a:off x="1517904" y="4808073"/>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V="1">
            <a:off x="1572768" y="4825412"/>
            <a:ext cx="918972" cy="3752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2" name="Oval 81"/>
          <p:cNvSpPr/>
          <p:nvPr/>
        </p:nvSpPr>
        <p:spPr>
          <a:xfrm>
            <a:off x="2436876" y="4770548"/>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2491740" y="4825412"/>
            <a:ext cx="918972" cy="15981"/>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4" name="Oval 83"/>
          <p:cNvSpPr/>
          <p:nvPr/>
        </p:nvSpPr>
        <p:spPr>
          <a:xfrm>
            <a:off x="3355848" y="4786529"/>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flipV="1">
            <a:off x="3410712" y="4789746"/>
            <a:ext cx="918972" cy="51647"/>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4274820" y="4734882"/>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4329684" y="4789746"/>
            <a:ext cx="918972" cy="28268"/>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8" name="Oval 87"/>
          <p:cNvSpPr/>
          <p:nvPr/>
        </p:nvSpPr>
        <p:spPr>
          <a:xfrm>
            <a:off x="5193792" y="4763150"/>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flipV="1">
            <a:off x="5248656" y="4752730"/>
            <a:ext cx="918972" cy="65284"/>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6112764" y="4697866"/>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6167628" y="4752730"/>
            <a:ext cx="918972" cy="216905"/>
          </a:xfrm>
          <a:prstGeom prst="line">
            <a:avLst/>
          </a:prstGeom>
          <a:ln w="27940">
            <a:solidFill>
              <a:srgbClr val="B5533A"/>
            </a:solidFill>
          </a:ln>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7031736" y="4914771"/>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flipV="1">
            <a:off x="7114032" y="4407408"/>
            <a:ext cx="18288" cy="39103"/>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159752" y="4279392"/>
            <a:ext cx="914400" cy="146304"/>
          </a:xfrm>
          <a:prstGeom prst="rect">
            <a:avLst/>
          </a:prstGeom>
          <a:noFill/>
        </p:spPr>
        <p:txBody>
          <a:bodyPr wrap="square" lIns="27432" rIns="27432" tIns="27432" bIns="27432" anchor="t">
            <a:spAutoFit/>
          </a:bodyPr>
          <a:lstStyle/>
          <a:p>
            <a:pPr algn="l"/>
            <a:r>
              <a:rPr sz="800" b="1">
                <a:solidFill>
                  <a:srgbClr val="355C47"/>
                </a:solidFill>
                <a:latin typeface="Aptos"/>
              </a:rPr>
              <a:t>Los Angeles</a:t>
            </a:r>
          </a:p>
        </p:txBody>
      </p:sp>
      <p:cxnSp>
        <p:nvCxnSpPr>
          <p:cNvPr id="95" name="Connector 94"/>
          <p:cNvCxnSpPr/>
          <p:nvPr/>
        </p:nvCxnSpPr>
        <p:spPr>
          <a:xfrm flipV="1">
            <a:off x="7114032" y="4590288"/>
            <a:ext cx="18288" cy="15584"/>
          </a:xfrm>
          <a:prstGeom prst="line">
            <a:avLst/>
          </a:prstGeom>
          <a:ln w="11430">
            <a:solidFill>
              <a:srgbClr val="C58A2A"/>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7159752" y="4462272"/>
            <a:ext cx="914400" cy="146304"/>
          </a:xfrm>
          <a:prstGeom prst="rect">
            <a:avLst/>
          </a:prstGeom>
          <a:noFill/>
        </p:spPr>
        <p:txBody>
          <a:bodyPr wrap="square" lIns="27432" rIns="27432" tIns="27432" bIns="27432" anchor="t">
            <a:spAutoFit/>
          </a:bodyPr>
          <a:lstStyle/>
          <a:p>
            <a:pPr algn="l"/>
            <a:r>
              <a:rPr sz="800" b="1">
                <a:solidFill>
                  <a:srgbClr val="C58A2A"/>
                </a:solidFill>
                <a:latin typeface="Aptos"/>
              </a:rPr>
              <a:t>New York</a:t>
            </a:r>
          </a:p>
        </p:txBody>
      </p:sp>
      <p:cxnSp>
        <p:nvCxnSpPr>
          <p:cNvPr id="97" name="Connector 96"/>
          <p:cNvCxnSpPr/>
          <p:nvPr/>
        </p:nvCxnSpPr>
        <p:spPr>
          <a:xfrm flipV="1">
            <a:off x="7114032" y="4773168"/>
            <a:ext cx="18288" cy="173769"/>
          </a:xfrm>
          <a:prstGeom prst="line">
            <a:avLst/>
          </a:prstGeom>
          <a:ln w="11430">
            <a:solidFill>
              <a:srgbClr val="3F728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159752" y="4645152"/>
            <a:ext cx="914400" cy="146304"/>
          </a:xfrm>
          <a:prstGeom prst="rect">
            <a:avLst/>
          </a:prstGeom>
          <a:noFill/>
        </p:spPr>
        <p:txBody>
          <a:bodyPr wrap="square" lIns="27432" rIns="27432" tIns="27432" bIns="27432" anchor="t">
            <a:spAutoFit/>
          </a:bodyPr>
          <a:lstStyle/>
          <a:p>
            <a:pPr algn="l"/>
            <a:r>
              <a:rPr sz="800" b="1">
                <a:solidFill>
                  <a:srgbClr val="3F728A"/>
                </a:solidFill>
                <a:latin typeface="Aptos"/>
              </a:rPr>
              <a:t>Dallas/FW</a:t>
            </a:r>
          </a:p>
        </p:txBody>
      </p:sp>
      <p:cxnSp>
        <p:nvCxnSpPr>
          <p:cNvPr id="99" name="Connector 98"/>
          <p:cNvCxnSpPr/>
          <p:nvPr/>
        </p:nvCxnSpPr>
        <p:spPr>
          <a:xfrm>
            <a:off x="7114032" y="4953280"/>
            <a:ext cx="18288" cy="2768"/>
          </a:xfrm>
          <a:prstGeom prst="line">
            <a:avLst/>
          </a:prstGeom>
          <a:ln w="11430">
            <a:solidFill>
              <a:srgbClr val="889A8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159752" y="4828032"/>
            <a:ext cx="914400" cy="146304"/>
          </a:xfrm>
          <a:prstGeom prst="rect">
            <a:avLst/>
          </a:prstGeom>
          <a:noFill/>
        </p:spPr>
        <p:txBody>
          <a:bodyPr wrap="square" lIns="27432" rIns="27432" tIns="27432" bIns="27432" anchor="t">
            <a:spAutoFit/>
          </a:bodyPr>
          <a:lstStyle/>
          <a:p>
            <a:pPr algn="l"/>
            <a:r>
              <a:rPr sz="800" b="1">
                <a:solidFill>
                  <a:srgbClr val="889A83"/>
                </a:solidFill>
                <a:latin typeface="Aptos"/>
              </a:rPr>
              <a:t>Balt/Wash</a:t>
            </a:r>
          </a:p>
        </p:txBody>
      </p:sp>
      <p:cxnSp>
        <p:nvCxnSpPr>
          <p:cNvPr id="101" name="Connector 100"/>
          <p:cNvCxnSpPr/>
          <p:nvPr/>
        </p:nvCxnSpPr>
        <p:spPr>
          <a:xfrm>
            <a:off x="7114032" y="4969635"/>
            <a:ext cx="18288" cy="169293"/>
          </a:xfrm>
          <a:prstGeom prst="line">
            <a:avLst/>
          </a:prstGeom>
          <a:ln w="11430">
            <a:solidFill>
              <a:srgbClr val="B5533A"/>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7159752" y="5010912"/>
            <a:ext cx="914400" cy="146304"/>
          </a:xfrm>
          <a:prstGeom prst="rect">
            <a:avLst/>
          </a:prstGeom>
          <a:noFill/>
        </p:spPr>
        <p:txBody>
          <a:bodyPr wrap="square" lIns="27432" rIns="27432" tIns="27432" bIns="27432" anchor="t">
            <a:spAutoFit/>
          </a:bodyPr>
          <a:lstStyle/>
          <a:p>
            <a:pPr algn="l"/>
            <a:r>
              <a:rPr sz="800" b="1">
                <a:solidFill>
                  <a:srgbClr val="B5533A"/>
                </a:solidFill>
                <a:latin typeface="Aptos"/>
              </a:rPr>
              <a:t>Phoenix/Tucson</a:t>
            </a:r>
          </a:p>
        </p:txBody>
      </p:sp>
      <p:sp>
        <p:nvSpPr>
          <p:cNvPr id="103" name="TextBox 102"/>
          <p:cNvSpPr txBox="1"/>
          <p:nvPr/>
        </p:nvSpPr>
        <p:spPr>
          <a:xfrm>
            <a:off x="131673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2019</a:t>
            </a:r>
          </a:p>
        </p:txBody>
      </p:sp>
      <p:sp>
        <p:nvSpPr>
          <p:cNvPr id="104" name="TextBox 103"/>
          <p:cNvSpPr txBox="1"/>
          <p:nvPr/>
        </p:nvSpPr>
        <p:spPr>
          <a:xfrm>
            <a:off x="223570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2020</a:t>
            </a:r>
          </a:p>
        </p:txBody>
      </p:sp>
      <p:sp>
        <p:nvSpPr>
          <p:cNvPr id="105" name="TextBox 104"/>
          <p:cNvSpPr txBox="1"/>
          <p:nvPr/>
        </p:nvSpPr>
        <p:spPr>
          <a:xfrm>
            <a:off x="3154680"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2021</a:t>
            </a:r>
          </a:p>
        </p:txBody>
      </p:sp>
      <p:sp>
        <p:nvSpPr>
          <p:cNvPr id="106" name="TextBox 105"/>
          <p:cNvSpPr txBox="1"/>
          <p:nvPr/>
        </p:nvSpPr>
        <p:spPr>
          <a:xfrm>
            <a:off x="4073652"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2022</a:t>
            </a:r>
          </a:p>
        </p:txBody>
      </p:sp>
      <p:sp>
        <p:nvSpPr>
          <p:cNvPr id="107" name="TextBox 106"/>
          <p:cNvSpPr txBox="1"/>
          <p:nvPr/>
        </p:nvSpPr>
        <p:spPr>
          <a:xfrm>
            <a:off x="4992624"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2023</a:t>
            </a:r>
          </a:p>
        </p:txBody>
      </p:sp>
      <p:sp>
        <p:nvSpPr>
          <p:cNvPr id="108" name="TextBox 107"/>
          <p:cNvSpPr txBox="1"/>
          <p:nvPr/>
        </p:nvSpPr>
        <p:spPr>
          <a:xfrm>
            <a:off x="591159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2024</a:t>
            </a:r>
          </a:p>
        </p:txBody>
      </p:sp>
      <p:sp>
        <p:nvSpPr>
          <p:cNvPr id="109" name="TextBox 108"/>
          <p:cNvSpPr txBox="1"/>
          <p:nvPr/>
        </p:nvSpPr>
        <p:spPr>
          <a:xfrm>
            <a:off x="683056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2025 H1</a:t>
            </a:r>
          </a:p>
        </p:txBody>
      </p:sp>
      <p:sp>
        <p:nvSpPr>
          <p:cNvPr id="110" name="Rounded Rectangle 109"/>
          <p:cNvSpPr/>
          <p:nvPr/>
        </p:nvSpPr>
        <p:spPr>
          <a:xfrm>
            <a:off x="8759952" y="1645920"/>
            <a:ext cx="274320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9034272" y="1847088"/>
            <a:ext cx="2194560" cy="76809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162288" y="1956816"/>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Q1 WINNER CELLS</a:t>
            </a:r>
          </a:p>
        </p:txBody>
      </p:sp>
      <p:sp>
        <p:nvSpPr>
          <p:cNvPr id="113" name="TextBox 112"/>
          <p:cNvSpPr txBox="1"/>
          <p:nvPr/>
        </p:nvSpPr>
        <p:spPr>
          <a:xfrm>
            <a:off x="9162288" y="2157984"/>
            <a:ext cx="1938528" cy="347472"/>
          </a:xfrm>
          <a:prstGeom prst="rect">
            <a:avLst/>
          </a:prstGeom>
          <a:noFill/>
        </p:spPr>
        <p:txBody>
          <a:bodyPr wrap="square" lIns="27432" rIns="27432" tIns="27432" bIns="27432" anchor="ctr">
            <a:spAutoFit/>
          </a:bodyPr>
          <a:lstStyle/>
          <a:p>
            <a:pPr algn="ctr"/>
            <a:r>
              <a:rPr sz="1900" b="1">
                <a:solidFill>
                  <a:srgbClr val="3F728A"/>
                </a:solidFill>
                <a:latin typeface="Aptos Display"/>
              </a:rPr>
              <a:t>14/14</a:t>
            </a:r>
          </a:p>
        </p:txBody>
      </p:sp>
      <p:sp>
        <p:nvSpPr>
          <p:cNvPr id="114" name="Rounded Rectangle 113"/>
          <p:cNvSpPr/>
          <p:nvPr/>
        </p:nvSpPr>
        <p:spPr>
          <a:xfrm>
            <a:off x="9034272" y="2743200"/>
            <a:ext cx="2194560" cy="76809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162288" y="2852928"/>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2024 LEAD VS NY</a:t>
            </a:r>
          </a:p>
        </p:txBody>
      </p:sp>
      <p:sp>
        <p:nvSpPr>
          <p:cNvPr id="116" name="TextBox 115"/>
          <p:cNvSpPr txBox="1"/>
          <p:nvPr/>
        </p:nvSpPr>
        <p:spPr>
          <a:xfrm>
            <a:off x="9162288" y="3054096"/>
            <a:ext cx="1938528" cy="347472"/>
          </a:xfrm>
          <a:prstGeom prst="rect">
            <a:avLst/>
          </a:prstGeom>
          <a:noFill/>
        </p:spPr>
        <p:txBody>
          <a:bodyPr wrap="square" lIns="27432" rIns="27432" tIns="27432" bIns="27432" anchor="ctr">
            <a:spAutoFit/>
          </a:bodyPr>
          <a:lstStyle/>
          <a:p>
            <a:pPr algn="ctr"/>
            <a:r>
              <a:rPr sz="1900" b="1">
                <a:solidFill>
                  <a:srgbClr val="355C47"/>
                </a:solidFill>
                <a:latin typeface="Aptos Display"/>
              </a:rPr>
              <a:t>$49.8M</a:t>
            </a:r>
          </a:p>
        </p:txBody>
      </p:sp>
      <p:sp>
        <p:nvSpPr>
          <p:cNvPr id="117" name="Rounded Rectangle 116"/>
          <p:cNvSpPr/>
          <p:nvPr/>
        </p:nvSpPr>
        <p:spPr>
          <a:xfrm>
            <a:off x="9034272" y="3639312"/>
            <a:ext cx="2194560" cy="76809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9162288" y="3749040"/>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2025 H1 LEAD VS NY</a:t>
            </a:r>
          </a:p>
        </p:txBody>
      </p:sp>
      <p:sp>
        <p:nvSpPr>
          <p:cNvPr id="119" name="TextBox 118"/>
          <p:cNvSpPr txBox="1"/>
          <p:nvPr/>
        </p:nvSpPr>
        <p:spPr>
          <a:xfrm>
            <a:off x="9162288" y="3950208"/>
            <a:ext cx="1938528" cy="347472"/>
          </a:xfrm>
          <a:prstGeom prst="rect">
            <a:avLst/>
          </a:prstGeom>
          <a:noFill/>
        </p:spPr>
        <p:txBody>
          <a:bodyPr wrap="square" lIns="27432" rIns="27432" tIns="27432" bIns="27432" anchor="ctr">
            <a:spAutoFit/>
          </a:bodyPr>
          <a:lstStyle/>
          <a:p>
            <a:pPr algn="ctr"/>
            <a:r>
              <a:rPr sz="1900" b="1">
                <a:solidFill>
                  <a:srgbClr val="C58A2A"/>
                </a:solidFill>
                <a:latin typeface="Aptos Display"/>
              </a:rPr>
              <a:t>$22.5M</a:t>
            </a:r>
          </a:p>
        </p:txBody>
      </p:sp>
      <p:sp>
        <p:nvSpPr>
          <p:cNvPr id="120" name="TextBox 119"/>
          <p:cNvSpPr txBox="1"/>
          <p:nvPr/>
        </p:nvSpPr>
        <p:spPr>
          <a:xfrm>
            <a:off x="9034272" y="4663440"/>
            <a:ext cx="2148840" cy="530352"/>
          </a:xfrm>
          <a:prstGeom prst="rect">
            <a:avLst/>
          </a:prstGeom>
          <a:noFill/>
        </p:spPr>
        <p:txBody>
          <a:bodyPr wrap="square" lIns="27432" rIns="27432" tIns="27432" bIns="27432" anchor="t">
            <a:spAutoFit/>
          </a:bodyPr>
          <a:lstStyle/>
          <a:p>
            <a:pPr algn="l"/>
            <a:r>
              <a:rPr sz="1200" b="0">
                <a:solidFill>
                  <a:srgbClr val="1F2621"/>
                </a:solidFill>
                <a:latin typeface="Aptos"/>
              </a:rPr>
              <a:t>Q1 is already settled. The useful question is how concentrated that lead stays by product type.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Los Angeles leads organic sales, but not by much</a:t>
            </a:r>
          </a:p>
        </p:txBody>
      </p:sp>
      <p:sp>
        <p:nvSpPr>
          <p:cNvPr id="9" name="Rounded Rectangle 8"/>
          <p:cNvSpPr/>
          <p:nvPr/>
        </p:nvSpPr>
        <p:spPr>
          <a:xfrm>
            <a:off x="713232" y="1645920"/>
            <a:ext cx="781812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572768" y="5248656"/>
            <a:ext cx="5513832" cy="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72768" y="2414016"/>
            <a:ext cx="0" cy="283464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2768" y="453999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32688" y="446684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$5M</a:t>
            </a:r>
          </a:p>
        </p:txBody>
      </p:sp>
      <p:cxnSp>
        <p:nvCxnSpPr>
          <p:cNvPr id="14" name="Connector 13"/>
          <p:cNvCxnSpPr/>
          <p:nvPr/>
        </p:nvCxnSpPr>
        <p:spPr>
          <a:xfrm>
            <a:off x="1572768" y="383133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32688" y="375818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$10M</a:t>
            </a:r>
          </a:p>
        </p:txBody>
      </p:sp>
      <p:cxnSp>
        <p:nvCxnSpPr>
          <p:cNvPr id="16" name="Connector 15"/>
          <p:cNvCxnSpPr/>
          <p:nvPr/>
        </p:nvCxnSpPr>
        <p:spPr>
          <a:xfrm>
            <a:off x="1572768" y="312267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32688" y="304952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$15M</a:t>
            </a:r>
          </a:p>
        </p:txBody>
      </p:sp>
      <p:cxnSp>
        <p:nvCxnSpPr>
          <p:cNvPr id="18" name="Connector 17"/>
          <p:cNvCxnSpPr/>
          <p:nvPr/>
        </p:nvCxnSpPr>
        <p:spPr>
          <a:xfrm>
            <a:off x="1572768" y="241401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32688" y="234086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$20M</a:t>
            </a:r>
          </a:p>
        </p:txBody>
      </p:sp>
      <p:sp>
        <p:nvSpPr>
          <p:cNvPr id="20" name="TextBox 19"/>
          <p:cNvSpPr txBox="1"/>
          <p:nvPr/>
        </p:nvSpPr>
        <p:spPr>
          <a:xfrm>
            <a:off x="932688" y="517550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$0M</a:t>
            </a:r>
          </a:p>
        </p:txBody>
      </p:sp>
      <p:sp>
        <p:nvSpPr>
          <p:cNvPr id="21" name="TextBox 20"/>
          <p:cNvSpPr txBox="1"/>
          <p:nvPr/>
        </p:nvSpPr>
        <p:spPr>
          <a:xfrm>
            <a:off x="914400" y="1975104"/>
            <a:ext cx="7269480" cy="146304"/>
          </a:xfrm>
          <a:prstGeom prst="rect">
            <a:avLst/>
          </a:prstGeom>
          <a:noFill/>
        </p:spPr>
        <p:txBody>
          <a:bodyPr wrap="square" lIns="27432" rIns="27432" tIns="27432" bIns="27432" anchor="t">
            <a:spAutoFit/>
          </a:bodyPr>
          <a:lstStyle/>
          <a:p>
            <a:pPr algn="l"/>
            <a:r>
              <a:rPr sz="1000" b="1">
                <a:solidFill>
                  <a:srgbClr val="5F6B63"/>
                </a:solidFill>
                <a:latin typeface="Aptos"/>
              </a:rPr>
              <a:t>TOP 5 ORGANIC REVENUE TREND</a:t>
            </a:r>
          </a:p>
        </p:txBody>
      </p:sp>
      <p:sp>
        <p:nvSpPr>
          <p:cNvPr id="22" name="TextBox 21"/>
          <p:cNvSpPr txBox="1"/>
          <p:nvPr/>
        </p:nvSpPr>
        <p:spPr>
          <a:xfrm>
            <a:off x="896112" y="3771900"/>
            <a:ext cx="384048" cy="256032"/>
          </a:xfrm>
          <a:prstGeom prst="rect">
            <a:avLst/>
          </a:prstGeom>
          <a:noFill/>
        </p:spPr>
        <p:txBody>
          <a:bodyPr wrap="square" lIns="27432" rIns="27432" tIns="27432" bIns="27432" anchor="t">
            <a:spAutoFit/>
          </a:bodyPr>
          <a:lstStyle/>
          <a:p>
            <a:pPr algn="ctr"/>
            <a:r>
              <a:rPr sz="900" b="0">
                <a:solidFill>
                  <a:srgbClr val="5F6B63"/>
                </a:solidFill>
                <a:latin typeface="Aptos"/>
              </a:rPr>
              <a:t>$M</a:t>
            </a:r>
          </a:p>
        </p:txBody>
      </p:sp>
      <p:sp>
        <p:nvSpPr>
          <p:cNvPr id="23" name="TextBox 22"/>
          <p:cNvSpPr txBox="1"/>
          <p:nvPr/>
        </p:nvSpPr>
        <p:spPr>
          <a:xfrm>
            <a:off x="1572768" y="2157984"/>
            <a:ext cx="1234440" cy="146304"/>
          </a:xfrm>
          <a:prstGeom prst="rect">
            <a:avLst/>
          </a:prstGeom>
          <a:noFill/>
        </p:spPr>
        <p:txBody>
          <a:bodyPr wrap="square" lIns="27432" rIns="27432" tIns="27432" bIns="27432" anchor="t">
            <a:spAutoFit/>
          </a:bodyPr>
          <a:lstStyle/>
          <a:p>
            <a:pPr algn="l"/>
            <a:r>
              <a:rPr sz="1000" b="1">
                <a:solidFill>
                  <a:srgbClr val="3F728A"/>
                </a:solidFill>
                <a:latin typeface="Aptos"/>
              </a:rPr>
              <a:t>LOS ANGELES</a:t>
            </a:r>
          </a:p>
        </p:txBody>
      </p:sp>
      <p:sp>
        <p:nvSpPr>
          <p:cNvPr id="24" name="Oval 23"/>
          <p:cNvSpPr/>
          <p:nvPr/>
        </p:nvSpPr>
        <p:spPr>
          <a:xfrm>
            <a:off x="1517904" y="3908484"/>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1572768" y="3560880"/>
            <a:ext cx="918972" cy="402468"/>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436876" y="350601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2491740" y="3447575"/>
            <a:ext cx="918972" cy="113305"/>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55848" y="3392711"/>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3410712" y="3447575"/>
            <a:ext cx="918972" cy="128260"/>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4274820" y="3520971"/>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4329684" y="3575835"/>
            <a:ext cx="918972" cy="82947"/>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193792" y="3603918"/>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5248656" y="3085010"/>
            <a:ext cx="918972" cy="573772"/>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112764" y="303014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6167628" y="3085010"/>
            <a:ext cx="918972" cy="1009223"/>
          </a:xfrm>
          <a:prstGeom prst="line">
            <a:avLst/>
          </a:prstGeom>
          <a:ln w="27940">
            <a:solidFill>
              <a:srgbClr val="3F728A"/>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31736" y="4039369"/>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98648" y="2157984"/>
            <a:ext cx="1234440" cy="146304"/>
          </a:xfrm>
          <a:prstGeom prst="rect">
            <a:avLst/>
          </a:prstGeom>
          <a:noFill/>
        </p:spPr>
        <p:txBody>
          <a:bodyPr wrap="square" lIns="27432" rIns="27432" tIns="27432" bIns="27432" anchor="t">
            <a:spAutoFit/>
          </a:bodyPr>
          <a:lstStyle/>
          <a:p>
            <a:pPr algn="l"/>
            <a:r>
              <a:rPr sz="1000" b="1">
                <a:solidFill>
                  <a:srgbClr val="355C47"/>
                </a:solidFill>
                <a:latin typeface="Aptos"/>
              </a:rPr>
              <a:t>NEW YORK</a:t>
            </a:r>
          </a:p>
        </p:txBody>
      </p:sp>
      <p:sp>
        <p:nvSpPr>
          <p:cNvPr id="38" name="Oval 37"/>
          <p:cNvSpPr/>
          <p:nvPr/>
        </p:nvSpPr>
        <p:spPr>
          <a:xfrm>
            <a:off x="1517904" y="393901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1572768" y="3944964"/>
            <a:ext cx="918972" cy="48915"/>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436876" y="389010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flipV="1">
            <a:off x="2491740" y="3891521"/>
            <a:ext cx="918972" cy="53443"/>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3355848" y="383665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3410712" y="3891521"/>
            <a:ext cx="918972" cy="19788"/>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4274820" y="385644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4329684" y="3911309"/>
            <a:ext cx="918972" cy="13311"/>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5193792" y="386975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flipV="1">
            <a:off x="5248656" y="3467543"/>
            <a:ext cx="918972" cy="457077"/>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112764" y="341267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167628" y="3467543"/>
            <a:ext cx="918972" cy="720241"/>
          </a:xfrm>
          <a:prstGeom prst="line">
            <a:avLst/>
          </a:prstGeom>
          <a:ln w="27940">
            <a:solidFill>
              <a:srgbClr val="355C47"/>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7031736" y="413292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24528" y="2157984"/>
            <a:ext cx="1234440" cy="146304"/>
          </a:xfrm>
          <a:prstGeom prst="rect">
            <a:avLst/>
          </a:prstGeom>
          <a:noFill/>
        </p:spPr>
        <p:txBody>
          <a:bodyPr wrap="square" lIns="27432" rIns="27432" tIns="27432" bIns="27432" anchor="t">
            <a:spAutoFit/>
          </a:bodyPr>
          <a:lstStyle/>
          <a:p>
            <a:pPr algn="l"/>
            <a:r>
              <a:rPr sz="1000" b="1">
                <a:solidFill>
                  <a:srgbClr val="C58A2A"/>
                </a:solidFill>
                <a:latin typeface="Aptos"/>
              </a:rPr>
              <a:t>SEATTLE</a:t>
            </a:r>
          </a:p>
        </p:txBody>
      </p:sp>
      <p:sp>
        <p:nvSpPr>
          <p:cNvPr id="52" name="Oval 51"/>
          <p:cNvSpPr/>
          <p:nvPr/>
        </p:nvSpPr>
        <p:spPr>
          <a:xfrm>
            <a:off x="1517904" y="427461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flipV="1">
            <a:off x="1572768" y="4286393"/>
            <a:ext cx="918972" cy="43081"/>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2436876" y="423152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2491740" y="4286393"/>
            <a:ext cx="918972" cy="34866"/>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3355848" y="4266395"/>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V="1">
            <a:off x="3410712" y="4251501"/>
            <a:ext cx="918972" cy="69758"/>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4274820" y="419663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flipV="1">
            <a:off x="4329684" y="4218647"/>
            <a:ext cx="918972" cy="32854"/>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5193792" y="4163783"/>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V="1">
            <a:off x="5248656" y="3986487"/>
            <a:ext cx="918972" cy="232160"/>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112764" y="3931623"/>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a:off x="6167628" y="3986487"/>
            <a:ext cx="918972" cy="672809"/>
          </a:xfrm>
          <a:prstGeom prst="line">
            <a:avLst/>
          </a:prstGeom>
          <a:ln w="27940">
            <a:solidFill>
              <a:srgbClr val="C58A2A"/>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7031736" y="460443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550408" y="2157984"/>
            <a:ext cx="1234440" cy="146304"/>
          </a:xfrm>
          <a:prstGeom prst="rect">
            <a:avLst/>
          </a:prstGeom>
          <a:noFill/>
        </p:spPr>
        <p:txBody>
          <a:bodyPr wrap="square" lIns="27432" rIns="27432" tIns="27432" bIns="27432" anchor="t">
            <a:spAutoFit/>
          </a:bodyPr>
          <a:lstStyle/>
          <a:p>
            <a:pPr algn="l"/>
            <a:r>
              <a:rPr sz="1000" b="1">
                <a:solidFill>
                  <a:srgbClr val="889A83"/>
                </a:solidFill>
                <a:latin typeface="Aptos"/>
              </a:rPr>
              <a:t>SAN FRAN</a:t>
            </a:r>
          </a:p>
        </p:txBody>
      </p:sp>
      <p:sp>
        <p:nvSpPr>
          <p:cNvPr id="66" name="Oval 65"/>
          <p:cNvSpPr/>
          <p:nvPr/>
        </p:nvSpPr>
        <p:spPr>
          <a:xfrm>
            <a:off x="1517904" y="4509156"/>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flipV="1">
            <a:off x="1572768" y="4301658"/>
            <a:ext cx="918972" cy="262362"/>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2436876" y="4246794"/>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flipV="1">
            <a:off x="2491740" y="4175509"/>
            <a:ext cx="918972" cy="126149"/>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3355848" y="4120645"/>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a:off x="3410712" y="4175509"/>
            <a:ext cx="918972" cy="23725"/>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4274820" y="4144370"/>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4329684" y="4199234"/>
            <a:ext cx="918972" cy="184705"/>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5193792" y="4329075"/>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5" name="Connector 74"/>
          <p:cNvCxnSpPr/>
          <p:nvPr/>
        </p:nvCxnSpPr>
        <p:spPr>
          <a:xfrm>
            <a:off x="5248656" y="4383939"/>
            <a:ext cx="918972" cy="37446"/>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6112764" y="4366521"/>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a:off x="6167628" y="4421385"/>
            <a:ext cx="918972" cy="366892"/>
          </a:xfrm>
          <a:prstGeom prst="line">
            <a:avLst/>
          </a:prstGeom>
          <a:ln w="27940">
            <a:solidFill>
              <a:srgbClr val="889A83"/>
            </a:solidFill>
          </a:ln>
        </p:spPr>
        <p:style>
          <a:lnRef idx="2">
            <a:schemeClr val="accent1"/>
          </a:lnRef>
          <a:fillRef idx="0">
            <a:schemeClr val="accent1"/>
          </a:fillRef>
          <a:effectRef idx="1">
            <a:schemeClr val="accent1"/>
          </a:effectRef>
          <a:fontRef idx="minor">
            <a:schemeClr val="tx1"/>
          </a:fontRef>
        </p:style>
      </p:cxnSp>
      <p:sp>
        <p:nvSpPr>
          <p:cNvPr id="78" name="Oval 77"/>
          <p:cNvSpPr/>
          <p:nvPr/>
        </p:nvSpPr>
        <p:spPr>
          <a:xfrm>
            <a:off x="7031736" y="4733413"/>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76288" y="2157984"/>
            <a:ext cx="1234440" cy="146304"/>
          </a:xfrm>
          <a:prstGeom prst="rect">
            <a:avLst/>
          </a:prstGeom>
          <a:noFill/>
        </p:spPr>
        <p:txBody>
          <a:bodyPr wrap="square" lIns="27432" rIns="27432" tIns="27432" bIns="27432" anchor="t">
            <a:spAutoFit/>
          </a:bodyPr>
          <a:lstStyle/>
          <a:p>
            <a:pPr algn="l"/>
            <a:r>
              <a:rPr sz="1000" b="1">
                <a:solidFill>
                  <a:srgbClr val="B5533A"/>
                </a:solidFill>
                <a:latin typeface="Aptos"/>
              </a:rPr>
              <a:t>BALT/WASH</a:t>
            </a:r>
          </a:p>
        </p:txBody>
      </p:sp>
      <p:sp>
        <p:nvSpPr>
          <p:cNvPr id="80" name="Oval 79"/>
          <p:cNvSpPr/>
          <p:nvPr/>
        </p:nvSpPr>
        <p:spPr>
          <a:xfrm>
            <a:off x="1517904" y="4605744"/>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V="1">
            <a:off x="1572768" y="4576120"/>
            <a:ext cx="918972" cy="84488"/>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2" name="Oval 81"/>
          <p:cNvSpPr/>
          <p:nvPr/>
        </p:nvSpPr>
        <p:spPr>
          <a:xfrm>
            <a:off x="2436876" y="4521256"/>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flipV="1">
            <a:off x="2491740" y="4524649"/>
            <a:ext cx="918972" cy="51471"/>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4" name="Oval 83"/>
          <p:cNvSpPr/>
          <p:nvPr/>
        </p:nvSpPr>
        <p:spPr>
          <a:xfrm>
            <a:off x="3355848" y="4469785"/>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flipV="1">
            <a:off x="3410712" y="4513924"/>
            <a:ext cx="918972" cy="1072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4274820" y="4459060"/>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4329684" y="4513924"/>
            <a:ext cx="918972" cy="10515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8" name="Oval 87"/>
          <p:cNvSpPr/>
          <p:nvPr/>
        </p:nvSpPr>
        <p:spPr>
          <a:xfrm>
            <a:off x="5193792" y="4564215"/>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flipV="1">
            <a:off x="5248656" y="4105244"/>
            <a:ext cx="918972" cy="51383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6112764" y="4050380"/>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6167628" y="4105244"/>
            <a:ext cx="918972" cy="441832"/>
          </a:xfrm>
          <a:prstGeom prst="line">
            <a:avLst/>
          </a:prstGeom>
          <a:ln w="27940">
            <a:solidFill>
              <a:srgbClr val="B5533A"/>
            </a:solidFill>
          </a:ln>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7031736" y="4492212"/>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7114032" y="4094233"/>
            <a:ext cx="18288" cy="54864"/>
          </a:xfrm>
          <a:prstGeom prst="line">
            <a:avLst/>
          </a:prstGeom>
          <a:ln w="11430">
            <a:solidFill>
              <a:srgbClr val="3F728A"/>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159752" y="4021081"/>
            <a:ext cx="914400" cy="146304"/>
          </a:xfrm>
          <a:prstGeom prst="rect">
            <a:avLst/>
          </a:prstGeom>
          <a:noFill/>
        </p:spPr>
        <p:txBody>
          <a:bodyPr wrap="square" lIns="27432" rIns="27432" tIns="27432" bIns="27432" anchor="t">
            <a:spAutoFit/>
          </a:bodyPr>
          <a:lstStyle/>
          <a:p>
            <a:pPr algn="l"/>
            <a:r>
              <a:rPr sz="800" b="1">
                <a:solidFill>
                  <a:srgbClr val="3F728A"/>
                </a:solidFill>
                <a:latin typeface="Aptos"/>
              </a:rPr>
              <a:t>Los Angeles</a:t>
            </a:r>
          </a:p>
        </p:txBody>
      </p:sp>
      <p:cxnSp>
        <p:nvCxnSpPr>
          <p:cNvPr id="95" name="Connector 94"/>
          <p:cNvCxnSpPr/>
          <p:nvPr/>
        </p:nvCxnSpPr>
        <p:spPr>
          <a:xfrm>
            <a:off x="7114032" y="4187784"/>
            <a:ext cx="18288" cy="144193"/>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7159752" y="4203961"/>
            <a:ext cx="914400" cy="146304"/>
          </a:xfrm>
          <a:prstGeom prst="rect">
            <a:avLst/>
          </a:prstGeom>
          <a:noFill/>
        </p:spPr>
        <p:txBody>
          <a:bodyPr wrap="square" lIns="27432" rIns="27432" tIns="27432" bIns="27432" anchor="t">
            <a:spAutoFit/>
          </a:bodyPr>
          <a:lstStyle/>
          <a:p>
            <a:pPr algn="l"/>
            <a:r>
              <a:rPr sz="800" b="1">
                <a:solidFill>
                  <a:srgbClr val="355C47"/>
                </a:solidFill>
                <a:latin typeface="Aptos"/>
              </a:rPr>
              <a:t>New York</a:t>
            </a:r>
          </a:p>
        </p:txBody>
      </p:sp>
      <p:cxnSp>
        <p:nvCxnSpPr>
          <p:cNvPr id="97" name="Connector 96"/>
          <p:cNvCxnSpPr/>
          <p:nvPr/>
        </p:nvCxnSpPr>
        <p:spPr>
          <a:xfrm>
            <a:off x="7114032" y="4547076"/>
            <a:ext cx="18288" cy="54864"/>
          </a:xfrm>
          <a:prstGeom prst="line">
            <a:avLst/>
          </a:prstGeom>
          <a:ln w="11430">
            <a:solidFill>
              <a:srgbClr val="B5533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159752" y="4473924"/>
            <a:ext cx="914400" cy="146304"/>
          </a:xfrm>
          <a:prstGeom prst="rect">
            <a:avLst/>
          </a:prstGeom>
          <a:noFill/>
        </p:spPr>
        <p:txBody>
          <a:bodyPr wrap="square" lIns="27432" rIns="27432" tIns="27432" bIns="27432" anchor="t">
            <a:spAutoFit/>
          </a:bodyPr>
          <a:lstStyle/>
          <a:p>
            <a:pPr algn="l"/>
            <a:r>
              <a:rPr sz="800" b="1">
                <a:solidFill>
                  <a:srgbClr val="B5533A"/>
                </a:solidFill>
                <a:latin typeface="Aptos"/>
              </a:rPr>
              <a:t>Balt/Wash</a:t>
            </a:r>
          </a:p>
        </p:txBody>
      </p:sp>
      <p:cxnSp>
        <p:nvCxnSpPr>
          <p:cNvPr id="99" name="Connector 98"/>
          <p:cNvCxnSpPr/>
          <p:nvPr/>
        </p:nvCxnSpPr>
        <p:spPr>
          <a:xfrm>
            <a:off x="7114032" y="4659296"/>
            <a:ext cx="18288" cy="125524"/>
          </a:xfrm>
          <a:prstGeom prst="line">
            <a:avLst/>
          </a:prstGeom>
          <a:ln w="11430">
            <a:solidFill>
              <a:srgbClr val="C58A2A"/>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159752" y="4656804"/>
            <a:ext cx="914400" cy="146304"/>
          </a:xfrm>
          <a:prstGeom prst="rect">
            <a:avLst/>
          </a:prstGeom>
          <a:noFill/>
        </p:spPr>
        <p:txBody>
          <a:bodyPr wrap="square" lIns="27432" rIns="27432" tIns="27432" bIns="27432" anchor="t">
            <a:spAutoFit/>
          </a:bodyPr>
          <a:lstStyle/>
          <a:p>
            <a:pPr algn="l"/>
            <a:r>
              <a:rPr sz="800" b="1">
                <a:solidFill>
                  <a:srgbClr val="C58A2A"/>
                </a:solidFill>
                <a:latin typeface="Aptos"/>
              </a:rPr>
              <a:t>Seattle</a:t>
            </a:r>
          </a:p>
        </p:txBody>
      </p:sp>
      <p:cxnSp>
        <p:nvCxnSpPr>
          <p:cNvPr id="101" name="Connector 100"/>
          <p:cNvCxnSpPr/>
          <p:nvPr/>
        </p:nvCxnSpPr>
        <p:spPr>
          <a:xfrm>
            <a:off x="7114032" y="4788277"/>
            <a:ext cx="18288" cy="179423"/>
          </a:xfrm>
          <a:prstGeom prst="line">
            <a:avLst/>
          </a:prstGeom>
          <a:ln w="11430">
            <a:solidFill>
              <a:srgbClr val="889A83"/>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7159752" y="4839684"/>
            <a:ext cx="914400" cy="146304"/>
          </a:xfrm>
          <a:prstGeom prst="rect">
            <a:avLst/>
          </a:prstGeom>
          <a:noFill/>
        </p:spPr>
        <p:txBody>
          <a:bodyPr wrap="square" lIns="27432" rIns="27432" tIns="27432" bIns="27432" anchor="t">
            <a:spAutoFit/>
          </a:bodyPr>
          <a:lstStyle/>
          <a:p>
            <a:pPr algn="l"/>
            <a:r>
              <a:rPr sz="800" b="1">
                <a:solidFill>
                  <a:srgbClr val="889A83"/>
                </a:solidFill>
                <a:latin typeface="Aptos"/>
              </a:rPr>
              <a:t>San Fran</a:t>
            </a:r>
          </a:p>
        </p:txBody>
      </p:sp>
      <p:sp>
        <p:nvSpPr>
          <p:cNvPr id="103" name="TextBox 102"/>
          <p:cNvSpPr txBox="1"/>
          <p:nvPr/>
        </p:nvSpPr>
        <p:spPr>
          <a:xfrm>
            <a:off x="131673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2019</a:t>
            </a:r>
          </a:p>
        </p:txBody>
      </p:sp>
      <p:sp>
        <p:nvSpPr>
          <p:cNvPr id="104" name="TextBox 103"/>
          <p:cNvSpPr txBox="1"/>
          <p:nvPr/>
        </p:nvSpPr>
        <p:spPr>
          <a:xfrm>
            <a:off x="223570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2020</a:t>
            </a:r>
          </a:p>
        </p:txBody>
      </p:sp>
      <p:sp>
        <p:nvSpPr>
          <p:cNvPr id="105" name="TextBox 104"/>
          <p:cNvSpPr txBox="1"/>
          <p:nvPr/>
        </p:nvSpPr>
        <p:spPr>
          <a:xfrm>
            <a:off x="3154680"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2021</a:t>
            </a:r>
          </a:p>
        </p:txBody>
      </p:sp>
      <p:sp>
        <p:nvSpPr>
          <p:cNvPr id="106" name="TextBox 105"/>
          <p:cNvSpPr txBox="1"/>
          <p:nvPr/>
        </p:nvSpPr>
        <p:spPr>
          <a:xfrm>
            <a:off x="4073652"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2022</a:t>
            </a:r>
          </a:p>
        </p:txBody>
      </p:sp>
      <p:sp>
        <p:nvSpPr>
          <p:cNvPr id="107" name="TextBox 106"/>
          <p:cNvSpPr txBox="1"/>
          <p:nvPr/>
        </p:nvSpPr>
        <p:spPr>
          <a:xfrm>
            <a:off x="4992624"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2023</a:t>
            </a:r>
          </a:p>
        </p:txBody>
      </p:sp>
      <p:sp>
        <p:nvSpPr>
          <p:cNvPr id="108" name="TextBox 107"/>
          <p:cNvSpPr txBox="1"/>
          <p:nvPr/>
        </p:nvSpPr>
        <p:spPr>
          <a:xfrm>
            <a:off x="591159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2024</a:t>
            </a:r>
          </a:p>
        </p:txBody>
      </p:sp>
      <p:sp>
        <p:nvSpPr>
          <p:cNvPr id="109" name="TextBox 108"/>
          <p:cNvSpPr txBox="1"/>
          <p:nvPr/>
        </p:nvSpPr>
        <p:spPr>
          <a:xfrm>
            <a:off x="683056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2025 H1</a:t>
            </a:r>
          </a:p>
        </p:txBody>
      </p:sp>
      <p:sp>
        <p:nvSpPr>
          <p:cNvPr id="110" name="Rounded Rectangle 109"/>
          <p:cNvSpPr/>
          <p:nvPr/>
        </p:nvSpPr>
        <p:spPr>
          <a:xfrm>
            <a:off x="8759952" y="1645920"/>
            <a:ext cx="274320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9034272" y="1938528"/>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162288" y="2048256"/>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2024 LEAD VS NY</a:t>
            </a:r>
          </a:p>
        </p:txBody>
      </p:sp>
      <p:sp>
        <p:nvSpPr>
          <p:cNvPr id="113" name="TextBox 112"/>
          <p:cNvSpPr txBox="1"/>
          <p:nvPr/>
        </p:nvSpPr>
        <p:spPr>
          <a:xfrm>
            <a:off x="9162288" y="2249424"/>
            <a:ext cx="193852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$2.7M</a:t>
            </a:r>
          </a:p>
        </p:txBody>
      </p:sp>
      <p:sp>
        <p:nvSpPr>
          <p:cNvPr id="114" name="Rounded Rectangle 113"/>
          <p:cNvSpPr/>
          <p:nvPr/>
        </p:nvSpPr>
        <p:spPr>
          <a:xfrm>
            <a:off x="9034272" y="2999232"/>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162288" y="3108960"/>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SEATTLE IN TOP TIER</a:t>
            </a:r>
          </a:p>
        </p:txBody>
      </p:sp>
      <p:sp>
        <p:nvSpPr>
          <p:cNvPr id="116" name="TextBox 115"/>
          <p:cNvSpPr txBox="1"/>
          <p:nvPr/>
        </p:nvSpPr>
        <p:spPr>
          <a:xfrm>
            <a:off x="9162288" y="3310128"/>
            <a:ext cx="19385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Top 5</a:t>
            </a:r>
          </a:p>
        </p:txBody>
      </p:sp>
      <p:sp>
        <p:nvSpPr>
          <p:cNvPr id="117" name="TextBox 116"/>
          <p:cNvSpPr txBox="1"/>
          <p:nvPr/>
        </p:nvSpPr>
        <p:spPr>
          <a:xfrm>
            <a:off x="9034272" y="4315968"/>
            <a:ext cx="2148840" cy="685800"/>
          </a:xfrm>
          <a:prstGeom prst="rect">
            <a:avLst/>
          </a:prstGeom>
          <a:noFill/>
        </p:spPr>
        <p:txBody>
          <a:bodyPr wrap="square" lIns="27432" rIns="27432" tIns="27432" bIns="27432" anchor="t">
            <a:spAutoFit/>
          </a:bodyPr>
          <a:lstStyle/>
          <a:p>
            <a:pPr algn="l"/>
            <a:r>
              <a:rPr sz="1300" b="0">
                <a:solidFill>
                  <a:srgbClr val="1F2621"/>
                </a:solidFill>
                <a:latin typeface="Aptos"/>
              </a:rPr>
              <a:t>Organic is less concentrated than conventional, which is exactly why pilot choice can diverge from raw size.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8</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Seattle leads organic penetration in most periods</a:t>
            </a:r>
          </a:p>
        </p:txBody>
      </p:sp>
      <p:sp>
        <p:nvSpPr>
          <p:cNvPr id="9" name="Rounded Rectangle 8"/>
          <p:cNvSpPr/>
          <p:nvPr/>
        </p:nvSpPr>
        <p:spPr>
          <a:xfrm>
            <a:off x="713232" y="1700784"/>
            <a:ext cx="107899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01952"/>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WINNER TIMELINE</a:t>
            </a:r>
          </a:p>
        </p:txBody>
      </p:sp>
      <p:sp>
        <p:nvSpPr>
          <p:cNvPr id="11" name="Rounded Rectangle 10"/>
          <p:cNvSpPr/>
          <p:nvPr/>
        </p:nvSpPr>
        <p:spPr>
          <a:xfrm>
            <a:off x="914400"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2019</a:t>
            </a:r>
          </a:p>
        </p:txBody>
      </p:sp>
      <p:sp>
        <p:nvSpPr>
          <p:cNvPr id="13" name="Rounded Rectangle 12"/>
          <p:cNvSpPr/>
          <p:nvPr/>
        </p:nvSpPr>
        <p:spPr>
          <a:xfrm>
            <a:off x="914400"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TextBox 14"/>
          <p:cNvSpPr txBox="1"/>
          <p:nvPr/>
        </p:nvSpPr>
        <p:spPr>
          <a:xfrm>
            <a:off x="914400"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11.82%</a:t>
            </a:r>
          </a:p>
        </p:txBody>
      </p:sp>
      <p:cxnSp>
        <p:nvCxnSpPr>
          <p:cNvPr id="16" name="Connector 15"/>
          <p:cNvCxnSpPr/>
          <p:nvPr/>
        </p:nvCxnSpPr>
        <p:spPr>
          <a:xfrm>
            <a:off x="2176272"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404872"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04872"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2020</a:t>
            </a:r>
          </a:p>
        </p:txBody>
      </p:sp>
      <p:sp>
        <p:nvSpPr>
          <p:cNvPr id="19" name="Rounded Rectangle 18"/>
          <p:cNvSpPr/>
          <p:nvPr/>
        </p:nvSpPr>
        <p:spPr>
          <a:xfrm>
            <a:off x="2404872"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21" name="TextBox 20"/>
          <p:cNvSpPr txBox="1"/>
          <p:nvPr/>
        </p:nvSpPr>
        <p:spPr>
          <a:xfrm>
            <a:off x="2404872"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9.86%</a:t>
            </a:r>
          </a:p>
        </p:txBody>
      </p:sp>
      <p:cxnSp>
        <p:nvCxnSpPr>
          <p:cNvPr id="22" name="Connector 21"/>
          <p:cNvCxnSpPr/>
          <p:nvPr/>
        </p:nvCxnSpPr>
        <p:spPr>
          <a:xfrm>
            <a:off x="3666744"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895344"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95344"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2021</a:t>
            </a:r>
          </a:p>
        </p:txBody>
      </p:sp>
      <p:sp>
        <p:nvSpPr>
          <p:cNvPr id="25" name="Rounded Rectangle 24"/>
          <p:cNvSpPr/>
          <p:nvPr/>
        </p:nvSpPr>
        <p:spPr>
          <a:xfrm>
            <a:off x="3895344"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13632"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27" name="TextBox 26"/>
          <p:cNvSpPr txBox="1"/>
          <p:nvPr/>
        </p:nvSpPr>
        <p:spPr>
          <a:xfrm>
            <a:off x="3895344"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10.10%</a:t>
            </a:r>
          </a:p>
        </p:txBody>
      </p:sp>
      <p:cxnSp>
        <p:nvCxnSpPr>
          <p:cNvPr id="28" name="Connector 27"/>
          <p:cNvCxnSpPr/>
          <p:nvPr/>
        </p:nvCxnSpPr>
        <p:spPr>
          <a:xfrm>
            <a:off x="5157216"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385816"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85816"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2022</a:t>
            </a:r>
          </a:p>
        </p:txBody>
      </p:sp>
      <p:sp>
        <p:nvSpPr>
          <p:cNvPr id="31" name="Rounded Rectangle 30"/>
          <p:cNvSpPr/>
          <p:nvPr/>
        </p:nvSpPr>
        <p:spPr>
          <a:xfrm>
            <a:off x="5385816" y="2852928"/>
            <a:ext cx="123444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04104"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ORLANDO</a:t>
            </a:r>
          </a:p>
        </p:txBody>
      </p:sp>
      <p:sp>
        <p:nvSpPr>
          <p:cNvPr id="33" name="TextBox 32"/>
          <p:cNvSpPr txBox="1"/>
          <p:nvPr/>
        </p:nvSpPr>
        <p:spPr>
          <a:xfrm>
            <a:off x="5385816" y="3310128"/>
            <a:ext cx="1234440" cy="164592"/>
          </a:xfrm>
          <a:prstGeom prst="rect">
            <a:avLst/>
          </a:prstGeom>
          <a:noFill/>
        </p:spPr>
        <p:txBody>
          <a:bodyPr wrap="square" lIns="27432" rIns="27432" tIns="27432" bIns="27432" anchor="t">
            <a:spAutoFit/>
          </a:bodyPr>
          <a:lstStyle/>
          <a:p>
            <a:pPr algn="ctr"/>
            <a:r>
              <a:rPr sz="1200" b="1">
                <a:solidFill>
                  <a:srgbClr val="C58A2A"/>
                </a:solidFill>
                <a:latin typeface="Aptos Display"/>
              </a:rPr>
              <a:t>12.87%</a:t>
            </a:r>
          </a:p>
        </p:txBody>
      </p:sp>
      <p:cxnSp>
        <p:nvCxnSpPr>
          <p:cNvPr id="34" name="Connector 33"/>
          <p:cNvCxnSpPr/>
          <p:nvPr/>
        </p:nvCxnSpPr>
        <p:spPr>
          <a:xfrm>
            <a:off x="6647688"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876288"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76288"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2023</a:t>
            </a:r>
          </a:p>
        </p:txBody>
      </p:sp>
      <p:sp>
        <p:nvSpPr>
          <p:cNvPr id="37" name="Rounded Rectangle 36"/>
          <p:cNvSpPr/>
          <p:nvPr/>
        </p:nvSpPr>
        <p:spPr>
          <a:xfrm>
            <a:off x="6876288"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94576"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39" name="TextBox 38"/>
          <p:cNvSpPr txBox="1"/>
          <p:nvPr/>
        </p:nvSpPr>
        <p:spPr>
          <a:xfrm>
            <a:off x="6876288"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10.40%</a:t>
            </a:r>
          </a:p>
        </p:txBody>
      </p:sp>
      <p:cxnSp>
        <p:nvCxnSpPr>
          <p:cNvPr id="40" name="Connector 39"/>
          <p:cNvCxnSpPr/>
          <p:nvPr/>
        </p:nvCxnSpPr>
        <p:spPr>
          <a:xfrm>
            <a:off x="8138160"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366759"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66759"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2024</a:t>
            </a:r>
          </a:p>
        </p:txBody>
      </p:sp>
      <p:sp>
        <p:nvSpPr>
          <p:cNvPr id="43" name="Rounded Rectangle 42"/>
          <p:cNvSpPr/>
          <p:nvPr/>
        </p:nvSpPr>
        <p:spPr>
          <a:xfrm>
            <a:off x="8366759"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85047"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45" name="TextBox 44"/>
          <p:cNvSpPr txBox="1"/>
          <p:nvPr/>
        </p:nvSpPr>
        <p:spPr>
          <a:xfrm>
            <a:off x="8366759"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11.19%</a:t>
            </a:r>
          </a:p>
        </p:txBody>
      </p:sp>
      <p:cxnSp>
        <p:nvCxnSpPr>
          <p:cNvPr id="46" name="Connector 45"/>
          <p:cNvCxnSpPr/>
          <p:nvPr/>
        </p:nvCxnSpPr>
        <p:spPr>
          <a:xfrm>
            <a:off x="9628631"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57232"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57232"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2025 H1</a:t>
            </a:r>
          </a:p>
        </p:txBody>
      </p:sp>
      <p:sp>
        <p:nvSpPr>
          <p:cNvPr id="49" name="Rounded Rectangle 48"/>
          <p:cNvSpPr/>
          <p:nvPr/>
        </p:nvSpPr>
        <p:spPr>
          <a:xfrm>
            <a:off x="9857232" y="2852928"/>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75520"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CHARLOTTE</a:t>
            </a:r>
          </a:p>
        </p:txBody>
      </p:sp>
      <p:sp>
        <p:nvSpPr>
          <p:cNvPr id="51" name="TextBox 50"/>
          <p:cNvSpPr txBox="1"/>
          <p:nvPr/>
        </p:nvSpPr>
        <p:spPr>
          <a:xfrm>
            <a:off x="9857232" y="3310128"/>
            <a:ext cx="1234440" cy="164592"/>
          </a:xfrm>
          <a:prstGeom prst="rect">
            <a:avLst/>
          </a:prstGeom>
          <a:noFill/>
        </p:spPr>
        <p:txBody>
          <a:bodyPr wrap="square" lIns="27432" rIns="27432" tIns="27432" bIns="27432" anchor="t">
            <a:spAutoFit/>
          </a:bodyPr>
          <a:lstStyle/>
          <a:p>
            <a:pPr algn="ctr"/>
            <a:r>
              <a:rPr sz="1200" b="1">
                <a:solidFill>
                  <a:srgbClr val="3F728A"/>
                </a:solidFill>
                <a:latin typeface="Aptos Display"/>
              </a:rPr>
              <a:t>9.45%</a:t>
            </a:r>
          </a:p>
        </p:txBody>
      </p:sp>
      <p:sp>
        <p:nvSpPr>
          <p:cNvPr id="52" name="Rounded Rectangle 51"/>
          <p:cNvSpPr/>
          <p:nvPr/>
        </p:nvSpPr>
        <p:spPr>
          <a:xfrm>
            <a:off x="932688" y="3968496"/>
            <a:ext cx="10195560" cy="11155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0704" y="4069080"/>
            <a:ext cx="3142488" cy="146304"/>
          </a:xfrm>
          <a:prstGeom prst="rect">
            <a:avLst/>
          </a:prstGeom>
          <a:noFill/>
        </p:spPr>
        <p:txBody>
          <a:bodyPr wrap="square" lIns="27432" rIns="27432" tIns="27432" bIns="27432" anchor="t">
            <a:spAutoFit/>
          </a:bodyPr>
          <a:lstStyle/>
          <a:p>
            <a:pPr algn="l"/>
            <a:r>
              <a:rPr sz="1000" b="1">
                <a:solidFill>
                  <a:srgbClr val="5F6B63"/>
                </a:solidFill>
                <a:latin typeface="Aptos"/>
              </a:rPr>
              <a:t>MOST FREQUENT LEADER</a:t>
            </a:r>
          </a:p>
        </p:txBody>
      </p:sp>
      <p:sp>
        <p:nvSpPr>
          <p:cNvPr id="54" name="TextBox 53"/>
          <p:cNvSpPr txBox="1"/>
          <p:nvPr/>
        </p:nvSpPr>
        <p:spPr>
          <a:xfrm>
            <a:off x="1060704" y="4224528"/>
            <a:ext cx="314248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Seattle</a:t>
            </a:r>
          </a:p>
        </p:txBody>
      </p:sp>
      <p:sp>
        <p:nvSpPr>
          <p:cNvPr id="55" name="TextBox 54"/>
          <p:cNvSpPr txBox="1"/>
          <p:nvPr/>
        </p:nvSpPr>
        <p:spPr>
          <a:xfrm>
            <a:off x="1060704" y="4480560"/>
            <a:ext cx="3142488" cy="512064"/>
          </a:xfrm>
          <a:prstGeom prst="rect">
            <a:avLst/>
          </a:prstGeom>
          <a:noFill/>
        </p:spPr>
        <p:txBody>
          <a:bodyPr wrap="square" lIns="27432" rIns="27432" tIns="27432" bIns="27432" anchor="t">
            <a:spAutoFit/>
          </a:bodyPr>
          <a:lstStyle/>
          <a:p>
            <a:pPr algn="l"/>
            <a:r>
              <a:rPr sz="1100" b="0">
                <a:solidFill>
                  <a:srgbClr val="1F2621"/>
                </a:solidFill>
                <a:latin typeface="Aptos"/>
              </a:rPr>
              <a:t>Wins 5 of the 7 measured periods and is the clearest indicator of organic readiness.</a:t>
            </a:r>
          </a:p>
        </p:txBody>
      </p:sp>
      <p:cxnSp>
        <p:nvCxnSpPr>
          <p:cNvPr id="56" name="Connector 55"/>
          <p:cNvCxnSpPr/>
          <p:nvPr/>
        </p:nvCxnSpPr>
        <p:spPr>
          <a:xfrm>
            <a:off x="4331208" y="4133088"/>
            <a:ext cx="0" cy="786384"/>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459224" y="4069080"/>
            <a:ext cx="3142488" cy="146304"/>
          </a:xfrm>
          <a:prstGeom prst="rect">
            <a:avLst/>
          </a:prstGeom>
          <a:noFill/>
        </p:spPr>
        <p:txBody>
          <a:bodyPr wrap="square" lIns="27432" rIns="27432" tIns="27432" bIns="27432" anchor="t">
            <a:spAutoFit/>
          </a:bodyPr>
          <a:lstStyle/>
          <a:p>
            <a:pPr algn="l"/>
            <a:r>
              <a:rPr sz="1000" b="1">
                <a:solidFill>
                  <a:srgbClr val="5F6B63"/>
                </a:solidFill>
                <a:latin typeface="Aptos"/>
              </a:rPr>
              <a:t>BEST ONE-YEAR SHARE</a:t>
            </a:r>
          </a:p>
        </p:txBody>
      </p:sp>
      <p:sp>
        <p:nvSpPr>
          <p:cNvPr id="58" name="TextBox 57"/>
          <p:cNvSpPr txBox="1"/>
          <p:nvPr/>
        </p:nvSpPr>
        <p:spPr>
          <a:xfrm>
            <a:off x="4459224" y="4224528"/>
            <a:ext cx="3142488" cy="237744"/>
          </a:xfrm>
          <a:prstGeom prst="rect">
            <a:avLst/>
          </a:prstGeom>
          <a:noFill/>
        </p:spPr>
        <p:txBody>
          <a:bodyPr wrap="square" lIns="27432" rIns="27432" tIns="27432" bIns="27432" anchor="t">
            <a:spAutoFit/>
          </a:bodyPr>
          <a:lstStyle/>
          <a:p>
            <a:pPr algn="l"/>
            <a:r>
              <a:rPr sz="1800" b="1">
                <a:solidFill>
                  <a:srgbClr val="3F728A"/>
                </a:solidFill>
                <a:latin typeface="Aptos Display"/>
              </a:rPr>
              <a:t>Orlando 12.87%</a:t>
            </a:r>
          </a:p>
        </p:txBody>
      </p:sp>
      <p:sp>
        <p:nvSpPr>
          <p:cNvPr id="59" name="TextBox 58"/>
          <p:cNvSpPr txBox="1"/>
          <p:nvPr/>
        </p:nvSpPr>
        <p:spPr>
          <a:xfrm>
            <a:off x="4459224" y="4480560"/>
            <a:ext cx="3142488" cy="512064"/>
          </a:xfrm>
          <a:prstGeom prst="rect">
            <a:avLst/>
          </a:prstGeom>
          <a:noFill/>
        </p:spPr>
        <p:txBody>
          <a:bodyPr wrap="square" lIns="27432" rIns="27432" tIns="27432" bIns="27432" anchor="t">
            <a:spAutoFit/>
          </a:bodyPr>
          <a:lstStyle/>
          <a:p>
            <a:pPr algn="l"/>
            <a:r>
              <a:rPr sz="1100" b="0">
                <a:solidFill>
                  <a:srgbClr val="1F2621"/>
                </a:solidFill>
                <a:latin typeface="Aptos"/>
              </a:rPr>
              <a:t>Orlando peaks in 2022, but it does not sustain the same multi-period lead.</a:t>
            </a:r>
          </a:p>
        </p:txBody>
      </p:sp>
      <p:cxnSp>
        <p:nvCxnSpPr>
          <p:cNvPr id="60" name="Connector 59"/>
          <p:cNvCxnSpPr/>
          <p:nvPr/>
        </p:nvCxnSpPr>
        <p:spPr>
          <a:xfrm>
            <a:off x="7729728" y="4133088"/>
            <a:ext cx="0" cy="786384"/>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7857744" y="4069080"/>
            <a:ext cx="3142488" cy="146304"/>
          </a:xfrm>
          <a:prstGeom prst="rect">
            <a:avLst/>
          </a:prstGeom>
          <a:noFill/>
        </p:spPr>
        <p:txBody>
          <a:bodyPr wrap="square" lIns="27432" rIns="27432" tIns="27432" bIns="27432" anchor="t">
            <a:spAutoFit/>
          </a:bodyPr>
          <a:lstStyle/>
          <a:p>
            <a:pPr algn="l"/>
            <a:r>
              <a:rPr sz="1000" b="1">
                <a:solidFill>
                  <a:srgbClr val="5F6B63"/>
                </a:solidFill>
                <a:latin typeface="Aptos"/>
              </a:rPr>
              <a:t>CURRENT H1 LEADER</a:t>
            </a:r>
          </a:p>
        </p:txBody>
      </p:sp>
      <p:sp>
        <p:nvSpPr>
          <p:cNvPr id="62" name="TextBox 61"/>
          <p:cNvSpPr txBox="1"/>
          <p:nvPr/>
        </p:nvSpPr>
        <p:spPr>
          <a:xfrm>
            <a:off x="7857744" y="4224528"/>
            <a:ext cx="3142488" cy="237744"/>
          </a:xfrm>
          <a:prstGeom prst="rect">
            <a:avLst/>
          </a:prstGeom>
          <a:noFill/>
        </p:spPr>
        <p:txBody>
          <a:bodyPr wrap="square" lIns="27432" rIns="27432" tIns="27432" bIns="27432" anchor="t">
            <a:spAutoFit/>
          </a:bodyPr>
          <a:lstStyle/>
          <a:p>
            <a:pPr algn="l"/>
            <a:r>
              <a:rPr sz="1800" b="1">
                <a:solidFill>
                  <a:srgbClr val="C58A2A"/>
                </a:solidFill>
                <a:latin typeface="Aptos Display"/>
              </a:rPr>
              <a:t>Charlotte 9.45%</a:t>
            </a:r>
          </a:p>
        </p:txBody>
      </p:sp>
      <p:sp>
        <p:nvSpPr>
          <p:cNvPr id="63" name="TextBox 62"/>
          <p:cNvSpPr txBox="1"/>
          <p:nvPr/>
        </p:nvSpPr>
        <p:spPr>
          <a:xfrm>
            <a:off x="7857744" y="4480560"/>
            <a:ext cx="3142488" cy="512064"/>
          </a:xfrm>
          <a:prstGeom prst="rect">
            <a:avLst/>
          </a:prstGeom>
          <a:noFill/>
        </p:spPr>
        <p:txBody>
          <a:bodyPr wrap="square" lIns="27432" rIns="27432" tIns="27432" bIns="27432" anchor="t">
            <a:spAutoFit/>
          </a:bodyPr>
          <a:lstStyle/>
          <a:p>
            <a:pPr algn="l"/>
            <a:r>
              <a:rPr sz="1100" b="0">
                <a:solidFill>
                  <a:srgbClr val="1F2621"/>
                </a:solidFill>
                <a:latin typeface="Aptos"/>
              </a:rPr>
              <a:t>Charlotte leads 2025 H1, showing that penetration leadership is not static.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Organic is growing fast but still niche</a:t>
            </a:r>
          </a:p>
        </p:txBody>
      </p:sp>
      <p:sp>
        <p:nvSpPr>
          <p:cNvPr id="9" name="Rounded Rectangle 8"/>
          <p:cNvSpPr/>
          <p:nvPr/>
        </p:nvSpPr>
        <p:spPr>
          <a:xfrm>
            <a:off x="749808" y="1700784"/>
            <a:ext cx="10744200" cy="11430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2019 ORGANIC SHARE</a:t>
            </a:r>
          </a:p>
        </p:txBody>
      </p:sp>
      <p:sp>
        <p:nvSpPr>
          <p:cNvPr id="11" name="TextBox 10"/>
          <p:cNvSpPr txBox="1"/>
          <p:nvPr/>
        </p:nvSpPr>
        <p:spPr>
          <a:xfrm>
            <a:off x="877824" y="1956816"/>
            <a:ext cx="243001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4.15%</a:t>
            </a:r>
          </a:p>
        </p:txBody>
      </p:sp>
      <p:sp>
        <p:nvSpPr>
          <p:cNvPr id="12" name="TextBox 11"/>
          <p:cNvSpPr txBox="1"/>
          <p:nvPr/>
        </p:nvSpPr>
        <p:spPr>
          <a:xfrm>
            <a:off x="87782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Organic started from a small base inside the total Hass market.</a:t>
            </a:r>
          </a:p>
        </p:txBody>
      </p:sp>
      <p:cxnSp>
        <p:nvCxnSpPr>
          <p:cNvPr id="13" name="Connector 12"/>
          <p:cNvCxnSpPr/>
          <p:nvPr/>
        </p:nvCxnSpPr>
        <p:spPr>
          <a:xfrm>
            <a:off x="343585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56387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2024 ORGANIC SHARE</a:t>
            </a:r>
          </a:p>
        </p:txBody>
      </p:sp>
      <p:sp>
        <p:nvSpPr>
          <p:cNvPr id="15" name="TextBox 14"/>
          <p:cNvSpPr txBox="1"/>
          <p:nvPr/>
        </p:nvSpPr>
        <p:spPr>
          <a:xfrm>
            <a:off x="3563874" y="1956816"/>
            <a:ext cx="2430018" cy="237744"/>
          </a:xfrm>
          <a:prstGeom prst="rect">
            <a:avLst/>
          </a:prstGeom>
          <a:noFill/>
        </p:spPr>
        <p:txBody>
          <a:bodyPr wrap="square" lIns="27432" rIns="27432" tIns="27432" bIns="27432" anchor="t">
            <a:spAutoFit/>
          </a:bodyPr>
          <a:lstStyle/>
          <a:p>
            <a:pPr algn="l"/>
            <a:r>
              <a:rPr sz="1800" b="1">
                <a:solidFill>
                  <a:srgbClr val="3F728A"/>
                </a:solidFill>
                <a:latin typeface="Aptos Display"/>
              </a:rPr>
              <a:t>5.91%</a:t>
            </a:r>
          </a:p>
        </p:txBody>
      </p:sp>
      <p:sp>
        <p:nvSpPr>
          <p:cNvPr id="16" name="TextBox 15"/>
          <p:cNvSpPr txBox="1"/>
          <p:nvPr/>
        </p:nvSpPr>
        <p:spPr>
          <a:xfrm>
            <a:off x="356387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The share has risen, but it is still a minority slice of total demand.</a:t>
            </a:r>
          </a:p>
        </p:txBody>
      </p:sp>
      <p:cxnSp>
        <p:nvCxnSpPr>
          <p:cNvPr id="17" name="Connector 16"/>
          <p:cNvCxnSpPr/>
          <p:nvPr/>
        </p:nvCxnSpPr>
        <p:spPr>
          <a:xfrm>
            <a:off x="612190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4992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ORGANIC VOLUME GROWTH</a:t>
            </a:r>
          </a:p>
        </p:txBody>
      </p:sp>
      <p:sp>
        <p:nvSpPr>
          <p:cNvPr id="19" name="TextBox 18"/>
          <p:cNvSpPr txBox="1"/>
          <p:nvPr/>
        </p:nvSpPr>
        <p:spPr>
          <a:xfrm>
            <a:off x="6249924" y="1956816"/>
            <a:ext cx="243001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+89.3%</a:t>
            </a:r>
          </a:p>
        </p:txBody>
      </p:sp>
      <p:sp>
        <p:nvSpPr>
          <p:cNvPr id="20" name="TextBox 19"/>
          <p:cNvSpPr txBox="1"/>
          <p:nvPr/>
        </p:nvSpPr>
        <p:spPr>
          <a:xfrm>
            <a:off x="624992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Organic volume grew much faster than the total category from 2019 to 2024.</a:t>
            </a:r>
          </a:p>
        </p:txBody>
      </p:sp>
      <p:cxnSp>
        <p:nvCxnSpPr>
          <p:cNvPr id="21" name="Connector 20"/>
          <p:cNvCxnSpPr/>
          <p:nvPr/>
        </p:nvCxnSpPr>
        <p:spPr>
          <a:xfrm>
            <a:off x="880795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93597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TOTAL VOLUME GROWTH</a:t>
            </a:r>
          </a:p>
        </p:txBody>
      </p:sp>
      <p:sp>
        <p:nvSpPr>
          <p:cNvPr id="23" name="TextBox 22"/>
          <p:cNvSpPr txBox="1"/>
          <p:nvPr/>
        </p:nvSpPr>
        <p:spPr>
          <a:xfrm>
            <a:off x="8935974" y="1956816"/>
            <a:ext cx="2430018" cy="237744"/>
          </a:xfrm>
          <a:prstGeom prst="rect">
            <a:avLst/>
          </a:prstGeom>
          <a:noFill/>
        </p:spPr>
        <p:txBody>
          <a:bodyPr wrap="square" lIns="27432" rIns="27432" tIns="27432" bIns="27432" anchor="t">
            <a:spAutoFit/>
          </a:bodyPr>
          <a:lstStyle/>
          <a:p>
            <a:pPr algn="l"/>
            <a:r>
              <a:rPr sz="1800" b="1">
                <a:solidFill>
                  <a:srgbClr val="B5533A"/>
                </a:solidFill>
                <a:latin typeface="Aptos Display"/>
              </a:rPr>
              <a:t>+32.8%</a:t>
            </a:r>
          </a:p>
        </p:txBody>
      </p:sp>
      <p:sp>
        <p:nvSpPr>
          <p:cNvPr id="24" name="TextBox 23"/>
          <p:cNvSpPr txBox="1"/>
          <p:nvPr/>
        </p:nvSpPr>
        <p:spPr>
          <a:xfrm>
            <a:off x="893597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The overall market also expanded, but at a much slower pace.</a:t>
            </a:r>
          </a:p>
        </p:txBody>
      </p:sp>
      <p:sp>
        <p:nvSpPr>
          <p:cNvPr id="25" name="Rounded Rectangle 24"/>
          <p:cNvSpPr/>
          <p:nvPr/>
        </p:nvSpPr>
        <p:spPr>
          <a:xfrm>
            <a:off x="749808" y="3163824"/>
            <a:ext cx="5074920" cy="25603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3438144"/>
            <a:ext cx="1645920" cy="164592"/>
          </a:xfrm>
          <a:prstGeom prst="rect">
            <a:avLst/>
          </a:prstGeom>
          <a:noFill/>
        </p:spPr>
        <p:txBody>
          <a:bodyPr wrap="square" lIns="27432" rIns="27432" tIns="27432" bIns="27432" anchor="t">
            <a:spAutoFit/>
          </a:bodyPr>
          <a:lstStyle/>
          <a:p>
            <a:pPr algn="l"/>
            <a:r>
              <a:rPr sz="1000" b="1">
                <a:solidFill>
                  <a:srgbClr val="5F6B63"/>
                </a:solidFill>
                <a:latin typeface="Aptos"/>
              </a:rPr>
              <a:t>WHAT THIS MEANS</a:t>
            </a:r>
          </a:p>
        </p:txBody>
      </p:sp>
      <p:sp>
        <p:nvSpPr>
          <p:cNvPr id="27" name="TextBox 26"/>
          <p:cNvSpPr txBox="1"/>
          <p:nvPr/>
        </p:nvSpPr>
        <p:spPr>
          <a:xfrm>
            <a:off x="987552" y="3749039"/>
            <a:ext cx="4389120" cy="146304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Growth is real enough to justify entry.</a:t>
            </a:r>
          </a:p>
          <a:p>
            <a:pPr algn="l">
              <a:lnSpc>
                <a:spcPct val="115000"/>
              </a:lnSpc>
            </a:pPr>
            <a:r>
              <a:rPr sz="1300">
                <a:solidFill>
                  <a:srgbClr val="1F2621"/>
                </a:solidFill>
                <a:latin typeface="Aptos"/>
              </a:rPr>
              <a:t>- Scale is still small enough that city choice matters.</a:t>
            </a:r>
          </a:p>
          <a:p>
            <a:pPr algn="l">
              <a:lnSpc>
                <a:spcPct val="115000"/>
              </a:lnSpc>
            </a:pPr>
            <a:r>
              <a:rPr sz="1300">
                <a:solidFill>
                  <a:srgbClr val="1F2621"/>
                </a:solidFill>
                <a:latin typeface="Aptos"/>
              </a:rPr>
              <a:t>- That favors a pilot, not a broad launch.</a:t>
            </a:r>
          </a:p>
        </p:txBody>
      </p:sp>
      <p:sp>
        <p:nvSpPr>
          <p:cNvPr id="28" name="Rounded Rectangle 27"/>
          <p:cNvSpPr/>
          <p:nvPr/>
        </p:nvSpPr>
        <p:spPr>
          <a:xfrm>
            <a:off x="6126480" y="3163824"/>
            <a:ext cx="5367528" cy="25603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4224" y="343814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INTERPRETATION</a:t>
            </a:r>
          </a:p>
        </p:txBody>
      </p:sp>
      <p:sp>
        <p:nvSpPr>
          <p:cNvPr id="30" name="TextBox 29"/>
          <p:cNvSpPr txBox="1"/>
          <p:nvPr/>
        </p:nvSpPr>
        <p:spPr>
          <a:xfrm>
            <a:off x="6364224" y="3803904"/>
            <a:ext cx="4754880" cy="1234440"/>
          </a:xfrm>
          <a:prstGeom prst="rect">
            <a:avLst/>
          </a:prstGeom>
          <a:noFill/>
        </p:spPr>
        <p:txBody>
          <a:bodyPr wrap="square" lIns="27432" rIns="27432" tIns="27432" bIns="27432" anchor="t">
            <a:spAutoFit/>
          </a:bodyPr>
          <a:lstStyle/>
          <a:p>
            <a:pPr algn="l"/>
            <a:r>
              <a:rPr sz="1400" b="0">
                <a:solidFill>
                  <a:srgbClr val="1F2621"/>
                </a:solidFill>
                <a:latin typeface="Aptos"/>
              </a:rPr>
              <a:t>Organic is growing fast, but it is not mature enough to reward a broad, undifferentiated rollout. West Valley should enter selectively.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10</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Higher prices usually mean lower volume</a:t>
            </a:r>
          </a:p>
        </p:txBody>
      </p:sp>
      <p:sp>
        <p:nvSpPr>
          <p:cNvPr id="9" name="Rounded Rectangle 8"/>
          <p:cNvSpPr/>
          <p:nvPr/>
        </p:nvSpPr>
        <p:spPr>
          <a:xfrm>
            <a:off x="749808" y="1682496"/>
            <a:ext cx="566928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01952"/>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MARKET-LEVEL RELATIONSHIP</a:t>
            </a:r>
          </a:p>
        </p:txBody>
      </p:sp>
      <p:sp>
        <p:nvSpPr>
          <p:cNvPr id="11" name="Rounded Rectangle 10"/>
          <p:cNvSpPr/>
          <p:nvPr/>
        </p:nvSpPr>
        <p:spPr>
          <a:xfrm>
            <a:off x="987552" y="2212848"/>
            <a:ext cx="141732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232257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13" name="TextBox 12"/>
          <p:cNvSpPr txBox="1"/>
          <p:nvPr/>
        </p:nvSpPr>
        <p:spPr>
          <a:xfrm>
            <a:off x="1115568" y="2523744"/>
            <a:ext cx="1161288" cy="493776"/>
          </a:xfrm>
          <a:prstGeom prst="rect">
            <a:avLst/>
          </a:prstGeom>
          <a:noFill/>
        </p:spPr>
        <p:txBody>
          <a:bodyPr wrap="square" lIns="27432" rIns="27432" tIns="27432" bIns="27432" anchor="ctr">
            <a:spAutoFit/>
          </a:bodyPr>
          <a:lstStyle/>
          <a:p>
            <a:pPr algn="ctr"/>
            <a:r>
              <a:rPr sz="1900" b="1">
                <a:solidFill>
                  <a:srgbClr val="3F728A"/>
                </a:solidFill>
                <a:latin typeface="Aptos Display"/>
              </a:rPr>
              <a:t>-0.427</a:t>
            </a:r>
          </a:p>
        </p:txBody>
      </p:sp>
      <p:sp>
        <p:nvSpPr>
          <p:cNvPr id="14" name="Rounded Rectangle 13"/>
          <p:cNvSpPr/>
          <p:nvPr/>
        </p:nvSpPr>
        <p:spPr>
          <a:xfrm>
            <a:off x="2542032" y="2212848"/>
            <a:ext cx="141732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70048" y="232257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16" name="TextBox 15"/>
          <p:cNvSpPr txBox="1"/>
          <p:nvPr/>
        </p:nvSpPr>
        <p:spPr>
          <a:xfrm>
            <a:off x="2670048" y="2523744"/>
            <a:ext cx="1161288" cy="493776"/>
          </a:xfrm>
          <a:prstGeom prst="rect">
            <a:avLst/>
          </a:prstGeom>
          <a:noFill/>
        </p:spPr>
        <p:txBody>
          <a:bodyPr wrap="square" lIns="27432" rIns="27432" tIns="27432" bIns="27432" anchor="ctr">
            <a:spAutoFit/>
          </a:bodyPr>
          <a:lstStyle/>
          <a:p>
            <a:pPr algn="ctr"/>
            <a:r>
              <a:rPr sz="1900" b="1">
                <a:solidFill>
                  <a:srgbClr val="355C47"/>
                </a:solidFill>
                <a:latin typeface="Aptos Display"/>
              </a:rPr>
              <a:t>0.183</a:t>
            </a:r>
          </a:p>
        </p:txBody>
      </p:sp>
      <p:sp>
        <p:nvSpPr>
          <p:cNvPr id="17" name="Rounded Rectangle 16"/>
          <p:cNvSpPr/>
          <p:nvPr/>
        </p:nvSpPr>
        <p:spPr>
          <a:xfrm>
            <a:off x="4096512" y="2212848"/>
            <a:ext cx="1938528"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2322576"/>
            <a:ext cx="1682496"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19" name="TextBox 18"/>
          <p:cNvSpPr txBox="1"/>
          <p:nvPr/>
        </p:nvSpPr>
        <p:spPr>
          <a:xfrm>
            <a:off x="4224528" y="2523744"/>
            <a:ext cx="1682496" cy="493776"/>
          </a:xfrm>
          <a:prstGeom prst="rect">
            <a:avLst/>
          </a:prstGeom>
          <a:noFill/>
        </p:spPr>
        <p:txBody>
          <a:bodyPr wrap="square" lIns="27432" rIns="27432" tIns="27432" bIns="27432" anchor="ctr">
            <a:spAutoFit/>
          </a:bodyPr>
          <a:lstStyle/>
          <a:p>
            <a:pPr algn="ctr"/>
            <a:r>
              <a:rPr sz="1900" b="1">
                <a:solidFill>
                  <a:srgbClr val="C58A2A"/>
                </a:solidFill>
                <a:latin typeface="Aptos Display"/>
              </a:rPr>
              <a:t>-4.96</a:t>
            </a:r>
          </a:p>
        </p:txBody>
      </p:sp>
      <p:sp>
        <p:nvSpPr>
          <p:cNvPr id="20" name="TextBox 19"/>
          <p:cNvSpPr txBox="1"/>
          <p:nvPr/>
        </p:nvSpPr>
        <p:spPr>
          <a:xfrm>
            <a:off x="987552" y="3657600"/>
            <a:ext cx="4846320" cy="141732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Price matters, but not cleanly enough to drive the whole decision.</a:t>
            </a:r>
          </a:p>
          <a:p>
            <a:pPr algn="l">
              <a:lnSpc>
                <a:spcPct val="115000"/>
              </a:lnSpc>
            </a:pPr>
            <a:r>
              <a:rPr sz="1300">
                <a:solidFill>
                  <a:srgbClr val="1F2621"/>
                </a:solidFill>
                <a:latin typeface="Aptos"/>
              </a:rPr>
              <a:t>- Higher-price markets often sell fewer units.</a:t>
            </a:r>
          </a:p>
          <a:p>
            <a:pPr algn="l">
              <a:lnSpc>
                <a:spcPct val="115000"/>
              </a:lnSpc>
            </a:pPr>
            <a:r>
              <a:rPr sz="1300">
                <a:solidFill>
                  <a:srgbClr val="1F2621"/>
                </a:solidFill>
                <a:latin typeface="Aptos"/>
              </a:rPr>
              <a:t>- City choice still needs local market context.</a:t>
            </a:r>
          </a:p>
        </p:txBody>
      </p:sp>
      <p:sp>
        <p:nvSpPr>
          <p:cNvPr id="21" name="Rounded Rectangle 20"/>
          <p:cNvSpPr/>
          <p:nvPr/>
        </p:nvSpPr>
        <p:spPr>
          <a:xfrm>
            <a:off x="6675120" y="1682496"/>
            <a:ext cx="4828032"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1152" y="190195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READ IT THIS WAY</a:t>
            </a:r>
          </a:p>
        </p:txBody>
      </p:sp>
      <p:sp>
        <p:nvSpPr>
          <p:cNvPr id="23" name="TextBox 22"/>
          <p:cNvSpPr txBox="1"/>
          <p:nvPr/>
        </p:nvSpPr>
        <p:spPr>
          <a:xfrm>
            <a:off x="6931152" y="2249424"/>
            <a:ext cx="4297680" cy="457200"/>
          </a:xfrm>
          <a:prstGeom prst="rect">
            <a:avLst/>
          </a:prstGeom>
          <a:noFill/>
        </p:spPr>
        <p:txBody>
          <a:bodyPr wrap="square" lIns="27432" rIns="27432" tIns="27432" bIns="27432" anchor="t">
            <a:spAutoFit/>
          </a:bodyPr>
          <a:lstStyle/>
          <a:p>
            <a:pPr algn="l"/>
            <a:r>
              <a:rPr sz="2000" b="1">
                <a:solidFill>
                  <a:srgbClr val="355C47"/>
                </a:solidFill>
                <a:latin typeface="Aptos Display"/>
              </a:rPr>
              <a:t>Price matters at the market level.</a:t>
            </a:r>
          </a:p>
        </p:txBody>
      </p:sp>
      <p:sp>
        <p:nvSpPr>
          <p:cNvPr id="24" name="TextBox 23"/>
          <p:cNvSpPr txBox="1"/>
          <p:nvPr/>
        </p:nvSpPr>
        <p:spPr>
          <a:xfrm>
            <a:off x="6931152" y="2834640"/>
            <a:ext cx="4251960" cy="960120"/>
          </a:xfrm>
          <a:prstGeom prst="rect">
            <a:avLst/>
          </a:prstGeom>
          <a:noFill/>
        </p:spPr>
        <p:txBody>
          <a:bodyPr wrap="square" lIns="27432" rIns="27432" tIns="27432" bIns="27432" anchor="t">
            <a:spAutoFit/>
          </a:bodyPr>
          <a:lstStyle/>
          <a:p>
            <a:pPr algn="l"/>
            <a:r>
              <a:rPr sz="1400" b="0">
                <a:solidFill>
                  <a:srgbClr val="1F2621"/>
                </a:solidFill>
                <a:latin typeface="Aptos"/>
              </a:rPr>
              <a:t>But it does not tell the whole story. Market mix, organic readiness, and local structure still explain why some cities are better pilot markets than others.</a:t>
            </a:r>
          </a:p>
        </p:txBody>
      </p:sp>
      <p:sp>
        <p:nvSpPr>
          <p:cNvPr id="25" name="TextBox 24"/>
          <p:cNvSpPr txBox="1"/>
          <p:nvPr/>
        </p:nvSpPr>
        <p:spPr>
          <a:xfrm>
            <a:off x="6931152" y="4187952"/>
            <a:ext cx="4206240" cy="457200"/>
          </a:xfrm>
          <a:prstGeom prst="rect">
            <a:avLst/>
          </a:prstGeom>
          <a:noFill/>
        </p:spPr>
        <p:txBody>
          <a:bodyPr wrap="square" lIns="27432" rIns="27432" tIns="27432" bIns="27432" anchor="t">
            <a:spAutoFit/>
          </a:bodyPr>
          <a:lstStyle/>
          <a:p>
            <a:pPr algn="l"/>
            <a:r>
              <a:rPr sz="1200" b="0">
                <a:solidFill>
                  <a:srgbClr val="5F6B63"/>
                </a:solidFill>
                <a:latin typeface="Aptos"/>
              </a:rPr>
              <a:t>That is why the deck separates scale, readiness, and economics instead of forcing one metric to do every job.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11</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Within each type, price explains little</a:t>
            </a:r>
          </a:p>
        </p:txBody>
      </p:sp>
      <p:sp>
        <p:nvSpPr>
          <p:cNvPr id="9" name="Rounded Rectangle 8"/>
          <p:cNvSpPr/>
          <p:nvPr/>
        </p:nvSpPr>
        <p:spPr>
          <a:xfrm>
            <a:off x="841248" y="1773936"/>
            <a:ext cx="5074920" cy="36118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011680"/>
            <a:ext cx="1828800" cy="201168"/>
          </a:xfrm>
          <a:prstGeom prst="rect">
            <a:avLst/>
          </a:prstGeom>
          <a:noFill/>
        </p:spPr>
        <p:txBody>
          <a:bodyPr wrap="square" lIns="27432" rIns="27432" tIns="27432" bIns="27432" anchor="t">
            <a:spAutoFit/>
          </a:bodyPr>
          <a:lstStyle/>
          <a:p>
            <a:pPr algn="l"/>
            <a:r>
              <a:rPr sz="1100" b="1">
                <a:solidFill>
                  <a:srgbClr val="5F6B63"/>
                </a:solidFill>
                <a:latin typeface="Aptos"/>
              </a:rPr>
              <a:t>CONVENTIONAL</a:t>
            </a:r>
          </a:p>
        </p:txBody>
      </p:sp>
      <p:sp>
        <p:nvSpPr>
          <p:cNvPr id="11" name="Rounded Rectangle 10"/>
          <p:cNvSpPr/>
          <p:nvPr/>
        </p:nvSpPr>
        <p:spPr>
          <a:xfrm>
            <a:off x="1078992" y="2395728"/>
            <a:ext cx="13716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2505456"/>
            <a:ext cx="111556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13" name="TextBox 12"/>
          <p:cNvSpPr txBox="1"/>
          <p:nvPr/>
        </p:nvSpPr>
        <p:spPr>
          <a:xfrm>
            <a:off x="1207008" y="2706624"/>
            <a:ext cx="111556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-0.026</a:t>
            </a:r>
          </a:p>
        </p:txBody>
      </p:sp>
      <p:sp>
        <p:nvSpPr>
          <p:cNvPr id="14" name="Rounded Rectangle 13"/>
          <p:cNvSpPr/>
          <p:nvPr/>
        </p:nvSpPr>
        <p:spPr>
          <a:xfrm>
            <a:off x="2596896" y="2395728"/>
            <a:ext cx="12801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24912" y="2505456"/>
            <a:ext cx="102412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16" name="TextBox 15"/>
          <p:cNvSpPr txBox="1"/>
          <p:nvPr/>
        </p:nvSpPr>
        <p:spPr>
          <a:xfrm>
            <a:off x="2724912" y="2706624"/>
            <a:ext cx="10241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0.001</a:t>
            </a:r>
          </a:p>
        </p:txBody>
      </p:sp>
      <p:sp>
        <p:nvSpPr>
          <p:cNvPr id="17" name="Rounded Rectangle 16"/>
          <p:cNvSpPr/>
          <p:nvPr/>
        </p:nvSpPr>
        <p:spPr>
          <a:xfrm>
            <a:off x="4005072" y="2395728"/>
            <a:ext cx="14173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3088" y="250545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19" name="TextBox 18"/>
          <p:cNvSpPr txBox="1"/>
          <p:nvPr/>
        </p:nvSpPr>
        <p:spPr>
          <a:xfrm>
            <a:off x="4133088" y="2706624"/>
            <a:ext cx="116128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-0.39</a:t>
            </a:r>
          </a:p>
        </p:txBody>
      </p:sp>
      <p:sp>
        <p:nvSpPr>
          <p:cNvPr id="20" name="TextBox 19"/>
          <p:cNvSpPr txBox="1"/>
          <p:nvPr/>
        </p:nvSpPr>
        <p:spPr>
          <a:xfrm>
            <a:off x="1078992" y="3675887"/>
            <a:ext cx="4389120" cy="1097280"/>
          </a:xfrm>
          <a:prstGeom prst="rect">
            <a:avLst/>
          </a:prstGeom>
          <a:noFill/>
        </p:spPr>
        <p:txBody>
          <a:bodyPr wrap="square" lIns="27432" rIns="27432" tIns="27432" bIns="27432" anchor="t">
            <a:spAutoFit/>
          </a:bodyPr>
          <a:lstStyle/>
          <a:p>
            <a:pPr algn="l"/>
            <a:r>
              <a:rPr sz="1300" b="0">
                <a:solidFill>
                  <a:srgbClr val="1F2621"/>
                </a:solidFill>
                <a:latin typeface="Aptos"/>
              </a:rPr>
              <a:t>Within each type, price explains little on its own. Local market structure and mix still do the real work.</a:t>
            </a:r>
          </a:p>
        </p:txBody>
      </p:sp>
      <p:sp>
        <p:nvSpPr>
          <p:cNvPr id="21" name="Rounded Rectangle 20"/>
          <p:cNvSpPr/>
          <p:nvPr/>
        </p:nvSpPr>
        <p:spPr>
          <a:xfrm>
            <a:off x="6281928" y="1773936"/>
            <a:ext cx="5074920" cy="36118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2011680"/>
            <a:ext cx="1828800" cy="201168"/>
          </a:xfrm>
          <a:prstGeom prst="rect">
            <a:avLst/>
          </a:prstGeom>
          <a:noFill/>
        </p:spPr>
        <p:txBody>
          <a:bodyPr wrap="square" lIns="27432" rIns="27432" tIns="27432" bIns="27432" anchor="t">
            <a:spAutoFit/>
          </a:bodyPr>
          <a:lstStyle/>
          <a:p>
            <a:pPr algn="l"/>
            <a:r>
              <a:rPr sz="1100" b="1">
                <a:solidFill>
                  <a:srgbClr val="5F6B63"/>
                </a:solidFill>
                <a:latin typeface="Aptos"/>
              </a:rPr>
              <a:t>ORGANIC</a:t>
            </a:r>
          </a:p>
        </p:txBody>
      </p:sp>
      <p:sp>
        <p:nvSpPr>
          <p:cNvPr id="23" name="Rounded Rectangle 22"/>
          <p:cNvSpPr/>
          <p:nvPr/>
        </p:nvSpPr>
        <p:spPr>
          <a:xfrm>
            <a:off x="6519672" y="2395728"/>
            <a:ext cx="13716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7688" y="2505456"/>
            <a:ext cx="111556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25" name="TextBox 24"/>
          <p:cNvSpPr txBox="1"/>
          <p:nvPr/>
        </p:nvSpPr>
        <p:spPr>
          <a:xfrm>
            <a:off x="6647688" y="2706624"/>
            <a:ext cx="111556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-0.044</a:t>
            </a:r>
          </a:p>
        </p:txBody>
      </p:sp>
      <p:sp>
        <p:nvSpPr>
          <p:cNvPr id="26" name="Rounded Rectangle 25"/>
          <p:cNvSpPr/>
          <p:nvPr/>
        </p:nvSpPr>
        <p:spPr>
          <a:xfrm>
            <a:off x="8037576" y="2395728"/>
            <a:ext cx="12801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65592" y="2505456"/>
            <a:ext cx="102412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28" name="TextBox 27"/>
          <p:cNvSpPr txBox="1"/>
          <p:nvPr/>
        </p:nvSpPr>
        <p:spPr>
          <a:xfrm>
            <a:off x="8165592" y="2706624"/>
            <a:ext cx="10241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0.002</a:t>
            </a:r>
          </a:p>
        </p:txBody>
      </p:sp>
      <p:sp>
        <p:nvSpPr>
          <p:cNvPr id="29" name="Rounded Rectangle 28"/>
          <p:cNvSpPr/>
          <p:nvPr/>
        </p:nvSpPr>
        <p:spPr>
          <a:xfrm>
            <a:off x="9445752" y="2395728"/>
            <a:ext cx="14173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73768" y="250545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31" name="TextBox 30"/>
          <p:cNvSpPr txBox="1"/>
          <p:nvPr/>
        </p:nvSpPr>
        <p:spPr>
          <a:xfrm>
            <a:off x="9573768" y="2706624"/>
            <a:ext cx="116128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-0.81</a:t>
            </a:r>
          </a:p>
        </p:txBody>
      </p:sp>
      <p:sp>
        <p:nvSpPr>
          <p:cNvPr id="32" name="TextBox 31"/>
          <p:cNvSpPr txBox="1"/>
          <p:nvPr/>
        </p:nvSpPr>
        <p:spPr>
          <a:xfrm>
            <a:off x="6519672" y="3675887"/>
            <a:ext cx="4389120" cy="1097280"/>
          </a:xfrm>
          <a:prstGeom prst="rect">
            <a:avLst/>
          </a:prstGeom>
          <a:noFill/>
        </p:spPr>
        <p:txBody>
          <a:bodyPr wrap="square" lIns="27432" rIns="27432" tIns="27432" bIns="27432" anchor="t">
            <a:spAutoFit/>
          </a:bodyPr>
          <a:lstStyle/>
          <a:p>
            <a:pPr algn="l"/>
            <a:r>
              <a:rPr sz="1300" b="0">
                <a:solidFill>
                  <a:srgbClr val="1F2621"/>
                </a:solidFill>
                <a:latin typeface="Aptos"/>
              </a:rPr>
              <a:t>Within each type, price explains little on its own. Local market structure and mix still do the real work.</a:t>
            </a:r>
          </a:p>
        </p:txBody>
      </p:sp>
      <p:sp>
        <p:nvSpPr>
          <p:cNvPr id="33" name="Rounded Rectangle 32"/>
          <p:cNvSpPr/>
          <p:nvPr/>
        </p:nvSpPr>
        <p:spPr>
          <a:xfrm>
            <a:off x="987552" y="5650992"/>
            <a:ext cx="10058400" cy="5120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5815584"/>
            <a:ext cx="9692640" cy="164592"/>
          </a:xfrm>
          <a:prstGeom prst="rect">
            <a:avLst/>
          </a:prstGeom>
          <a:noFill/>
        </p:spPr>
        <p:txBody>
          <a:bodyPr wrap="square" lIns="27432" rIns="27432" tIns="27432" bIns="27432" anchor="t">
            <a:spAutoFit/>
          </a:bodyPr>
          <a:lstStyle/>
          <a:p>
            <a:pPr algn="l"/>
            <a:r>
              <a:rPr sz="1200" b="1">
                <a:solidFill>
                  <a:srgbClr val="1F2621"/>
                </a:solidFill>
                <a:latin typeface="Aptos"/>
              </a:rPr>
              <a:t>Implication: elasticity is context, not the recommendation. City-level economics and readiness still decide the launch.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12</a:t>
            </a:r>
          </a:p>
        </p:txBody>
      </p:sp>
      <p:sp>
        <p:nvSpPr>
          <p:cNvPr id="8" name="Rounded Rectangle 7"/>
          <p:cNvSpPr/>
          <p:nvPr/>
        </p:nvSpPr>
        <p:spPr>
          <a:xfrm>
            <a:off x="10287000" y="256032"/>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05288" y="260604"/>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CONTEXT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Four risks run through the profit model and three are tested later</a:t>
            </a:r>
          </a:p>
        </p:txBody>
      </p:sp>
      <p:sp>
        <p:nvSpPr>
          <p:cNvPr id="11" name="Rounded Rectangle 10"/>
          <p:cNvSpPr/>
          <p:nvPr/>
        </p:nvSpPr>
        <p:spPr>
          <a:xfrm>
            <a:off x="841248" y="1755648"/>
            <a:ext cx="4983480" cy="1664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1883664"/>
            <a:ext cx="4663440" cy="146304"/>
          </a:xfrm>
          <a:prstGeom prst="rect">
            <a:avLst/>
          </a:prstGeom>
          <a:noFill/>
        </p:spPr>
        <p:txBody>
          <a:bodyPr wrap="square" lIns="27432" rIns="27432" tIns="27432" bIns="27432" anchor="t">
            <a:spAutoFit/>
          </a:bodyPr>
          <a:lstStyle/>
          <a:p>
            <a:pPr algn="l"/>
            <a:r>
              <a:rPr sz="1000" b="1">
                <a:solidFill>
                  <a:srgbClr val="5F6B63"/>
                </a:solidFill>
                <a:latin typeface="Aptos"/>
              </a:rPr>
              <a:t>DRIVER</a:t>
            </a:r>
          </a:p>
        </p:txBody>
      </p:sp>
      <p:sp>
        <p:nvSpPr>
          <p:cNvPr id="13" name="TextBox 12"/>
          <p:cNvSpPr txBox="1"/>
          <p:nvPr/>
        </p:nvSpPr>
        <p:spPr>
          <a:xfrm>
            <a:off x="987552" y="2157984"/>
            <a:ext cx="4663440" cy="310896"/>
          </a:xfrm>
          <a:prstGeom prst="rect">
            <a:avLst/>
          </a:prstGeom>
          <a:noFill/>
        </p:spPr>
        <p:txBody>
          <a:bodyPr wrap="square" lIns="27432" rIns="27432" tIns="27432" bIns="27432" anchor="t">
            <a:spAutoFit/>
          </a:bodyPr>
          <a:lstStyle/>
          <a:p>
            <a:pPr algn="l"/>
            <a:r>
              <a:rPr sz="2000" b="1">
                <a:solidFill>
                  <a:srgbClr val="B5533A"/>
                </a:solidFill>
                <a:latin typeface="Aptos Display"/>
              </a:rPr>
              <a:t>Freight + fuel</a:t>
            </a:r>
          </a:p>
        </p:txBody>
      </p:sp>
      <p:sp>
        <p:nvSpPr>
          <p:cNvPr id="14" name="TextBox 13"/>
          <p:cNvSpPr txBox="1"/>
          <p:nvPr/>
        </p:nvSpPr>
        <p:spPr>
          <a:xfrm>
            <a:off x="987552" y="2651760"/>
            <a:ext cx="4663440" cy="603504"/>
          </a:xfrm>
          <a:prstGeom prst="rect">
            <a:avLst/>
          </a:prstGeom>
          <a:noFill/>
        </p:spPr>
        <p:txBody>
          <a:bodyPr wrap="square" lIns="27432" rIns="27432" tIns="27432" bIns="27432" anchor="t">
            <a:spAutoFit/>
          </a:bodyPr>
          <a:lstStyle/>
          <a:p>
            <a:pPr algn="l"/>
            <a:r>
              <a:rPr sz="1300" b="0">
                <a:solidFill>
                  <a:srgbClr val="1F2621"/>
                </a:solidFill>
                <a:latin typeface="Aptos"/>
              </a:rPr>
              <a:t>Directly modeled. The shipping formula ($1,500 + $50 / 100 miles) makes freight visible in every city scenario. Tested at +50% and -50% in Q6.</a:t>
            </a:r>
          </a:p>
        </p:txBody>
      </p:sp>
      <p:sp>
        <p:nvSpPr>
          <p:cNvPr id="15" name="Rounded Rectangle 14"/>
          <p:cNvSpPr/>
          <p:nvPr/>
        </p:nvSpPr>
        <p:spPr>
          <a:xfrm>
            <a:off x="6254496" y="1755648"/>
            <a:ext cx="4983480" cy="1664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883664"/>
            <a:ext cx="4663440" cy="146304"/>
          </a:xfrm>
          <a:prstGeom prst="rect">
            <a:avLst/>
          </a:prstGeom>
          <a:noFill/>
        </p:spPr>
        <p:txBody>
          <a:bodyPr wrap="square" lIns="27432" rIns="27432" tIns="27432" bIns="27432" anchor="t">
            <a:spAutoFit/>
          </a:bodyPr>
          <a:lstStyle/>
          <a:p>
            <a:pPr algn="l"/>
            <a:r>
              <a:rPr sz="1000" b="1">
                <a:solidFill>
                  <a:srgbClr val="5F6B63"/>
                </a:solidFill>
                <a:latin typeface="Aptos"/>
              </a:rPr>
              <a:t>DRIVER</a:t>
            </a:r>
          </a:p>
        </p:txBody>
      </p:sp>
      <p:sp>
        <p:nvSpPr>
          <p:cNvPr id="17" name="TextBox 16"/>
          <p:cNvSpPr txBox="1"/>
          <p:nvPr/>
        </p:nvSpPr>
        <p:spPr>
          <a:xfrm>
            <a:off x="6400800" y="2157984"/>
            <a:ext cx="4663440" cy="310896"/>
          </a:xfrm>
          <a:prstGeom prst="rect">
            <a:avLst/>
          </a:prstGeom>
          <a:noFill/>
        </p:spPr>
        <p:txBody>
          <a:bodyPr wrap="square" lIns="27432" rIns="27432" tIns="27432" bIns="27432" anchor="t">
            <a:spAutoFit/>
          </a:bodyPr>
          <a:lstStyle/>
          <a:p>
            <a:pPr algn="l"/>
            <a:r>
              <a:rPr sz="2000" b="1">
                <a:solidFill>
                  <a:srgbClr val="3F728A"/>
                </a:solidFill>
                <a:latin typeface="Aptos Display"/>
              </a:rPr>
              <a:t>Imported supply risk</a:t>
            </a:r>
          </a:p>
        </p:txBody>
      </p:sp>
      <p:sp>
        <p:nvSpPr>
          <p:cNvPr id="18" name="TextBox 17"/>
          <p:cNvSpPr txBox="1"/>
          <p:nvPr/>
        </p:nvSpPr>
        <p:spPr>
          <a:xfrm>
            <a:off x="6400800" y="2651760"/>
            <a:ext cx="4663440" cy="603504"/>
          </a:xfrm>
          <a:prstGeom prst="rect">
            <a:avLst/>
          </a:prstGeom>
          <a:noFill/>
        </p:spPr>
        <p:txBody>
          <a:bodyPr wrap="square" lIns="27432" rIns="27432" tIns="27432" bIns="27432" anchor="t">
            <a:spAutoFit/>
          </a:bodyPr>
          <a:lstStyle/>
          <a:p>
            <a:pPr algn="l"/>
            <a:r>
              <a:rPr sz="1300" b="0">
                <a:solidFill>
                  <a:srgbClr val="1F2621"/>
                </a:solidFill>
                <a:latin typeface="Aptos"/>
              </a:rPr>
              <a:t>Context factor. Mexico dominates U.S. Hass imports, but West Valley's organic niche is more supply-constrained than import-competitive. A border shock could still tighten total supply and lift price.</a:t>
            </a:r>
          </a:p>
        </p:txBody>
      </p:sp>
      <p:sp>
        <p:nvSpPr>
          <p:cNvPr id="19" name="Rounded Rectangle 18"/>
          <p:cNvSpPr/>
          <p:nvPr/>
        </p:nvSpPr>
        <p:spPr>
          <a:xfrm>
            <a:off x="841248" y="3602736"/>
            <a:ext cx="4983480" cy="1664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3730752"/>
            <a:ext cx="4663440" cy="146304"/>
          </a:xfrm>
          <a:prstGeom prst="rect">
            <a:avLst/>
          </a:prstGeom>
          <a:noFill/>
        </p:spPr>
        <p:txBody>
          <a:bodyPr wrap="square" lIns="27432" rIns="27432" tIns="27432" bIns="27432" anchor="t">
            <a:spAutoFit/>
          </a:bodyPr>
          <a:lstStyle/>
          <a:p>
            <a:pPr algn="l"/>
            <a:r>
              <a:rPr sz="1000" b="1">
                <a:solidFill>
                  <a:srgbClr val="5F6B63"/>
                </a:solidFill>
                <a:latin typeface="Aptos"/>
              </a:rPr>
              <a:t>DRIVER</a:t>
            </a:r>
          </a:p>
        </p:txBody>
      </p:sp>
      <p:sp>
        <p:nvSpPr>
          <p:cNvPr id="21" name="TextBox 20"/>
          <p:cNvSpPr txBox="1"/>
          <p:nvPr/>
        </p:nvSpPr>
        <p:spPr>
          <a:xfrm>
            <a:off x="987552" y="4005072"/>
            <a:ext cx="4663440" cy="310896"/>
          </a:xfrm>
          <a:prstGeom prst="rect">
            <a:avLst/>
          </a:prstGeom>
          <a:noFill/>
        </p:spPr>
        <p:txBody>
          <a:bodyPr wrap="square" lIns="27432" rIns="27432" tIns="27432" bIns="27432" anchor="t">
            <a:spAutoFit/>
          </a:bodyPr>
          <a:lstStyle/>
          <a:p>
            <a:pPr algn="l"/>
            <a:r>
              <a:rPr sz="2000" b="1">
                <a:solidFill>
                  <a:srgbClr val="889A83"/>
                </a:solidFill>
                <a:latin typeface="Aptos Display"/>
              </a:rPr>
              <a:t>Labor + inflation</a:t>
            </a:r>
          </a:p>
        </p:txBody>
      </p:sp>
      <p:sp>
        <p:nvSpPr>
          <p:cNvPr id="22" name="TextBox 21"/>
          <p:cNvSpPr txBox="1"/>
          <p:nvPr/>
        </p:nvSpPr>
        <p:spPr>
          <a:xfrm>
            <a:off x="987552" y="4498848"/>
            <a:ext cx="4663440" cy="603504"/>
          </a:xfrm>
          <a:prstGeom prst="rect">
            <a:avLst/>
          </a:prstGeom>
          <a:noFill/>
        </p:spPr>
        <p:txBody>
          <a:bodyPr wrap="square" lIns="27432" rIns="27432" tIns="27432" bIns="27432" anchor="t">
            <a:spAutoFit/>
          </a:bodyPr>
          <a:lstStyle/>
          <a:p>
            <a:pPr algn="l"/>
            <a:r>
              <a:rPr sz="1300" b="0">
                <a:solidFill>
                  <a:srgbClr val="1F2621"/>
                </a:solidFill>
                <a:latin typeface="Aptos"/>
              </a:rPr>
              <a:t>Not separately modeled. The $0.20 acquisition cost and freight formula are fixed inputs, so any extra labor or fuel inflation would compress margin beyond the base-case assumptions.</a:t>
            </a:r>
          </a:p>
        </p:txBody>
      </p:sp>
      <p:sp>
        <p:nvSpPr>
          <p:cNvPr id="23" name="Rounded Rectangle 22"/>
          <p:cNvSpPr/>
          <p:nvPr/>
        </p:nvSpPr>
        <p:spPr>
          <a:xfrm>
            <a:off x="6254496" y="3602736"/>
            <a:ext cx="4983480" cy="1664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730752"/>
            <a:ext cx="4663440" cy="146304"/>
          </a:xfrm>
          <a:prstGeom prst="rect">
            <a:avLst/>
          </a:prstGeom>
          <a:noFill/>
        </p:spPr>
        <p:txBody>
          <a:bodyPr wrap="square" lIns="27432" rIns="27432" tIns="27432" bIns="27432" anchor="t">
            <a:spAutoFit/>
          </a:bodyPr>
          <a:lstStyle/>
          <a:p>
            <a:pPr algn="l"/>
            <a:r>
              <a:rPr sz="1000" b="1">
                <a:solidFill>
                  <a:srgbClr val="5F6B63"/>
                </a:solidFill>
                <a:latin typeface="Aptos"/>
              </a:rPr>
              <a:t>DRIVER</a:t>
            </a:r>
          </a:p>
        </p:txBody>
      </p:sp>
      <p:sp>
        <p:nvSpPr>
          <p:cNvPr id="25" name="TextBox 24"/>
          <p:cNvSpPr txBox="1"/>
          <p:nvPr/>
        </p:nvSpPr>
        <p:spPr>
          <a:xfrm>
            <a:off x="6400800" y="4005072"/>
            <a:ext cx="4663440" cy="310896"/>
          </a:xfrm>
          <a:prstGeom prst="rect">
            <a:avLst/>
          </a:prstGeom>
          <a:noFill/>
        </p:spPr>
        <p:txBody>
          <a:bodyPr wrap="square" lIns="27432" rIns="27432" tIns="27432" bIns="27432" anchor="t">
            <a:spAutoFit/>
          </a:bodyPr>
          <a:lstStyle/>
          <a:p>
            <a:pPr algn="l"/>
            <a:r>
              <a:rPr sz="2000" b="1">
                <a:solidFill>
                  <a:srgbClr val="C58A2A"/>
                </a:solidFill>
                <a:latin typeface="Aptos Display"/>
              </a:rPr>
              <a:t>Seasonality + promotions</a:t>
            </a:r>
          </a:p>
        </p:txBody>
      </p:sp>
      <p:sp>
        <p:nvSpPr>
          <p:cNvPr id="26" name="TextBox 25"/>
          <p:cNvSpPr txBox="1"/>
          <p:nvPr/>
        </p:nvSpPr>
        <p:spPr>
          <a:xfrm>
            <a:off x="6400800" y="4498848"/>
            <a:ext cx="4663440" cy="603504"/>
          </a:xfrm>
          <a:prstGeom prst="rect">
            <a:avLst/>
          </a:prstGeom>
          <a:noFill/>
        </p:spPr>
        <p:txBody>
          <a:bodyPr wrap="square" lIns="27432" rIns="27432" tIns="27432" bIns="27432" anchor="t">
            <a:spAutoFit/>
          </a:bodyPr>
          <a:lstStyle/>
          <a:p>
            <a:pPr algn="l"/>
            <a:r>
              <a:rPr sz="1300" b="0">
                <a:solidFill>
                  <a:srgbClr val="1F2621"/>
                </a:solidFill>
                <a:latin typeface="Aptos"/>
              </a:rPr>
              <a:t>Directly analyzed. Volume peaks before price peaks, which changes when West Valley should push volume versus protect margin. The calendar on slides 27-28 operationalizes that gap.</a:t>
            </a:r>
          </a:p>
        </p:txBody>
      </p:sp>
      <p:sp>
        <p:nvSpPr>
          <p:cNvPr id="27" name="Rounded Rectangle 26"/>
          <p:cNvSpPr/>
          <p:nvPr/>
        </p:nvSpPr>
        <p:spPr>
          <a:xfrm>
            <a:off x="987552" y="5504688"/>
            <a:ext cx="10058400" cy="56692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88720" y="5669280"/>
            <a:ext cx="9692640" cy="201168"/>
          </a:xfrm>
          <a:prstGeom prst="rect">
            <a:avLst/>
          </a:prstGeom>
          <a:noFill/>
        </p:spPr>
        <p:txBody>
          <a:bodyPr wrap="square" lIns="27432" rIns="27432" tIns="27432" bIns="27432" anchor="t">
            <a:spAutoFit/>
          </a:bodyPr>
          <a:lstStyle/>
          <a:p>
            <a:pPr algn="l"/>
            <a:r>
              <a:rPr sz="1200" b="1">
                <a:solidFill>
                  <a:srgbClr val="1F2621"/>
                </a:solidFill>
                <a:latin typeface="Aptos"/>
              </a:rPr>
              <a:t>Three of these four risks are tested directly in the deck. The fourth is a disclosed model limitation, which is exactly the right accounting treatment for a city-selection screen.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13</a:t>
            </a:r>
          </a:p>
        </p:txBody>
      </p:sp>
      <p:sp>
        <p:nvSpPr>
          <p:cNvPr id="8" name="Rounded Rectangle 7"/>
          <p:cNvSpPr/>
          <p:nvPr/>
        </p:nvSpPr>
        <p:spPr>
          <a:xfrm>
            <a:off x="10287000" y="256032"/>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05288" y="260604"/>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CONTEXT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biggest market is not the best first market</a:t>
            </a:r>
          </a:p>
        </p:txBody>
      </p:sp>
      <p:sp>
        <p:nvSpPr>
          <p:cNvPr id="11" name="Rounded Rectangle 10"/>
          <p:cNvSpPr/>
          <p:nvPr/>
        </p:nvSpPr>
        <p:spPr>
          <a:xfrm>
            <a:off x="749808" y="1700784"/>
            <a:ext cx="5230368" cy="3822191"/>
          </a:xfrm>
          <a:prstGeom prst="roundRect">
            <a:avLst/>
          </a:prstGeom>
          <a:solidFill>
            <a:srgbClr val="F5EEE8"/>
          </a:solidFill>
          <a:ln w="12700">
            <a:solidFill>
              <a:srgbClr val="E5D7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883664"/>
            <a:ext cx="4791456" cy="201168"/>
          </a:xfrm>
          <a:prstGeom prst="rect">
            <a:avLst/>
          </a:prstGeom>
          <a:noFill/>
        </p:spPr>
        <p:txBody>
          <a:bodyPr wrap="square" lIns="27432" rIns="27432" tIns="27432" bIns="27432" anchor="t">
            <a:spAutoFit/>
          </a:bodyPr>
          <a:lstStyle/>
          <a:p>
            <a:pPr algn="l"/>
            <a:r>
              <a:rPr sz="1000" b="1">
                <a:solidFill>
                  <a:srgbClr val="5F6B63"/>
                </a:solidFill>
                <a:latin typeface="Aptos"/>
              </a:rPr>
              <a:t>WHY LA LOSES THE PILOT</a:t>
            </a:r>
          </a:p>
        </p:txBody>
      </p:sp>
      <p:sp>
        <p:nvSpPr>
          <p:cNvPr id="13" name="TextBox 12"/>
          <p:cNvSpPr txBox="1"/>
          <p:nvPr/>
        </p:nvSpPr>
        <p:spPr>
          <a:xfrm>
            <a:off x="969264" y="2231136"/>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JUNE PRICE</a:t>
            </a:r>
          </a:p>
        </p:txBody>
      </p:sp>
      <p:sp>
        <p:nvSpPr>
          <p:cNvPr id="14" name="TextBox 13"/>
          <p:cNvSpPr txBox="1"/>
          <p:nvPr/>
        </p:nvSpPr>
        <p:spPr>
          <a:xfrm>
            <a:off x="4023360" y="2212848"/>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$1.87</a:t>
            </a:r>
          </a:p>
        </p:txBody>
      </p:sp>
      <p:cxnSp>
        <p:nvCxnSpPr>
          <p:cNvPr id="15" name="Connector 14"/>
          <p:cNvCxnSpPr/>
          <p:nvPr/>
        </p:nvCxnSpPr>
        <p:spPr>
          <a:xfrm>
            <a:off x="969264" y="2450592"/>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9264" y="2542032"/>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ORGANIC SHARE</a:t>
            </a:r>
          </a:p>
        </p:txBody>
      </p:sp>
      <p:sp>
        <p:nvSpPr>
          <p:cNvPr id="17" name="TextBox 16"/>
          <p:cNvSpPr txBox="1"/>
          <p:nvPr/>
        </p:nvSpPr>
        <p:spPr>
          <a:xfrm>
            <a:off x="4023360" y="2523744"/>
            <a:ext cx="1517904" cy="201168"/>
          </a:xfrm>
          <a:prstGeom prst="rect">
            <a:avLst/>
          </a:prstGeom>
          <a:noFill/>
        </p:spPr>
        <p:txBody>
          <a:bodyPr wrap="square" lIns="27432" rIns="27432" tIns="27432" bIns="27432" anchor="t">
            <a:spAutoFit/>
          </a:bodyPr>
          <a:lstStyle/>
          <a:p>
            <a:pPr algn="r"/>
            <a:r>
              <a:rPr sz="1700" b="1">
                <a:solidFill>
                  <a:srgbClr val="3F728A"/>
                </a:solidFill>
                <a:latin typeface="Aptos Display"/>
              </a:rPr>
              <a:t>4.9%</a:t>
            </a:r>
          </a:p>
        </p:txBody>
      </p:sp>
      <p:cxnSp>
        <p:nvCxnSpPr>
          <p:cNvPr id="18" name="Connector 17"/>
          <p:cNvCxnSpPr/>
          <p:nvPr/>
        </p:nvCxnSpPr>
        <p:spPr>
          <a:xfrm>
            <a:off x="969264" y="2761488"/>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69264" y="2852928"/>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REVENUE ON 20K</a:t>
            </a:r>
          </a:p>
        </p:txBody>
      </p:sp>
      <p:sp>
        <p:nvSpPr>
          <p:cNvPr id="20" name="TextBox 19"/>
          <p:cNvSpPr txBox="1"/>
          <p:nvPr/>
        </p:nvSpPr>
        <p:spPr>
          <a:xfrm>
            <a:off x="4023360" y="2834640"/>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$14,960</a:t>
            </a:r>
          </a:p>
        </p:txBody>
      </p:sp>
      <p:cxnSp>
        <p:nvCxnSpPr>
          <p:cNvPr id="21" name="Connector 20"/>
          <p:cNvCxnSpPr/>
          <p:nvPr/>
        </p:nvCxnSpPr>
        <p:spPr>
          <a:xfrm>
            <a:off x="969264" y="3072384"/>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69264" y="3163824"/>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ON 20K</a:t>
            </a:r>
          </a:p>
        </p:txBody>
      </p:sp>
      <p:sp>
        <p:nvSpPr>
          <p:cNvPr id="23" name="TextBox 22"/>
          <p:cNvSpPr txBox="1"/>
          <p:nvPr/>
        </p:nvSpPr>
        <p:spPr>
          <a:xfrm>
            <a:off x="4023360" y="3145536"/>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$9,404</a:t>
            </a:r>
          </a:p>
        </p:txBody>
      </p:sp>
      <p:cxnSp>
        <p:nvCxnSpPr>
          <p:cNvPr id="24" name="Connector 23"/>
          <p:cNvCxnSpPr/>
          <p:nvPr/>
        </p:nvCxnSpPr>
        <p:spPr>
          <a:xfrm>
            <a:off x="969264" y="3383280"/>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9264" y="3474720"/>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RANK</a:t>
            </a:r>
          </a:p>
        </p:txBody>
      </p:sp>
      <p:sp>
        <p:nvSpPr>
          <p:cNvPr id="26" name="TextBox 25"/>
          <p:cNvSpPr txBox="1"/>
          <p:nvPr/>
        </p:nvSpPr>
        <p:spPr>
          <a:xfrm>
            <a:off x="4023360" y="3456432"/>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8th of 40</a:t>
            </a:r>
          </a:p>
        </p:txBody>
      </p:sp>
      <p:sp>
        <p:nvSpPr>
          <p:cNvPr id="27" name="TextBox 26"/>
          <p:cNvSpPr txBox="1"/>
          <p:nvPr/>
        </p:nvSpPr>
        <p:spPr>
          <a:xfrm>
            <a:off x="969264" y="3877056"/>
            <a:ext cx="4791456" cy="1371600"/>
          </a:xfrm>
          <a:prstGeom prst="rect">
            <a:avLst/>
          </a:prstGeom>
          <a:noFill/>
        </p:spPr>
        <p:txBody>
          <a:bodyPr wrap="square" lIns="27432" rIns="27432" tIns="27432" bIns="27432" anchor="t">
            <a:spAutoFit/>
          </a:bodyPr>
          <a:lstStyle/>
          <a:p>
            <a:pPr algn="l"/>
            <a:r>
              <a:rPr sz="1200" b="0">
                <a:solidFill>
                  <a:srgbClr val="1F2621"/>
                </a:solidFill>
                <a:latin typeface="Aptos"/>
              </a:rPr>
              <a:t>Los Angeles sells more avocados than any other U.S. city. But that scale compresses pricing. Avocados are a commodity in LA, ubiquitous in retail and foodservice, supported by massive nearby supply from California farms and Mexican imports. The same competitive density that creates volume also prevents premium pricing for a new organic entrant.</a:t>
            </a:r>
          </a:p>
        </p:txBody>
      </p:sp>
      <p:sp>
        <p:nvSpPr>
          <p:cNvPr id="28" name="Rounded Rectangle 27"/>
          <p:cNvSpPr/>
          <p:nvPr/>
        </p:nvSpPr>
        <p:spPr>
          <a:xfrm>
            <a:off x="6217920" y="1700784"/>
            <a:ext cx="5230368" cy="3822191"/>
          </a:xfrm>
          <a:prstGeom prst="roundRect">
            <a:avLst/>
          </a:prstGeom>
          <a:solidFill>
            <a:srgbClr val="EEF4EF"/>
          </a:solidFill>
          <a:ln w="12700">
            <a:solidFill>
              <a:srgbClr val="D4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1883664"/>
            <a:ext cx="4791456" cy="201168"/>
          </a:xfrm>
          <a:prstGeom prst="rect">
            <a:avLst/>
          </a:prstGeom>
          <a:noFill/>
        </p:spPr>
        <p:txBody>
          <a:bodyPr wrap="square" lIns="27432" rIns="27432" tIns="27432" bIns="27432" anchor="t">
            <a:spAutoFit/>
          </a:bodyPr>
          <a:lstStyle/>
          <a:p>
            <a:pPr algn="l"/>
            <a:r>
              <a:rPr sz="1000" b="1">
                <a:solidFill>
                  <a:srgbClr val="5F6B63"/>
                </a:solidFill>
                <a:latin typeface="Aptos"/>
              </a:rPr>
              <a:t>WHY THE PACIFIC NORTHWEST WINS</a:t>
            </a:r>
          </a:p>
        </p:txBody>
      </p:sp>
      <p:sp>
        <p:nvSpPr>
          <p:cNvPr id="30" name="TextBox 29"/>
          <p:cNvSpPr txBox="1"/>
          <p:nvPr/>
        </p:nvSpPr>
        <p:spPr>
          <a:xfrm>
            <a:off x="6437376" y="2231136"/>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JUNE PRICE</a:t>
            </a:r>
          </a:p>
        </p:txBody>
      </p:sp>
      <p:sp>
        <p:nvSpPr>
          <p:cNvPr id="31" name="TextBox 30"/>
          <p:cNvSpPr txBox="1"/>
          <p:nvPr/>
        </p:nvSpPr>
        <p:spPr>
          <a:xfrm>
            <a:off x="9491472" y="2212848"/>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$2.66 (Seattle)</a:t>
            </a:r>
          </a:p>
        </p:txBody>
      </p:sp>
      <p:cxnSp>
        <p:nvCxnSpPr>
          <p:cNvPr id="32" name="Connector 31"/>
          <p:cNvCxnSpPr/>
          <p:nvPr/>
        </p:nvCxnSpPr>
        <p:spPr>
          <a:xfrm>
            <a:off x="6437376" y="2450592"/>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37376" y="2542032"/>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ORGANIC SHARE</a:t>
            </a:r>
          </a:p>
        </p:txBody>
      </p:sp>
      <p:sp>
        <p:nvSpPr>
          <p:cNvPr id="34" name="TextBox 33"/>
          <p:cNvSpPr txBox="1"/>
          <p:nvPr/>
        </p:nvSpPr>
        <p:spPr>
          <a:xfrm>
            <a:off x="9491472" y="2523744"/>
            <a:ext cx="1517904" cy="201168"/>
          </a:xfrm>
          <a:prstGeom prst="rect">
            <a:avLst/>
          </a:prstGeom>
          <a:noFill/>
        </p:spPr>
        <p:txBody>
          <a:bodyPr wrap="square" lIns="27432" rIns="27432" tIns="27432" bIns="27432" anchor="t">
            <a:spAutoFit/>
          </a:bodyPr>
          <a:lstStyle/>
          <a:p>
            <a:pPr algn="r"/>
            <a:r>
              <a:rPr sz="1700" b="1">
                <a:solidFill>
                  <a:srgbClr val="3F728A"/>
                </a:solidFill>
                <a:latin typeface="Aptos Display"/>
              </a:rPr>
              <a:t>11.2% (Seattle)</a:t>
            </a:r>
          </a:p>
        </p:txBody>
      </p:sp>
      <p:cxnSp>
        <p:nvCxnSpPr>
          <p:cNvPr id="35" name="Connector 34"/>
          <p:cNvCxnSpPr/>
          <p:nvPr/>
        </p:nvCxnSpPr>
        <p:spPr>
          <a:xfrm>
            <a:off x="6437376" y="2761488"/>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37376" y="2852928"/>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REVENUE ON 20K</a:t>
            </a:r>
          </a:p>
        </p:txBody>
      </p:sp>
      <p:sp>
        <p:nvSpPr>
          <p:cNvPr id="37" name="TextBox 36"/>
          <p:cNvSpPr txBox="1"/>
          <p:nvPr/>
        </p:nvSpPr>
        <p:spPr>
          <a:xfrm>
            <a:off x="9491472" y="2834640"/>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$21,280</a:t>
            </a:r>
          </a:p>
        </p:txBody>
      </p:sp>
      <p:cxnSp>
        <p:nvCxnSpPr>
          <p:cNvPr id="38" name="Connector 37"/>
          <p:cNvCxnSpPr/>
          <p:nvPr/>
        </p:nvCxnSpPr>
        <p:spPr>
          <a:xfrm>
            <a:off x="6437376" y="3072384"/>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437376" y="3163824"/>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ON 20K</a:t>
            </a:r>
          </a:p>
        </p:txBody>
      </p:sp>
      <p:sp>
        <p:nvSpPr>
          <p:cNvPr id="40" name="TextBox 39"/>
          <p:cNvSpPr txBox="1"/>
          <p:nvPr/>
        </p:nvSpPr>
        <p:spPr>
          <a:xfrm>
            <a:off x="9491472" y="3145536"/>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$15,266</a:t>
            </a:r>
          </a:p>
        </p:txBody>
      </p:sp>
      <p:cxnSp>
        <p:nvCxnSpPr>
          <p:cNvPr id="41" name="Connector 40"/>
          <p:cNvCxnSpPr/>
          <p:nvPr/>
        </p:nvCxnSpPr>
        <p:spPr>
          <a:xfrm>
            <a:off x="6437376" y="3383280"/>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437376" y="3474720"/>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RANK</a:t>
            </a:r>
          </a:p>
        </p:txBody>
      </p:sp>
      <p:sp>
        <p:nvSpPr>
          <p:cNvPr id="43" name="TextBox 42"/>
          <p:cNvSpPr txBox="1"/>
          <p:nvPr/>
        </p:nvSpPr>
        <p:spPr>
          <a:xfrm>
            <a:off x="9491472" y="3456432"/>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1st of 40</a:t>
            </a:r>
          </a:p>
        </p:txBody>
      </p:sp>
      <p:sp>
        <p:nvSpPr>
          <p:cNvPr id="44" name="TextBox 43"/>
          <p:cNvSpPr txBox="1"/>
          <p:nvPr/>
        </p:nvSpPr>
        <p:spPr>
          <a:xfrm>
            <a:off x="6437376" y="3877056"/>
            <a:ext cx="4791456" cy="1371600"/>
          </a:xfrm>
          <a:prstGeom prst="rect">
            <a:avLst/>
          </a:prstGeom>
          <a:noFill/>
        </p:spPr>
        <p:txBody>
          <a:bodyPr wrap="square" lIns="27432" rIns="27432" tIns="27432" bIns="27432" anchor="t">
            <a:spAutoFit/>
          </a:bodyPr>
          <a:lstStyle/>
          <a:p>
            <a:pPr algn="l"/>
            <a:r>
              <a:rPr sz="1200" b="0">
                <a:solidFill>
                  <a:srgbClr val="1F2621"/>
                </a:solidFill>
                <a:latin typeface="Aptos"/>
              </a:rPr>
              <a:t>Seattle and the Pacific Northwest treat organic avocados as a premium choice, not a staple. Higher household incomes (~$121k median in Seattle), over 60% college attainment, and concentrated organic retail infrastructure (Whole Foods, PCC co-ops) create a buyer who specifically seeks organic and will pay more for it. Organic prices in Seattle have risen from $2.05 in 2019 to $2.85 in 2025; demand is strengthening, not compressing.</a:t>
            </a:r>
          </a:p>
        </p:txBody>
      </p:sp>
      <p:sp>
        <p:nvSpPr>
          <p:cNvPr id="45" name="Rounded Rectangle 44"/>
          <p:cNvSpPr/>
          <p:nvPr/>
        </p:nvSpPr>
        <p:spPr>
          <a:xfrm>
            <a:off x="896112" y="5650992"/>
            <a:ext cx="10570464" cy="5120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97280" y="5760720"/>
            <a:ext cx="877824" cy="182880"/>
          </a:xfrm>
          <a:prstGeom prst="rect">
            <a:avLst/>
          </a:prstGeom>
          <a:noFill/>
        </p:spPr>
        <p:txBody>
          <a:bodyPr wrap="square" lIns="27432" rIns="27432" tIns="27432" bIns="27432" anchor="t">
            <a:spAutoFit/>
          </a:bodyPr>
          <a:lstStyle/>
          <a:p>
            <a:pPr algn="l"/>
            <a:r>
              <a:rPr sz="1100" b="1">
                <a:solidFill>
                  <a:srgbClr val="355C47"/>
                </a:solidFill>
                <a:latin typeface="Aptos Display"/>
              </a:rPr>
              <a:t>TAKEAWAY:</a:t>
            </a:r>
          </a:p>
        </p:txBody>
      </p:sp>
      <p:sp>
        <p:nvSpPr>
          <p:cNvPr id="47" name="TextBox 46"/>
          <p:cNvSpPr txBox="1"/>
          <p:nvPr/>
        </p:nvSpPr>
        <p:spPr>
          <a:xfrm>
            <a:off x="1938528" y="5724144"/>
            <a:ext cx="9235440" cy="256032"/>
          </a:xfrm>
          <a:prstGeom prst="rect">
            <a:avLst/>
          </a:prstGeom>
          <a:noFill/>
        </p:spPr>
        <p:txBody>
          <a:bodyPr wrap="square" lIns="27432" rIns="27432" tIns="27432" bIns="27432" anchor="ctr">
            <a:spAutoFit/>
          </a:bodyPr>
          <a:lstStyle/>
          <a:p>
            <a:pPr algn="l"/>
            <a:r>
              <a:rPr sz="1200" b="1">
                <a:solidFill>
                  <a:srgbClr val="1F2621"/>
                </a:solidFill>
                <a:latin typeface="Aptos"/>
              </a:rPr>
              <a:t>You do not launch a premium product in the city with the highest total consumption. You launch where buyers already pay a premium and actively seek it out. Los Angeles proves the category works. It does not prove West Valley can win there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14</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Winning entry markets need price, readiness, and manageable miles</a:t>
            </a:r>
          </a:p>
        </p:txBody>
      </p:sp>
      <p:sp>
        <p:nvSpPr>
          <p:cNvPr id="9" name="Rounded Rectangle 8"/>
          <p:cNvSpPr/>
          <p:nvPr/>
        </p:nvSpPr>
        <p:spPr>
          <a:xfrm>
            <a:off x="713232" y="1700784"/>
            <a:ext cx="7818120" cy="42611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01952"/>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ENTRY SCREEN LEADERBOARD</a:t>
            </a:r>
          </a:p>
        </p:txBody>
      </p:sp>
      <p:graphicFrame>
        <p:nvGraphicFramePr>
          <p:cNvPr id="11" name="Table 10"/>
          <p:cNvGraphicFramePr>
            <a:graphicFrameLocks noGrp="1"/>
          </p:cNvGraphicFramePr>
          <p:nvPr/>
        </p:nvGraphicFramePr>
        <p:xfrm>
          <a:off x="914400" y="2212848"/>
          <a:ext cx="6400800" cy="3474720"/>
        </p:xfrm>
        <a:graphic>
          <a:graphicData uri="http://schemas.openxmlformats.org/drawingml/2006/table">
            <a:tbl>
              <a:tblPr firstRow="1" bandRow="1">
                <a:tableStyleId>{5C22544A-7EE6-4342-B048-85BDC9FD1C3A}</a:tableStyleId>
              </a:tblPr>
              <a:tblGrid>
                <a:gridCol w="1371600"/>
                <a:gridCol w="914400"/>
                <a:gridCol w="1188720"/>
                <a:gridCol w="914400"/>
                <a:gridCol w="1143000"/>
                <a:gridCol w="868680"/>
              </a:tblGrid>
              <a:tr h="386080">
                <a:tc>
                  <a:txBody>
                    <a:bodyPr/>
                    <a:lstStyle/>
                    <a:p>
                      <a:r>
                        <a:rPr sz="1000" b="0">
                          <a:solidFill>
                            <a:srgbClr val="1F2621"/>
                          </a:solidFill>
                          <a:latin typeface="Aptos"/>
                        </a:rPr>
                        <a:t>City</a:t>
                      </a:r>
                    </a:p>
                  </a:txBody>
                  <a:tcPr>
                    <a:solidFill>
                      <a:srgbClr val="355C47"/>
                    </a:solidFill>
                  </a:tcPr>
                </a:tc>
                <a:tc>
                  <a:txBody>
                    <a:bodyPr/>
                    <a:lstStyle/>
                    <a:p>
                      <a:r>
                        <a:rPr sz="1000" b="0">
                          <a:solidFill>
                            <a:srgbClr val="1F2621"/>
                          </a:solidFill>
                          <a:latin typeface="Aptos"/>
                        </a:rPr>
                        <a:t>Price</a:t>
                      </a:r>
                    </a:p>
                  </a:txBody>
                  <a:tcPr>
                    <a:solidFill>
                      <a:srgbClr val="355C47"/>
                    </a:solidFill>
                  </a:tcPr>
                </a:tc>
                <a:tc>
                  <a:txBody>
                    <a:bodyPr/>
                    <a:lstStyle/>
                    <a:p>
                      <a:r>
                        <a:rPr sz="1000" b="0">
                          <a:solidFill>
                            <a:srgbClr val="1F2621"/>
                          </a:solidFill>
                          <a:latin typeface="Aptos"/>
                        </a:rPr>
                        <a:t>Organic share</a:t>
                      </a:r>
                    </a:p>
                  </a:txBody>
                  <a:tcPr>
                    <a:solidFill>
                      <a:srgbClr val="355C47"/>
                    </a:solidFill>
                  </a:tcPr>
                </a:tc>
                <a:tc>
                  <a:txBody>
                    <a:bodyPr/>
                    <a:lstStyle/>
                    <a:p>
                      <a:r>
                        <a:rPr sz="1000" b="0">
                          <a:solidFill>
                            <a:srgbClr val="1F2621"/>
                          </a:solidFill>
                          <a:latin typeface="Aptos"/>
                        </a:rPr>
                        <a:t>Miles</a:t>
                      </a:r>
                    </a:p>
                  </a:txBody>
                  <a:tcPr>
                    <a:solidFill>
                      <a:srgbClr val="355C47"/>
                    </a:solidFill>
                  </a:tcPr>
                </a:tc>
                <a:tc>
                  <a:txBody>
                    <a:bodyPr/>
                    <a:lstStyle/>
                    <a:p>
                      <a:r>
                        <a:rPr sz="1000" b="0">
                          <a:solidFill>
                            <a:srgbClr val="1F2621"/>
                          </a:solidFill>
                          <a:latin typeface="Aptos"/>
                        </a:rPr>
                        <a:t>Profit</a:t>
                      </a:r>
                    </a:p>
                  </a:txBody>
                  <a:tcPr>
                    <a:solidFill>
                      <a:srgbClr val="355C47"/>
                    </a:solidFill>
                  </a:tcPr>
                </a:tc>
                <a:tc>
                  <a:txBody>
                    <a:bodyPr/>
                    <a:lstStyle/>
                    <a:p>
                      <a:r>
                        <a:rPr sz="1000" b="0">
                          <a:solidFill>
                            <a:srgbClr val="1F2621"/>
                          </a:solidFill>
                          <a:latin typeface="Aptos"/>
                        </a:rPr>
                        <a:t>Pilot</a:t>
                      </a:r>
                    </a:p>
                  </a:txBody>
                  <a:tcPr>
                    <a:solidFill>
                      <a:srgbClr val="355C47"/>
                    </a:solidFill>
                  </a:tcPr>
                </a:tc>
              </a:tr>
              <a:tr h="386080">
                <a:tc>
                  <a:txBody>
                    <a:bodyPr/>
                    <a:lstStyle/>
                    <a:p>
                      <a:r>
                        <a:rPr sz="1000" b="0">
                          <a:solidFill>
                            <a:srgbClr val="1F2621"/>
                          </a:solidFill>
                          <a:latin typeface="Aptos"/>
                        </a:rPr>
                        <a:t>Seattle</a:t>
                      </a:r>
                    </a:p>
                  </a:txBody>
                  <a:tcPr>
                    <a:solidFill>
                      <a:srgbClr val="FCFAF5"/>
                    </a:solidFill>
                  </a:tcPr>
                </a:tc>
                <a:tc>
                  <a:txBody>
                    <a:bodyPr/>
                    <a:lstStyle/>
                    <a:p>
                      <a:r>
                        <a:rPr sz="1000" b="0">
                          <a:solidFill>
                            <a:srgbClr val="1F2621"/>
                          </a:solidFill>
                          <a:latin typeface="Aptos"/>
                        </a:rPr>
                        <a:t>$2.66</a:t>
                      </a:r>
                    </a:p>
                  </a:txBody>
                  <a:tcPr>
                    <a:solidFill>
                      <a:srgbClr val="FCFAF5"/>
                    </a:solidFill>
                  </a:tcPr>
                </a:tc>
                <a:tc>
                  <a:txBody>
                    <a:bodyPr/>
                    <a:lstStyle/>
                    <a:p>
                      <a:r>
                        <a:rPr sz="1000" b="0">
                          <a:solidFill>
                            <a:srgbClr val="1F2621"/>
                          </a:solidFill>
                          <a:latin typeface="Aptos"/>
                        </a:rPr>
                        <a:t>11.2%</a:t>
                      </a:r>
                    </a:p>
                  </a:txBody>
                  <a:tcPr>
                    <a:solidFill>
                      <a:srgbClr val="FCFAF5"/>
                    </a:solidFill>
                  </a:tcPr>
                </a:tc>
                <a:tc>
                  <a:txBody>
                    <a:bodyPr/>
                    <a:lstStyle/>
                    <a:p>
                      <a:r>
                        <a:rPr sz="1000" b="0">
                          <a:solidFill>
                            <a:srgbClr val="1F2621"/>
                          </a:solidFill>
                          <a:latin typeface="Aptos"/>
                        </a:rPr>
                        <a:t>1,029</a:t>
                      </a:r>
                    </a:p>
                  </a:txBody>
                  <a:tcPr>
                    <a:solidFill>
                      <a:srgbClr val="FCFAF5"/>
                    </a:solidFill>
                  </a:tcPr>
                </a:tc>
                <a:tc>
                  <a:txBody>
                    <a:bodyPr/>
                    <a:lstStyle/>
                    <a:p>
                      <a:r>
                        <a:rPr sz="1000" b="0">
                          <a:solidFill>
                            <a:srgbClr val="1F2621"/>
                          </a:solidFill>
                          <a:latin typeface="Aptos"/>
                        </a:rPr>
                        <a:t>$15,266</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Boise</a:t>
                      </a:r>
                    </a:p>
                  </a:txBody>
                  <a:tcPr>
                    <a:solidFill>
                      <a:srgbClr val="F7F3EC"/>
                    </a:solidFill>
                  </a:tcPr>
                </a:tc>
                <a:tc>
                  <a:txBody>
                    <a:bodyPr/>
                    <a:lstStyle/>
                    <a:p>
                      <a:r>
                        <a:rPr sz="1000" b="0">
                          <a:solidFill>
                            <a:srgbClr val="1F2621"/>
                          </a:solidFill>
                          <a:latin typeface="Aptos"/>
                        </a:rPr>
                        <a:t>$2.59</a:t>
                      </a:r>
                    </a:p>
                  </a:txBody>
                  <a:tcPr>
                    <a:solidFill>
                      <a:srgbClr val="F7F3EC"/>
                    </a:solidFill>
                  </a:tcPr>
                </a:tc>
                <a:tc>
                  <a:txBody>
                    <a:bodyPr/>
                    <a:lstStyle/>
                    <a:p>
                      <a:r>
                        <a:rPr sz="1000" b="0">
                          <a:solidFill>
                            <a:srgbClr val="1F2621"/>
                          </a:solidFill>
                          <a:latin typeface="Aptos"/>
                        </a:rPr>
                        <a:t>5.4%</a:t>
                      </a:r>
                    </a:p>
                  </a:txBody>
                  <a:tcPr>
                    <a:solidFill>
                      <a:srgbClr val="F7F3EC"/>
                    </a:solidFill>
                  </a:tcPr>
                </a:tc>
                <a:tc>
                  <a:txBody>
                    <a:bodyPr/>
                    <a:lstStyle/>
                    <a:p>
                      <a:r>
                        <a:rPr sz="1000" b="0">
                          <a:solidFill>
                            <a:srgbClr val="1F2621"/>
                          </a:solidFill>
                          <a:latin typeface="Aptos"/>
                        </a:rPr>
                        <a:t>827</a:t>
                      </a:r>
                    </a:p>
                  </a:txBody>
                  <a:tcPr>
                    <a:solidFill>
                      <a:srgbClr val="F7F3EC"/>
                    </a:solidFill>
                  </a:tcPr>
                </a:tc>
                <a:tc>
                  <a:txBody>
                    <a:bodyPr/>
                    <a:lstStyle/>
                    <a:p>
                      <a:r>
                        <a:rPr sz="1000" b="0">
                          <a:solidFill>
                            <a:srgbClr val="1F2621"/>
                          </a:solidFill>
                          <a:latin typeface="Aptos"/>
                        </a:rPr>
                        <a:t>$14,838</a:t>
                      </a:r>
                    </a:p>
                  </a:txBody>
                  <a:tcPr>
                    <a:solidFill>
                      <a:srgbClr val="F7F3EC"/>
                    </a:solidFill>
                  </a:tcPr>
                </a:tc>
                <a:tc>
                  <a:txBody>
                    <a:bodyPr/>
                    <a:lstStyle/>
                    <a:p>
                      <a:r>
                        <a:rPr sz="1000" b="0">
                          <a:solidFill>
                            <a:srgbClr val="1F2621"/>
                          </a:solidFill>
                          <a:latin typeface="Aptos"/>
                        </a:rPr>
                        <a:t>Selected</a:t>
                      </a:r>
                    </a:p>
                  </a:txBody>
                  <a:tcPr>
                    <a:solidFill>
                      <a:srgbClr val="F7F3EC"/>
                    </a:solidFill>
                  </a:tcPr>
                </a:tc>
              </a:tr>
              <a:tr h="386080">
                <a:tc>
                  <a:txBody>
                    <a:bodyPr/>
                    <a:lstStyle/>
                    <a:p>
                      <a:r>
                        <a:rPr sz="1000" b="0">
                          <a:solidFill>
                            <a:srgbClr val="1F2621"/>
                          </a:solidFill>
                          <a:latin typeface="Aptos"/>
                        </a:rPr>
                        <a:t>Portland</a:t>
                      </a:r>
                    </a:p>
                  </a:txBody>
                  <a:tcPr>
                    <a:solidFill>
                      <a:srgbClr val="FCFAF5"/>
                    </a:solidFill>
                  </a:tcPr>
                </a:tc>
                <a:tc>
                  <a:txBody>
                    <a:bodyPr/>
                    <a:lstStyle/>
                    <a:p>
                      <a:r>
                        <a:rPr sz="1000" b="0">
                          <a:solidFill>
                            <a:srgbClr val="1F2621"/>
                          </a:solidFill>
                          <a:latin typeface="Aptos"/>
                        </a:rPr>
                        <a:t>$2.54</a:t>
                      </a:r>
                    </a:p>
                  </a:txBody>
                  <a:tcPr>
                    <a:solidFill>
                      <a:srgbClr val="FCFAF5"/>
                    </a:solidFill>
                  </a:tcPr>
                </a:tc>
                <a:tc>
                  <a:txBody>
                    <a:bodyPr/>
                    <a:lstStyle/>
                    <a:p>
                      <a:r>
                        <a:rPr sz="1000" b="0">
                          <a:solidFill>
                            <a:srgbClr val="1F2621"/>
                          </a:solidFill>
                          <a:latin typeface="Aptos"/>
                        </a:rPr>
                        <a:t>5.9%</a:t>
                      </a:r>
                    </a:p>
                  </a:txBody>
                  <a:tcPr>
                    <a:solidFill>
                      <a:srgbClr val="FCFAF5"/>
                    </a:solidFill>
                  </a:tcPr>
                </a:tc>
                <a:tc>
                  <a:txBody>
                    <a:bodyPr/>
                    <a:lstStyle/>
                    <a:p>
                      <a:r>
                        <a:rPr sz="1000" b="0">
                          <a:solidFill>
                            <a:srgbClr val="1F2621"/>
                          </a:solidFill>
                          <a:latin typeface="Aptos"/>
                        </a:rPr>
                        <a:t>855</a:t>
                      </a:r>
                    </a:p>
                  </a:txBody>
                  <a:tcPr>
                    <a:solidFill>
                      <a:srgbClr val="FCFAF5"/>
                    </a:solidFill>
                  </a:tcPr>
                </a:tc>
                <a:tc>
                  <a:txBody>
                    <a:bodyPr/>
                    <a:lstStyle/>
                    <a:p>
                      <a:r>
                        <a:rPr sz="1000" b="0">
                          <a:solidFill>
                            <a:srgbClr val="1F2621"/>
                          </a:solidFill>
                          <a:latin typeface="Aptos"/>
                        </a:rPr>
                        <a:t>$14,408</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Spokane</a:t>
                      </a:r>
                    </a:p>
                  </a:txBody>
                  <a:tcPr>
                    <a:solidFill>
                      <a:srgbClr val="F7F3EC"/>
                    </a:solidFill>
                  </a:tcPr>
                </a:tc>
                <a:tc>
                  <a:txBody>
                    <a:bodyPr/>
                    <a:lstStyle/>
                    <a:p>
                      <a:r>
                        <a:rPr sz="1000" b="0">
                          <a:solidFill>
                            <a:srgbClr val="1F2621"/>
                          </a:solidFill>
                          <a:latin typeface="Aptos"/>
                        </a:rPr>
                        <a:t>$2.38</a:t>
                      </a:r>
                    </a:p>
                  </a:txBody>
                  <a:tcPr>
                    <a:solidFill>
                      <a:srgbClr val="F7F3EC"/>
                    </a:solidFill>
                  </a:tcPr>
                </a:tc>
                <a:tc>
                  <a:txBody>
                    <a:bodyPr/>
                    <a:lstStyle/>
                    <a:p>
                      <a:r>
                        <a:rPr sz="1000" b="0">
                          <a:solidFill>
                            <a:srgbClr val="1F2621"/>
                          </a:solidFill>
                          <a:latin typeface="Aptos"/>
                        </a:rPr>
                        <a:t>6.1%</a:t>
                      </a:r>
                    </a:p>
                  </a:txBody>
                  <a:tcPr>
                    <a:solidFill>
                      <a:srgbClr val="F7F3EC"/>
                    </a:solidFill>
                  </a:tcPr>
                </a:tc>
                <a:tc>
                  <a:txBody>
                    <a:bodyPr/>
                    <a:lstStyle/>
                    <a:p>
                      <a:r>
                        <a:rPr sz="1000" b="0">
                          <a:solidFill>
                            <a:srgbClr val="1F2621"/>
                          </a:solidFill>
                          <a:latin typeface="Aptos"/>
                        </a:rPr>
                        <a:t>1,097</a:t>
                      </a:r>
                    </a:p>
                  </a:txBody>
                  <a:tcPr>
                    <a:solidFill>
                      <a:srgbClr val="F7F3EC"/>
                    </a:solidFill>
                  </a:tcPr>
                </a:tc>
                <a:tc>
                  <a:txBody>
                    <a:bodyPr/>
                    <a:lstStyle/>
                    <a:p>
                      <a:r>
                        <a:rPr sz="1000" b="0">
                          <a:solidFill>
                            <a:srgbClr val="1F2621"/>
                          </a:solidFill>
                          <a:latin typeface="Aptos"/>
                        </a:rPr>
                        <a:t>$12,992</a:t>
                      </a:r>
                    </a:p>
                  </a:txBody>
                  <a:tcPr>
                    <a:solidFill>
                      <a:srgbClr val="F7F3EC"/>
                    </a:solidFill>
                  </a:tcPr>
                </a:tc>
                <a:tc>
                  <a:txBody>
                    <a:bodyPr/>
                    <a:lstStyle/>
                    <a:p>
                      <a:r>
                        <a:rPr sz="1000" b="0">
                          <a:solidFill>
                            <a:srgbClr val="1F2621"/>
                          </a:solidFill>
                          <a:latin typeface="Aptos"/>
                        </a:rPr>
                        <a:t>Selected</a:t>
                      </a:r>
                    </a:p>
                  </a:txBody>
                  <a:tcPr>
                    <a:solidFill>
                      <a:srgbClr val="F7F3EC"/>
                    </a:solidFill>
                  </a:tcPr>
                </a:tc>
              </a:tr>
              <a:tr h="386080">
                <a:tc>
                  <a:txBody>
                    <a:bodyPr/>
                    <a:lstStyle/>
                    <a:p>
                      <a:r>
                        <a:rPr sz="1000" b="0">
                          <a:solidFill>
                            <a:srgbClr val="1F2621"/>
                          </a:solidFill>
                          <a:latin typeface="Aptos"/>
                        </a:rPr>
                        <a:t>San Diego</a:t>
                      </a:r>
                    </a:p>
                  </a:txBody>
                  <a:tcPr>
                    <a:solidFill>
                      <a:srgbClr val="FCFAF5"/>
                    </a:solidFill>
                  </a:tcPr>
                </a:tc>
                <a:tc>
                  <a:txBody>
                    <a:bodyPr/>
                    <a:lstStyle/>
                    <a:p>
                      <a:r>
                        <a:rPr sz="1000" b="0">
                          <a:solidFill>
                            <a:srgbClr val="1F2621"/>
                          </a:solidFill>
                          <a:latin typeface="Aptos"/>
                        </a:rPr>
                        <a:t>$2.09</a:t>
                      </a:r>
                    </a:p>
                  </a:txBody>
                  <a:tcPr>
                    <a:solidFill>
                      <a:srgbClr val="FCFAF5"/>
                    </a:solidFill>
                  </a:tcPr>
                </a:tc>
                <a:tc>
                  <a:txBody>
                    <a:bodyPr/>
                    <a:lstStyle/>
                    <a:p>
                      <a:r>
                        <a:rPr sz="1000" b="0">
                          <a:solidFill>
                            <a:srgbClr val="1F2621"/>
                          </a:solidFill>
                          <a:latin typeface="Aptos"/>
                        </a:rPr>
                        <a:t>4.3%</a:t>
                      </a:r>
                    </a:p>
                  </a:txBody>
                  <a:tcPr>
                    <a:solidFill>
                      <a:srgbClr val="FCFAF5"/>
                    </a:solidFill>
                  </a:tcPr>
                </a:tc>
                <a:tc>
                  <a:txBody>
                    <a:bodyPr/>
                    <a:lstStyle/>
                    <a:p>
                      <a:r>
                        <a:rPr sz="1000" b="0">
                          <a:solidFill>
                            <a:srgbClr val="1F2621"/>
                          </a:solidFill>
                          <a:latin typeface="Aptos"/>
                        </a:rPr>
                        <a:t>253</a:t>
                      </a:r>
                    </a:p>
                  </a:txBody>
                  <a:tcPr>
                    <a:solidFill>
                      <a:srgbClr val="FCFAF5"/>
                    </a:solidFill>
                  </a:tcPr>
                </a:tc>
                <a:tc>
                  <a:txBody>
                    <a:bodyPr/>
                    <a:lstStyle/>
                    <a:p>
                      <a:r>
                        <a:rPr sz="1000" b="0">
                          <a:solidFill>
                            <a:srgbClr val="1F2621"/>
                          </a:solidFill>
                          <a:latin typeface="Aptos"/>
                        </a:rPr>
                        <a:t>$11,126</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San Francisco</a:t>
                      </a:r>
                    </a:p>
                  </a:txBody>
                  <a:tcPr>
                    <a:solidFill>
                      <a:srgbClr val="F7F3EC"/>
                    </a:solidFill>
                  </a:tcPr>
                </a:tc>
                <a:tc>
                  <a:txBody>
                    <a:bodyPr/>
                    <a:lstStyle/>
                    <a:p>
                      <a:r>
                        <a:rPr sz="1000" b="0">
                          <a:solidFill>
                            <a:srgbClr val="1F2621"/>
                          </a:solidFill>
                          <a:latin typeface="Aptos"/>
                        </a:rPr>
                        <a:t>$1.97</a:t>
                      </a:r>
                    </a:p>
                  </a:txBody>
                  <a:tcPr>
                    <a:solidFill>
                      <a:srgbClr val="F7F3EC"/>
                    </a:solidFill>
                  </a:tcPr>
                </a:tc>
                <a:tc>
                  <a:txBody>
                    <a:bodyPr/>
                    <a:lstStyle/>
                    <a:p>
                      <a:r>
                        <a:rPr sz="1000" b="0">
                          <a:solidFill>
                            <a:srgbClr val="1F2621"/>
                          </a:solidFill>
                          <a:latin typeface="Aptos"/>
                        </a:rPr>
                        <a:t>7.0%</a:t>
                      </a:r>
                    </a:p>
                  </a:txBody>
                  <a:tcPr>
                    <a:solidFill>
                      <a:srgbClr val="F7F3EC"/>
                    </a:solidFill>
                  </a:tcPr>
                </a:tc>
                <a:tc>
                  <a:txBody>
                    <a:bodyPr/>
                    <a:lstStyle/>
                    <a:p>
                      <a:r>
                        <a:rPr sz="1000" b="0">
                          <a:solidFill>
                            <a:srgbClr val="1F2621"/>
                          </a:solidFill>
                          <a:latin typeface="Aptos"/>
                        </a:rPr>
                        <a:t>283</a:t>
                      </a:r>
                    </a:p>
                  </a:txBody>
                  <a:tcPr>
                    <a:solidFill>
                      <a:srgbClr val="F7F3EC"/>
                    </a:solidFill>
                  </a:tcPr>
                </a:tc>
                <a:tc>
                  <a:txBody>
                    <a:bodyPr/>
                    <a:lstStyle/>
                    <a:p>
                      <a:r>
                        <a:rPr sz="1000" b="0">
                          <a:solidFill>
                            <a:srgbClr val="1F2621"/>
                          </a:solidFill>
                          <a:latin typeface="Aptos"/>
                        </a:rPr>
                        <a:t>$10,118</a:t>
                      </a:r>
                    </a:p>
                  </a:txBody>
                  <a:tcPr>
                    <a:solidFill>
                      <a:srgbClr val="F7F3EC"/>
                    </a:solidFill>
                  </a:tcPr>
                </a:tc>
                <a:tc>
                  <a:txBody>
                    <a:bodyPr/>
                    <a:lstStyle/>
                    <a:p>
                      <a:r>
                        <a:rPr sz="1000" b="0">
                          <a:solidFill>
                            <a:srgbClr val="1F2621"/>
                          </a:solidFill>
                          <a:latin typeface="Aptos"/>
                        </a:rPr>
                        <a:t>Not selected</a:t>
                      </a:r>
                    </a:p>
                  </a:txBody>
                  <a:tcPr>
                    <a:solidFill>
                      <a:srgbClr val="F7F3EC"/>
                    </a:solidFill>
                  </a:tcPr>
                </a:tc>
              </a:tr>
              <a:tr h="386080">
                <a:tc>
                  <a:txBody>
                    <a:bodyPr/>
                    <a:lstStyle/>
                    <a:p>
                      <a:r>
                        <a:rPr sz="1000" b="0">
                          <a:solidFill>
                            <a:srgbClr val="1F2621"/>
                          </a:solidFill>
                          <a:latin typeface="Aptos"/>
                        </a:rPr>
                        <a:t>Sacramento</a:t>
                      </a:r>
                    </a:p>
                  </a:txBody>
                  <a:tcPr>
                    <a:solidFill>
                      <a:srgbClr val="FCFAF5"/>
                    </a:solidFill>
                  </a:tcPr>
                </a:tc>
                <a:tc>
                  <a:txBody>
                    <a:bodyPr/>
                    <a:lstStyle/>
                    <a:p>
                      <a:r>
                        <a:rPr sz="1000" b="0">
                          <a:solidFill>
                            <a:srgbClr val="1F2621"/>
                          </a:solidFill>
                          <a:latin typeface="Aptos"/>
                        </a:rPr>
                        <a:t>$1.90</a:t>
                      </a:r>
                    </a:p>
                  </a:txBody>
                  <a:tcPr>
                    <a:solidFill>
                      <a:srgbClr val="FCFAF5"/>
                    </a:solidFill>
                  </a:tcPr>
                </a:tc>
                <a:tc>
                  <a:txBody>
                    <a:bodyPr/>
                    <a:lstStyle/>
                    <a:p>
                      <a:r>
                        <a:rPr sz="1000" b="0">
                          <a:solidFill>
                            <a:srgbClr val="1F2621"/>
                          </a:solidFill>
                          <a:latin typeface="Aptos"/>
                        </a:rPr>
                        <a:t>3.7%</a:t>
                      </a:r>
                    </a:p>
                  </a:txBody>
                  <a:tcPr>
                    <a:solidFill>
                      <a:srgbClr val="FCFAF5"/>
                    </a:solidFill>
                  </a:tcPr>
                </a:tc>
                <a:tc>
                  <a:txBody>
                    <a:bodyPr/>
                    <a:lstStyle/>
                    <a:p>
                      <a:r>
                        <a:rPr sz="1000" b="0">
                          <a:solidFill>
                            <a:srgbClr val="1F2621"/>
                          </a:solidFill>
                          <a:latin typeface="Aptos"/>
                        </a:rPr>
                        <a:t>277</a:t>
                      </a:r>
                    </a:p>
                  </a:txBody>
                  <a:tcPr>
                    <a:solidFill>
                      <a:srgbClr val="FCFAF5"/>
                    </a:solidFill>
                  </a:tcPr>
                </a:tc>
                <a:tc>
                  <a:txBody>
                    <a:bodyPr/>
                    <a:lstStyle/>
                    <a:p>
                      <a:r>
                        <a:rPr sz="1000" b="0">
                          <a:solidFill>
                            <a:srgbClr val="1F2621"/>
                          </a:solidFill>
                          <a:latin typeface="Aptos"/>
                        </a:rPr>
                        <a:t>$9,578</a:t>
                      </a:r>
                    </a:p>
                  </a:txBody>
                  <a:tcPr>
                    <a:solidFill>
                      <a:srgbClr val="FCFAF5"/>
                    </a:solidFill>
                  </a:tcPr>
                </a:tc>
                <a:tc>
                  <a:txBody>
                    <a:bodyPr/>
                    <a:lstStyle/>
                    <a:p>
                      <a:r>
                        <a:rPr sz="1000" b="0">
                          <a:solidFill>
                            <a:srgbClr val="1F2621"/>
                          </a:solidFill>
                          <a:latin typeface="Aptos"/>
                        </a:rPr>
                        <a:t>Not selected</a:t>
                      </a:r>
                    </a:p>
                  </a:txBody>
                  <a:tcPr>
                    <a:solidFill>
                      <a:srgbClr val="FCFAF5"/>
                    </a:solidFill>
                  </a:tcPr>
                </a:tc>
              </a:tr>
              <a:tr h="386080">
                <a:tc>
                  <a:txBody>
                    <a:bodyPr/>
                    <a:lstStyle/>
                    <a:p>
                      <a:r>
                        <a:rPr sz="1000" b="0">
                          <a:solidFill>
                            <a:srgbClr val="1F2621"/>
                          </a:solidFill>
                          <a:latin typeface="Aptos"/>
                        </a:rPr>
                        <a:t>Los Angeles</a:t>
                      </a:r>
                    </a:p>
                  </a:txBody>
                  <a:tcPr>
                    <a:solidFill>
                      <a:srgbClr val="F7F3EC"/>
                    </a:solidFill>
                  </a:tcPr>
                </a:tc>
                <a:tc>
                  <a:txBody>
                    <a:bodyPr/>
                    <a:lstStyle/>
                    <a:p>
                      <a:r>
                        <a:rPr sz="1000" b="0">
                          <a:solidFill>
                            <a:srgbClr val="1F2621"/>
                          </a:solidFill>
                          <a:latin typeface="Aptos"/>
                        </a:rPr>
                        <a:t>$1.87</a:t>
                      </a:r>
                    </a:p>
                  </a:txBody>
                  <a:tcPr>
                    <a:solidFill>
                      <a:srgbClr val="F7F3EC"/>
                    </a:solidFill>
                  </a:tcPr>
                </a:tc>
                <a:tc>
                  <a:txBody>
                    <a:bodyPr/>
                    <a:lstStyle/>
                    <a:p>
                      <a:r>
                        <a:rPr sz="1000" b="0">
                          <a:solidFill>
                            <a:srgbClr val="1F2621"/>
                          </a:solidFill>
                          <a:latin typeface="Aptos"/>
                        </a:rPr>
                        <a:t>4.9%</a:t>
                      </a:r>
                    </a:p>
                  </a:txBody>
                  <a:tcPr>
                    <a:solidFill>
                      <a:srgbClr val="F7F3EC"/>
                    </a:solidFill>
                  </a:tcPr>
                </a:tc>
                <a:tc>
                  <a:txBody>
                    <a:bodyPr/>
                    <a:lstStyle/>
                    <a:p>
                      <a:r>
                        <a:rPr sz="1000" b="0">
                          <a:solidFill>
                            <a:srgbClr val="1F2621"/>
                          </a:solidFill>
                          <a:latin typeface="Aptos"/>
                        </a:rPr>
                        <a:t>111</a:t>
                      </a:r>
                    </a:p>
                  </a:txBody>
                  <a:tcPr>
                    <a:solidFill>
                      <a:srgbClr val="F7F3EC"/>
                    </a:solidFill>
                  </a:tcPr>
                </a:tc>
                <a:tc>
                  <a:txBody>
                    <a:bodyPr/>
                    <a:lstStyle/>
                    <a:p>
                      <a:r>
                        <a:rPr sz="1000" b="0">
                          <a:solidFill>
                            <a:srgbClr val="1F2621"/>
                          </a:solidFill>
                          <a:latin typeface="Aptos"/>
                        </a:rPr>
                        <a:t>$9,404</a:t>
                      </a:r>
                    </a:p>
                  </a:txBody>
                  <a:tcPr>
                    <a:solidFill>
                      <a:srgbClr val="F7F3EC"/>
                    </a:solidFill>
                  </a:tcPr>
                </a:tc>
                <a:tc>
                  <a:txBody>
                    <a:bodyPr/>
                    <a:lstStyle/>
                    <a:p>
                      <a:r>
                        <a:rPr sz="1000" b="0">
                          <a:solidFill>
                            <a:srgbClr val="1F2621"/>
                          </a:solidFill>
                          <a:latin typeface="Aptos"/>
                        </a:rPr>
                        <a:t>Not selected</a:t>
                      </a:r>
                    </a:p>
                  </a:txBody>
                  <a:tcPr>
                    <a:solidFill>
                      <a:srgbClr val="F7F3EC"/>
                    </a:solidFill>
                  </a:tcPr>
                </a:tc>
              </a:tr>
            </a:tbl>
          </a:graphicData>
        </a:graphic>
      </p:graphicFrame>
      <p:sp>
        <p:nvSpPr>
          <p:cNvPr id="12" name="Rounded Rectangle 11"/>
          <p:cNvSpPr/>
          <p:nvPr/>
        </p:nvSpPr>
        <p:spPr>
          <a:xfrm>
            <a:off x="8759952" y="1700784"/>
            <a:ext cx="2761488" cy="42611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5984" y="1993392"/>
            <a:ext cx="2286000" cy="2542032"/>
          </a:xfrm>
          <a:prstGeom prst="rect">
            <a:avLst/>
          </a:prstGeom>
          <a:noFill/>
        </p:spPr>
        <p:txBody>
          <a:bodyPr wrap="square" lIns="27432" rIns="27432" tIns="18288" bIns="18288">
            <a:spAutoFit/>
          </a:bodyPr>
          <a:lstStyle/>
          <a:p>
            <a:pPr algn="l">
              <a:lnSpc>
                <a:spcPct val="115000"/>
              </a:lnSpc>
            </a:pPr>
            <a:r>
              <a:rPr sz="1100">
                <a:solidFill>
                  <a:srgbClr val="1F2621"/>
                </a:solidFill>
                <a:latin typeface="Aptos"/>
              </a:rPr>
              <a:t>- Los Angeles ranks 8th despite being only 111 miles away
because its $1.87 price cannot overcome the revenue gap
against premium-priced Northwest markets.</a:t>
            </a:r>
          </a:p>
          <a:p>
            <a:pPr algn="l">
              <a:lnSpc>
                <a:spcPct val="115000"/>
              </a:lnSpc>
            </a:pPr>
            <a:r>
              <a:rPr sz="1100">
                <a:solidFill>
                  <a:srgbClr val="1F2621"/>
                </a:solidFill>
                <a:latin typeface="Aptos"/>
              </a:rPr>
              <a:t>- Price power filters out large but lower-value markets.</a:t>
            </a:r>
          </a:p>
          <a:p>
            <a:pPr algn="l">
              <a:lnSpc>
                <a:spcPct val="115000"/>
              </a:lnSpc>
            </a:pPr>
            <a:r>
              <a:rPr sz="1100">
                <a:solidFill>
                  <a:srgbClr val="1F2621"/>
                </a:solidFill>
                <a:latin typeface="Aptos"/>
              </a:rPr>
              <a:t>- Organic readiness helps separate premium-fit cities from simple scale leaders.</a:t>
            </a:r>
          </a:p>
          <a:p>
            <a:pPr algn="l">
              <a:lnSpc>
                <a:spcPct val="115000"/>
              </a:lnSpc>
            </a:pPr>
            <a:r>
              <a:rPr sz="1100">
                <a:solidFill>
                  <a:srgbClr val="1F2621"/>
                </a:solidFill>
                <a:latin typeface="Aptos"/>
              </a:rPr>
              <a:t>- Miles still matter, but they do not overturn a strong local price advantage.</a:t>
            </a:r>
          </a:p>
        </p:txBody>
      </p:sp>
      <p:sp>
        <p:nvSpPr>
          <p:cNvPr id="14" name="Rounded Rectangle 13"/>
          <p:cNvSpPr/>
          <p:nvPr/>
        </p:nvSpPr>
        <p:spPr>
          <a:xfrm>
            <a:off x="9015984" y="4882896"/>
            <a:ext cx="215798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4992624"/>
            <a:ext cx="1901952" cy="164592"/>
          </a:xfrm>
          <a:prstGeom prst="rect">
            <a:avLst/>
          </a:prstGeom>
          <a:noFill/>
        </p:spPr>
        <p:txBody>
          <a:bodyPr wrap="square" lIns="27432" rIns="27432" tIns="27432" bIns="27432" anchor="t">
            <a:spAutoFit/>
          </a:bodyPr>
          <a:lstStyle/>
          <a:p>
            <a:pPr algn="ctr"/>
            <a:r>
              <a:rPr sz="1000" b="1">
                <a:solidFill>
                  <a:srgbClr val="5F6B63"/>
                </a:solidFill>
                <a:latin typeface="Aptos"/>
              </a:rPr>
              <a:t>BRIDGE TO RECOMMENDATION</a:t>
            </a:r>
          </a:p>
        </p:txBody>
      </p:sp>
      <p:sp>
        <p:nvSpPr>
          <p:cNvPr id="16" name="TextBox 15"/>
          <p:cNvSpPr txBox="1"/>
          <p:nvPr/>
        </p:nvSpPr>
        <p:spPr>
          <a:xfrm>
            <a:off x="9144000" y="5193792"/>
            <a:ext cx="190195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Best pilot set = top 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This is a special-order decision, not a full P&amp;L</a:t>
            </a:r>
          </a:p>
        </p:txBody>
      </p:sp>
      <p:sp>
        <p:nvSpPr>
          <p:cNvPr id="9" name="Rounded Rectangle 8"/>
          <p:cNvSpPr/>
          <p:nvPr/>
        </p:nvSpPr>
        <p:spPr>
          <a:xfrm>
            <a:off x="749808" y="1682496"/>
            <a:ext cx="662940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01952"/>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RELEVANT-COST LOGIC</a:t>
            </a:r>
          </a:p>
        </p:txBody>
      </p:sp>
      <p:sp>
        <p:nvSpPr>
          <p:cNvPr id="11" name="Rounded Rectangle 10"/>
          <p:cNvSpPr/>
          <p:nvPr/>
        </p:nvSpPr>
        <p:spPr>
          <a:xfrm>
            <a:off x="969264" y="2249424"/>
            <a:ext cx="6144768" cy="896112"/>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0432" y="2487168"/>
            <a:ext cx="5760720" cy="310896"/>
          </a:xfrm>
          <a:prstGeom prst="rect">
            <a:avLst/>
          </a:prstGeom>
          <a:noFill/>
        </p:spPr>
        <p:txBody>
          <a:bodyPr wrap="square" lIns="27432" rIns="27432" tIns="27432" bIns="27432" anchor="t">
            <a:spAutoFit/>
          </a:bodyPr>
          <a:lstStyle/>
          <a:p>
            <a:pPr algn="ctr"/>
            <a:r>
              <a:rPr sz="1900" b="1">
                <a:solidFill>
                  <a:srgbClr val="355C47"/>
                </a:solidFill>
                <a:latin typeface="Aptos Display"/>
              </a:rPr>
              <a:t>Profit(Q) = Q x (0.40 x retail price - $0.20) - ($1,500 + $50 x miles / 100)</a:t>
            </a:r>
          </a:p>
        </p:txBody>
      </p:sp>
      <p:sp>
        <p:nvSpPr>
          <p:cNvPr id="13" name="Rounded Rectangle 12"/>
          <p:cNvSpPr/>
          <p:nvPr/>
        </p:nvSpPr>
        <p:spPr>
          <a:xfrm>
            <a:off x="969264" y="3401568"/>
            <a:ext cx="1938528" cy="149961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47872"/>
            <a:ext cx="1682496" cy="146304"/>
          </a:xfrm>
          <a:prstGeom prst="rect">
            <a:avLst/>
          </a:prstGeom>
          <a:noFill/>
        </p:spPr>
        <p:txBody>
          <a:bodyPr wrap="square" lIns="27432" rIns="27432" tIns="27432" bIns="27432" anchor="t">
            <a:spAutoFit/>
          </a:bodyPr>
          <a:lstStyle/>
          <a:p>
            <a:pPr algn="l"/>
            <a:r>
              <a:rPr sz="900" b="1">
                <a:solidFill>
                  <a:srgbClr val="5F6B63"/>
                </a:solidFill>
                <a:latin typeface="Aptos"/>
              </a:rPr>
              <a:t>RELEVANT REVENUE</a:t>
            </a:r>
          </a:p>
        </p:txBody>
      </p:sp>
      <p:sp>
        <p:nvSpPr>
          <p:cNvPr id="15" name="TextBox 14"/>
          <p:cNvSpPr txBox="1"/>
          <p:nvPr/>
        </p:nvSpPr>
        <p:spPr>
          <a:xfrm>
            <a:off x="1097280" y="3822191"/>
            <a:ext cx="1682496" cy="274320"/>
          </a:xfrm>
          <a:prstGeom prst="rect">
            <a:avLst/>
          </a:prstGeom>
          <a:noFill/>
        </p:spPr>
        <p:txBody>
          <a:bodyPr wrap="square" lIns="27432" rIns="27432" tIns="27432" bIns="27432" anchor="t">
            <a:spAutoFit/>
          </a:bodyPr>
          <a:lstStyle/>
          <a:p>
            <a:pPr algn="l"/>
            <a:r>
              <a:rPr sz="1700" b="1">
                <a:solidFill>
                  <a:srgbClr val="355C47"/>
                </a:solidFill>
                <a:latin typeface="Aptos Display"/>
              </a:rPr>
              <a:t>40% of retail</a:t>
            </a:r>
          </a:p>
        </p:txBody>
      </p:sp>
      <p:sp>
        <p:nvSpPr>
          <p:cNvPr id="16" name="TextBox 15"/>
          <p:cNvSpPr txBox="1"/>
          <p:nvPr/>
        </p:nvSpPr>
        <p:spPr>
          <a:xfrm>
            <a:off x="1097280" y="4187952"/>
            <a:ext cx="1682496" cy="457200"/>
          </a:xfrm>
          <a:prstGeom prst="rect">
            <a:avLst/>
          </a:prstGeom>
          <a:noFill/>
        </p:spPr>
        <p:txBody>
          <a:bodyPr wrap="square" lIns="27432" rIns="27432" tIns="27432" bIns="27432" anchor="t">
            <a:spAutoFit/>
          </a:bodyPr>
          <a:lstStyle/>
          <a:p>
            <a:pPr algn="l"/>
            <a:r>
              <a:rPr sz="1000" b="0">
                <a:solidFill>
                  <a:srgbClr val="1F2621"/>
                </a:solidFill>
                <a:latin typeface="Aptos"/>
              </a:rPr>
              <a:t>The case gives one June price proxy, so revenue is modeled consistently across cities.</a:t>
            </a:r>
          </a:p>
        </p:txBody>
      </p:sp>
      <p:sp>
        <p:nvSpPr>
          <p:cNvPr id="17" name="Rounded Rectangle 16"/>
          <p:cNvSpPr/>
          <p:nvPr/>
        </p:nvSpPr>
        <p:spPr>
          <a:xfrm>
            <a:off x="3017520" y="3401568"/>
            <a:ext cx="1938528" cy="149961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45536" y="3547872"/>
            <a:ext cx="1682496" cy="146304"/>
          </a:xfrm>
          <a:prstGeom prst="rect">
            <a:avLst/>
          </a:prstGeom>
          <a:noFill/>
        </p:spPr>
        <p:txBody>
          <a:bodyPr wrap="square" lIns="27432" rIns="27432" tIns="27432" bIns="27432" anchor="t">
            <a:spAutoFit/>
          </a:bodyPr>
          <a:lstStyle/>
          <a:p>
            <a:pPr algn="l"/>
            <a:r>
              <a:rPr sz="900" b="1">
                <a:solidFill>
                  <a:srgbClr val="5F6B63"/>
                </a:solidFill>
                <a:latin typeface="Aptos"/>
              </a:rPr>
              <a:t>VARIABLE COST</a:t>
            </a:r>
          </a:p>
        </p:txBody>
      </p:sp>
      <p:sp>
        <p:nvSpPr>
          <p:cNvPr id="19" name="TextBox 18"/>
          <p:cNvSpPr txBox="1"/>
          <p:nvPr/>
        </p:nvSpPr>
        <p:spPr>
          <a:xfrm>
            <a:off x="3145536" y="3822191"/>
            <a:ext cx="1682496" cy="274320"/>
          </a:xfrm>
          <a:prstGeom prst="rect">
            <a:avLst/>
          </a:prstGeom>
          <a:noFill/>
        </p:spPr>
        <p:txBody>
          <a:bodyPr wrap="square" lIns="27432" rIns="27432" tIns="27432" bIns="27432" anchor="t">
            <a:spAutoFit/>
          </a:bodyPr>
          <a:lstStyle/>
          <a:p>
            <a:pPr algn="l"/>
            <a:r>
              <a:rPr sz="1700" b="1">
                <a:solidFill>
                  <a:srgbClr val="3F728A"/>
                </a:solidFill>
                <a:latin typeface="Aptos Display"/>
              </a:rPr>
              <a:t>$0.20 / avocado</a:t>
            </a:r>
          </a:p>
        </p:txBody>
      </p:sp>
      <p:sp>
        <p:nvSpPr>
          <p:cNvPr id="20" name="TextBox 19"/>
          <p:cNvSpPr txBox="1"/>
          <p:nvPr/>
        </p:nvSpPr>
        <p:spPr>
          <a:xfrm>
            <a:off x="3145536" y="4187952"/>
            <a:ext cx="1682496" cy="457200"/>
          </a:xfrm>
          <a:prstGeom prst="rect">
            <a:avLst/>
          </a:prstGeom>
          <a:noFill/>
        </p:spPr>
        <p:txBody>
          <a:bodyPr wrap="square" lIns="27432" rIns="27432" tIns="27432" bIns="27432" anchor="t">
            <a:spAutoFit/>
          </a:bodyPr>
          <a:lstStyle/>
          <a:p>
            <a:pPr algn="l"/>
            <a:r>
              <a:rPr sz="1000" b="0">
                <a:solidFill>
                  <a:srgbClr val="1F2621"/>
                </a:solidFill>
                <a:latin typeface="Aptos"/>
              </a:rPr>
              <a:t>Acquisition is the true per-unit cost in the screen.</a:t>
            </a:r>
          </a:p>
        </p:txBody>
      </p:sp>
      <p:sp>
        <p:nvSpPr>
          <p:cNvPr id="21" name="Rounded Rectangle 20"/>
          <p:cNvSpPr/>
          <p:nvPr/>
        </p:nvSpPr>
        <p:spPr>
          <a:xfrm>
            <a:off x="5065776" y="3401568"/>
            <a:ext cx="1938528" cy="149961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93792" y="3547872"/>
            <a:ext cx="1682496" cy="146304"/>
          </a:xfrm>
          <a:prstGeom prst="rect">
            <a:avLst/>
          </a:prstGeom>
          <a:noFill/>
        </p:spPr>
        <p:txBody>
          <a:bodyPr wrap="square" lIns="27432" rIns="27432" tIns="27432" bIns="27432" anchor="t">
            <a:spAutoFit/>
          </a:bodyPr>
          <a:lstStyle/>
          <a:p>
            <a:pPr algn="l"/>
            <a:r>
              <a:rPr sz="900" b="1">
                <a:solidFill>
                  <a:srgbClr val="5F6B63"/>
                </a:solidFill>
                <a:latin typeface="Aptos"/>
              </a:rPr>
              <a:t>ROUTE-FIXED COST</a:t>
            </a:r>
          </a:p>
        </p:txBody>
      </p:sp>
      <p:sp>
        <p:nvSpPr>
          <p:cNvPr id="23" name="TextBox 22"/>
          <p:cNvSpPr txBox="1"/>
          <p:nvPr/>
        </p:nvSpPr>
        <p:spPr>
          <a:xfrm>
            <a:off x="5193792" y="3822191"/>
            <a:ext cx="1682496" cy="274320"/>
          </a:xfrm>
          <a:prstGeom prst="rect">
            <a:avLst/>
          </a:prstGeom>
          <a:noFill/>
        </p:spPr>
        <p:txBody>
          <a:bodyPr wrap="square" lIns="27432" rIns="27432" tIns="27432" bIns="27432" anchor="t">
            <a:spAutoFit/>
          </a:bodyPr>
          <a:lstStyle/>
          <a:p>
            <a:pPr algn="l"/>
            <a:r>
              <a:rPr sz="1700" b="1">
                <a:solidFill>
                  <a:srgbClr val="C58A2A"/>
                </a:solidFill>
                <a:latin typeface="Aptos Display"/>
              </a:rPr>
              <a:t>$1,500 + distance</a:t>
            </a:r>
          </a:p>
        </p:txBody>
      </p:sp>
      <p:sp>
        <p:nvSpPr>
          <p:cNvPr id="24" name="TextBox 23"/>
          <p:cNvSpPr txBox="1"/>
          <p:nvPr/>
        </p:nvSpPr>
        <p:spPr>
          <a:xfrm>
            <a:off x="5193792" y="4187952"/>
            <a:ext cx="1682496" cy="457200"/>
          </a:xfrm>
          <a:prstGeom prst="rect">
            <a:avLst/>
          </a:prstGeom>
          <a:noFill/>
        </p:spPr>
        <p:txBody>
          <a:bodyPr wrap="square" lIns="27432" rIns="27432" tIns="27432" bIns="27432" anchor="t">
            <a:spAutoFit/>
          </a:bodyPr>
          <a:lstStyle/>
          <a:p>
            <a:pPr algn="l"/>
            <a:r>
              <a:rPr sz="1000" b="0">
                <a:solidFill>
                  <a:srgbClr val="1F2621"/>
                </a:solidFill>
                <a:latin typeface="Aptos"/>
              </a:rPr>
              <a:t>Shipping behaves like a route cost paid once per destination.</a:t>
            </a:r>
          </a:p>
        </p:txBody>
      </p:sp>
      <p:sp>
        <p:nvSpPr>
          <p:cNvPr id="25" name="TextBox 24"/>
          <p:cNvSpPr txBox="1"/>
          <p:nvPr/>
        </p:nvSpPr>
        <p:spPr>
          <a:xfrm>
            <a:off x="969264" y="5102352"/>
            <a:ext cx="6126480" cy="402336"/>
          </a:xfrm>
          <a:prstGeom prst="rect">
            <a:avLst/>
          </a:prstGeom>
          <a:noFill/>
        </p:spPr>
        <p:txBody>
          <a:bodyPr wrap="square" lIns="27432" rIns="27432" tIns="27432" bIns="27432" anchor="t">
            <a:spAutoFit/>
          </a:bodyPr>
          <a:lstStyle/>
          <a:p>
            <a:pPr algn="l"/>
            <a:r>
              <a:rPr sz="1300" b="0">
                <a:solidFill>
                  <a:srgbClr val="1F2621"/>
                </a:solidFill>
                <a:latin typeface="Aptos"/>
              </a:rPr>
              <a:t>Because the case assumes idle capacity and no extra overhead, this is a textbook special-order screen: accept if incremental contribution covers route cost, then optimize city choice.</a:t>
            </a:r>
          </a:p>
        </p:txBody>
      </p:sp>
      <p:sp>
        <p:nvSpPr>
          <p:cNvPr id="26" name="Rounded Rectangle 25"/>
          <p:cNvSpPr/>
          <p:nvPr/>
        </p:nvSpPr>
        <p:spPr>
          <a:xfrm>
            <a:off x="7644383" y="1682496"/>
            <a:ext cx="3858768"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900416" y="1938528"/>
            <a:ext cx="1517904" cy="89611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28432" y="2048256"/>
            <a:ext cx="1261872" cy="164592"/>
          </a:xfrm>
          <a:prstGeom prst="rect">
            <a:avLst/>
          </a:prstGeom>
          <a:noFill/>
        </p:spPr>
        <p:txBody>
          <a:bodyPr wrap="square" lIns="27432" rIns="27432" tIns="27432" bIns="27432" anchor="t">
            <a:spAutoFit/>
          </a:bodyPr>
          <a:lstStyle/>
          <a:p>
            <a:pPr algn="ctr"/>
            <a:r>
              <a:rPr sz="1000" b="1">
                <a:solidFill>
                  <a:srgbClr val="5F6B63"/>
                </a:solidFill>
                <a:latin typeface="Aptos"/>
              </a:rPr>
              <a:t>CITY SCREENS POSITIVE</a:t>
            </a:r>
          </a:p>
        </p:txBody>
      </p:sp>
      <p:sp>
        <p:nvSpPr>
          <p:cNvPr id="29" name="TextBox 28"/>
          <p:cNvSpPr txBox="1"/>
          <p:nvPr/>
        </p:nvSpPr>
        <p:spPr>
          <a:xfrm>
            <a:off x="8028432" y="2249424"/>
            <a:ext cx="1261872" cy="475488"/>
          </a:xfrm>
          <a:prstGeom prst="rect">
            <a:avLst/>
          </a:prstGeom>
          <a:noFill/>
        </p:spPr>
        <p:txBody>
          <a:bodyPr wrap="square" lIns="27432" rIns="27432" tIns="27432" bIns="27432" anchor="ctr">
            <a:spAutoFit/>
          </a:bodyPr>
          <a:lstStyle/>
          <a:p>
            <a:pPr algn="ctr"/>
            <a:r>
              <a:rPr sz="1900" b="1">
                <a:solidFill>
                  <a:srgbClr val="355C47"/>
                </a:solidFill>
                <a:latin typeface="Aptos Display"/>
              </a:rPr>
              <a:t>40/40</a:t>
            </a:r>
          </a:p>
        </p:txBody>
      </p:sp>
      <p:sp>
        <p:nvSpPr>
          <p:cNvPr id="30" name="Rounded Rectangle 29"/>
          <p:cNvSpPr/>
          <p:nvPr/>
        </p:nvSpPr>
        <p:spPr>
          <a:xfrm>
            <a:off x="9546336" y="1938528"/>
            <a:ext cx="1609344" cy="89611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4352" y="2048256"/>
            <a:ext cx="1353312" cy="164592"/>
          </a:xfrm>
          <a:prstGeom prst="rect">
            <a:avLst/>
          </a:prstGeom>
          <a:noFill/>
        </p:spPr>
        <p:txBody>
          <a:bodyPr wrap="square" lIns="27432" rIns="27432" tIns="27432" bIns="27432" anchor="t">
            <a:spAutoFit/>
          </a:bodyPr>
          <a:lstStyle/>
          <a:p>
            <a:pPr algn="ctr"/>
            <a:r>
              <a:rPr sz="1000" b="1">
                <a:solidFill>
                  <a:srgbClr val="5F6B63"/>
                </a:solidFill>
                <a:latin typeface="Aptos"/>
              </a:rPr>
              <a:t>LOWEST PROFIT</a:t>
            </a:r>
          </a:p>
        </p:txBody>
      </p:sp>
      <p:sp>
        <p:nvSpPr>
          <p:cNvPr id="32" name="TextBox 31"/>
          <p:cNvSpPr txBox="1"/>
          <p:nvPr/>
        </p:nvSpPr>
        <p:spPr>
          <a:xfrm>
            <a:off x="9674352" y="2249424"/>
            <a:ext cx="1353312" cy="475488"/>
          </a:xfrm>
          <a:prstGeom prst="rect">
            <a:avLst/>
          </a:prstGeom>
          <a:noFill/>
        </p:spPr>
        <p:txBody>
          <a:bodyPr wrap="square" lIns="27432" rIns="27432" tIns="27432" bIns="27432" anchor="ctr">
            <a:spAutoFit/>
          </a:bodyPr>
          <a:lstStyle/>
          <a:p>
            <a:pPr algn="ctr"/>
            <a:r>
              <a:rPr sz="1900" b="1">
                <a:solidFill>
                  <a:srgbClr val="3F728A"/>
                </a:solidFill>
                <a:latin typeface="Aptos Display"/>
              </a:rPr>
              <a:t>$4.3k</a:t>
            </a:r>
          </a:p>
        </p:txBody>
      </p:sp>
      <p:sp>
        <p:nvSpPr>
          <p:cNvPr id="33" name="Rounded Rectangle 32"/>
          <p:cNvSpPr/>
          <p:nvPr/>
        </p:nvSpPr>
        <p:spPr>
          <a:xfrm>
            <a:off x="7900416" y="3017520"/>
            <a:ext cx="3255264" cy="89611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28432" y="3127248"/>
            <a:ext cx="2999232" cy="164592"/>
          </a:xfrm>
          <a:prstGeom prst="rect">
            <a:avLst/>
          </a:prstGeom>
          <a:noFill/>
        </p:spPr>
        <p:txBody>
          <a:bodyPr wrap="square" lIns="27432" rIns="27432" tIns="27432" bIns="27432" anchor="t">
            <a:spAutoFit/>
          </a:bodyPr>
          <a:lstStyle/>
          <a:p>
            <a:pPr algn="ctr"/>
            <a:r>
              <a:rPr sz="1000" b="1">
                <a:solidFill>
                  <a:srgbClr val="5F6B63"/>
                </a:solidFill>
                <a:latin typeface="Aptos"/>
              </a:rPr>
              <a:t>DECISION RULE</a:t>
            </a:r>
          </a:p>
        </p:txBody>
      </p:sp>
      <p:sp>
        <p:nvSpPr>
          <p:cNvPr id="35" name="TextBox 34"/>
          <p:cNvSpPr txBox="1"/>
          <p:nvPr/>
        </p:nvSpPr>
        <p:spPr>
          <a:xfrm>
            <a:off x="8028432" y="3328416"/>
            <a:ext cx="2999232" cy="475488"/>
          </a:xfrm>
          <a:prstGeom prst="rect">
            <a:avLst/>
          </a:prstGeom>
          <a:noFill/>
        </p:spPr>
        <p:txBody>
          <a:bodyPr wrap="square" lIns="27432" rIns="27432" tIns="27432" bIns="27432" anchor="ctr">
            <a:spAutoFit/>
          </a:bodyPr>
          <a:lstStyle/>
          <a:p>
            <a:pPr algn="ctr"/>
            <a:r>
              <a:rPr sz="1900" b="1">
                <a:solidFill>
                  <a:srgbClr val="C58A2A"/>
                </a:solidFill>
                <a:latin typeface="Aptos Display"/>
              </a:rPr>
              <a:t>Optimize city mix</a:t>
            </a:r>
          </a:p>
        </p:txBody>
      </p:sp>
      <p:sp>
        <p:nvSpPr>
          <p:cNvPr id="36" name="TextBox 35"/>
          <p:cNvSpPr txBox="1"/>
          <p:nvPr/>
        </p:nvSpPr>
        <p:spPr>
          <a:xfrm>
            <a:off x="7900416" y="4187952"/>
            <a:ext cx="3017520" cy="1261872"/>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All 40 cities clear the special-order hurdle, so the question is not whether to sell. It is where the economics are strongest.</a:t>
            </a:r>
          </a:p>
          <a:p>
            <a:pPr algn="l">
              <a:lnSpc>
                <a:spcPct val="115000"/>
              </a:lnSpc>
            </a:pPr>
            <a:r>
              <a:rPr sz="1200">
                <a:solidFill>
                  <a:srgbClr val="1F2621"/>
                </a:solidFill>
                <a:latin typeface="Aptos"/>
              </a:rPr>
              <a:t>- That is why the next slides move from contribution logic to break-even resilience and then to ranking.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Top-five markets break even at only 12%-14% of planned volume</a:t>
            </a:r>
          </a:p>
        </p:txBody>
      </p:sp>
      <p:sp>
        <p:nvSpPr>
          <p:cNvPr id="9" name="Rounded Rectangle 8"/>
          <p:cNvSpPr/>
          <p:nvPr/>
        </p:nvSpPr>
        <p:spPr>
          <a:xfrm>
            <a:off x="749808" y="1682496"/>
            <a:ext cx="694944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01952"/>
            <a:ext cx="2743200" cy="164592"/>
          </a:xfrm>
          <a:prstGeom prst="rect">
            <a:avLst/>
          </a:prstGeom>
          <a:noFill/>
        </p:spPr>
        <p:txBody>
          <a:bodyPr wrap="square" lIns="27432" rIns="27432" tIns="27432" bIns="27432" anchor="t">
            <a:spAutoFit/>
          </a:bodyPr>
          <a:lstStyle/>
          <a:p>
            <a:pPr algn="l"/>
            <a:r>
              <a:rPr sz="1000" b="1">
                <a:solidFill>
                  <a:srgbClr val="5F6B63"/>
                </a:solidFill>
                <a:latin typeface="Aptos"/>
              </a:rPr>
              <a:t>BREAK-EVEN VOLUME VS 20K SCREEN</a:t>
            </a:r>
          </a:p>
        </p:txBody>
      </p:sp>
      <p:sp>
        <p:nvSpPr>
          <p:cNvPr id="11" name="TextBox 10"/>
          <p:cNvSpPr txBox="1"/>
          <p:nvPr/>
        </p:nvSpPr>
        <p:spPr>
          <a:xfrm>
            <a:off x="987552" y="2359152"/>
            <a:ext cx="109728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212848" y="2386584"/>
            <a:ext cx="44805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12848" y="2386584"/>
            <a:ext cx="522343"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2350008"/>
            <a:ext cx="731520" cy="164592"/>
          </a:xfrm>
          <a:prstGeom prst="rect">
            <a:avLst/>
          </a:prstGeom>
          <a:noFill/>
        </p:spPr>
        <p:txBody>
          <a:bodyPr wrap="square" lIns="27432" rIns="27432" tIns="27432" bIns="27432" anchor="t">
            <a:spAutoFit/>
          </a:bodyPr>
          <a:lstStyle/>
          <a:p>
            <a:pPr algn="r"/>
            <a:r>
              <a:rPr sz="1100" b="1">
                <a:solidFill>
                  <a:srgbClr val="355C47"/>
                </a:solidFill>
                <a:latin typeface="Aptos"/>
              </a:rPr>
              <a:t>2,332</a:t>
            </a:r>
          </a:p>
        </p:txBody>
      </p:sp>
      <p:sp>
        <p:nvSpPr>
          <p:cNvPr id="15" name="TextBox 14"/>
          <p:cNvSpPr txBox="1"/>
          <p:nvPr/>
        </p:nvSpPr>
        <p:spPr>
          <a:xfrm>
            <a:off x="5614416" y="2560320"/>
            <a:ext cx="1005840" cy="146304"/>
          </a:xfrm>
          <a:prstGeom prst="rect">
            <a:avLst/>
          </a:prstGeom>
          <a:noFill/>
        </p:spPr>
        <p:txBody>
          <a:bodyPr wrap="square" lIns="27432" rIns="27432" tIns="27432" bIns="27432" anchor="t">
            <a:spAutoFit/>
          </a:bodyPr>
          <a:lstStyle/>
          <a:p>
            <a:pPr algn="r"/>
            <a:r>
              <a:rPr sz="900" b="0">
                <a:solidFill>
                  <a:srgbClr val="5F6B63"/>
                </a:solidFill>
                <a:latin typeface="Aptos"/>
              </a:rPr>
              <a:t>MOS 88.3%</a:t>
            </a:r>
          </a:p>
        </p:txBody>
      </p:sp>
      <p:sp>
        <p:nvSpPr>
          <p:cNvPr id="16" name="TextBox 15"/>
          <p:cNvSpPr txBox="1"/>
          <p:nvPr/>
        </p:nvSpPr>
        <p:spPr>
          <a:xfrm>
            <a:off x="987552" y="2926080"/>
            <a:ext cx="109728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7" name="Rounded Rectangle 16"/>
          <p:cNvSpPr/>
          <p:nvPr/>
        </p:nvSpPr>
        <p:spPr>
          <a:xfrm>
            <a:off x="2212848" y="2953512"/>
            <a:ext cx="44805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212848" y="2953512"/>
            <a:ext cx="511792"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2916936"/>
            <a:ext cx="731520" cy="164592"/>
          </a:xfrm>
          <a:prstGeom prst="rect">
            <a:avLst/>
          </a:prstGeom>
          <a:noFill/>
        </p:spPr>
        <p:txBody>
          <a:bodyPr wrap="square" lIns="27432" rIns="27432" tIns="27432" bIns="27432" anchor="t">
            <a:spAutoFit/>
          </a:bodyPr>
          <a:lstStyle/>
          <a:p>
            <a:pPr algn="r"/>
            <a:r>
              <a:rPr sz="1100" b="1">
                <a:solidFill>
                  <a:srgbClr val="355C47"/>
                </a:solidFill>
                <a:latin typeface="Aptos"/>
              </a:rPr>
              <a:t>2,285</a:t>
            </a:r>
          </a:p>
        </p:txBody>
      </p:sp>
      <p:sp>
        <p:nvSpPr>
          <p:cNvPr id="20" name="TextBox 19"/>
          <p:cNvSpPr txBox="1"/>
          <p:nvPr/>
        </p:nvSpPr>
        <p:spPr>
          <a:xfrm>
            <a:off x="5614416" y="3127248"/>
            <a:ext cx="1005840" cy="146304"/>
          </a:xfrm>
          <a:prstGeom prst="rect">
            <a:avLst/>
          </a:prstGeom>
          <a:noFill/>
        </p:spPr>
        <p:txBody>
          <a:bodyPr wrap="square" lIns="27432" rIns="27432" tIns="27432" bIns="27432" anchor="t">
            <a:spAutoFit/>
          </a:bodyPr>
          <a:lstStyle/>
          <a:p>
            <a:pPr algn="r"/>
            <a:r>
              <a:rPr sz="900" b="0">
                <a:solidFill>
                  <a:srgbClr val="5F6B63"/>
                </a:solidFill>
                <a:latin typeface="Aptos"/>
              </a:rPr>
              <a:t>MOS 88.6%</a:t>
            </a:r>
          </a:p>
        </p:txBody>
      </p:sp>
      <p:sp>
        <p:nvSpPr>
          <p:cNvPr id="21" name="TextBox 20"/>
          <p:cNvSpPr txBox="1"/>
          <p:nvPr/>
        </p:nvSpPr>
        <p:spPr>
          <a:xfrm>
            <a:off x="987552" y="3493008"/>
            <a:ext cx="109728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2" name="Rounded Rectangle 21"/>
          <p:cNvSpPr/>
          <p:nvPr/>
        </p:nvSpPr>
        <p:spPr>
          <a:xfrm>
            <a:off x="2212848" y="3520440"/>
            <a:ext cx="44805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212848" y="3520440"/>
            <a:ext cx="528665"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3483864"/>
            <a:ext cx="731520" cy="164592"/>
          </a:xfrm>
          <a:prstGeom prst="rect">
            <a:avLst/>
          </a:prstGeom>
          <a:noFill/>
        </p:spPr>
        <p:txBody>
          <a:bodyPr wrap="square" lIns="27432" rIns="27432" tIns="27432" bIns="27432" anchor="t">
            <a:spAutoFit/>
          </a:bodyPr>
          <a:lstStyle/>
          <a:p>
            <a:pPr algn="r"/>
            <a:r>
              <a:rPr sz="1100" b="1">
                <a:solidFill>
                  <a:srgbClr val="355C47"/>
                </a:solidFill>
                <a:latin typeface="Aptos"/>
              </a:rPr>
              <a:t>2,360</a:t>
            </a:r>
          </a:p>
        </p:txBody>
      </p:sp>
      <p:sp>
        <p:nvSpPr>
          <p:cNvPr id="25" name="TextBox 24"/>
          <p:cNvSpPr txBox="1"/>
          <p:nvPr/>
        </p:nvSpPr>
        <p:spPr>
          <a:xfrm>
            <a:off x="5614416" y="3694176"/>
            <a:ext cx="1005840" cy="146304"/>
          </a:xfrm>
          <a:prstGeom prst="rect">
            <a:avLst/>
          </a:prstGeom>
          <a:noFill/>
        </p:spPr>
        <p:txBody>
          <a:bodyPr wrap="square" lIns="27432" rIns="27432" tIns="27432" bIns="27432" anchor="t">
            <a:spAutoFit/>
          </a:bodyPr>
          <a:lstStyle/>
          <a:p>
            <a:pPr algn="r"/>
            <a:r>
              <a:rPr sz="900" b="0">
                <a:solidFill>
                  <a:srgbClr val="5F6B63"/>
                </a:solidFill>
                <a:latin typeface="Aptos"/>
              </a:rPr>
              <a:t>MOS 88.2%</a:t>
            </a:r>
          </a:p>
        </p:txBody>
      </p:sp>
      <p:sp>
        <p:nvSpPr>
          <p:cNvPr id="26" name="TextBox 25"/>
          <p:cNvSpPr txBox="1"/>
          <p:nvPr/>
        </p:nvSpPr>
        <p:spPr>
          <a:xfrm>
            <a:off x="987552" y="4059935"/>
            <a:ext cx="109728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27" name="Rounded Rectangle 26"/>
          <p:cNvSpPr/>
          <p:nvPr/>
        </p:nvSpPr>
        <p:spPr>
          <a:xfrm>
            <a:off x="2212848" y="4087367"/>
            <a:ext cx="44805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2212848" y="4087367"/>
            <a:ext cx="610267" cy="16459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4050791"/>
            <a:ext cx="731520" cy="164592"/>
          </a:xfrm>
          <a:prstGeom prst="rect">
            <a:avLst/>
          </a:prstGeom>
          <a:noFill/>
        </p:spPr>
        <p:txBody>
          <a:bodyPr wrap="square" lIns="27432" rIns="27432" tIns="27432" bIns="27432" anchor="t">
            <a:spAutoFit/>
          </a:bodyPr>
          <a:lstStyle/>
          <a:p>
            <a:pPr algn="r"/>
            <a:r>
              <a:rPr sz="1100" b="1">
                <a:solidFill>
                  <a:srgbClr val="355C47"/>
                </a:solidFill>
                <a:latin typeface="Aptos"/>
              </a:rPr>
              <a:t>2,724</a:t>
            </a:r>
          </a:p>
        </p:txBody>
      </p:sp>
      <p:sp>
        <p:nvSpPr>
          <p:cNvPr id="30" name="TextBox 29"/>
          <p:cNvSpPr txBox="1"/>
          <p:nvPr/>
        </p:nvSpPr>
        <p:spPr>
          <a:xfrm>
            <a:off x="5614416" y="4261103"/>
            <a:ext cx="1005840" cy="146304"/>
          </a:xfrm>
          <a:prstGeom prst="rect">
            <a:avLst/>
          </a:prstGeom>
          <a:noFill/>
        </p:spPr>
        <p:txBody>
          <a:bodyPr wrap="square" lIns="27432" rIns="27432" tIns="27432" bIns="27432" anchor="t">
            <a:spAutoFit/>
          </a:bodyPr>
          <a:lstStyle/>
          <a:p>
            <a:pPr algn="r"/>
            <a:r>
              <a:rPr sz="900" b="0">
                <a:solidFill>
                  <a:srgbClr val="5F6B63"/>
                </a:solidFill>
                <a:latin typeface="Aptos"/>
              </a:rPr>
              <a:t>MOS 86.4%</a:t>
            </a:r>
          </a:p>
        </p:txBody>
      </p:sp>
      <p:sp>
        <p:nvSpPr>
          <p:cNvPr id="31" name="TextBox 30"/>
          <p:cNvSpPr txBox="1"/>
          <p:nvPr/>
        </p:nvSpPr>
        <p:spPr>
          <a:xfrm>
            <a:off x="987552" y="4626864"/>
            <a:ext cx="109728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32" name="Rounded Rectangle 31"/>
          <p:cNvSpPr/>
          <p:nvPr/>
        </p:nvSpPr>
        <p:spPr>
          <a:xfrm>
            <a:off x="2212848" y="4654296"/>
            <a:ext cx="44805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212848" y="4654296"/>
            <a:ext cx="571489" cy="16459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66560" y="4617720"/>
            <a:ext cx="731520" cy="164592"/>
          </a:xfrm>
          <a:prstGeom prst="rect">
            <a:avLst/>
          </a:prstGeom>
          <a:noFill/>
        </p:spPr>
        <p:txBody>
          <a:bodyPr wrap="square" lIns="27432" rIns="27432" tIns="27432" bIns="27432" anchor="t">
            <a:spAutoFit/>
          </a:bodyPr>
          <a:lstStyle/>
          <a:p>
            <a:pPr algn="r"/>
            <a:r>
              <a:rPr sz="1100" b="1">
                <a:solidFill>
                  <a:srgbClr val="355C47"/>
                </a:solidFill>
                <a:latin typeface="Aptos"/>
              </a:rPr>
              <a:t>2,551</a:t>
            </a:r>
          </a:p>
        </p:txBody>
      </p:sp>
      <p:sp>
        <p:nvSpPr>
          <p:cNvPr id="35" name="TextBox 34"/>
          <p:cNvSpPr txBox="1"/>
          <p:nvPr/>
        </p:nvSpPr>
        <p:spPr>
          <a:xfrm>
            <a:off x="5614416" y="4828032"/>
            <a:ext cx="1005840" cy="146304"/>
          </a:xfrm>
          <a:prstGeom prst="rect">
            <a:avLst/>
          </a:prstGeom>
          <a:noFill/>
        </p:spPr>
        <p:txBody>
          <a:bodyPr wrap="square" lIns="27432" rIns="27432" tIns="27432" bIns="27432" anchor="t">
            <a:spAutoFit/>
          </a:bodyPr>
          <a:lstStyle/>
          <a:p>
            <a:pPr algn="r"/>
            <a:r>
              <a:rPr sz="900" b="0">
                <a:solidFill>
                  <a:srgbClr val="5F6B63"/>
                </a:solidFill>
                <a:latin typeface="Aptos"/>
              </a:rPr>
              <a:t>MOS 87.2%</a:t>
            </a:r>
          </a:p>
        </p:txBody>
      </p:sp>
      <p:cxnSp>
        <p:nvCxnSpPr>
          <p:cNvPr id="36" name="Connector 35"/>
          <p:cNvCxnSpPr/>
          <p:nvPr/>
        </p:nvCxnSpPr>
        <p:spPr>
          <a:xfrm>
            <a:off x="6693408" y="2240280"/>
            <a:ext cx="0" cy="2834640"/>
          </a:xfrm>
          <a:prstGeom prst="line">
            <a:avLst/>
          </a:prstGeom>
          <a:ln w="17780">
            <a:solidFill>
              <a:srgbClr val="C58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5230368"/>
            <a:ext cx="1645920" cy="146304"/>
          </a:xfrm>
          <a:prstGeom prst="rect">
            <a:avLst/>
          </a:prstGeom>
          <a:noFill/>
        </p:spPr>
        <p:txBody>
          <a:bodyPr wrap="square" lIns="27432" rIns="27432" tIns="27432" bIns="27432" anchor="t">
            <a:spAutoFit/>
          </a:bodyPr>
          <a:lstStyle/>
          <a:p>
            <a:pPr algn="ctr"/>
            <a:r>
              <a:rPr sz="1000" b="0">
                <a:solidFill>
                  <a:srgbClr val="C58A2A"/>
                </a:solidFill>
                <a:latin typeface="Aptos"/>
              </a:rPr>
              <a:t>20,000-unit screen</a:t>
            </a:r>
          </a:p>
        </p:txBody>
      </p:sp>
      <p:sp>
        <p:nvSpPr>
          <p:cNvPr id="38" name="TextBox 37"/>
          <p:cNvSpPr txBox="1"/>
          <p:nvPr/>
        </p:nvSpPr>
        <p:spPr>
          <a:xfrm>
            <a:off x="987552" y="5394960"/>
            <a:ext cx="6126480" cy="164592"/>
          </a:xfrm>
          <a:prstGeom prst="rect">
            <a:avLst/>
          </a:prstGeom>
          <a:noFill/>
        </p:spPr>
        <p:txBody>
          <a:bodyPr wrap="square" lIns="27432" rIns="27432" tIns="27432" bIns="27432" anchor="t">
            <a:spAutoFit/>
          </a:bodyPr>
          <a:lstStyle/>
          <a:p>
            <a:pPr algn="l"/>
            <a:r>
              <a:rPr sz="1100" b="0">
                <a:solidFill>
                  <a:srgbClr val="5F6B63"/>
                </a:solidFill>
                <a:latin typeface="Aptos"/>
              </a:rPr>
              <a:t>Each bar shows the units needed to cover route-fixed shipping. The rest of the 20,000-unit screen is margin-of-safety.</a:t>
            </a:r>
          </a:p>
        </p:txBody>
      </p:sp>
      <p:sp>
        <p:nvSpPr>
          <p:cNvPr id="39" name="Rounded Rectangle 38"/>
          <p:cNvSpPr/>
          <p:nvPr/>
        </p:nvSpPr>
        <p:spPr>
          <a:xfrm>
            <a:off x="7936992" y="1682496"/>
            <a:ext cx="356616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74736" y="1956816"/>
            <a:ext cx="144475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02752" y="2066544"/>
            <a:ext cx="1188720" cy="164592"/>
          </a:xfrm>
          <a:prstGeom prst="rect">
            <a:avLst/>
          </a:prstGeom>
          <a:noFill/>
        </p:spPr>
        <p:txBody>
          <a:bodyPr wrap="square" lIns="27432" rIns="27432" tIns="27432" bIns="27432" anchor="t">
            <a:spAutoFit/>
          </a:bodyPr>
          <a:lstStyle/>
          <a:p>
            <a:pPr algn="ctr"/>
            <a:r>
              <a:rPr sz="1000" b="1">
                <a:solidFill>
                  <a:srgbClr val="5F6B63"/>
                </a:solidFill>
                <a:latin typeface="Aptos"/>
              </a:rPr>
              <a:t>BEST BREAK-EVEN</a:t>
            </a:r>
          </a:p>
        </p:txBody>
      </p:sp>
      <p:sp>
        <p:nvSpPr>
          <p:cNvPr id="42" name="TextBox 41"/>
          <p:cNvSpPr txBox="1"/>
          <p:nvPr/>
        </p:nvSpPr>
        <p:spPr>
          <a:xfrm>
            <a:off x="8302752" y="2267712"/>
            <a:ext cx="1188720"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2,285</a:t>
            </a:r>
          </a:p>
        </p:txBody>
      </p:sp>
      <p:sp>
        <p:nvSpPr>
          <p:cNvPr id="43" name="Rounded Rectangle 42"/>
          <p:cNvSpPr/>
          <p:nvPr/>
        </p:nvSpPr>
        <p:spPr>
          <a:xfrm>
            <a:off x="9747504" y="1956816"/>
            <a:ext cx="144475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75520" y="2066544"/>
            <a:ext cx="1188720" cy="164592"/>
          </a:xfrm>
          <a:prstGeom prst="rect">
            <a:avLst/>
          </a:prstGeom>
          <a:noFill/>
        </p:spPr>
        <p:txBody>
          <a:bodyPr wrap="square" lIns="27432" rIns="27432" tIns="27432" bIns="27432" anchor="t">
            <a:spAutoFit/>
          </a:bodyPr>
          <a:lstStyle/>
          <a:p>
            <a:pPr algn="ctr"/>
            <a:r>
              <a:rPr sz="1000" b="1">
                <a:solidFill>
                  <a:srgbClr val="5F6B63"/>
                </a:solidFill>
                <a:latin typeface="Aptos"/>
              </a:rPr>
              <a:t>WORST BREAK-EVEN</a:t>
            </a:r>
          </a:p>
        </p:txBody>
      </p:sp>
      <p:sp>
        <p:nvSpPr>
          <p:cNvPr id="45" name="TextBox 44"/>
          <p:cNvSpPr txBox="1"/>
          <p:nvPr/>
        </p:nvSpPr>
        <p:spPr>
          <a:xfrm>
            <a:off x="9875520" y="2267712"/>
            <a:ext cx="1188720"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2,724</a:t>
            </a:r>
          </a:p>
        </p:txBody>
      </p:sp>
      <p:sp>
        <p:nvSpPr>
          <p:cNvPr id="46" name="Rounded Rectangle 45"/>
          <p:cNvSpPr/>
          <p:nvPr/>
        </p:nvSpPr>
        <p:spPr>
          <a:xfrm>
            <a:off x="8174736" y="3054096"/>
            <a:ext cx="30175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02752" y="3163824"/>
            <a:ext cx="2761488" cy="164592"/>
          </a:xfrm>
          <a:prstGeom prst="rect">
            <a:avLst/>
          </a:prstGeom>
          <a:noFill/>
        </p:spPr>
        <p:txBody>
          <a:bodyPr wrap="square" lIns="27432" rIns="27432" tIns="27432" bIns="27432" anchor="t">
            <a:spAutoFit/>
          </a:bodyPr>
          <a:lstStyle/>
          <a:p>
            <a:pPr algn="ctr"/>
            <a:r>
              <a:rPr sz="1000" b="1">
                <a:solidFill>
                  <a:srgbClr val="5F6B63"/>
                </a:solidFill>
                <a:latin typeface="Aptos"/>
              </a:rPr>
              <a:t>BREAK-EVEN RETAIL RANGE</a:t>
            </a:r>
          </a:p>
        </p:txBody>
      </p:sp>
      <p:sp>
        <p:nvSpPr>
          <p:cNvPr id="48" name="TextBox 47"/>
          <p:cNvSpPr txBox="1"/>
          <p:nvPr/>
        </p:nvSpPr>
        <p:spPr>
          <a:xfrm>
            <a:off x="8302752" y="3364992"/>
            <a:ext cx="276148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$0.70-$0.76</a:t>
            </a:r>
          </a:p>
        </p:txBody>
      </p:sp>
      <p:sp>
        <p:nvSpPr>
          <p:cNvPr id="49" name="TextBox 48"/>
          <p:cNvSpPr txBox="1"/>
          <p:nvPr/>
        </p:nvSpPr>
        <p:spPr>
          <a:xfrm>
            <a:off x="8174736" y="4224528"/>
            <a:ext cx="2743200" cy="123444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Seattle breaks even at roughly 2.3k units; Spokane, the weakest of the five, still breaks even at only 2.7k.</a:t>
            </a:r>
          </a:p>
          <a:p>
            <a:pPr algn="l">
              <a:lnSpc>
                <a:spcPct val="115000"/>
              </a:lnSpc>
            </a:pPr>
            <a:r>
              <a:rPr sz="1200">
                <a:solidFill>
                  <a:srgbClr val="1F2621"/>
                </a:solidFill>
                <a:latin typeface="Aptos"/>
              </a:rPr>
              <a:t>- That means every recommended city has an 86%+ margin of safety under the screen assumptions.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All 40 cities pass the special-order test; the top five maximize profit</a:t>
            </a:r>
          </a:p>
        </p:txBody>
      </p:sp>
      <p:sp>
        <p:nvSpPr>
          <p:cNvPr id="9" name="Rounded Rectangle 8"/>
          <p:cNvSpPr/>
          <p:nvPr/>
        </p:nvSpPr>
        <p:spPr>
          <a:xfrm>
            <a:off x="713232" y="1572768"/>
            <a:ext cx="6583680" cy="44074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92224"/>
            <a:ext cx="5989320" cy="146304"/>
          </a:xfrm>
          <a:prstGeom prst="rect">
            <a:avLst/>
          </a:prstGeom>
          <a:noFill/>
        </p:spPr>
        <p:txBody>
          <a:bodyPr wrap="square" lIns="27432" rIns="27432" tIns="27432" bIns="27432" anchor="t">
            <a:spAutoFit/>
          </a:bodyPr>
          <a:lstStyle/>
          <a:p>
            <a:pPr algn="l"/>
            <a:r>
              <a:rPr sz="1000" b="1">
                <a:solidFill>
                  <a:srgbClr val="5F6B63"/>
                </a:solidFill>
                <a:latin typeface="Aptos"/>
              </a:rPr>
              <a:t>TOP 10 CITY PROFIT RANKING</a:t>
            </a:r>
          </a:p>
        </p:txBody>
      </p:sp>
      <p:sp>
        <p:nvSpPr>
          <p:cNvPr id="11" name="TextBox 10"/>
          <p:cNvSpPr txBox="1"/>
          <p:nvPr/>
        </p:nvSpPr>
        <p:spPr>
          <a:xfrm>
            <a:off x="932688" y="2029968"/>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596896" y="2039112"/>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96896" y="2039112"/>
            <a:ext cx="324612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07608" y="1993392"/>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$15,266</a:t>
            </a:r>
          </a:p>
        </p:txBody>
      </p:sp>
      <p:sp>
        <p:nvSpPr>
          <p:cNvPr id="15" name="TextBox 14"/>
          <p:cNvSpPr txBox="1"/>
          <p:nvPr/>
        </p:nvSpPr>
        <p:spPr>
          <a:xfrm>
            <a:off x="932688" y="2368296"/>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6" name="Rounded Rectangle 15"/>
          <p:cNvSpPr/>
          <p:nvPr/>
        </p:nvSpPr>
        <p:spPr>
          <a:xfrm>
            <a:off x="2596896" y="2377440"/>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596896" y="2377440"/>
            <a:ext cx="3155321"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07608" y="2331720"/>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$14,838</a:t>
            </a:r>
          </a:p>
        </p:txBody>
      </p:sp>
      <p:sp>
        <p:nvSpPr>
          <p:cNvPr id="19" name="TextBox 18"/>
          <p:cNvSpPr txBox="1"/>
          <p:nvPr/>
        </p:nvSpPr>
        <p:spPr>
          <a:xfrm>
            <a:off x="932688" y="2706624"/>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0" name="Rounded Rectangle 19"/>
          <p:cNvSpPr/>
          <p:nvPr/>
        </p:nvSpPr>
        <p:spPr>
          <a:xfrm>
            <a:off x="2596896" y="2715768"/>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596896" y="2715768"/>
            <a:ext cx="3063884"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07608" y="2670048"/>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$14,408</a:t>
            </a:r>
          </a:p>
        </p:txBody>
      </p:sp>
      <p:sp>
        <p:nvSpPr>
          <p:cNvPr id="23" name="TextBox 22"/>
          <p:cNvSpPr txBox="1"/>
          <p:nvPr/>
        </p:nvSpPr>
        <p:spPr>
          <a:xfrm>
            <a:off x="932688" y="3044952"/>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24" name="Rounded Rectangle 23"/>
          <p:cNvSpPr/>
          <p:nvPr/>
        </p:nvSpPr>
        <p:spPr>
          <a:xfrm>
            <a:off x="2596896" y="3054096"/>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596896" y="3054096"/>
            <a:ext cx="2762567"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07608" y="3008376"/>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$12,992</a:t>
            </a:r>
          </a:p>
        </p:txBody>
      </p:sp>
      <p:sp>
        <p:nvSpPr>
          <p:cNvPr id="27" name="TextBox 26"/>
          <p:cNvSpPr txBox="1"/>
          <p:nvPr/>
        </p:nvSpPr>
        <p:spPr>
          <a:xfrm>
            <a:off x="932688" y="3383280"/>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28" name="Rounded Rectangle 27"/>
          <p:cNvSpPr/>
          <p:nvPr/>
        </p:nvSpPr>
        <p:spPr>
          <a:xfrm>
            <a:off x="2596896" y="3392424"/>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596896" y="3392424"/>
            <a:ext cx="2365773"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07608" y="3346704"/>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$11,126</a:t>
            </a:r>
          </a:p>
        </p:txBody>
      </p:sp>
      <p:sp>
        <p:nvSpPr>
          <p:cNvPr id="31" name="TextBox 30"/>
          <p:cNvSpPr txBox="1"/>
          <p:nvPr/>
        </p:nvSpPr>
        <p:spPr>
          <a:xfrm>
            <a:off x="932688" y="3721608"/>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San Fran</a:t>
            </a:r>
          </a:p>
        </p:txBody>
      </p:sp>
      <p:sp>
        <p:nvSpPr>
          <p:cNvPr id="32" name="Rounded Rectangle 31"/>
          <p:cNvSpPr/>
          <p:nvPr/>
        </p:nvSpPr>
        <p:spPr>
          <a:xfrm>
            <a:off x="2596896" y="3730752"/>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596896" y="3730752"/>
            <a:ext cx="2151640"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07608" y="3685032"/>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$10,118</a:t>
            </a:r>
          </a:p>
        </p:txBody>
      </p:sp>
      <p:sp>
        <p:nvSpPr>
          <p:cNvPr id="35" name="TextBox 34"/>
          <p:cNvSpPr txBox="1"/>
          <p:nvPr/>
        </p:nvSpPr>
        <p:spPr>
          <a:xfrm>
            <a:off x="932688" y="4059936"/>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Sacramento</a:t>
            </a:r>
          </a:p>
        </p:txBody>
      </p:sp>
      <p:sp>
        <p:nvSpPr>
          <p:cNvPr id="36" name="Rounded Rectangle 35"/>
          <p:cNvSpPr/>
          <p:nvPr/>
        </p:nvSpPr>
        <p:spPr>
          <a:xfrm>
            <a:off x="2596896" y="4069080"/>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596896" y="4069080"/>
            <a:ext cx="2036600"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07608" y="4023360"/>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$9,578</a:t>
            </a:r>
          </a:p>
        </p:txBody>
      </p:sp>
      <p:sp>
        <p:nvSpPr>
          <p:cNvPr id="39" name="TextBox 38"/>
          <p:cNvSpPr txBox="1"/>
          <p:nvPr/>
        </p:nvSpPr>
        <p:spPr>
          <a:xfrm>
            <a:off x="932688" y="4398264"/>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Los Angeles</a:t>
            </a:r>
          </a:p>
        </p:txBody>
      </p:sp>
      <p:sp>
        <p:nvSpPr>
          <p:cNvPr id="40" name="Rounded Rectangle 39"/>
          <p:cNvSpPr/>
          <p:nvPr/>
        </p:nvSpPr>
        <p:spPr>
          <a:xfrm>
            <a:off x="2596896" y="4407408"/>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596896" y="4407408"/>
            <a:ext cx="1999812"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07608" y="4361688"/>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$9,404</a:t>
            </a:r>
          </a:p>
        </p:txBody>
      </p:sp>
      <p:sp>
        <p:nvSpPr>
          <p:cNvPr id="43" name="TextBox 42"/>
          <p:cNvSpPr txBox="1"/>
          <p:nvPr/>
        </p:nvSpPr>
        <p:spPr>
          <a:xfrm>
            <a:off x="932688" y="4736592"/>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Cincy/Dayton</a:t>
            </a:r>
          </a:p>
        </p:txBody>
      </p:sp>
      <p:sp>
        <p:nvSpPr>
          <p:cNvPr id="44" name="Rounded Rectangle 43"/>
          <p:cNvSpPr/>
          <p:nvPr/>
        </p:nvSpPr>
        <p:spPr>
          <a:xfrm>
            <a:off x="2596896" y="4745736"/>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2596896" y="4745736"/>
            <a:ext cx="1867229"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007608" y="4700016"/>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$8,781</a:t>
            </a:r>
          </a:p>
        </p:txBody>
      </p:sp>
      <p:sp>
        <p:nvSpPr>
          <p:cNvPr id="47" name="TextBox 46"/>
          <p:cNvSpPr txBox="1"/>
          <p:nvPr/>
        </p:nvSpPr>
        <p:spPr>
          <a:xfrm>
            <a:off x="932688" y="5074920"/>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Las Vegas</a:t>
            </a:r>
          </a:p>
        </p:txBody>
      </p:sp>
      <p:sp>
        <p:nvSpPr>
          <p:cNvPr id="48" name="Rounded Rectangle 47"/>
          <p:cNvSpPr/>
          <p:nvPr/>
        </p:nvSpPr>
        <p:spPr>
          <a:xfrm>
            <a:off x="2596896" y="5084064"/>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596896" y="5084064"/>
            <a:ext cx="1746447"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07608" y="5038344"/>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$8,213</a:t>
            </a:r>
          </a:p>
        </p:txBody>
      </p:sp>
      <p:sp>
        <p:nvSpPr>
          <p:cNvPr id="51" name="Rounded Rectangle 50"/>
          <p:cNvSpPr/>
          <p:nvPr/>
        </p:nvSpPr>
        <p:spPr>
          <a:xfrm>
            <a:off x="7571231" y="1572768"/>
            <a:ext cx="3931920" cy="44074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27264" y="1828800"/>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ACCOUNTING READ</a:t>
            </a:r>
          </a:p>
        </p:txBody>
      </p:sp>
      <p:sp>
        <p:nvSpPr>
          <p:cNvPr id="53" name="Rounded Rectangle 52"/>
          <p:cNvSpPr/>
          <p:nvPr/>
        </p:nvSpPr>
        <p:spPr>
          <a:xfrm>
            <a:off x="7827264" y="2139696"/>
            <a:ext cx="173736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955280" y="2249424"/>
            <a:ext cx="148132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a:t>
            </a:r>
          </a:p>
        </p:txBody>
      </p:sp>
      <p:sp>
        <p:nvSpPr>
          <p:cNvPr id="55" name="TextBox 54"/>
          <p:cNvSpPr txBox="1"/>
          <p:nvPr/>
        </p:nvSpPr>
        <p:spPr>
          <a:xfrm>
            <a:off x="7955280" y="2450592"/>
            <a:ext cx="1481328" cy="493776"/>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56" name="Rounded Rectangle 55"/>
          <p:cNvSpPr/>
          <p:nvPr/>
        </p:nvSpPr>
        <p:spPr>
          <a:xfrm>
            <a:off x="9656064" y="2139696"/>
            <a:ext cx="1572768"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784080" y="2249424"/>
            <a:ext cx="1316736" cy="164592"/>
          </a:xfrm>
          <a:prstGeom prst="rect">
            <a:avLst/>
          </a:prstGeom>
          <a:noFill/>
        </p:spPr>
        <p:txBody>
          <a:bodyPr wrap="square" lIns="27432" rIns="27432" tIns="27432" bIns="27432" anchor="t">
            <a:spAutoFit/>
          </a:bodyPr>
          <a:lstStyle/>
          <a:p>
            <a:pPr algn="l"/>
            <a:r>
              <a:rPr sz="1000" b="1">
                <a:solidFill>
                  <a:srgbClr val="5F6B63"/>
                </a:solidFill>
                <a:latin typeface="Aptos"/>
              </a:rPr>
              <a:t>NEXT-5 AVG</a:t>
            </a:r>
          </a:p>
        </p:txBody>
      </p:sp>
      <p:sp>
        <p:nvSpPr>
          <p:cNvPr id="58" name="TextBox 57"/>
          <p:cNvSpPr txBox="1"/>
          <p:nvPr/>
        </p:nvSpPr>
        <p:spPr>
          <a:xfrm>
            <a:off x="9784080" y="2450592"/>
            <a:ext cx="1316736" cy="493776"/>
          </a:xfrm>
          <a:prstGeom prst="rect">
            <a:avLst/>
          </a:prstGeom>
          <a:noFill/>
        </p:spPr>
        <p:txBody>
          <a:bodyPr wrap="square" lIns="27432" rIns="27432" tIns="27432" bIns="27432" anchor="ctr">
            <a:spAutoFit/>
          </a:bodyPr>
          <a:lstStyle/>
          <a:p>
            <a:pPr algn="l"/>
            <a:r>
              <a:rPr sz="1900" b="1">
                <a:solidFill>
                  <a:srgbClr val="3F728A"/>
                </a:solidFill>
                <a:latin typeface="Aptos Display"/>
              </a:rPr>
              <a:t>$9.2k</a:t>
            </a:r>
          </a:p>
        </p:txBody>
      </p:sp>
      <p:sp>
        <p:nvSpPr>
          <p:cNvPr id="59" name="Rounded Rectangle 58"/>
          <p:cNvSpPr/>
          <p:nvPr/>
        </p:nvSpPr>
        <p:spPr>
          <a:xfrm>
            <a:off x="7827264" y="3218688"/>
            <a:ext cx="340156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55280" y="3328416"/>
            <a:ext cx="3145536" cy="164592"/>
          </a:xfrm>
          <a:prstGeom prst="rect">
            <a:avLst/>
          </a:prstGeom>
          <a:noFill/>
        </p:spPr>
        <p:txBody>
          <a:bodyPr wrap="square" lIns="27432" rIns="27432" tIns="27432" bIns="27432" anchor="t">
            <a:spAutoFit/>
          </a:bodyPr>
          <a:lstStyle/>
          <a:p>
            <a:pPr algn="l"/>
            <a:r>
              <a:rPr sz="1000" b="1">
                <a:solidFill>
                  <a:srgbClr val="5F6B63"/>
                </a:solidFill>
                <a:latin typeface="Aptos"/>
              </a:rPr>
              <a:t>RANK-5 VS RANK-6 GAP</a:t>
            </a:r>
          </a:p>
        </p:txBody>
      </p:sp>
      <p:sp>
        <p:nvSpPr>
          <p:cNvPr id="61" name="TextBox 60"/>
          <p:cNvSpPr txBox="1"/>
          <p:nvPr/>
        </p:nvSpPr>
        <p:spPr>
          <a:xfrm>
            <a:off x="7955280" y="3529584"/>
            <a:ext cx="3145536" cy="457200"/>
          </a:xfrm>
          <a:prstGeom prst="rect">
            <a:avLst/>
          </a:prstGeom>
          <a:noFill/>
        </p:spPr>
        <p:txBody>
          <a:bodyPr wrap="square" lIns="27432" rIns="27432" tIns="27432" bIns="27432" anchor="ctr">
            <a:spAutoFit/>
          </a:bodyPr>
          <a:lstStyle/>
          <a:p>
            <a:pPr algn="l"/>
            <a:r>
              <a:rPr sz="1900" b="1">
                <a:solidFill>
                  <a:srgbClr val="C58A2A"/>
                </a:solidFill>
                <a:latin typeface="Aptos Display"/>
              </a:rPr>
              <a:t>$1k</a:t>
            </a:r>
          </a:p>
        </p:txBody>
      </p:sp>
      <p:sp>
        <p:nvSpPr>
          <p:cNvPr id="62" name="TextBox 61"/>
          <p:cNvSpPr txBox="1"/>
          <p:nvPr/>
        </p:nvSpPr>
        <p:spPr>
          <a:xfrm>
            <a:off x="7827264" y="4315968"/>
            <a:ext cx="3108960" cy="987552"/>
          </a:xfrm>
          <a:prstGeom prst="rect">
            <a:avLst/>
          </a:prstGeom>
          <a:noFill/>
        </p:spPr>
        <p:txBody>
          <a:bodyPr wrap="square" lIns="27432" rIns="27432" tIns="18288" bIns="18288">
            <a:spAutoFit/>
          </a:bodyPr>
          <a:lstStyle/>
          <a:p>
            <a:pPr algn="l">
              <a:lnSpc>
                <a:spcPct val="115000"/>
              </a:lnSpc>
            </a:pPr>
            <a:r>
              <a:rPr sz="1100">
                <a:solidFill>
                  <a:srgbClr val="1F2621"/>
                </a:solidFill>
                <a:latin typeface="Aptos"/>
              </a:rPr>
              <a:t>- All 40 markets are positive; the cut line chooses the best five.</a:t>
            </a:r>
          </a:p>
          <a:p>
            <a:pPr algn="l">
              <a:lnSpc>
                <a:spcPct val="115000"/>
              </a:lnSpc>
            </a:pPr>
            <a:r>
              <a:rPr sz="1100">
                <a:solidFill>
                  <a:srgbClr val="1F2621"/>
                </a:solidFill>
                <a:latin typeface="Aptos"/>
              </a:rPr>
              <a:t>- Top-five profit averages $13.7k versus $9.2k for the next tier.</a:t>
            </a:r>
          </a:p>
          <a:p>
            <a:pPr algn="l">
              <a:lnSpc>
                <a:spcPct val="115000"/>
              </a:lnSpc>
            </a:pPr>
            <a:r>
              <a:rPr sz="1100">
                <a:solidFill>
                  <a:srgbClr val="1F2621"/>
                </a:solidFill>
                <a:latin typeface="Aptos"/>
              </a:rPr>
              <a:t>- That makes the recommendation an optimization call, not a generic yes.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18</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recommendation is a West Coast cluster</a:t>
            </a:r>
          </a:p>
        </p:txBody>
      </p:sp>
      <p:sp>
        <p:nvSpPr>
          <p:cNvPr id="9" name="Rounded Rectangle 8"/>
          <p:cNvSpPr/>
          <p:nvPr/>
        </p:nvSpPr>
        <p:spPr>
          <a:xfrm>
            <a:off x="7498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1" name="Rounded Rectangle 10"/>
          <p:cNvSpPr/>
          <p:nvPr/>
        </p:nvSpPr>
        <p:spPr>
          <a:xfrm>
            <a:off x="28072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254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3" name="Rounded Rectangle 12"/>
          <p:cNvSpPr/>
          <p:nvPr/>
        </p:nvSpPr>
        <p:spPr>
          <a:xfrm>
            <a:off x="48646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828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5" name="Rounded Rectangle 14"/>
          <p:cNvSpPr/>
          <p:nvPr/>
        </p:nvSpPr>
        <p:spPr>
          <a:xfrm>
            <a:off x="69220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02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17" name="Rounded Rectangle 16"/>
          <p:cNvSpPr/>
          <p:nvPr/>
        </p:nvSpPr>
        <p:spPr>
          <a:xfrm>
            <a:off x="8979408" y="1572768"/>
            <a:ext cx="160020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97696" y="1577340"/>
            <a:ext cx="1563624"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19" name="Rounded Rectangle 18"/>
          <p:cNvSpPr/>
          <p:nvPr/>
        </p:nvSpPr>
        <p:spPr>
          <a:xfrm>
            <a:off x="713232" y="1975104"/>
            <a:ext cx="6903720" cy="3950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2121408"/>
            <a:ext cx="6355080" cy="146304"/>
          </a:xfrm>
          <a:prstGeom prst="rect">
            <a:avLst/>
          </a:prstGeom>
          <a:noFill/>
        </p:spPr>
        <p:txBody>
          <a:bodyPr wrap="square" lIns="27432" rIns="27432" tIns="27432" bIns="27432" anchor="t">
            <a:spAutoFit/>
          </a:bodyPr>
          <a:lstStyle/>
          <a:p>
            <a:pPr algn="l"/>
            <a:r>
              <a:rPr sz="1000" b="1">
                <a:solidFill>
                  <a:srgbClr val="5F6B63"/>
                </a:solidFill>
                <a:latin typeface="Aptos"/>
              </a:rPr>
              <a:t>GEOGRAPHIC CLUSTER</a:t>
            </a:r>
          </a:p>
        </p:txBody>
      </p:sp>
      <p:cxnSp>
        <p:nvCxnSpPr>
          <p:cNvPr id="21" name="Connector 20"/>
          <p:cNvCxnSpPr/>
          <p:nvPr/>
        </p:nvCxnSpPr>
        <p:spPr>
          <a:xfrm>
            <a:off x="2148474" y="2955889"/>
            <a:ext cx="230795" cy="1908902"/>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9269" y="4864791"/>
            <a:ext cx="923178" cy="168432"/>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302447" y="4471782"/>
            <a:ext cx="576986" cy="561441"/>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879433" y="3741908"/>
            <a:ext cx="346192" cy="729874"/>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225625" y="3012034"/>
            <a:ext cx="1038576" cy="729874"/>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879433" y="3798052"/>
            <a:ext cx="1846357"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533242" y="4303349"/>
            <a:ext cx="1846356"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6420" y="3348899"/>
            <a:ext cx="0" cy="1179027"/>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280160" y="2560320"/>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WA</a:t>
            </a:r>
          </a:p>
        </p:txBody>
      </p:sp>
      <p:sp>
        <p:nvSpPr>
          <p:cNvPr id="30" name="TextBox 29"/>
          <p:cNvSpPr txBox="1"/>
          <p:nvPr/>
        </p:nvSpPr>
        <p:spPr>
          <a:xfrm>
            <a:off x="1353312" y="3438144"/>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OR</a:t>
            </a:r>
          </a:p>
        </p:txBody>
      </p:sp>
      <p:sp>
        <p:nvSpPr>
          <p:cNvPr id="31" name="TextBox 30"/>
          <p:cNvSpPr txBox="1"/>
          <p:nvPr/>
        </p:nvSpPr>
        <p:spPr>
          <a:xfrm>
            <a:off x="1408176" y="4325111"/>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CA</a:t>
            </a:r>
          </a:p>
        </p:txBody>
      </p:sp>
      <p:sp>
        <p:nvSpPr>
          <p:cNvPr id="32" name="TextBox 31"/>
          <p:cNvSpPr txBox="1"/>
          <p:nvPr/>
        </p:nvSpPr>
        <p:spPr>
          <a:xfrm>
            <a:off x="3008376" y="3346704"/>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ID</a:t>
            </a:r>
          </a:p>
        </p:txBody>
      </p:sp>
      <p:sp>
        <p:nvSpPr>
          <p:cNvPr id="33" name="Oval 32"/>
          <p:cNvSpPr/>
          <p:nvPr/>
        </p:nvSpPr>
        <p:spPr>
          <a:xfrm>
            <a:off x="3566343" y="4108765"/>
            <a:ext cx="164592" cy="164592"/>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57199" y="4264213"/>
            <a:ext cx="1005840" cy="201168"/>
          </a:xfrm>
          <a:prstGeom prst="rect">
            <a:avLst/>
          </a:prstGeom>
          <a:noFill/>
        </p:spPr>
        <p:txBody>
          <a:bodyPr wrap="square" lIns="27432" rIns="27432" tIns="27432" bIns="27432" anchor="t">
            <a:spAutoFit/>
          </a:bodyPr>
          <a:lstStyle/>
          <a:p>
            <a:pPr algn="ctr"/>
            <a:r>
              <a:rPr sz="900" b="1">
                <a:solidFill>
                  <a:srgbClr val="B5533A"/>
                </a:solidFill>
                <a:latin typeface="Aptos"/>
              </a:rPr>
              <a:t>West Valley
hub</a:t>
            </a:r>
          </a:p>
        </p:txBody>
      </p:sp>
      <p:cxnSp>
        <p:nvCxnSpPr>
          <p:cNvPr id="35" name="Connector 34"/>
          <p:cNvCxnSpPr/>
          <p:nvPr/>
        </p:nvCxnSpPr>
        <p:spPr>
          <a:xfrm flipH="1" flipV="1">
            <a:off x="2263872" y="2843601"/>
            <a:ext cx="1384767" cy="1347460"/>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2190720" y="2770449"/>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318736" y="2733873"/>
            <a:ext cx="1005840" cy="164592"/>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337024" y="2752161"/>
            <a:ext cx="969264" cy="146304"/>
          </a:xfrm>
          <a:prstGeom prst="rect">
            <a:avLst/>
          </a:prstGeom>
          <a:noFill/>
        </p:spPr>
        <p:txBody>
          <a:bodyPr wrap="square" lIns="27432" rIns="27432" tIns="27432" bIns="27432" anchor="t">
            <a:spAutoFit/>
          </a:bodyPr>
          <a:lstStyle/>
          <a:p>
            <a:pPr algn="l"/>
            <a:r>
              <a:rPr sz="900" b="1">
                <a:solidFill>
                  <a:srgbClr val="355C47"/>
                </a:solidFill>
                <a:latin typeface="Aptos"/>
              </a:rPr>
              <a:t>Seattle</a:t>
            </a:r>
          </a:p>
        </p:txBody>
      </p:sp>
      <p:cxnSp>
        <p:nvCxnSpPr>
          <p:cNvPr id="39" name="Connector 38"/>
          <p:cNvCxnSpPr/>
          <p:nvPr/>
        </p:nvCxnSpPr>
        <p:spPr>
          <a:xfrm flipH="1" flipV="1">
            <a:off x="2494666" y="3405043"/>
            <a:ext cx="1153973" cy="786018"/>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421514" y="3331891"/>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458090" y="3203875"/>
            <a:ext cx="932688" cy="182880"/>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476378" y="3222163"/>
            <a:ext cx="896112" cy="164592"/>
          </a:xfrm>
          <a:prstGeom prst="rect">
            <a:avLst/>
          </a:prstGeom>
          <a:noFill/>
        </p:spPr>
        <p:txBody>
          <a:bodyPr wrap="square" lIns="27432" rIns="27432" tIns="27432" bIns="27432" anchor="t">
            <a:spAutoFit/>
          </a:bodyPr>
          <a:lstStyle/>
          <a:p>
            <a:pPr algn="l"/>
            <a:r>
              <a:rPr sz="900" b="1">
                <a:solidFill>
                  <a:srgbClr val="355C47"/>
                </a:solidFill>
                <a:latin typeface="Aptos"/>
              </a:rPr>
              <a:t>Portland</a:t>
            </a:r>
          </a:p>
        </p:txBody>
      </p:sp>
      <p:cxnSp>
        <p:nvCxnSpPr>
          <p:cNvPr id="43" name="Connector 42"/>
          <p:cNvCxnSpPr/>
          <p:nvPr/>
        </p:nvCxnSpPr>
        <p:spPr>
          <a:xfrm flipV="1">
            <a:off x="3648639" y="3068178"/>
            <a:ext cx="1615562" cy="1122883"/>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5191049" y="2995026"/>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337353" y="2958450"/>
            <a:ext cx="1005840" cy="164592"/>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55641" y="2976738"/>
            <a:ext cx="969264" cy="146304"/>
          </a:xfrm>
          <a:prstGeom prst="rect">
            <a:avLst/>
          </a:prstGeom>
          <a:noFill/>
        </p:spPr>
        <p:txBody>
          <a:bodyPr wrap="square" lIns="27432" rIns="27432" tIns="27432" bIns="27432" anchor="t">
            <a:spAutoFit/>
          </a:bodyPr>
          <a:lstStyle/>
          <a:p>
            <a:pPr algn="l"/>
            <a:r>
              <a:rPr sz="900" b="1">
                <a:solidFill>
                  <a:srgbClr val="355C47"/>
                </a:solidFill>
                <a:latin typeface="Aptos"/>
              </a:rPr>
              <a:t>Spokane</a:t>
            </a:r>
          </a:p>
        </p:txBody>
      </p:sp>
      <p:cxnSp>
        <p:nvCxnSpPr>
          <p:cNvPr id="47" name="Connector 46"/>
          <p:cNvCxnSpPr/>
          <p:nvPr/>
        </p:nvCxnSpPr>
        <p:spPr>
          <a:xfrm flipV="1">
            <a:off x="3648639" y="3629619"/>
            <a:ext cx="1153973" cy="561442"/>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4729460" y="3556467"/>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4894052" y="3647907"/>
            <a:ext cx="1005840" cy="164592"/>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12340" y="3666195"/>
            <a:ext cx="969264" cy="146304"/>
          </a:xfrm>
          <a:prstGeom prst="rect">
            <a:avLst/>
          </a:prstGeom>
          <a:noFill/>
        </p:spPr>
        <p:txBody>
          <a:bodyPr wrap="square" lIns="27432" rIns="27432" tIns="27432" bIns="27432" anchor="t">
            <a:spAutoFit/>
          </a:bodyPr>
          <a:lstStyle/>
          <a:p>
            <a:pPr algn="l"/>
            <a:r>
              <a:rPr sz="900" b="1">
                <a:solidFill>
                  <a:srgbClr val="355C47"/>
                </a:solidFill>
                <a:latin typeface="Aptos"/>
              </a:rPr>
              <a:t>Boise</a:t>
            </a:r>
          </a:p>
        </p:txBody>
      </p:sp>
      <p:cxnSp>
        <p:nvCxnSpPr>
          <p:cNvPr id="51" name="Connector 50"/>
          <p:cNvCxnSpPr/>
          <p:nvPr/>
        </p:nvCxnSpPr>
        <p:spPr>
          <a:xfrm flipH="1">
            <a:off x="3302447" y="4191061"/>
            <a:ext cx="346192" cy="673730"/>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3229295" y="4791639"/>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375599" y="4828215"/>
            <a:ext cx="1024128" cy="182880"/>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393887" y="4846503"/>
            <a:ext cx="987552" cy="164592"/>
          </a:xfrm>
          <a:prstGeom prst="rect">
            <a:avLst/>
          </a:prstGeom>
          <a:noFill/>
        </p:spPr>
        <p:txBody>
          <a:bodyPr wrap="square" lIns="27432" rIns="27432" tIns="27432" bIns="27432" anchor="t">
            <a:spAutoFit/>
          </a:bodyPr>
          <a:lstStyle/>
          <a:p>
            <a:pPr algn="l"/>
            <a:r>
              <a:rPr sz="900" b="1">
                <a:solidFill>
                  <a:srgbClr val="355C47"/>
                </a:solidFill>
                <a:latin typeface="Aptos"/>
              </a:rPr>
              <a:t>San Diego</a:t>
            </a:r>
          </a:p>
        </p:txBody>
      </p:sp>
      <p:sp>
        <p:nvSpPr>
          <p:cNvPr id="55" name="Rounded Rectangle 54"/>
          <p:cNvSpPr/>
          <p:nvPr/>
        </p:nvSpPr>
        <p:spPr>
          <a:xfrm>
            <a:off x="7845552" y="1975104"/>
            <a:ext cx="3657600" cy="3950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01583" y="2194560"/>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WHY THE CLUSTER WINS</a:t>
            </a:r>
          </a:p>
        </p:txBody>
      </p:sp>
      <p:sp>
        <p:nvSpPr>
          <p:cNvPr id="57" name="Rounded Rectangle 56"/>
          <p:cNvSpPr/>
          <p:nvPr/>
        </p:nvSpPr>
        <p:spPr>
          <a:xfrm>
            <a:off x="8101583" y="2505456"/>
            <a:ext cx="1554480"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29599" y="2615184"/>
            <a:ext cx="1298448" cy="164592"/>
          </a:xfrm>
          <a:prstGeom prst="rect">
            <a:avLst/>
          </a:prstGeom>
          <a:noFill/>
        </p:spPr>
        <p:txBody>
          <a:bodyPr wrap="square" lIns="27432" rIns="27432" tIns="27432" bIns="27432" anchor="t">
            <a:spAutoFit/>
          </a:bodyPr>
          <a:lstStyle/>
          <a:p>
            <a:pPr algn="ctr"/>
            <a:r>
              <a:rPr sz="1000" b="1">
                <a:solidFill>
                  <a:srgbClr val="5F6B63"/>
                </a:solidFill>
                <a:latin typeface="Aptos"/>
              </a:rPr>
              <a:t>AVG MILES</a:t>
            </a:r>
          </a:p>
        </p:txBody>
      </p:sp>
      <p:sp>
        <p:nvSpPr>
          <p:cNvPr id="59" name="TextBox 58"/>
          <p:cNvSpPr txBox="1"/>
          <p:nvPr/>
        </p:nvSpPr>
        <p:spPr>
          <a:xfrm>
            <a:off x="8229599" y="2816352"/>
            <a:ext cx="1298448" cy="438912"/>
          </a:xfrm>
          <a:prstGeom prst="rect">
            <a:avLst/>
          </a:prstGeom>
          <a:noFill/>
        </p:spPr>
        <p:txBody>
          <a:bodyPr wrap="square" lIns="27432" rIns="27432" tIns="27432" bIns="27432" anchor="ctr">
            <a:spAutoFit/>
          </a:bodyPr>
          <a:lstStyle/>
          <a:p>
            <a:pPr algn="ctr"/>
            <a:r>
              <a:rPr sz="1900" b="1">
                <a:solidFill>
                  <a:srgbClr val="3F728A"/>
                </a:solidFill>
                <a:latin typeface="Aptos Display"/>
              </a:rPr>
              <a:t>812</a:t>
            </a:r>
          </a:p>
        </p:txBody>
      </p:sp>
      <p:sp>
        <p:nvSpPr>
          <p:cNvPr id="60" name="Rounded Rectangle 59"/>
          <p:cNvSpPr/>
          <p:nvPr/>
        </p:nvSpPr>
        <p:spPr>
          <a:xfrm>
            <a:off x="9784080" y="2505456"/>
            <a:ext cx="1426464"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12096" y="2615184"/>
            <a:ext cx="1170432" cy="164592"/>
          </a:xfrm>
          <a:prstGeom prst="rect">
            <a:avLst/>
          </a:prstGeom>
          <a:noFill/>
        </p:spPr>
        <p:txBody>
          <a:bodyPr wrap="square" lIns="27432" rIns="27432" tIns="27432" bIns="27432" anchor="t">
            <a:spAutoFit/>
          </a:bodyPr>
          <a:lstStyle/>
          <a:p>
            <a:pPr algn="ctr"/>
            <a:r>
              <a:rPr sz="1000" b="1">
                <a:solidFill>
                  <a:srgbClr val="5F6B63"/>
                </a:solidFill>
                <a:latin typeface="Aptos"/>
              </a:rPr>
              <a:t>AVG PRICE</a:t>
            </a:r>
          </a:p>
        </p:txBody>
      </p:sp>
      <p:sp>
        <p:nvSpPr>
          <p:cNvPr id="62" name="TextBox 61"/>
          <p:cNvSpPr txBox="1"/>
          <p:nvPr/>
        </p:nvSpPr>
        <p:spPr>
          <a:xfrm>
            <a:off x="9912096" y="2816352"/>
            <a:ext cx="1170432" cy="438912"/>
          </a:xfrm>
          <a:prstGeom prst="rect">
            <a:avLst/>
          </a:prstGeom>
          <a:noFill/>
        </p:spPr>
        <p:txBody>
          <a:bodyPr wrap="square" lIns="27432" rIns="27432" tIns="27432" bIns="27432" anchor="ctr">
            <a:spAutoFit/>
          </a:bodyPr>
          <a:lstStyle/>
          <a:p>
            <a:pPr algn="ctr"/>
            <a:r>
              <a:rPr sz="1900" b="1">
                <a:solidFill>
                  <a:srgbClr val="C58A2A"/>
                </a:solidFill>
                <a:latin typeface="Aptos Display"/>
              </a:rPr>
              <a:t>$2.45</a:t>
            </a:r>
          </a:p>
        </p:txBody>
      </p:sp>
      <p:sp>
        <p:nvSpPr>
          <p:cNvPr id="63" name="Rounded Rectangle 62"/>
          <p:cNvSpPr/>
          <p:nvPr/>
        </p:nvSpPr>
        <p:spPr>
          <a:xfrm>
            <a:off x="8101583" y="3529584"/>
            <a:ext cx="3108960"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29599" y="3639312"/>
            <a:ext cx="2852928" cy="164592"/>
          </a:xfrm>
          <a:prstGeom prst="rect">
            <a:avLst/>
          </a:prstGeom>
          <a:noFill/>
        </p:spPr>
        <p:txBody>
          <a:bodyPr wrap="square" lIns="27432" rIns="27432" tIns="27432" bIns="27432" anchor="t">
            <a:spAutoFit/>
          </a:bodyPr>
          <a:lstStyle/>
          <a:p>
            <a:pPr algn="ctr"/>
            <a:r>
              <a:rPr sz="1000" b="1">
                <a:solidFill>
                  <a:srgbClr val="5F6B63"/>
                </a:solidFill>
                <a:latin typeface="Aptos"/>
              </a:rPr>
              <a:t>LOW-MILE HEDGE</a:t>
            </a:r>
          </a:p>
        </p:txBody>
      </p:sp>
      <p:sp>
        <p:nvSpPr>
          <p:cNvPr id="65" name="TextBox 64"/>
          <p:cNvSpPr txBox="1"/>
          <p:nvPr/>
        </p:nvSpPr>
        <p:spPr>
          <a:xfrm>
            <a:off x="8229599" y="3840480"/>
            <a:ext cx="2852928" cy="438912"/>
          </a:xfrm>
          <a:prstGeom prst="rect">
            <a:avLst/>
          </a:prstGeom>
          <a:noFill/>
        </p:spPr>
        <p:txBody>
          <a:bodyPr wrap="square" lIns="27432" rIns="27432" tIns="27432" bIns="27432" anchor="ctr">
            <a:spAutoFit/>
          </a:bodyPr>
          <a:lstStyle/>
          <a:p>
            <a:pPr algn="ctr"/>
            <a:r>
              <a:rPr sz="1900" b="1">
                <a:solidFill>
                  <a:srgbClr val="355C47"/>
                </a:solidFill>
                <a:latin typeface="Aptos Display"/>
              </a:rPr>
              <a:t>San Diego</a:t>
            </a:r>
          </a:p>
        </p:txBody>
      </p:sp>
      <p:sp>
        <p:nvSpPr>
          <p:cNvPr id="66" name="TextBox 65"/>
          <p:cNvSpPr txBox="1"/>
          <p:nvPr/>
        </p:nvSpPr>
        <p:spPr>
          <a:xfrm>
            <a:off x="8101583" y="4590288"/>
            <a:ext cx="2926080" cy="91440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This is one coherent western lane system, not five disconnected bets.</a:t>
            </a:r>
          </a:p>
          <a:p>
            <a:pPr algn="l">
              <a:lnSpc>
                <a:spcPct val="115000"/>
              </a:lnSpc>
            </a:pPr>
            <a:r>
              <a:rPr sz="1200">
                <a:solidFill>
                  <a:srgbClr val="1F2621"/>
                </a:solidFill>
                <a:latin typeface="Aptos"/>
              </a:rPr>
              <a:t>- The Northwest supplies the premium; San Diego supplies the short-haul hedge.</a:t>
            </a:r>
          </a:p>
          <a:p>
            <a:pPr algn="l">
              <a:lnSpc>
                <a:spcPct val="115000"/>
              </a:lnSpc>
            </a:pPr>
            <a:r>
              <a:rPr sz="1200">
                <a:solidFill>
                  <a:srgbClr val="1F2621"/>
                </a:solidFill>
                <a:latin typeface="Aptos"/>
              </a:rPr>
              <a:t>- That makes the recommendation operational, not just analytical.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Price support beats proximity</a:t>
            </a:r>
          </a:p>
        </p:txBody>
      </p:sp>
      <p:sp>
        <p:nvSpPr>
          <p:cNvPr id="9" name="Rounded Rectangle 8"/>
          <p:cNvSpPr/>
          <p:nvPr/>
        </p:nvSpPr>
        <p:spPr>
          <a:xfrm>
            <a:off x="749808" y="1664208"/>
            <a:ext cx="6812280" cy="4251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65376"/>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PRICE VS MILES</a:t>
            </a:r>
          </a:p>
        </p:txBody>
      </p:sp>
      <p:cxnSp>
        <p:nvCxnSpPr>
          <p:cNvPr id="11" name="Connector 10"/>
          <p:cNvCxnSpPr/>
          <p:nvPr/>
        </p:nvCxnSpPr>
        <p:spPr>
          <a:xfrm>
            <a:off x="2167128" y="4937760"/>
            <a:ext cx="3749040" cy="0"/>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67128" y="2377440"/>
            <a:ext cx="0" cy="2560320"/>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575317" y="2478024"/>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807258" y="2647109"/>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913722" y="2780327"/>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833872" y="3195355"/>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624754" y="3928057"/>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084832" y="4501922"/>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716009" y="4419941"/>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738822" y="4245732"/>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750229" y="4855464"/>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flipH="1">
            <a:off x="1133856" y="4242816"/>
            <a:ext cx="1723838" cy="85212"/>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70432" y="4114800"/>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San Fran</a:t>
            </a:r>
          </a:p>
        </p:txBody>
      </p:sp>
      <p:cxnSp>
        <p:nvCxnSpPr>
          <p:cNvPr id="24" name="Connector 23"/>
          <p:cNvCxnSpPr/>
          <p:nvPr/>
        </p:nvCxnSpPr>
        <p:spPr>
          <a:xfrm flipH="1">
            <a:off x="1133856" y="4443984"/>
            <a:ext cx="1701025" cy="58253"/>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170432" y="4315968"/>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Sacramento</a:t>
            </a:r>
          </a:p>
        </p:txBody>
      </p:sp>
      <p:cxnSp>
        <p:nvCxnSpPr>
          <p:cNvPr id="26" name="Connector 25"/>
          <p:cNvCxnSpPr/>
          <p:nvPr/>
        </p:nvCxnSpPr>
        <p:spPr>
          <a:xfrm flipH="1" flipV="1">
            <a:off x="1133856" y="4584218"/>
            <a:ext cx="1069848" cy="60934"/>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170432" y="4517136"/>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Los Angeles</a:t>
            </a:r>
          </a:p>
        </p:txBody>
      </p:sp>
      <p:cxnSp>
        <p:nvCxnSpPr>
          <p:cNvPr id="28" name="Connector 27"/>
          <p:cNvCxnSpPr/>
          <p:nvPr/>
        </p:nvCxnSpPr>
        <p:spPr>
          <a:xfrm flipH="1">
            <a:off x="1133856" y="4846320"/>
            <a:ext cx="1735245" cy="91440"/>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70432" y="4718304"/>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Las Vegas</a:t>
            </a:r>
          </a:p>
        </p:txBody>
      </p:sp>
      <p:cxnSp>
        <p:nvCxnSpPr>
          <p:cNvPr id="30" name="Connector 29"/>
          <p:cNvCxnSpPr/>
          <p:nvPr/>
        </p:nvCxnSpPr>
        <p:spPr>
          <a:xfrm flipV="1">
            <a:off x="5694189" y="2560320"/>
            <a:ext cx="349995" cy="54864"/>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80760" y="2487168"/>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Seattle</a:t>
            </a:r>
          </a:p>
        </p:txBody>
      </p:sp>
      <p:cxnSp>
        <p:nvCxnSpPr>
          <p:cNvPr id="32" name="Connector 31"/>
          <p:cNvCxnSpPr/>
          <p:nvPr/>
        </p:nvCxnSpPr>
        <p:spPr>
          <a:xfrm flipV="1">
            <a:off x="4926130" y="2729405"/>
            <a:ext cx="1118054" cy="86947"/>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080760" y="2688336"/>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Boise</a:t>
            </a:r>
          </a:p>
        </p:txBody>
      </p:sp>
      <p:cxnSp>
        <p:nvCxnSpPr>
          <p:cNvPr id="34" name="Connector 33"/>
          <p:cNvCxnSpPr/>
          <p:nvPr/>
        </p:nvCxnSpPr>
        <p:spPr>
          <a:xfrm flipV="1">
            <a:off x="5032594" y="2862623"/>
            <a:ext cx="1011590" cy="154897"/>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080760" y="2889504"/>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Portland</a:t>
            </a:r>
          </a:p>
        </p:txBody>
      </p:sp>
      <p:cxnSp>
        <p:nvCxnSpPr>
          <p:cNvPr id="36" name="Connector 35"/>
          <p:cNvCxnSpPr/>
          <p:nvPr/>
        </p:nvCxnSpPr>
        <p:spPr>
          <a:xfrm flipV="1">
            <a:off x="5952744" y="3277651"/>
            <a:ext cx="91440" cy="54864"/>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080760" y="3204499"/>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Spokane</a:t>
            </a:r>
          </a:p>
        </p:txBody>
      </p:sp>
      <p:cxnSp>
        <p:nvCxnSpPr>
          <p:cNvPr id="38" name="Connector 37"/>
          <p:cNvCxnSpPr/>
          <p:nvPr/>
        </p:nvCxnSpPr>
        <p:spPr>
          <a:xfrm flipV="1">
            <a:off x="2743626" y="4010353"/>
            <a:ext cx="3300558" cy="54864"/>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080760" y="3937201"/>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San Diego</a:t>
            </a:r>
          </a:p>
        </p:txBody>
      </p:sp>
      <p:sp>
        <p:nvSpPr>
          <p:cNvPr id="40" name="TextBox 39"/>
          <p:cNvSpPr txBox="1"/>
          <p:nvPr/>
        </p:nvSpPr>
        <p:spPr>
          <a:xfrm>
            <a:off x="3310128" y="5413248"/>
            <a:ext cx="1828800" cy="146304"/>
          </a:xfrm>
          <a:prstGeom prst="rect">
            <a:avLst/>
          </a:prstGeom>
          <a:noFill/>
        </p:spPr>
        <p:txBody>
          <a:bodyPr wrap="square" lIns="27432" rIns="27432" tIns="27432" bIns="27432" anchor="t">
            <a:spAutoFit/>
          </a:bodyPr>
          <a:lstStyle/>
          <a:p>
            <a:pPr algn="ctr"/>
            <a:r>
              <a:rPr sz="1000" b="0">
                <a:solidFill>
                  <a:srgbClr val="5F6B63"/>
                </a:solidFill>
                <a:latin typeface="Aptos"/>
              </a:rPr>
              <a:t>Higher mileage</a:t>
            </a:r>
          </a:p>
        </p:txBody>
      </p:sp>
      <p:sp>
        <p:nvSpPr>
          <p:cNvPr id="41" name="TextBox 40"/>
          <p:cNvSpPr txBox="1"/>
          <p:nvPr/>
        </p:nvSpPr>
        <p:spPr>
          <a:xfrm>
            <a:off x="841248" y="3657600"/>
            <a:ext cx="548640" cy="320040"/>
          </a:xfrm>
          <a:prstGeom prst="rect">
            <a:avLst/>
          </a:prstGeom>
          <a:noFill/>
        </p:spPr>
        <p:txBody>
          <a:bodyPr wrap="square" lIns="27432" rIns="27432" tIns="27432" bIns="27432" anchor="t">
            <a:spAutoFit/>
          </a:bodyPr>
          <a:lstStyle/>
          <a:p>
            <a:pPr algn="ctr"/>
            <a:r>
              <a:rPr sz="1000" b="0">
                <a:solidFill>
                  <a:srgbClr val="5F6B63"/>
                </a:solidFill>
                <a:latin typeface="Aptos"/>
              </a:rPr>
              <a:t>Higher
price</a:t>
            </a:r>
          </a:p>
        </p:txBody>
      </p:sp>
      <p:sp>
        <p:nvSpPr>
          <p:cNvPr id="42" name="Rounded Rectangle 41"/>
          <p:cNvSpPr/>
          <p:nvPr/>
        </p:nvSpPr>
        <p:spPr>
          <a:xfrm>
            <a:off x="7845552" y="1664208"/>
            <a:ext cx="3657600" cy="4251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101583" y="1938528"/>
            <a:ext cx="157276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599" y="2048256"/>
            <a:ext cx="1316736" cy="164592"/>
          </a:xfrm>
          <a:prstGeom prst="rect">
            <a:avLst/>
          </a:prstGeom>
          <a:noFill/>
        </p:spPr>
        <p:txBody>
          <a:bodyPr wrap="square" lIns="27432" rIns="27432" tIns="27432" bIns="27432" anchor="t">
            <a:spAutoFit/>
          </a:bodyPr>
          <a:lstStyle/>
          <a:p>
            <a:pPr algn="l"/>
            <a:r>
              <a:rPr sz="1000" b="1">
                <a:solidFill>
                  <a:srgbClr val="5F6B63"/>
                </a:solidFill>
                <a:latin typeface="Aptos"/>
              </a:rPr>
              <a:t>SELECTED AVG PRICE</a:t>
            </a:r>
          </a:p>
        </p:txBody>
      </p:sp>
      <p:sp>
        <p:nvSpPr>
          <p:cNvPr id="45" name="TextBox 44"/>
          <p:cNvSpPr txBox="1"/>
          <p:nvPr/>
        </p:nvSpPr>
        <p:spPr>
          <a:xfrm>
            <a:off x="8229599" y="2249424"/>
            <a:ext cx="1316736"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$2.45</a:t>
            </a:r>
          </a:p>
        </p:txBody>
      </p:sp>
      <p:sp>
        <p:nvSpPr>
          <p:cNvPr id="46" name="Rounded Rectangle 45"/>
          <p:cNvSpPr/>
          <p:nvPr/>
        </p:nvSpPr>
        <p:spPr>
          <a:xfrm>
            <a:off x="9765792" y="1938528"/>
            <a:ext cx="148132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93808" y="2048256"/>
            <a:ext cx="1225296" cy="164592"/>
          </a:xfrm>
          <a:prstGeom prst="rect">
            <a:avLst/>
          </a:prstGeom>
          <a:noFill/>
        </p:spPr>
        <p:txBody>
          <a:bodyPr wrap="square" lIns="27432" rIns="27432" tIns="27432" bIns="27432" anchor="t">
            <a:spAutoFit/>
          </a:bodyPr>
          <a:lstStyle/>
          <a:p>
            <a:pPr algn="l"/>
            <a:r>
              <a:rPr sz="1000" b="1">
                <a:solidFill>
                  <a:srgbClr val="5F6B63"/>
                </a:solidFill>
                <a:latin typeface="Aptos"/>
              </a:rPr>
              <a:t>NEARBY ALT.</a:t>
            </a:r>
          </a:p>
        </p:txBody>
      </p:sp>
      <p:sp>
        <p:nvSpPr>
          <p:cNvPr id="48" name="TextBox 47"/>
          <p:cNvSpPr txBox="1"/>
          <p:nvPr/>
        </p:nvSpPr>
        <p:spPr>
          <a:xfrm>
            <a:off x="9893808" y="2249424"/>
            <a:ext cx="1225296"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$1.87</a:t>
            </a:r>
          </a:p>
        </p:txBody>
      </p:sp>
      <p:sp>
        <p:nvSpPr>
          <p:cNvPr id="49" name="TextBox 48"/>
          <p:cNvSpPr txBox="1"/>
          <p:nvPr/>
        </p:nvSpPr>
        <p:spPr>
          <a:xfrm>
            <a:off x="8101583" y="3054096"/>
            <a:ext cx="2907792" cy="17373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The winners are not simply the closest cities.</a:t>
            </a:r>
          </a:p>
          <a:p>
            <a:pPr algn="l">
              <a:lnSpc>
                <a:spcPct val="115000"/>
              </a:lnSpc>
            </a:pPr>
            <a:r>
              <a:rPr sz="1300">
                <a:solidFill>
                  <a:srgbClr val="1F2621"/>
                </a:solidFill>
                <a:latin typeface="Aptos"/>
              </a:rPr>
              <a:t>- Nearby alternatives give back the freight edge through weaker pricing.</a:t>
            </a:r>
          </a:p>
          <a:p>
            <a:pPr algn="l">
              <a:lnSpc>
                <a:spcPct val="115000"/>
              </a:lnSpc>
            </a:pPr>
            <a:r>
              <a:rPr sz="1300">
                <a:solidFill>
                  <a:srgbClr val="1F2621"/>
                </a:solidFill>
                <a:latin typeface="Aptos"/>
              </a:rPr>
              <a:t>- San Diego is the hedge that keeps the cluster grounded.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20</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+50% freight cuts margin, not the city set</a:t>
            </a:r>
          </a:p>
        </p:txBody>
      </p:sp>
      <p:sp>
        <p:nvSpPr>
          <p:cNvPr id="9" name="Rounded Rectangle 8"/>
          <p:cNvSpPr/>
          <p:nvPr/>
        </p:nvSpPr>
        <p:spPr>
          <a:xfrm>
            <a:off x="713232" y="1664208"/>
            <a:ext cx="69037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83664"/>
            <a:ext cx="2468880" cy="164592"/>
          </a:xfrm>
          <a:prstGeom prst="rect">
            <a:avLst/>
          </a:prstGeom>
          <a:noFill/>
        </p:spPr>
        <p:txBody>
          <a:bodyPr wrap="square" lIns="27432" rIns="27432" tIns="27432" bIns="27432" anchor="t">
            <a:spAutoFit/>
          </a:bodyPr>
          <a:lstStyle/>
          <a:p>
            <a:pPr algn="l"/>
            <a:r>
              <a:rPr sz="1000" b="1">
                <a:solidFill>
                  <a:srgbClr val="5F6B63"/>
                </a:solidFill>
                <a:latin typeface="Aptos"/>
              </a:rPr>
              <a:t>BASE VS +50% FREIGHT</a:t>
            </a:r>
          </a:p>
        </p:txBody>
      </p:sp>
      <p:sp>
        <p:nvSpPr>
          <p:cNvPr id="11" name="TextBox 10"/>
          <p:cNvSpPr txBox="1"/>
          <p:nvPr/>
        </p:nvSpPr>
        <p:spPr>
          <a:xfrm>
            <a:off x="932688" y="2304288"/>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212848" y="2322576"/>
            <a:ext cx="2560320"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12848" y="2505456"/>
            <a:ext cx="239138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2286000"/>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$15.3k</a:t>
            </a:r>
          </a:p>
        </p:txBody>
      </p:sp>
      <p:sp>
        <p:nvSpPr>
          <p:cNvPr id="15" name="TextBox 14"/>
          <p:cNvSpPr txBox="1"/>
          <p:nvPr/>
        </p:nvSpPr>
        <p:spPr>
          <a:xfrm>
            <a:off x="4983480" y="2478024"/>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$14.3k</a:t>
            </a:r>
          </a:p>
        </p:txBody>
      </p:sp>
      <p:sp>
        <p:nvSpPr>
          <p:cNvPr id="16" name="TextBox 15"/>
          <p:cNvSpPr txBox="1"/>
          <p:nvPr/>
        </p:nvSpPr>
        <p:spPr>
          <a:xfrm>
            <a:off x="5989320" y="2377440"/>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-$1.0k</a:t>
            </a:r>
          </a:p>
        </p:txBody>
      </p:sp>
      <p:sp>
        <p:nvSpPr>
          <p:cNvPr id="17" name="TextBox 16"/>
          <p:cNvSpPr txBox="1"/>
          <p:nvPr/>
        </p:nvSpPr>
        <p:spPr>
          <a:xfrm>
            <a:off x="932688" y="2980944"/>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8" name="Rounded Rectangle 17"/>
          <p:cNvSpPr/>
          <p:nvPr/>
        </p:nvSpPr>
        <p:spPr>
          <a:xfrm>
            <a:off x="2212848" y="2999232"/>
            <a:ext cx="2488703"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212848" y="3182112"/>
            <a:ext cx="2328238"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2962656"/>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$14.8k</a:t>
            </a:r>
          </a:p>
        </p:txBody>
      </p:sp>
      <p:sp>
        <p:nvSpPr>
          <p:cNvPr id="21" name="TextBox 20"/>
          <p:cNvSpPr txBox="1"/>
          <p:nvPr/>
        </p:nvSpPr>
        <p:spPr>
          <a:xfrm>
            <a:off x="4983480" y="3154680"/>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$13.9k</a:t>
            </a:r>
          </a:p>
        </p:txBody>
      </p:sp>
      <p:sp>
        <p:nvSpPr>
          <p:cNvPr id="22" name="TextBox 21"/>
          <p:cNvSpPr txBox="1"/>
          <p:nvPr/>
        </p:nvSpPr>
        <p:spPr>
          <a:xfrm>
            <a:off x="5989320" y="3054096"/>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-$957</a:t>
            </a:r>
          </a:p>
        </p:txBody>
      </p:sp>
      <p:sp>
        <p:nvSpPr>
          <p:cNvPr id="23" name="TextBox 22"/>
          <p:cNvSpPr txBox="1"/>
          <p:nvPr/>
        </p:nvSpPr>
        <p:spPr>
          <a:xfrm>
            <a:off x="932688" y="3657600"/>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4" name="Rounded Rectangle 23"/>
          <p:cNvSpPr/>
          <p:nvPr/>
        </p:nvSpPr>
        <p:spPr>
          <a:xfrm>
            <a:off x="2212848" y="3675888"/>
            <a:ext cx="2416584"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12848" y="3858768"/>
            <a:ext cx="225494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639312"/>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$14.4k</a:t>
            </a:r>
          </a:p>
        </p:txBody>
      </p:sp>
      <p:sp>
        <p:nvSpPr>
          <p:cNvPr id="27" name="TextBox 26"/>
          <p:cNvSpPr txBox="1"/>
          <p:nvPr/>
        </p:nvSpPr>
        <p:spPr>
          <a:xfrm>
            <a:off x="4983480" y="3831336"/>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$13.4k</a:t>
            </a:r>
          </a:p>
        </p:txBody>
      </p:sp>
      <p:sp>
        <p:nvSpPr>
          <p:cNvPr id="28" name="TextBox 27"/>
          <p:cNvSpPr txBox="1"/>
          <p:nvPr/>
        </p:nvSpPr>
        <p:spPr>
          <a:xfrm>
            <a:off x="5989320" y="3730752"/>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-$964</a:t>
            </a:r>
          </a:p>
        </p:txBody>
      </p:sp>
      <p:sp>
        <p:nvSpPr>
          <p:cNvPr id="29" name="TextBox 28"/>
          <p:cNvSpPr txBox="1"/>
          <p:nvPr/>
        </p:nvSpPr>
        <p:spPr>
          <a:xfrm>
            <a:off x="932688" y="4334256"/>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30" name="Rounded Rectangle 29"/>
          <p:cNvSpPr/>
          <p:nvPr/>
        </p:nvSpPr>
        <p:spPr>
          <a:xfrm>
            <a:off x="2212848" y="4352544"/>
            <a:ext cx="2178926"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212848" y="4535424"/>
            <a:ext cx="2007139"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83480" y="4315968"/>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$13.0k</a:t>
            </a:r>
          </a:p>
        </p:txBody>
      </p:sp>
      <p:sp>
        <p:nvSpPr>
          <p:cNvPr id="33" name="TextBox 32"/>
          <p:cNvSpPr txBox="1"/>
          <p:nvPr/>
        </p:nvSpPr>
        <p:spPr>
          <a:xfrm>
            <a:off x="4983480" y="4507992"/>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$12.0k</a:t>
            </a:r>
          </a:p>
        </p:txBody>
      </p:sp>
      <p:sp>
        <p:nvSpPr>
          <p:cNvPr id="34" name="TextBox 33"/>
          <p:cNvSpPr txBox="1"/>
          <p:nvPr/>
        </p:nvSpPr>
        <p:spPr>
          <a:xfrm>
            <a:off x="5989320" y="4407408"/>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-$1.0k</a:t>
            </a:r>
          </a:p>
        </p:txBody>
      </p:sp>
      <p:sp>
        <p:nvSpPr>
          <p:cNvPr id="35" name="TextBox 34"/>
          <p:cNvSpPr txBox="1"/>
          <p:nvPr/>
        </p:nvSpPr>
        <p:spPr>
          <a:xfrm>
            <a:off x="932688" y="5010912"/>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36" name="Rounded Rectangle 35"/>
          <p:cNvSpPr/>
          <p:nvPr/>
        </p:nvSpPr>
        <p:spPr>
          <a:xfrm>
            <a:off x="2212848" y="5029200"/>
            <a:ext cx="1865961"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212848" y="5212080"/>
            <a:ext cx="172956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83480" y="4992624"/>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$11.1k</a:t>
            </a:r>
          </a:p>
        </p:txBody>
      </p:sp>
      <p:sp>
        <p:nvSpPr>
          <p:cNvPr id="39" name="TextBox 38"/>
          <p:cNvSpPr txBox="1"/>
          <p:nvPr/>
        </p:nvSpPr>
        <p:spPr>
          <a:xfrm>
            <a:off x="4983480" y="5184648"/>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$10.3k</a:t>
            </a:r>
          </a:p>
        </p:txBody>
      </p:sp>
      <p:sp>
        <p:nvSpPr>
          <p:cNvPr id="40" name="TextBox 39"/>
          <p:cNvSpPr txBox="1"/>
          <p:nvPr/>
        </p:nvSpPr>
        <p:spPr>
          <a:xfrm>
            <a:off x="5989320" y="5084064"/>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-$813</a:t>
            </a:r>
          </a:p>
        </p:txBody>
      </p:sp>
      <p:sp>
        <p:nvSpPr>
          <p:cNvPr id="41" name="TextBox 40"/>
          <p:cNvSpPr txBox="1"/>
          <p:nvPr/>
        </p:nvSpPr>
        <p:spPr>
          <a:xfrm>
            <a:off x="2212848" y="5413248"/>
            <a:ext cx="1097280" cy="146304"/>
          </a:xfrm>
          <a:prstGeom prst="rect">
            <a:avLst/>
          </a:prstGeom>
          <a:noFill/>
        </p:spPr>
        <p:txBody>
          <a:bodyPr wrap="square" lIns="27432" rIns="27432" tIns="27432" bIns="27432" anchor="t">
            <a:spAutoFit/>
          </a:bodyPr>
          <a:lstStyle/>
          <a:p>
            <a:pPr algn="l"/>
            <a:r>
              <a:rPr sz="1000" b="0">
                <a:solidFill>
                  <a:srgbClr val="355C47"/>
                </a:solidFill>
                <a:latin typeface="Aptos"/>
              </a:rPr>
              <a:t>Base case</a:t>
            </a:r>
          </a:p>
        </p:txBody>
      </p:sp>
      <p:sp>
        <p:nvSpPr>
          <p:cNvPr id="42" name="TextBox 41"/>
          <p:cNvSpPr txBox="1"/>
          <p:nvPr/>
        </p:nvSpPr>
        <p:spPr>
          <a:xfrm>
            <a:off x="3273552" y="5413248"/>
            <a:ext cx="1280160" cy="146304"/>
          </a:xfrm>
          <a:prstGeom prst="rect">
            <a:avLst/>
          </a:prstGeom>
          <a:noFill/>
        </p:spPr>
        <p:txBody>
          <a:bodyPr wrap="square" lIns="27432" rIns="27432" tIns="27432" bIns="27432" anchor="t">
            <a:spAutoFit/>
          </a:bodyPr>
          <a:lstStyle/>
          <a:p>
            <a:pPr algn="l"/>
            <a:r>
              <a:rPr sz="1000" b="0">
                <a:solidFill>
                  <a:srgbClr val="B5533A"/>
                </a:solidFill>
                <a:latin typeface="Aptos"/>
              </a:rPr>
              <a:t>+50% freight</a:t>
            </a:r>
          </a:p>
        </p:txBody>
      </p:sp>
      <p:sp>
        <p:nvSpPr>
          <p:cNvPr id="43" name="Rounded Rectangle 42"/>
          <p:cNvSpPr/>
          <p:nvPr/>
        </p:nvSpPr>
        <p:spPr>
          <a:xfrm>
            <a:off x="7845552" y="1664208"/>
            <a:ext cx="36576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101583" y="1938528"/>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9" y="204825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 PROFIT</a:t>
            </a:r>
          </a:p>
        </p:txBody>
      </p:sp>
      <p:sp>
        <p:nvSpPr>
          <p:cNvPr id="46" name="TextBox 45"/>
          <p:cNvSpPr txBox="1"/>
          <p:nvPr/>
        </p:nvSpPr>
        <p:spPr>
          <a:xfrm>
            <a:off x="8229599" y="2249424"/>
            <a:ext cx="1389888" cy="457200"/>
          </a:xfrm>
          <a:prstGeom prst="rect">
            <a:avLst/>
          </a:prstGeom>
          <a:noFill/>
        </p:spPr>
        <p:txBody>
          <a:bodyPr wrap="square" lIns="27432" rIns="27432" tIns="27432" bIns="27432" anchor="ctr">
            <a:spAutoFit/>
          </a:bodyPr>
          <a:lstStyle/>
          <a:p>
            <a:pPr algn="l"/>
            <a:r>
              <a:rPr sz="1900" b="1">
                <a:solidFill>
                  <a:srgbClr val="B5533A"/>
                </a:solidFill>
                <a:latin typeface="Aptos Display"/>
              </a:rPr>
              <a:t>$12.8k</a:t>
            </a:r>
          </a:p>
        </p:txBody>
      </p:sp>
      <p:sp>
        <p:nvSpPr>
          <p:cNvPr id="47" name="Rounded Rectangle 46"/>
          <p:cNvSpPr/>
          <p:nvPr/>
        </p:nvSpPr>
        <p:spPr>
          <a:xfrm>
            <a:off x="9857232" y="1938528"/>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85248" y="2048256"/>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49" name="TextBox 48"/>
          <p:cNvSpPr txBox="1"/>
          <p:nvPr/>
        </p:nvSpPr>
        <p:spPr>
          <a:xfrm>
            <a:off x="9985248" y="2249424"/>
            <a:ext cx="1097280"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64.9%</a:t>
            </a:r>
          </a:p>
        </p:txBody>
      </p:sp>
      <p:sp>
        <p:nvSpPr>
          <p:cNvPr id="50" name="Rounded Rectangle 49"/>
          <p:cNvSpPr/>
          <p:nvPr/>
        </p:nvSpPr>
        <p:spPr>
          <a:xfrm>
            <a:off x="8101583" y="3017520"/>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127248"/>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MARGIN DROP</a:t>
            </a:r>
          </a:p>
        </p:txBody>
      </p:sp>
      <p:sp>
        <p:nvSpPr>
          <p:cNvPr id="52" name="TextBox 51"/>
          <p:cNvSpPr txBox="1"/>
          <p:nvPr/>
        </p:nvSpPr>
        <p:spPr>
          <a:xfrm>
            <a:off x="8229599" y="3328416"/>
            <a:ext cx="1389888" cy="457200"/>
          </a:xfrm>
          <a:prstGeom prst="rect">
            <a:avLst/>
          </a:prstGeom>
          <a:noFill/>
        </p:spPr>
        <p:txBody>
          <a:bodyPr wrap="square" lIns="27432" rIns="27432" tIns="27432" bIns="27432" anchor="ctr">
            <a:spAutoFit/>
          </a:bodyPr>
          <a:lstStyle/>
          <a:p>
            <a:pPr algn="l"/>
            <a:r>
              <a:rPr sz="1900" b="1">
                <a:solidFill>
                  <a:srgbClr val="B5533A"/>
                </a:solidFill>
                <a:latin typeface="Aptos Display"/>
              </a:rPr>
              <a:t>-4.9 pts</a:t>
            </a:r>
          </a:p>
        </p:txBody>
      </p:sp>
      <p:sp>
        <p:nvSpPr>
          <p:cNvPr id="53" name="Rounded Rectangle 52"/>
          <p:cNvSpPr/>
          <p:nvPr/>
        </p:nvSpPr>
        <p:spPr>
          <a:xfrm>
            <a:off x="9857232" y="3017520"/>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985248" y="3127248"/>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RESULT</a:t>
            </a:r>
          </a:p>
        </p:txBody>
      </p:sp>
      <p:sp>
        <p:nvSpPr>
          <p:cNvPr id="55" name="TextBox 54"/>
          <p:cNvSpPr txBox="1"/>
          <p:nvPr/>
        </p:nvSpPr>
        <p:spPr>
          <a:xfrm>
            <a:off x="9985248" y="3328416"/>
            <a:ext cx="109728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Same 5</a:t>
            </a:r>
          </a:p>
        </p:txBody>
      </p:sp>
      <p:sp>
        <p:nvSpPr>
          <p:cNvPr id="56" name="TextBox 55"/>
          <p:cNvSpPr txBox="1"/>
          <p:nvPr/>
        </p:nvSpPr>
        <p:spPr>
          <a:xfrm>
            <a:off x="8101583" y="4160520"/>
            <a:ext cx="2889504" cy="141732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This is resilience, not immunity: average margin drops from 69.7% to 64.9%.</a:t>
            </a:r>
          </a:p>
          <a:p>
            <a:pPr algn="l">
              <a:lnSpc>
                <a:spcPct val="115000"/>
              </a:lnSpc>
            </a:pPr>
            <a:r>
              <a:rPr sz="1200">
                <a:solidFill>
                  <a:srgbClr val="1F2621"/>
                </a:solidFill>
                <a:latin typeface="Aptos"/>
              </a:rPr>
              <a:t>- West Valley should hedge fuel exposure and lock carrier capacity early.</a:t>
            </a:r>
          </a:p>
          <a:p>
            <a:pPr algn="l">
              <a:lnSpc>
                <a:spcPct val="115000"/>
              </a:lnSpc>
            </a:pPr>
            <a:r>
              <a:rPr sz="1200">
                <a:solidFill>
                  <a:srgbClr val="1F2621"/>
                </a:solidFill>
                <a:latin typeface="Aptos"/>
              </a:rPr>
              <a:t>- The pilot still holds because price support outruns the freight shock.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21</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-50% freight lifts margin, not the city set</a:t>
            </a:r>
          </a:p>
        </p:txBody>
      </p:sp>
      <p:sp>
        <p:nvSpPr>
          <p:cNvPr id="9" name="Rounded Rectangle 8"/>
          <p:cNvSpPr/>
          <p:nvPr/>
        </p:nvSpPr>
        <p:spPr>
          <a:xfrm>
            <a:off x="713232" y="1664208"/>
            <a:ext cx="69037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83664"/>
            <a:ext cx="2468880" cy="164592"/>
          </a:xfrm>
          <a:prstGeom prst="rect">
            <a:avLst/>
          </a:prstGeom>
          <a:noFill/>
        </p:spPr>
        <p:txBody>
          <a:bodyPr wrap="square" lIns="27432" rIns="27432" tIns="27432" bIns="27432" anchor="t">
            <a:spAutoFit/>
          </a:bodyPr>
          <a:lstStyle/>
          <a:p>
            <a:pPr algn="l"/>
            <a:r>
              <a:rPr sz="1000" b="1">
                <a:solidFill>
                  <a:srgbClr val="5F6B63"/>
                </a:solidFill>
                <a:latin typeface="Aptos"/>
              </a:rPr>
              <a:t>BASE VS -50% FREIGHT</a:t>
            </a:r>
          </a:p>
        </p:txBody>
      </p:sp>
      <p:sp>
        <p:nvSpPr>
          <p:cNvPr id="11" name="TextBox 10"/>
          <p:cNvSpPr txBox="1"/>
          <p:nvPr/>
        </p:nvSpPr>
        <p:spPr>
          <a:xfrm>
            <a:off x="932688" y="2304288"/>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212848" y="2322576"/>
            <a:ext cx="2401841"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12848" y="2505456"/>
            <a:ext cx="2560320"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2286000"/>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$15.3k</a:t>
            </a:r>
          </a:p>
        </p:txBody>
      </p:sp>
      <p:sp>
        <p:nvSpPr>
          <p:cNvPr id="15" name="TextBox 14"/>
          <p:cNvSpPr txBox="1"/>
          <p:nvPr/>
        </p:nvSpPr>
        <p:spPr>
          <a:xfrm>
            <a:off x="4983480" y="2478024"/>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$16.3k</a:t>
            </a:r>
          </a:p>
        </p:txBody>
      </p:sp>
      <p:sp>
        <p:nvSpPr>
          <p:cNvPr id="16" name="TextBox 15"/>
          <p:cNvSpPr txBox="1"/>
          <p:nvPr/>
        </p:nvSpPr>
        <p:spPr>
          <a:xfrm>
            <a:off x="5989320" y="2377440"/>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+$1.0k</a:t>
            </a:r>
          </a:p>
        </p:txBody>
      </p:sp>
      <p:sp>
        <p:nvSpPr>
          <p:cNvPr id="17" name="TextBox 16"/>
          <p:cNvSpPr txBox="1"/>
          <p:nvPr/>
        </p:nvSpPr>
        <p:spPr>
          <a:xfrm>
            <a:off x="932688" y="2980944"/>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8" name="Rounded Rectangle 17"/>
          <p:cNvSpPr/>
          <p:nvPr/>
        </p:nvSpPr>
        <p:spPr>
          <a:xfrm>
            <a:off x="2212848" y="2999232"/>
            <a:ext cx="2334658"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212848" y="3182112"/>
            <a:ext cx="2485191"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2962656"/>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$14.8k</a:t>
            </a:r>
          </a:p>
        </p:txBody>
      </p:sp>
      <p:sp>
        <p:nvSpPr>
          <p:cNvPr id="21" name="TextBox 20"/>
          <p:cNvSpPr txBox="1"/>
          <p:nvPr/>
        </p:nvSpPr>
        <p:spPr>
          <a:xfrm>
            <a:off x="4983480" y="3154680"/>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$15.8k</a:t>
            </a:r>
          </a:p>
        </p:txBody>
      </p:sp>
      <p:sp>
        <p:nvSpPr>
          <p:cNvPr id="22" name="TextBox 21"/>
          <p:cNvSpPr txBox="1"/>
          <p:nvPr/>
        </p:nvSpPr>
        <p:spPr>
          <a:xfrm>
            <a:off x="5989320" y="3054096"/>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+$957</a:t>
            </a:r>
          </a:p>
        </p:txBody>
      </p:sp>
      <p:sp>
        <p:nvSpPr>
          <p:cNvPr id="23" name="TextBox 22"/>
          <p:cNvSpPr txBox="1"/>
          <p:nvPr/>
        </p:nvSpPr>
        <p:spPr>
          <a:xfrm>
            <a:off x="932688" y="3657600"/>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4" name="Rounded Rectangle 23"/>
          <p:cNvSpPr/>
          <p:nvPr/>
        </p:nvSpPr>
        <p:spPr>
          <a:xfrm>
            <a:off x="2212848" y="3675888"/>
            <a:ext cx="2267002"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12848" y="3858768"/>
            <a:ext cx="2418637"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639312"/>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$14.4k</a:t>
            </a:r>
          </a:p>
        </p:txBody>
      </p:sp>
      <p:sp>
        <p:nvSpPr>
          <p:cNvPr id="27" name="TextBox 26"/>
          <p:cNvSpPr txBox="1"/>
          <p:nvPr/>
        </p:nvSpPr>
        <p:spPr>
          <a:xfrm>
            <a:off x="4983480" y="3831336"/>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$15.4k</a:t>
            </a:r>
          </a:p>
        </p:txBody>
      </p:sp>
      <p:sp>
        <p:nvSpPr>
          <p:cNvPr id="28" name="TextBox 27"/>
          <p:cNvSpPr txBox="1"/>
          <p:nvPr/>
        </p:nvSpPr>
        <p:spPr>
          <a:xfrm>
            <a:off x="5989320" y="3730752"/>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+$964</a:t>
            </a:r>
          </a:p>
        </p:txBody>
      </p:sp>
      <p:sp>
        <p:nvSpPr>
          <p:cNvPr id="29" name="TextBox 28"/>
          <p:cNvSpPr txBox="1"/>
          <p:nvPr/>
        </p:nvSpPr>
        <p:spPr>
          <a:xfrm>
            <a:off x="932688" y="4334256"/>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30" name="Rounded Rectangle 29"/>
          <p:cNvSpPr/>
          <p:nvPr/>
        </p:nvSpPr>
        <p:spPr>
          <a:xfrm>
            <a:off x="2212848" y="4352544"/>
            <a:ext cx="2044055"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212848" y="4535424"/>
            <a:ext cx="2205208"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83480" y="4315968"/>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$13.0k</a:t>
            </a:r>
          </a:p>
        </p:txBody>
      </p:sp>
      <p:sp>
        <p:nvSpPr>
          <p:cNvPr id="33" name="TextBox 32"/>
          <p:cNvSpPr txBox="1"/>
          <p:nvPr/>
        </p:nvSpPr>
        <p:spPr>
          <a:xfrm>
            <a:off x="4983480" y="4507992"/>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$14.0k</a:t>
            </a:r>
          </a:p>
        </p:txBody>
      </p:sp>
      <p:sp>
        <p:nvSpPr>
          <p:cNvPr id="34" name="TextBox 33"/>
          <p:cNvSpPr txBox="1"/>
          <p:nvPr/>
        </p:nvSpPr>
        <p:spPr>
          <a:xfrm>
            <a:off x="5989320" y="4407408"/>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+$1.0k</a:t>
            </a:r>
          </a:p>
        </p:txBody>
      </p:sp>
      <p:sp>
        <p:nvSpPr>
          <p:cNvPr id="35" name="TextBox 34"/>
          <p:cNvSpPr txBox="1"/>
          <p:nvPr/>
        </p:nvSpPr>
        <p:spPr>
          <a:xfrm>
            <a:off x="932688" y="5010912"/>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36" name="Rounded Rectangle 35"/>
          <p:cNvSpPr/>
          <p:nvPr/>
        </p:nvSpPr>
        <p:spPr>
          <a:xfrm>
            <a:off x="2212848" y="5029200"/>
            <a:ext cx="1750462"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212848" y="5212080"/>
            <a:ext cx="1878417"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83480" y="4992624"/>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$11.1k</a:t>
            </a:r>
          </a:p>
        </p:txBody>
      </p:sp>
      <p:sp>
        <p:nvSpPr>
          <p:cNvPr id="39" name="TextBox 38"/>
          <p:cNvSpPr txBox="1"/>
          <p:nvPr/>
        </p:nvSpPr>
        <p:spPr>
          <a:xfrm>
            <a:off x="4983480" y="5184648"/>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$11.9k</a:t>
            </a:r>
          </a:p>
        </p:txBody>
      </p:sp>
      <p:sp>
        <p:nvSpPr>
          <p:cNvPr id="40" name="TextBox 39"/>
          <p:cNvSpPr txBox="1"/>
          <p:nvPr/>
        </p:nvSpPr>
        <p:spPr>
          <a:xfrm>
            <a:off x="5989320" y="5084064"/>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+$813</a:t>
            </a:r>
          </a:p>
        </p:txBody>
      </p:sp>
      <p:sp>
        <p:nvSpPr>
          <p:cNvPr id="41" name="TextBox 40"/>
          <p:cNvSpPr txBox="1"/>
          <p:nvPr/>
        </p:nvSpPr>
        <p:spPr>
          <a:xfrm>
            <a:off x="2212848" y="5413248"/>
            <a:ext cx="1097280" cy="146304"/>
          </a:xfrm>
          <a:prstGeom prst="rect">
            <a:avLst/>
          </a:prstGeom>
          <a:noFill/>
        </p:spPr>
        <p:txBody>
          <a:bodyPr wrap="square" lIns="27432" rIns="27432" tIns="27432" bIns="27432" anchor="t">
            <a:spAutoFit/>
          </a:bodyPr>
          <a:lstStyle/>
          <a:p>
            <a:pPr algn="l"/>
            <a:r>
              <a:rPr sz="1000" b="0">
                <a:solidFill>
                  <a:srgbClr val="355C47"/>
                </a:solidFill>
                <a:latin typeface="Aptos"/>
              </a:rPr>
              <a:t>Base case</a:t>
            </a:r>
          </a:p>
        </p:txBody>
      </p:sp>
      <p:sp>
        <p:nvSpPr>
          <p:cNvPr id="42" name="TextBox 41"/>
          <p:cNvSpPr txBox="1"/>
          <p:nvPr/>
        </p:nvSpPr>
        <p:spPr>
          <a:xfrm>
            <a:off x="3273552" y="5413248"/>
            <a:ext cx="1280160" cy="146304"/>
          </a:xfrm>
          <a:prstGeom prst="rect">
            <a:avLst/>
          </a:prstGeom>
          <a:noFill/>
        </p:spPr>
        <p:txBody>
          <a:bodyPr wrap="square" lIns="27432" rIns="27432" tIns="27432" bIns="27432" anchor="t">
            <a:spAutoFit/>
          </a:bodyPr>
          <a:lstStyle/>
          <a:p>
            <a:pPr algn="l"/>
            <a:r>
              <a:rPr sz="1000" b="0">
                <a:solidFill>
                  <a:srgbClr val="3F728A"/>
                </a:solidFill>
                <a:latin typeface="Aptos"/>
              </a:rPr>
              <a:t>-50% freight</a:t>
            </a:r>
          </a:p>
        </p:txBody>
      </p:sp>
      <p:sp>
        <p:nvSpPr>
          <p:cNvPr id="43" name="Rounded Rectangle 42"/>
          <p:cNvSpPr/>
          <p:nvPr/>
        </p:nvSpPr>
        <p:spPr>
          <a:xfrm>
            <a:off x="7845552" y="1664208"/>
            <a:ext cx="36576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101583" y="1938528"/>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9" y="204825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 PROFIT</a:t>
            </a:r>
          </a:p>
        </p:txBody>
      </p:sp>
      <p:sp>
        <p:nvSpPr>
          <p:cNvPr id="46" name="TextBox 45"/>
          <p:cNvSpPr txBox="1"/>
          <p:nvPr/>
        </p:nvSpPr>
        <p:spPr>
          <a:xfrm>
            <a:off x="8229599" y="2249424"/>
            <a:ext cx="1389888"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$14.7k</a:t>
            </a:r>
          </a:p>
        </p:txBody>
      </p:sp>
      <p:sp>
        <p:nvSpPr>
          <p:cNvPr id="47" name="Rounded Rectangle 46"/>
          <p:cNvSpPr/>
          <p:nvPr/>
        </p:nvSpPr>
        <p:spPr>
          <a:xfrm>
            <a:off x="9857232" y="1938528"/>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85248" y="2048256"/>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49" name="TextBox 48"/>
          <p:cNvSpPr txBox="1"/>
          <p:nvPr/>
        </p:nvSpPr>
        <p:spPr>
          <a:xfrm>
            <a:off x="9985248" y="2249424"/>
            <a:ext cx="109728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74.6%</a:t>
            </a:r>
          </a:p>
        </p:txBody>
      </p:sp>
      <p:sp>
        <p:nvSpPr>
          <p:cNvPr id="50" name="Rounded Rectangle 49"/>
          <p:cNvSpPr/>
          <p:nvPr/>
        </p:nvSpPr>
        <p:spPr>
          <a:xfrm>
            <a:off x="8101583" y="3017520"/>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127248"/>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MARGIN GAIN</a:t>
            </a:r>
          </a:p>
        </p:txBody>
      </p:sp>
      <p:sp>
        <p:nvSpPr>
          <p:cNvPr id="52" name="TextBox 51"/>
          <p:cNvSpPr txBox="1"/>
          <p:nvPr/>
        </p:nvSpPr>
        <p:spPr>
          <a:xfrm>
            <a:off x="8229599" y="3328416"/>
            <a:ext cx="1389888"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+4.9 pts</a:t>
            </a:r>
          </a:p>
        </p:txBody>
      </p:sp>
      <p:sp>
        <p:nvSpPr>
          <p:cNvPr id="53" name="Rounded Rectangle 52"/>
          <p:cNvSpPr/>
          <p:nvPr/>
        </p:nvSpPr>
        <p:spPr>
          <a:xfrm>
            <a:off x="9857232" y="3017520"/>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985248" y="3127248"/>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RESULT</a:t>
            </a:r>
          </a:p>
        </p:txBody>
      </p:sp>
      <p:sp>
        <p:nvSpPr>
          <p:cNvPr id="55" name="TextBox 54"/>
          <p:cNvSpPr txBox="1"/>
          <p:nvPr/>
        </p:nvSpPr>
        <p:spPr>
          <a:xfrm>
            <a:off x="9985248" y="3328416"/>
            <a:ext cx="109728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Same 5</a:t>
            </a:r>
          </a:p>
        </p:txBody>
      </p:sp>
      <p:sp>
        <p:nvSpPr>
          <p:cNvPr id="56" name="TextBox 55"/>
          <p:cNvSpPr txBox="1"/>
          <p:nvPr/>
        </p:nvSpPr>
        <p:spPr>
          <a:xfrm>
            <a:off x="8101583" y="4160520"/>
            <a:ext cx="2889504" cy="141732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Lower freight lifts average margin from 69.7% to 74.6%.</a:t>
            </a:r>
          </a:p>
          <a:p>
            <a:pPr algn="l">
              <a:lnSpc>
                <a:spcPct val="115000"/>
              </a:lnSpc>
            </a:pPr>
            <a:r>
              <a:rPr sz="1200">
                <a:solidFill>
                  <a:srgbClr val="1F2621"/>
                </a:solidFill>
                <a:latin typeface="Aptos"/>
              </a:rPr>
              <a:t>- Use that upside to fund service and trade support, not to chase more cities.</a:t>
            </a:r>
          </a:p>
          <a:p>
            <a:pPr algn="l">
              <a:lnSpc>
                <a:spcPct val="115000"/>
              </a:lnSpc>
            </a:pPr>
            <a:r>
              <a:rPr sz="1200">
                <a:solidFill>
                  <a:srgbClr val="1F2621"/>
                </a:solidFill>
                <a:latin typeface="Aptos"/>
              </a:rPr>
              <a:t>- The same five still win, which confirms this set is strong, not fragile.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same five cities win in every freight case</a:t>
            </a:r>
          </a:p>
        </p:txBody>
      </p:sp>
      <p:sp>
        <p:nvSpPr>
          <p:cNvPr id="9" name="Rounded Rectangle 8"/>
          <p:cNvSpPr/>
          <p:nvPr/>
        </p:nvSpPr>
        <p:spPr>
          <a:xfrm>
            <a:off x="713232" y="1645920"/>
            <a:ext cx="649224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65376"/>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RANK MATRIX</a:t>
            </a:r>
          </a:p>
        </p:txBody>
      </p:sp>
      <p:graphicFrame>
        <p:nvGraphicFramePr>
          <p:cNvPr id="11" name="Table 10"/>
          <p:cNvGraphicFramePr>
            <a:graphicFrameLocks noGrp="1"/>
          </p:cNvGraphicFramePr>
          <p:nvPr/>
        </p:nvGraphicFramePr>
        <p:xfrm>
          <a:off x="914400" y="2194560"/>
          <a:ext cx="5943600" cy="3072384"/>
        </p:xfrm>
        <a:graphic>
          <a:graphicData uri="http://schemas.openxmlformats.org/drawingml/2006/table">
            <a:tbl>
              <a:tblPr firstRow="1" bandRow="1">
                <a:tableStyleId>{5C22544A-7EE6-4342-B048-85BDC9FD1C3A}</a:tableStyleId>
              </a:tblPr>
              <a:tblGrid>
                <a:gridCol w="731520"/>
                <a:gridCol w="1737360"/>
                <a:gridCol w="1737360"/>
                <a:gridCol w="1737360"/>
              </a:tblGrid>
              <a:tr h="512064">
                <a:tc>
                  <a:txBody>
                    <a:bodyPr/>
                    <a:lstStyle/>
                    <a:p>
                      <a:pPr algn="ctr"/>
                      <a:r>
                        <a:rPr sz="1100" b="0">
                          <a:solidFill>
                            <a:srgbClr val="1F2621"/>
                          </a:solidFill>
                          <a:latin typeface="Aptos"/>
                        </a:rPr>
                        <a:t>Rank</a:t>
                      </a:r>
                    </a:p>
                  </a:txBody>
                  <a:tcPr>
                    <a:solidFill>
                      <a:srgbClr val="355C47"/>
                    </a:solidFill>
                  </a:tcPr>
                </a:tc>
                <a:tc>
                  <a:txBody>
                    <a:bodyPr/>
                    <a:lstStyle/>
                    <a:p>
                      <a:pPr algn="ctr"/>
                      <a:r>
                        <a:rPr sz="1100" b="0">
                          <a:solidFill>
                            <a:srgbClr val="1F2621"/>
                          </a:solidFill>
                          <a:latin typeface="Aptos"/>
                        </a:rPr>
                        <a:t>Base</a:t>
                      </a:r>
                    </a:p>
                  </a:txBody>
                  <a:tcPr>
                    <a:solidFill>
                      <a:srgbClr val="355C47"/>
                    </a:solidFill>
                  </a:tcPr>
                </a:tc>
                <a:tc>
                  <a:txBody>
                    <a:bodyPr/>
                    <a:lstStyle/>
                    <a:p>
                      <a:pPr algn="ctr"/>
                      <a:r>
                        <a:rPr sz="1100" b="0">
                          <a:solidFill>
                            <a:srgbClr val="1F2621"/>
                          </a:solidFill>
                          <a:latin typeface="Aptos"/>
                        </a:rPr>
                        <a:t>+50%</a:t>
                      </a:r>
                    </a:p>
                  </a:txBody>
                  <a:tcPr>
                    <a:solidFill>
                      <a:srgbClr val="355C47"/>
                    </a:solidFill>
                  </a:tcPr>
                </a:tc>
                <a:tc>
                  <a:txBody>
                    <a:bodyPr/>
                    <a:lstStyle/>
                    <a:p>
                      <a:pPr algn="ctr"/>
                      <a:r>
                        <a:rPr sz="1100" b="0">
                          <a:solidFill>
                            <a:srgbClr val="1F2621"/>
                          </a:solidFill>
                          <a:latin typeface="Aptos"/>
                        </a:rPr>
                        <a:t>-50%</a:t>
                      </a:r>
                    </a:p>
                  </a:txBody>
                  <a:tcPr>
                    <a:solidFill>
                      <a:srgbClr val="355C47"/>
                    </a:solidFill>
                  </a:tcPr>
                </a:tc>
              </a:tr>
              <a:tr h="512064">
                <a:tc>
                  <a:txBody>
                    <a:bodyPr/>
                    <a:lstStyle/>
                    <a:p>
                      <a:pPr algn="ctr"/>
                      <a:r>
                        <a:rPr sz="1100" b="0">
                          <a:solidFill>
                            <a:srgbClr val="1F2621"/>
                          </a:solidFill>
                          <a:latin typeface="Aptos"/>
                        </a:rPr>
                        <a:t>1</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r>
              <a:tr h="512064">
                <a:tc>
                  <a:txBody>
                    <a:bodyPr/>
                    <a:lstStyle/>
                    <a:p>
                      <a:pPr algn="ctr"/>
                      <a:r>
                        <a:rPr sz="1100" b="0">
                          <a:solidFill>
                            <a:srgbClr val="1F2621"/>
                          </a:solidFill>
                          <a:latin typeface="Aptos"/>
                        </a:rPr>
                        <a:t>2</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r>
              <a:tr h="512064">
                <a:tc>
                  <a:txBody>
                    <a:bodyPr/>
                    <a:lstStyle/>
                    <a:p>
                      <a:pPr algn="ctr"/>
                      <a:r>
                        <a:rPr sz="1100" b="0">
                          <a:solidFill>
                            <a:srgbClr val="1F2621"/>
                          </a:solidFill>
                          <a:latin typeface="Aptos"/>
                        </a:rPr>
                        <a:t>3</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r>
              <a:tr h="512064">
                <a:tc>
                  <a:txBody>
                    <a:bodyPr/>
                    <a:lstStyle/>
                    <a:p>
                      <a:pPr algn="ctr"/>
                      <a:r>
                        <a:rPr sz="1100" b="0">
                          <a:solidFill>
                            <a:srgbClr val="1F2621"/>
                          </a:solidFill>
                          <a:latin typeface="Aptos"/>
                        </a:rPr>
                        <a:t>4</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r>
              <a:tr h="512064">
                <a:tc>
                  <a:txBody>
                    <a:bodyPr/>
                    <a:lstStyle/>
                    <a:p>
                      <a:pPr algn="ctr"/>
                      <a:r>
                        <a:rPr sz="1100" b="0">
                          <a:solidFill>
                            <a:srgbClr val="1F2621"/>
                          </a:solidFill>
                          <a:latin typeface="Aptos"/>
                        </a:rPr>
                        <a:t>5</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r>
            </a:tbl>
          </a:graphicData>
        </a:graphic>
      </p:graphicFrame>
      <p:sp>
        <p:nvSpPr>
          <p:cNvPr id="12" name="Rounded Rectangle 11"/>
          <p:cNvSpPr/>
          <p:nvPr/>
        </p:nvSpPr>
        <p:spPr>
          <a:xfrm>
            <a:off x="7516368" y="1645920"/>
            <a:ext cx="3986784"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0" y="1938528"/>
            <a:ext cx="15087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416" y="2048256"/>
            <a:ext cx="1252728" cy="164592"/>
          </a:xfrm>
          <a:prstGeom prst="rect">
            <a:avLst/>
          </a:prstGeom>
          <a:noFill/>
        </p:spPr>
        <p:txBody>
          <a:bodyPr wrap="square" lIns="27432" rIns="27432" tIns="27432" bIns="27432" anchor="t">
            <a:spAutoFit/>
          </a:bodyPr>
          <a:lstStyle/>
          <a:p>
            <a:pPr algn="ctr"/>
            <a:r>
              <a:rPr sz="1000" b="1">
                <a:solidFill>
                  <a:srgbClr val="5F6B63"/>
                </a:solidFill>
                <a:latin typeface="Aptos"/>
              </a:rPr>
              <a:t>RANK CHANGES</a:t>
            </a:r>
          </a:p>
        </p:txBody>
      </p:sp>
      <p:sp>
        <p:nvSpPr>
          <p:cNvPr id="15" name="TextBox 14"/>
          <p:cNvSpPr txBox="1"/>
          <p:nvPr/>
        </p:nvSpPr>
        <p:spPr>
          <a:xfrm>
            <a:off x="7900416" y="2249424"/>
            <a:ext cx="12527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a:t>
            </a:r>
          </a:p>
        </p:txBody>
      </p:sp>
      <p:sp>
        <p:nvSpPr>
          <p:cNvPr id="16" name="Rounded Rectangle 15"/>
          <p:cNvSpPr/>
          <p:nvPr/>
        </p:nvSpPr>
        <p:spPr>
          <a:xfrm>
            <a:off x="9381744" y="1938528"/>
            <a:ext cx="18288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0" y="2048256"/>
            <a:ext cx="1572768" cy="164592"/>
          </a:xfrm>
          <a:prstGeom prst="rect">
            <a:avLst/>
          </a:prstGeom>
          <a:noFill/>
        </p:spPr>
        <p:txBody>
          <a:bodyPr wrap="square" lIns="27432" rIns="27432" tIns="27432" bIns="27432" anchor="t">
            <a:spAutoFit/>
          </a:bodyPr>
          <a:lstStyle/>
          <a:p>
            <a:pPr algn="ctr"/>
            <a:r>
              <a:rPr sz="1000" b="1">
                <a:solidFill>
                  <a:srgbClr val="5F6B63"/>
                </a:solidFill>
                <a:latin typeface="Aptos"/>
              </a:rPr>
              <a:t>SELECTED SET</a:t>
            </a:r>
          </a:p>
        </p:txBody>
      </p:sp>
      <p:sp>
        <p:nvSpPr>
          <p:cNvPr id="18" name="TextBox 17"/>
          <p:cNvSpPr txBox="1"/>
          <p:nvPr/>
        </p:nvSpPr>
        <p:spPr>
          <a:xfrm>
            <a:off x="9509760" y="2249424"/>
            <a:ext cx="157276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Same 5 cities</a:t>
            </a:r>
          </a:p>
        </p:txBody>
      </p:sp>
      <p:sp>
        <p:nvSpPr>
          <p:cNvPr id="19" name="TextBox 18"/>
          <p:cNvSpPr txBox="1"/>
          <p:nvPr/>
        </p:nvSpPr>
        <p:spPr>
          <a:xfrm>
            <a:off x="7772400" y="3200400"/>
            <a:ext cx="3108960" cy="164592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Base, upside, and downside freight all return the same five cities in the same order.</a:t>
            </a:r>
          </a:p>
          <a:p>
            <a:pPr algn="l">
              <a:lnSpc>
                <a:spcPct val="115000"/>
              </a:lnSpc>
            </a:pPr>
            <a:r>
              <a:rPr sz="1300">
                <a:solidFill>
                  <a:srgbClr val="1F2621"/>
                </a:solidFill>
                <a:latin typeface="Aptos"/>
              </a:rPr>
              <a:t>- That is the cleanest proof that the recommendation is structurally stable.</a:t>
            </a:r>
          </a:p>
          <a:p>
            <a:pPr algn="l">
              <a:lnSpc>
                <a:spcPct val="115000"/>
              </a:lnSpc>
            </a:pPr>
            <a:r>
              <a:rPr sz="1300">
                <a:solidFill>
                  <a:srgbClr val="1F2621"/>
                </a:solidFill>
                <a:latin typeface="Aptos"/>
              </a:rPr>
              <a:t>- The next slide shows why: price support wins the tie-break.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Freight is not the main city-screen risk; split allocation makes it matter more</a:t>
            </a:r>
          </a:p>
        </p:txBody>
      </p:sp>
      <p:sp>
        <p:nvSpPr>
          <p:cNvPr id="9" name="Rounded Rectangle 8"/>
          <p:cNvSpPr/>
          <p:nvPr/>
        </p:nvSpPr>
        <p:spPr>
          <a:xfrm>
            <a:off x="713232" y="1664208"/>
            <a:ext cx="539496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72784" y="1664208"/>
            <a:ext cx="5230368"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2011680"/>
            <a:ext cx="4663440" cy="146304"/>
          </a:xfrm>
          <a:prstGeom prst="rect">
            <a:avLst/>
          </a:prstGeom>
          <a:noFill/>
        </p:spPr>
        <p:txBody>
          <a:bodyPr wrap="square" lIns="27432" rIns="27432" tIns="27432" bIns="27432" anchor="t">
            <a:spAutoFit/>
          </a:bodyPr>
          <a:lstStyle/>
          <a:p>
            <a:pPr algn="l"/>
            <a:r>
              <a:rPr sz="1000" b="1">
                <a:solidFill>
                  <a:srgbClr val="5F6B63"/>
                </a:solidFill>
                <a:latin typeface="Aptos"/>
              </a:rPr>
              <a:t>SEATTLE 20K CITY SCREEN</a:t>
            </a:r>
          </a:p>
        </p:txBody>
      </p:sp>
      <p:sp>
        <p:nvSpPr>
          <p:cNvPr id="12" name="TextBox 11"/>
          <p:cNvSpPr txBox="1"/>
          <p:nvPr/>
        </p:nvSpPr>
        <p:spPr>
          <a:xfrm>
            <a:off x="950976" y="2240280"/>
            <a:ext cx="1865376" cy="201168"/>
          </a:xfrm>
          <a:prstGeom prst="rect">
            <a:avLst/>
          </a:prstGeom>
          <a:noFill/>
        </p:spPr>
        <p:txBody>
          <a:bodyPr wrap="square" lIns="27432" rIns="27432" tIns="27432" bIns="27432" anchor="t">
            <a:spAutoFit/>
          </a:bodyPr>
          <a:lstStyle/>
          <a:p>
            <a:pPr algn="l"/>
            <a:r>
              <a:rPr sz="1100" b="1">
                <a:solidFill>
                  <a:srgbClr val="1F2621"/>
                </a:solidFill>
                <a:latin typeface="Aptos"/>
              </a:rPr>
              <a:t>Volume sold -50%</a:t>
            </a:r>
          </a:p>
        </p:txBody>
      </p:sp>
      <p:sp>
        <p:nvSpPr>
          <p:cNvPr id="13" name="Rounded Rectangle 12"/>
          <p:cNvSpPr/>
          <p:nvPr/>
        </p:nvSpPr>
        <p:spPr>
          <a:xfrm>
            <a:off x="2871216" y="2258568"/>
            <a:ext cx="17373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871216" y="2258568"/>
            <a:ext cx="173736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91456" y="2212848"/>
            <a:ext cx="822960" cy="182880"/>
          </a:xfrm>
          <a:prstGeom prst="rect">
            <a:avLst/>
          </a:prstGeom>
          <a:noFill/>
        </p:spPr>
        <p:txBody>
          <a:bodyPr wrap="square" lIns="27432" rIns="27432" tIns="27432" bIns="27432" anchor="t">
            <a:spAutoFit/>
          </a:bodyPr>
          <a:lstStyle/>
          <a:p>
            <a:pPr algn="r"/>
            <a:r>
              <a:rPr sz="1100" b="1">
                <a:solidFill>
                  <a:srgbClr val="355C47"/>
                </a:solidFill>
                <a:latin typeface="Aptos"/>
              </a:rPr>
              <a:t>$8,640</a:t>
            </a:r>
          </a:p>
        </p:txBody>
      </p:sp>
      <p:sp>
        <p:nvSpPr>
          <p:cNvPr id="16" name="TextBox 15"/>
          <p:cNvSpPr txBox="1"/>
          <p:nvPr/>
        </p:nvSpPr>
        <p:spPr>
          <a:xfrm>
            <a:off x="950976" y="2880360"/>
            <a:ext cx="1865376" cy="201168"/>
          </a:xfrm>
          <a:prstGeom prst="rect">
            <a:avLst/>
          </a:prstGeom>
          <a:noFill/>
        </p:spPr>
        <p:txBody>
          <a:bodyPr wrap="square" lIns="27432" rIns="27432" tIns="27432" bIns="27432" anchor="t">
            <a:spAutoFit/>
          </a:bodyPr>
          <a:lstStyle/>
          <a:p>
            <a:pPr algn="l"/>
            <a:r>
              <a:rPr sz="1100" b="0">
                <a:solidFill>
                  <a:srgbClr val="1F2621"/>
                </a:solidFill>
                <a:latin typeface="Aptos"/>
              </a:rPr>
              <a:t>Retail price -20%</a:t>
            </a:r>
          </a:p>
        </p:txBody>
      </p:sp>
      <p:sp>
        <p:nvSpPr>
          <p:cNvPr id="17" name="Rounded Rectangle 16"/>
          <p:cNvSpPr/>
          <p:nvPr/>
        </p:nvSpPr>
        <p:spPr>
          <a:xfrm>
            <a:off x="2871216" y="2898648"/>
            <a:ext cx="17373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71216" y="2898648"/>
            <a:ext cx="855811"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91456" y="2852928"/>
            <a:ext cx="822960" cy="182880"/>
          </a:xfrm>
          <a:prstGeom prst="rect">
            <a:avLst/>
          </a:prstGeom>
          <a:noFill/>
        </p:spPr>
        <p:txBody>
          <a:bodyPr wrap="square" lIns="27432" rIns="27432" tIns="27432" bIns="27432" anchor="t">
            <a:spAutoFit/>
          </a:bodyPr>
          <a:lstStyle/>
          <a:p>
            <a:pPr algn="r"/>
            <a:r>
              <a:rPr sz="1100" b="1">
                <a:solidFill>
                  <a:srgbClr val="355C47"/>
                </a:solidFill>
                <a:latin typeface="Aptos"/>
              </a:rPr>
              <a:t>$4,256</a:t>
            </a:r>
          </a:p>
        </p:txBody>
      </p:sp>
      <p:sp>
        <p:nvSpPr>
          <p:cNvPr id="20" name="TextBox 19"/>
          <p:cNvSpPr txBox="1"/>
          <p:nvPr/>
        </p:nvSpPr>
        <p:spPr>
          <a:xfrm>
            <a:off x="950976" y="3520440"/>
            <a:ext cx="1865376" cy="201168"/>
          </a:xfrm>
          <a:prstGeom prst="rect">
            <a:avLst/>
          </a:prstGeom>
          <a:noFill/>
        </p:spPr>
        <p:txBody>
          <a:bodyPr wrap="square" lIns="27432" rIns="27432" tIns="27432" bIns="27432" anchor="t">
            <a:spAutoFit/>
          </a:bodyPr>
          <a:lstStyle/>
          <a:p>
            <a:pPr algn="l"/>
            <a:r>
              <a:rPr sz="1100" b="0">
                <a:solidFill>
                  <a:srgbClr val="1F2621"/>
                </a:solidFill>
                <a:latin typeface="Aptos"/>
              </a:rPr>
              <a:t>Acquisition cost x2</a:t>
            </a:r>
          </a:p>
        </p:txBody>
      </p:sp>
      <p:sp>
        <p:nvSpPr>
          <p:cNvPr id="21" name="Rounded Rectangle 20"/>
          <p:cNvSpPr/>
          <p:nvPr/>
        </p:nvSpPr>
        <p:spPr>
          <a:xfrm>
            <a:off x="2871216" y="3538728"/>
            <a:ext cx="17373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871216" y="3538728"/>
            <a:ext cx="804333"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91456" y="3493008"/>
            <a:ext cx="822960" cy="182880"/>
          </a:xfrm>
          <a:prstGeom prst="rect">
            <a:avLst/>
          </a:prstGeom>
          <a:noFill/>
        </p:spPr>
        <p:txBody>
          <a:bodyPr wrap="square" lIns="27432" rIns="27432" tIns="27432" bIns="27432" anchor="t">
            <a:spAutoFit/>
          </a:bodyPr>
          <a:lstStyle/>
          <a:p>
            <a:pPr algn="r"/>
            <a:r>
              <a:rPr sz="1100" b="1">
                <a:solidFill>
                  <a:srgbClr val="355C47"/>
                </a:solidFill>
                <a:latin typeface="Aptos"/>
              </a:rPr>
              <a:t>$4,000</a:t>
            </a:r>
          </a:p>
        </p:txBody>
      </p:sp>
      <p:sp>
        <p:nvSpPr>
          <p:cNvPr id="24" name="TextBox 23"/>
          <p:cNvSpPr txBox="1"/>
          <p:nvPr/>
        </p:nvSpPr>
        <p:spPr>
          <a:xfrm>
            <a:off x="950976" y="4160520"/>
            <a:ext cx="1865376" cy="201168"/>
          </a:xfrm>
          <a:prstGeom prst="rect">
            <a:avLst/>
          </a:prstGeom>
          <a:noFill/>
        </p:spPr>
        <p:txBody>
          <a:bodyPr wrap="square" lIns="27432" rIns="27432" tIns="27432" bIns="27432" anchor="t">
            <a:spAutoFit/>
          </a:bodyPr>
          <a:lstStyle/>
          <a:p>
            <a:pPr algn="l"/>
            <a:r>
              <a:rPr sz="1100" b="0">
                <a:solidFill>
                  <a:srgbClr val="1F2621"/>
                </a:solidFill>
                <a:latin typeface="Aptos"/>
              </a:rPr>
              <a:t>Shipping +50%</a:t>
            </a:r>
          </a:p>
        </p:txBody>
      </p:sp>
      <p:sp>
        <p:nvSpPr>
          <p:cNvPr id="25" name="Rounded Rectangle 24"/>
          <p:cNvSpPr/>
          <p:nvPr/>
        </p:nvSpPr>
        <p:spPr>
          <a:xfrm>
            <a:off x="2871216" y="4178808"/>
            <a:ext cx="17373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871216" y="4178808"/>
            <a:ext cx="202541" cy="16459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91456" y="4133088"/>
            <a:ext cx="822960" cy="182880"/>
          </a:xfrm>
          <a:prstGeom prst="rect">
            <a:avLst/>
          </a:prstGeom>
          <a:noFill/>
        </p:spPr>
        <p:txBody>
          <a:bodyPr wrap="square" lIns="27432" rIns="27432" tIns="27432" bIns="27432" anchor="t">
            <a:spAutoFit/>
          </a:bodyPr>
          <a:lstStyle/>
          <a:p>
            <a:pPr algn="r"/>
            <a:r>
              <a:rPr sz="1100" b="1">
                <a:solidFill>
                  <a:srgbClr val="3F728A"/>
                </a:solidFill>
                <a:latin typeface="Aptos"/>
              </a:rPr>
              <a:t>$1,007</a:t>
            </a:r>
          </a:p>
        </p:txBody>
      </p:sp>
      <p:sp>
        <p:nvSpPr>
          <p:cNvPr id="28" name="TextBox 27"/>
          <p:cNvSpPr txBox="1"/>
          <p:nvPr/>
        </p:nvSpPr>
        <p:spPr>
          <a:xfrm>
            <a:off x="950976" y="5248656"/>
            <a:ext cx="4617720" cy="310896"/>
          </a:xfrm>
          <a:prstGeom prst="rect">
            <a:avLst/>
          </a:prstGeom>
          <a:noFill/>
        </p:spPr>
        <p:txBody>
          <a:bodyPr wrap="square" lIns="27432" rIns="27432" tIns="27432" bIns="27432" anchor="t">
            <a:spAutoFit/>
          </a:bodyPr>
          <a:lstStyle/>
          <a:p>
            <a:pPr algn="l"/>
            <a:r>
              <a:rPr sz="1100" b="0">
                <a:solidFill>
                  <a:srgbClr val="1F2621"/>
                </a:solidFill>
                <a:latin typeface="Aptos"/>
              </a:rPr>
              <a:t>For the one-city screen, a volume miss is the biggest downside. Freight is the smallest of the four modeled shocks.</a:t>
            </a:r>
          </a:p>
        </p:txBody>
      </p:sp>
      <p:sp>
        <p:nvSpPr>
          <p:cNvPr id="29" name="TextBox 28"/>
          <p:cNvSpPr txBox="1"/>
          <p:nvPr/>
        </p:nvSpPr>
        <p:spPr>
          <a:xfrm>
            <a:off x="6510528" y="2011680"/>
            <a:ext cx="4535424" cy="146304"/>
          </a:xfrm>
          <a:prstGeom prst="rect">
            <a:avLst/>
          </a:prstGeom>
          <a:noFill/>
        </p:spPr>
        <p:txBody>
          <a:bodyPr wrap="square" lIns="27432" rIns="27432" tIns="27432" bIns="27432" anchor="t">
            <a:spAutoFit/>
          </a:bodyPr>
          <a:lstStyle/>
          <a:p>
            <a:pPr algn="l"/>
            <a:r>
              <a:rPr sz="1000" b="1">
                <a:solidFill>
                  <a:srgbClr val="5F6B63"/>
                </a:solidFill>
                <a:latin typeface="Aptos"/>
              </a:rPr>
              <a:t>5-CITY EQUAL PILOT</a:t>
            </a:r>
          </a:p>
        </p:txBody>
      </p:sp>
      <p:sp>
        <p:nvSpPr>
          <p:cNvPr id="30" name="TextBox 29"/>
          <p:cNvSpPr txBox="1"/>
          <p:nvPr/>
        </p:nvSpPr>
        <p:spPr>
          <a:xfrm>
            <a:off x="6510528" y="2240280"/>
            <a:ext cx="1773936" cy="201168"/>
          </a:xfrm>
          <a:prstGeom prst="rect">
            <a:avLst/>
          </a:prstGeom>
          <a:noFill/>
        </p:spPr>
        <p:txBody>
          <a:bodyPr wrap="square" lIns="27432" rIns="27432" tIns="27432" bIns="27432" anchor="t">
            <a:spAutoFit/>
          </a:bodyPr>
          <a:lstStyle/>
          <a:p>
            <a:pPr algn="l"/>
            <a:r>
              <a:rPr sz="1100" b="1">
                <a:solidFill>
                  <a:srgbClr val="1F2621"/>
                </a:solidFill>
                <a:latin typeface="Aptos"/>
              </a:rPr>
              <a:t>Volume sold -50%</a:t>
            </a:r>
          </a:p>
        </p:txBody>
      </p:sp>
      <p:sp>
        <p:nvSpPr>
          <p:cNvPr id="31" name="Rounded Rectangle 30"/>
          <p:cNvSpPr/>
          <p:nvPr/>
        </p:nvSpPr>
        <p:spPr>
          <a:xfrm>
            <a:off x="8339328" y="2258568"/>
            <a:ext cx="1792224"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339328" y="2258568"/>
            <a:ext cx="1621299" cy="16459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14432" y="2212848"/>
            <a:ext cx="731520" cy="182880"/>
          </a:xfrm>
          <a:prstGeom prst="rect">
            <a:avLst/>
          </a:prstGeom>
          <a:noFill/>
        </p:spPr>
        <p:txBody>
          <a:bodyPr wrap="square" lIns="27432" rIns="27432" tIns="27432" bIns="27432" anchor="t">
            <a:spAutoFit/>
          </a:bodyPr>
          <a:lstStyle/>
          <a:p>
            <a:pPr algn="r"/>
            <a:r>
              <a:rPr sz="1100" b="1">
                <a:solidFill>
                  <a:srgbClr val="C58A2A"/>
                </a:solidFill>
                <a:latin typeface="Aptos"/>
              </a:rPr>
              <a:t>$7,816</a:t>
            </a:r>
          </a:p>
        </p:txBody>
      </p:sp>
      <p:sp>
        <p:nvSpPr>
          <p:cNvPr id="34" name="TextBox 33"/>
          <p:cNvSpPr txBox="1"/>
          <p:nvPr/>
        </p:nvSpPr>
        <p:spPr>
          <a:xfrm>
            <a:off x="6510528" y="2880360"/>
            <a:ext cx="1773936" cy="201168"/>
          </a:xfrm>
          <a:prstGeom prst="rect">
            <a:avLst/>
          </a:prstGeom>
          <a:noFill/>
        </p:spPr>
        <p:txBody>
          <a:bodyPr wrap="square" lIns="27432" rIns="27432" tIns="27432" bIns="27432" anchor="t">
            <a:spAutoFit/>
          </a:bodyPr>
          <a:lstStyle/>
          <a:p>
            <a:pPr algn="l"/>
            <a:r>
              <a:rPr sz="1100" b="0">
                <a:solidFill>
                  <a:srgbClr val="1F2621"/>
                </a:solidFill>
                <a:latin typeface="Aptos"/>
              </a:rPr>
              <a:t>Shipping +50%</a:t>
            </a:r>
          </a:p>
        </p:txBody>
      </p:sp>
      <p:sp>
        <p:nvSpPr>
          <p:cNvPr id="35" name="Rounded Rectangle 34"/>
          <p:cNvSpPr/>
          <p:nvPr/>
        </p:nvSpPr>
        <p:spPr>
          <a:xfrm>
            <a:off x="8339328" y="2898648"/>
            <a:ext cx="1792224"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339328" y="2898648"/>
            <a:ext cx="988472"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14432" y="2852928"/>
            <a:ext cx="731520" cy="182880"/>
          </a:xfrm>
          <a:prstGeom prst="rect">
            <a:avLst/>
          </a:prstGeom>
          <a:noFill/>
        </p:spPr>
        <p:txBody>
          <a:bodyPr wrap="square" lIns="27432" rIns="27432" tIns="27432" bIns="27432" anchor="t">
            <a:spAutoFit/>
          </a:bodyPr>
          <a:lstStyle/>
          <a:p>
            <a:pPr algn="r"/>
            <a:r>
              <a:rPr sz="1100" b="1">
                <a:solidFill>
                  <a:srgbClr val="B5533A"/>
                </a:solidFill>
                <a:latin typeface="Aptos"/>
              </a:rPr>
              <a:t>$4,765</a:t>
            </a:r>
          </a:p>
        </p:txBody>
      </p:sp>
      <p:sp>
        <p:nvSpPr>
          <p:cNvPr id="38" name="TextBox 37"/>
          <p:cNvSpPr txBox="1"/>
          <p:nvPr/>
        </p:nvSpPr>
        <p:spPr>
          <a:xfrm>
            <a:off x="6510528" y="3520440"/>
            <a:ext cx="1773936" cy="201168"/>
          </a:xfrm>
          <a:prstGeom prst="rect">
            <a:avLst/>
          </a:prstGeom>
          <a:noFill/>
        </p:spPr>
        <p:txBody>
          <a:bodyPr wrap="square" lIns="27432" rIns="27432" tIns="27432" bIns="27432" anchor="t">
            <a:spAutoFit/>
          </a:bodyPr>
          <a:lstStyle/>
          <a:p>
            <a:pPr algn="l"/>
            <a:r>
              <a:rPr sz="1100" b="0">
                <a:solidFill>
                  <a:srgbClr val="1F2621"/>
                </a:solidFill>
                <a:latin typeface="Aptos"/>
              </a:rPr>
              <a:t>Acquisition cost x2</a:t>
            </a:r>
          </a:p>
        </p:txBody>
      </p:sp>
      <p:sp>
        <p:nvSpPr>
          <p:cNvPr id="39" name="Rounded Rectangle 38"/>
          <p:cNvSpPr/>
          <p:nvPr/>
        </p:nvSpPr>
        <p:spPr>
          <a:xfrm>
            <a:off x="8339328" y="3538728"/>
            <a:ext cx="1792224"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339328" y="3538728"/>
            <a:ext cx="829733" cy="16459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3493008"/>
            <a:ext cx="731520" cy="182880"/>
          </a:xfrm>
          <a:prstGeom prst="rect">
            <a:avLst/>
          </a:prstGeom>
          <a:noFill/>
        </p:spPr>
        <p:txBody>
          <a:bodyPr wrap="square" lIns="27432" rIns="27432" tIns="27432" bIns="27432" anchor="t">
            <a:spAutoFit/>
          </a:bodyPr>
          <a:lstStyle/>
          <a:p>
            <a:pPr algn="r"/>
            <a:r>
              <a:rPr sz="1100" b="1">
                <a:solidFill>
                  <a:srgbClr val="C58A2A"/>
                </a:solidFill>
                <a:latin typeface="Aptos"/>
              </a:rPr>
              <a:t>$4,000</a:t>
            </a:r>
          </a:p>
        </p:txBody>
      </p:sp>
      <p:sp>
        <p:nvSpPr>
          <p:cNvPr id="42" name="TextBox 41"/>
          <p:cNvSpPr txBox="1"/>
          <p:nvPr/>
        </p:nvSpPr>
        <p:spPr>
          <a:xfrm>
            <a:off x="6510528" y="4160520"/>
            <a:ext cx="1773936" cy="201168"/>
          </a:xfrm>
          <a:prstGeom prst="rect">
            <a:avLst/>
          </a:prstGeom>
          <a:noFill/>
        </p:spPr>
        <p:txBody>
          <a:bodyPr wrap="square" lIns="27432" rIns="27432" tIns="27432" bIns="27432" anchor="t">
            <a:spAutoFit/>
          </a:bodyPr>
          <a:lstStyle/>
          <a:p>
            <a:pPr algn="l"/>
            <a:r>
              <a:rPr sz="1100" b="0">
                <a:solidFill>
                  <a:srgbClr val="1F2621"/>
                </a:solidFill>
                <a:latin typeface="Aptos"/>
              </a:rPr>
              <a:t>Retail price -20%</a:t>
            </a:r>
          </a:p>
        </p:txBody>
      </p:sp>
      <p:sp>
        <p:nvSpPr>
          <p:cNvPr id="43" name="Rounded Rectangle 42"/>
          <p:cNvSpPr/>
          <p:nvPr/>
        </p:nvSpPr>
        <p:spPr>
          <a:xfrm>
            <a:off x="8339328" y="4178808"/>
            <a:ext cx="1792224"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339328" y="4178808"/>
            <a:ext cx="814466" cy="16459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314432" y="4133088"/>
            <a:ext cx="731520" cy="182880"/>
          </a:xfrm>
          <a:prstGeom prst="rect">
            <a:avLst/>
          </a:prstGeom>
          <a:noFill/>
        </p:spPr>
        <p:txBody>
          <a:bodyPr wrap="square" lIns="27432" rIns="27432" tIns="27432" bIns="27432" anchor="t">
            <a:spAutoFit/>
          </a:bodyPr>
          <a:lstStyle/>
          <a:p>
            <a:pPr algn="r"/>
            <a:r>
              <a:rPr sz="1100" b="1">
                <a:solidFill>
                  <a:srgbClr val="C58A2A"/>
                </a:solidFill>
                <a:latin typeface="Aptos"/>
              </a:rPr>
              <a:t>$3,926</a:t>
            </a:r>
          </a:p>
        </p:txBody>
      </p:sp>
      <p:sp>
        <p:nvSpPr>
          <p:cNvPr id="46" name="TextBox 45"/>
          <p:cNvSpPr txBox="1"/>
          <p:nvPr/>
        </p:nvSpPr>
        <p:spPr>
          <a:xfrm>
            <a:off x="6510528" y="5248656"/>
            <a:ext cx="4389120" cy="310896"/>
          </a:xfrm>
          <a:prstGeom prst="rect">
            <a:avLst/>
          </a:prstGeom>
          <a:noFill/>
        </p:spPr>
        <p:txBody>
          <a:bodyPr wrap="square" lIns="27432" rIns="27432" tIns="27432" bIns="27432" anchor="t">
            <a:spAutoFit/>
          </a:bodyPr>
          <a:lstStyle/>
          <a:p>
            <a:pPr algn="l"/>
            <a:r>
              <a:rPr sz="1100" b="0">
                <a:solidFill>
                  <a:srgbClr val="1F2621"/>
                </a:solidFill>
                <a:latin typeface="Aptos"/>
              </a:rPr>
              <a:t>Once West Valley splits 20,000 units across five destinations, repeated route-fixed shipping makes freight much more material.</a:t>
            </a:r>
          </a:p>
        </p:txBody>
      </p:sp>
      <p:sp>
        <p:nvSpPr>
          <p:cNvPr id="47" name="Rounded Rectangle 46"/>
          <p:cNvSpPr/>
          <p:nvPr/>
        </p:nvSpPr>
        <p:spPr>
          <a:xfrm>
            <a:off x="4535424" y="5504688"/>
            <a:ext cx="3127248" cy="603504"/>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00016" y="5687568"/>
            <a:ext cx="2816352" cy="182880"/>
          </a:xfrm>
          <a:prstGeom prst="rect">
            <a:avLst/>
          </a:prstGeom>
          <a:noFill/>
        </p:spPr>
        <p:txBody>
          <a:bodyPr wrap="square" lIns="27432" rIns="27432" tIns="27432" bIns="27432" anchor="t">
            <a:spAutoFit/>
          </a:bodyPr>
          <a:lstStyle/>
          <a:p>
            <a:pPr algn="ctr"/>
            <a:r>
              <a:rPr sz="1100" b="1">
                <a:solidFill>
                  <a:srgbClr val="1F2621"/>
                </a:solidFill>
                <a:latin typeface="Aptos"/>
              </a:rPr>
              <a:t>Management read: selection risk is price/volume; allocation risk is repeated route cost.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24</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City selection and unit allocation are different accounting decisions</a:t>
            </a:r>
          </a:p>
        </p:txBody>
      </p:sp>
      <p:sp>
        <p:nvSpPr>
          <p:cNvPr id="9" name="Rounded Rectangle 8"/>
          <p:cNvSpPr/>
          <p:nvPr/>
        </p:nvSpPr>
        <p:spPr>
          <a:xfrm>
            <a:off x="713232" y="1664208"/>
            <a:ext cx="6656832"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883664"/>
            <a:ext cx="3108960" cy="164592"/>
          </a:xfrm>
          <a:prstGeom prst="rect">
            <a:avLst/>
          </a:prstGeom>
          <a:noFill/>
        </p:spPr>
        <p:txBody>
          <a:bodyPr wrap="square" lIns="27432" rIns="27432" tIns="27432" bIns="27432" anchor="t">
            <a:spAutoFit/>
          </a:bodyPr>
          <a:lstStyle/>
          <a:p>
            <a:pPr algn="l"/>
            <a:r>
              <a:rPr sz="1000" b="1">
                <a:solidFill>
                  <a:srgbClr val="5F6B63"/>
                </a:solidFill>
                <a:latin typeface="Aptos"/>
              </a:rPr>
              <a:t>ALLOCATION FRONTIER FOR ONE 20K ORDER</a:t>
            </a:r>
          </a:p>
        </p:txBody>
      </p:sp>
      <p:sp>
        <p:nvSpPr>
          <p:cNvPr id="11" name="Rounded Rectangle 10"/>
          <p:cNvSpPr/>
          <p:nvPr/>
        </p:nvSpPr>
        <p:spPr>
          <a:xfrm>
            <a:off x="1060704" y="2194560"/>
            <a:ext cx="1335024" cy="239572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2011680"/>
            <a:ext cx="1335024" cy="164592"/>
          </a:xfrm>
          <a:prstGeom prst="rect">
            <a:avLst/>
          </a:prstGeom>
          <a:noFill/>
        </p:spPr>
        <p:txBody>
          <a:bodyPr wrap="square" lIns="27432" rIns="27432" tIns="27432" bIns="27432" anchor="t">
            <a:spAutoFit/>
          </a:bodyPr>
          <a:lstStyle/>
          <a:p>
            <a:pPr algn="ctr"/>
            <a:r>
              <a:rPr sz="1100" b="1">
                <a:solidFill>
                  <a:srgbClr val="355C47"/>
                </a:solidFill>
                <a:latin typeface="Aptos"/>
              </a:rPr>
              <a:t>$15.3k</a:t>
            </a:r>
          </a:p>
        </p:txBody>
      </p:sp>
      <p:sp>
        <p:nvSpPr>
          <p:cNvPr id="13" name="TextBox 12"/>
          <p:cNvSpPr txBox="1"/>
          <p:nvPr/>
        </p:nvSpPr>
        <p:spPr>
          <a:xfrm>
            <a:off x="1060704" y="4718304"/>
            <a:ext cx="1335024" cy="329184"/>
          </a:xfrm>
          <a:prstGeom prst="rect">
            <a:avLst/>
          </a:prstGeom>
          <a:noFill/>
        </p:spPr>
        <p:txBody>
          <a:bodyPr wrap="square" lIns="27432" rIns="27432" tIns="27432" bIns="27432" anchor="t">
            <a:spAutoFit/>
          </a:bodyPr>
          <a:lstStyle/>
          <a:p>
            <a:pPr algn="ctr"/>
            <a:r>
              <a:rPr sz="1100" b="1">
                <a:solidFill>
                  <a:srgbClr val="1F2621"/>
                </a:solidFill>
                <a:latin typeface="Aptos"/>
              </a:rPr>
              <a:t>Max-profit single mkt</a:t>
            </a:r>
          </a:p>
        </p:txBody>
      </p:sp>
      <p:sp>
        <p:nvSpPr>
          <p:cNvPr id="14" name="TextBox 13"/>
          <p:cNvSpPr txBox="1"/>
          <p:nvPr/>
        </p:nvSpPr>
        <p:spPr>
          <a:xfrm>
            <a:off x="1060704" y="5065776"/>
            <a:ext cx="1335024" cy="384048"/>
          </a:xfrm>
          <a:prstGeom prst="rect">
            <a:avLst/>
          </a:prstGeom>
          <a:noFill/>
        </p:spPr>
        <p:txBody>
          <a:bodyPr wrap="square" lIns="27432" rIns="27432" tIns="27432" bIns="27432" anchor="t">
            <a:spAutoFit/>
          </a:bodyPr>
          <a:lstStyle/>
          <a:p>
            <a:pPr algn="ctr"/>
            <a:r>
              <a:rPr sz="800" b="0">
                <a:solidFill>
                  <a:srgbClr val="5F6B63"/>
                </a:solidFill>
                <a:latin typeface="Aptos"/>
              </a:rPr>
              <a:t>20,000 units to Seattle</a:t>
            </a:r>
          </a:p>
        </p:txBody>
      </p:sp>
      <p:sp>
        <p:nvSpPr>
          <p:cNvPr id="15" name="Rounded Rectangle 14"/>
          <p:cNvSpPr/>
          <p:nvPr/>
        </p:nvSpPr>
        <p:spPr>
          <a:xfrm>
            <a:off x="3072384" y="2536291"/>
            <a:ext cx="1335024" cy="2053996"/>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72384" y="2353411"/>
            <a:ext cx="1335024" cy="164592"/>
          </a:xfrm>
          <a:prstGeom prst="rect">
            <a:avLst/>
          </a:prstGeom>
          <a:noFill/>
        </p:spPr>
        <p:txBody>
          <a:bodyPr wrap="square" lIns="27432" rIns="27432" tIns="27432" bIns="27432" anchor="t">
            <a:spAutoFit/>
          </a:bodyPr>
          <a:lstStyle/>
          <a:p>
            <a:pPr algn="ctr"/>
            <a:r>
              <a:rPr sz="1100" b="1">
                <a:solidFill>
                  <a:srgbClr val="3F728A"/>
                </a:solidFill>
                <a:latin typeface="Aptos"/>
              </a:rPr>
              <a:t>$13.1k</a:t>
            </a:r>
          </a:p>
        </p:txBody>
      </p:sp>
      <p:sp>
        <p:nvSpPr>
          <p:cNvPr id="17" name="TextBox 16"/>
          <p:cNvSpPr txBox="1"/>
          <p:nvPr/>
        </p:nvSpPr>
        <p:spPr>
          <a:xfrm>
            <a:off x="3072384" y="4718304"/>
            <a:ext cx="1335024" cy="329184"/>
          </a:xfrm>
          <a:prstGeom prst="rect">
            <a:avLst/>
          </a:prstGeom>
          <a:noFill/>
        </p:spPr>
        <p:txBody>
          <a:bodyPr wrap="square" lIns="27432" rIns="27432" tIns="27432" bIns="27432" anchor="t">
            <a:spAutoFit/>
          </a:bodyPr>
          <a:lstStyle/>
          <a:p>
            <a:pPr algn="ctr"/>
            <a:r>
              <a:rPr sz="1100" b="1">
                <a:solidFill>
                  <a:srgbClr val="1F2621"/>
                </a:solidFill>
                <a:latin typeface="Aptos"/>
              </a:rPr>
              <a:t>Balanced 2-city split</a:t>
            </a:r>
          </a:p>
        </p:txBody>
      </p:sp>
      <p:sp>
        <p:nvSpPr>
          <p:cNvPr id="18" name="TextBox 17"/>
          <p:cNvSpPr txBox="1"/>
          <p:nvPr/>
        </p:nvSpPr>
        <p:spPr>
          <a:xfrm>
            <a:off x="3072384" y="5065776"/>
            <a:ext cx="1335024" cy="384048"/>
          </a:xfrm>
          <a:prstGeom prst="rect">
            <a:avLst/>
          </a:prstGeom>
          <a:noFill/>
        </p:spPr>
        <p:txBody>
          <a:bodyPr wrap="square" lIns="27432" rIns="27432" tIns="27432" bIns="27432" anchor="t">
            <a:spAutoFit/>
          </a:bodyPr>
          <a:lstStyle/>
          <a:p>
            <a:pPr algn="ctr"/>
            <a:r>
              <a:rPr sz="800" b="0">
                <a:solidFill>
                  <a:srgbClr val="5F6B63"/>
                </a:solidFill>
                <a:latin typeface="Aptos"/>
              </a:rPr>
              <a:t>10,000 each to Seattle and Boise</a:t>
            </a:r>
          </a:p>
        </p:txBody>
      </p:sp>
      <p:sp>
        <p:nvSpPr>
          <p:cNvPr id="19" name="Rounded Rectangle 18"/>
          <p:cNvSpPr/>
          <p:nvPr/>
        </p:nvSpPr>
        <p:spPr>
          <a:xfrm>
            <a:off x="5084064" y="3632734"/>
            <a:ext cx="1335024" cy="957553"/>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84064" y="3449854"/>
            <a:ext cx="1335024" cy="164592"/>
          </a:xfrm>
          <a:prstGeom prst="rect">
            <a:avLst/>
          </a:prstGeom>
          <a:noFill/>
        </p:spPr>
        <p:txBody>
          <a:bodyPr wrap="square" lIns="27432" rIns="27432" tIns="27432" bIns="27432" anchor="t">
            <a:spAutoFit/>
          </a:bodyPr>
          <a:lstStyle/>
          <a:p>
            <a:pPr algn="ctr"/>
            <a:r>
              <a:rPr sz="1100" b="1">
                <a:solidFill>
                  <a:srgbClr val="C58A2A"/>
                </a:solidFill>
                <a:latin typeface="Aptos"/>
              </a:rPr>
              <a:t>$6.1k</a:t>
            </a:r>
          </a:p>
        </p:txBody>
      </p:sp>
      <p:sp>
        <p:nvSpPr>
          <p:cNvPr id="21" name="TextBox 20"/>
          <p:cNvSpPr txBox="1"/>
          <p:nvPr/>
        </p:nvSpPr>
        <p:spPr>
          <a:xfrm>
            <a:off x="5084064" y="4718304"/>
            <a:ext cx="1335024" cy="329184"/>
          </a:xfrm>
          <a:prstGeom prst="rect">
            <a:avLst/>
          </a:prstGeom>
          <a:noFill/>
        </p:spPr>
        <p:txBody>
          <a:bodyPr wrap="square" lIns="27432" rIns="27432" tIns="27432" bIns="27432" anchor="t">
            <a:spAutoFit/>
          </a:bodyPr>
          <a:lstStyle/>
          <a:p>
            <a:pPr algn="ctr"/>
            <a:r>
              <a:rPr sz="1100" b="1">
                <a:solidFill>
                  <a:srgbClr val="1F2621"/>
                </a:solidFill>
                <a:latin typeface="Aptos"/>
              </a:rPr>
              <a:t>5-city learning pilot</a:t>
            </a:r>
          </a:p>
        </p:txBody>
      </p:sp>
      <p:sp>
        <p:nvSpPr>
          <p:cNvPr id="22" name="TextBox 21"/>
          <p:cNvSpPr txBox="1"/>
          <p:nvPr/>
        </p:nvSpPr>
        <p:spPr>
          <a:xfrm>
            <a:off x="5084064" y="5065776"/>
            <a:ext cx="1335024" cy="384048"/>
          </a:xfrm>
          <a:prstGeom prst="rect">
            <a:avLst/>
          </a:prstGeom>
          <a:noFill/>
        </p:spPr>
        <p:txBody>
          <a:bodyPr wrap="square" lIns="27432" rIns="27432" tIns="27432" bIns="27432" anchor="t">
            <a:spAutoFit/>
          </a:bodyPr>
          <a:lstStyle/>
          <a:p>
            <a:pPr algn="ctr"/>
            <a:r>
              <a:rPr sz="800" b="0">
                <a:solidFill>
                  <a:srgbClr val="5F6B63"/>
                </a:solidFill>
                <a:latin typeface="Aptos"/>
              </a:rPr>
              <a:t>4,000 units in each city</a:t>
            </a:r>
          </a:p>
        </p:txBody>
      </p:sp>
      <p:sp>
        <p:nvSpPr>
          <p:cNvPr id="23" name="TextBox 22"/>
          <p:cNvSpPr txBox="1"/>
          <p:nvPr/>
        </p:nvSpPr>
        <p:spPr>
          <a:xfrm>
            <a:off x="914400" y="5577840"/>
            <a:ext cx="6217920" cy="219456"/>
          </a:xfrm>
          <a:prstGeom prst="rect">
            <a:avLst/>
          </a:prstGeom>
          <a:noFill/>
        </p:spPr>
        <p:txBody>
          <a:bodyPr wrap="square" lIns="27432" rIns="27432" tIns="27432" bIns="27432" anchor="t">
            <a:spAutoFit/>
          </a:bodyPr>
          <a:lstStyle/>
          <a:p>
            <a:pPr algn="l"/>
            <a:r>
              <a:rPr sz="1100" b="0">
                <a:solidFill>
                  <a:srgbClr val="1F2621"/>
                </a:solidFill>
                <a:latin typeface="Aptos"/>
              </a:rPr>
              <a:t>The math is clear: concentration maximizes profit, but a multi-city pilot buys learning and retailer diversification at the cost of duplicated route-fixed shipping.</a:t>
            </a:r>
          </a:p>
        </p:txBody>
      </p:sp>
      <p:sp>
        <p:nvSpPr>
          <p:cNvPr id="24" name="Rounded Rectangle 23"/>
          <p:cNvSpPr/>
          <p:nvPr/>
        </p:nvSpPr>
        <p:spPr>
          <a:xfrm>
            <a:off x="7607808" y="1664208"/>
            <a:ext cx="3895344"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863840" y="1938528"/>
            <a:ext cx="162763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91856" y="2048256"/>
            <a:ext cx="1371600" cy="164592"/>
          </a:xfrm>
          <a:prstGeom prst="rect">
            <a:avLst/>
          </a:prstGeom>
          <a:noFill/>
        </p:spPr>
        <p:txBody>
          <a:bodyPr wrap="square" lIns="27432" rIns="27432" tIns="27432" bIns="27432" anchor="t">
            <a:spAutoFit/>
          </a:bodyPr>
          <a:lstStyle/>
          <a:p>
            <a:pPr algn="l"/>
            <a:r>
              <a:rPr sz="1000" b="1">
                <a:solidFill>
                  <a:srgbClr val="5F6B63"/>
                </a:solidFill>
                <a:latin typeface="Aptos"/>
              </a:rPr>
              <a:t>SINGLE-CITY MAX</a:t>
            </a:r>
          </a:p>
        </p:txBody>
      </p:sp>
      <p:sp>
        <p:nvSpPr>
          <p:cNvPr id="27" name="TextBox 26"/>
          <p:cNvSpPr txBox="1"/>
          <p:nvPr/>
        </p:nvSpPr>
        <p:spPr>
          <a:xfrm>
            <a:off x="7991856" y="2249424"/>
            <a:ext cx="137160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$15.3k</a:t>
            </a:r>
          </a:p>
        </p:txBody>
      </p:sp>
      <p:sp>
        <p:nvSpPr>
          <p:cNvPr id="28" name="Rounded Rectangle 27"/>
          <p:cNvSpPr/>
          <p:nvPr/>
        </p:nvSpPr>
        <p:spPr>
          <a:xfrm>
            <a:off x="9619488" y="1938528"/>
            <a:ext cx="160934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47504" y="2048256"/>
            <a:ext cx="1353312" cy="164592"/>
          </a:xfrm>
          <a:prstGeom prst="rect">
            <a:avLst/>
          </a:prstGeom>
          <a:noFill/>
        </p:spPr>
        <p:txBody>
          <a:bodyPr wrap="square" lIns="27432" rIns="27432" tIns="27432" bIns="27432" anchor="t">
            <a:spAutoFit/>
          </a:bodyPr>
          <a:lstStyle/>
          <a:p>
            <a:pPr algn="l"/>
            <a:r>
              <a:rPr sz="1000" b="1">
                <a:solidFill>
                  <a:srgbClr val="5F6B63"/>
                </a:solidFill>
                <a:latin typeface="Aptos"/>
              </a:rPr>
              <a:t>5-CITY PILOT</a:t>
            </a:r>
          </a:p>
        </p:txBody>
      </p:sp>
      <p:sp>
        <p:nvSpPr>
          <p:cNvPr id="30" name="TextBox 29"/>
          <p:cNvSpPr txBox="1"/>
          <p:nvPr/>
        </p:nvSpPr>
        <p:spPr>
          <a:xfrm>
            <a:off x="9747504" y="2249424"/>
            <a:ext cx="1353312" cy="457200"/>
          </a:xfrm>
          <a:prstGeom prst="rect">
            <a:avLst/>
          </a:prstGeom>
          <a:noFill/>
        </p:spPr>
        <p:txBody>
          <a:bodyPr wrap="square" lIns="27432" rIns="27432" tIns="27432" bIns="27432" anchor="ctr">
            <a:spAutoFit/>
          </a:bodyPr>
          <a:lstStyle/>
          <a:p>
            <a:pPr algn="l"/>
            <a:r>
              <a:rPr sz="1900" b="1">
                <a:solidFill>
                  <a:srgbClr val="C58A2A"/>
                </a:solidFill>
                <a:latin typeface="Aptos Display"/>
              </a:rPr>
              <a:t>$6.1k</a:t>
            </a:r>
          </a:p>
        </p:txBody>
      </p:sp>
      <p:sp>
        <p:nvSpPr>
          <p:cNvPr id="31" name="Rounded Rectangle 30"/>
          <p:cNvSpPr/>
          <p:nvPr/>
        </p:nvSpPr>
        <p:spPr>
          <a:xfrm>
            <a:off x="7863840" y="3017520"/>
            <a:ext cx="336499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91856" y="3127248"/>
            <a:ext cx="3108960" cy="164592"/>
          </a:xfrm>
          <a:prstGeom prst="rect">
            <a:avLst/>
          </a:prstGeom>
          <a:noFill/>
        </p:spPr>
        <p:txBody>
          <a:bodyPr wrap="square" lIns="27432" rIns="27432" tIns="27432" bIns="27432" anchor="t">
            <a:spAutoFit/>
          </a:bodyPr>
          <a:lstStyle/>
          <a:p>
            <a:pPr algn="l"/>
            <a:r>
              <a:rPr sz="1000" b="1">
                <a:solidFill>
                  <a:srgbClr val="5F6B63"/>
                </a:solidFill>
                <a:latin typeface="Aptos"/>
              </a:rPr>
              <a:t>LEARNING PREMIUM</a:t>
            </a:r>
          </a:p>
        </p:txBody>
      </p:sp>
      <p:sp>
        <p:nvSpPr>
          <p:cNvPr id="33" name="TextBox 32"/>
          <p:cNvSpPr txBox="1"/>
          <p:nvPr/>
        </p:nvSpPr>
        <p:spPr>
          <a:xfrm>
            <a:off x="7991856" y="3328416"/>
            <a:ext cx="3108960" cy="457200"/>
          </a:xfrm>
          <a:prstGeom prst="rect">
            <a:avLst/>
          </a:prstGeom>
          <a:noFill/>
        </p:spPr>
        <p:txBody>
          <a:bodyPr wrap="square" lIns="27432" rIns="27432" tIns="27432" bIns="27432" anchor="ctr">
            <a:spAutoFit/>
          </a:bodyPr>
          <a:lstStyle/>
          <a:p>
            <a:pPr algn="l"/>
            <a:r>
              <a:rPr sz="1900" b="1">
                <a:solidFill>
                  <a:srgbClr val="B5533A"/>
                </a:solidFill>
                <a:latin typeface="Aptos Display"/>
              </a:rPr>
              <a:t>-$9.2k</a:t>
            </a:r>
          </a:p>
        </p:txBody>
      </p:sp>
      <p:sp>
        <p:nvSpPr>
          <p:cNvPr id="34" name="TextBox 33"/>
          <p:cNvSpPr txBox="1"/>
          <p:nvPr/>
        </p:nvSpPr>
        <p:spPr>
          <a:xfrm>
            <a:off x="7863840" y="4160520"/>
            <a:ext cx="3017520" cy="137160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A balanced Seattle-Boise split still earns $13.1k, so West Valley can trade a little profit for diversification.</a:t>
            </a:r>
          </a:p>
          <a:p>
            <a:pPr algn="l">
              <a:lnSpc>
                <a:spcPct val="115000"/>
              </a:lnSpc>
            </a:pPr>
            <a:r>
              <a:rPr sz="1200">
                <a:solidFill>
                  <a:srgbClr val="1F2621"/>
                </a:solidFill>
                <a:latin typeface="Aptos"/>
              </a:rPr>
              <a:t>- The equal five-city pilot remains positive, but only because the underlying unit contribution is strong.</a:t>
            </a:r>
          </a:p>
          <a:p>
            <a:pPr algn="l">
              <a:lnSpc>
                <a:spcPct val="115000"/>
              </a:lnSpc>
            </a:pPr>
            <a:r>
              <a:rPr sz="1200">
                <a:solidFill>
                  <a:srgbClr val="1F2621"/>
                </a:solidFill>
                <a:latin typeface="Aptos"/>
              </a:rPr>
              <a:t>- This is why city screening and exact allocation should be presented as two separate decisions.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Prices reach their high point in July</a:t>
            </a:r>
          </a:p>
        </p:txBody>
      </p:sp>
      <p:sp>
        <p:nvSpPr>
          <p:cNvPr id="9" name="Rounded Rectangle 8"/>
          <p:cNvSpPr/>
          <p:nvPr/>
        </p:nvSpPr>
        <p:spPr>
          <a:xfrm>
            <a:off x="749808" y="1737360"/>
            <a:ext cx="676656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7510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MONTHLY PRICE PROFILE</a:t>
            </a:r>
          </a:p>
        </p:txBody>
      </p:sp>
      <p:cxnSp>
        <p:nvCxnSpPr>
          <p:cNvPr id="11" name="Connector 10"/>
          <p:cNvCxnSpPr/>
          <p:nvPr/>
        </p:nvCxnSpPr>
        <p:spPr>
          <a:xfrm>
            <a:off x="1682496" y="4818888"/>
            <a:ext cx="5330952"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82496" y="2560320"/>
            <a:ext cx="0" cy="2258568"/>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42416" y="474573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a:t>
            </a:r>
          </a:p>
        </p:txBody>
      </p:sp>
      <p:cxnSp>
        <p:nvCxnSpPr>
          <p:cNvPr id="14" name="Connector 13"/>
          <p:cNvCxnSpPr/>
          <p:nvPr/>
        </p:nvCxnSpPr>
        <p:spPr>
          <a:xfrm>
            <a:off x="1682496" y="4398264"/>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42416" y="4325112"/>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$1.20</a:t>
            </a:r>
          </a:p>
        </p:txBody>
      </p:sp>
      <p:cxnSp>
        <p:nvCxnSpPr>
          <p:cNvPr id="16" name="Connector 15"/>
          <p:cNvCxnSpPr/>
          <p:nvPr/>
        </p:nvCxnSpPr>
        <p:spPr>
          <a:xfrm>
            <a:off x="1682496" y="3977640"/>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042416" y="3904488"/>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$1.40</a:t>
            </a:r>
          </a:p>
        </p:txBody>
      </p:sp>
      <p:cxnSp>
        <p:nvCxnSpPr>
          <p:cNvPr id="18" name="Connector 17"/>
          <p:cNvCxnSpPr/>
          <p:nvPr/>
        </p:nvCxnSpPr>
        <p:spPr>
          <a:xfrm>
            <a:off x="1682496" y="3557016"/>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42416" y="348386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$1.60</a:t>
            </a:r>
          </a:p>
        </p:txBody>
      </p:sp>
      <p:cxnSp>
        <p:nvCxnSpPr>
          <p:cNvPr id="20" name="Connector 19"/>
          <p:cNvCxnSpPr/>
          <p:nvPr/>
        </p:nvCxnSpPr>
        <p:spPr>
          <a:xfrm>
            <a:off x="1682496" y="3136392"/>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42416" y="306324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$1.80</a:t>
            </a:r>
          </a:p>
        </p:txBody>
      </p:sp>
      <p:sp>
        <p:nvSpPr>
          <p:cNvPr id="22" name="Oval 21"/>
          <p:cNvSpPr/>
          <p:nvPr/>
        </p:nvSpPr>
        <p:spPr>
          <a:xfrm>
            <a:off x="1627632" y="461127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682496" y="4666140"/>
            <a:ext cx="477982" cy="953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2105614" y="462081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2160478" y="4493307"/>
            <a:ext cx="477982" cy="18237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583596" y="443844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2638460" y="4300907"/>
            <a:ext cx="477981" cy="19240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061577" y="424604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3116441" y="4256553"/>
            <a:ext cx="477982" cy="44354"/>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539559" y="420168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V="1">
            <a:off x="3594423" y="4213855"/>
            <a:ext cx="477982" cy="4269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017541" y="415899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4072405" y="4194713"/>
            <a:ext cx="477982" cy="1914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495523" y="413984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4550387" y="4194713"/>
            <a:ext cx="477982" cy="138604"/>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973505" y="427845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5028369" y="4333317"/>
            <a:ext cx="477982" cy="6500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5451487" y="434345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5506351" y="4398317"/>
            <a:ext cx="477981" cy="6733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5929468" y="441078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984332" y="4465647"/>
            <a:ext cx="477982" cy="6066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6407450" y="447144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6462314" y="4526313"/>
            <a:ext cx="477982" cy="8165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885432" y="455310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627632" y="360276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682496" y="3657624"/>
            <a:ext cx="477982" cy="888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2105614" y="36116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2160478" y="3553778"/>
            <a:ext cx="477982" cy="11273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2583596" y="349891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flipV="1">
            <a:off x="2638460" y="3340224"/>
            <a:ext cx="477981" cy="21355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3061577" y="328536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3116441" y="3202724"/>
            <a:ext cx="477982" cy="13750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3539559" y="314786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flipV="1">
            <a:off x="3594423" y="3141733"/>
            <a:ext cx="477982" cy="60991"/>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4017541" y="308686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V="1">
            <a:off x="4072405" y="2997796"/>
            <a:ext cx="477982" cy="14393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4495523" y="294293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4550387" y="2997796"/>
            <a:ext cx="477982" cy="3016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9" name="Oval 58"/>
          <p:cNvSpPr/>
          <p:nvPr/>
        </p:nvSpPr>
        <p:spPr>
          <a:xfrm>
            <a:off x="4973505" y="297309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a:off x="5028369" y="3027963"/>
            <a:ext cx="477982" cy="10734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5451487" y="30804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5506351" y="3135310"/>
            <a:ext cx="477981" cy="16254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5929468" y="324298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5984332" y="3297850"/>
            <a:ext cx="477982" cy="89313"/>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6407450" y="333229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6462314" y="3387163"/>
            <a:ext cx="477982" cy="125223"/>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6885432" y="345752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630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Jan</a:t>
            </a:r>
          </a:p>
        </p:txBody>
      </p:sp>
      <p:sp>
        <p:nvSpPr>
          <p:cNvPr id="69" name="TextBox 68"/>
          <p:cNvSpPr txBox="1"/>
          <p:nvPr/>
        </p:nvSpPr>
        <p:spPr>
          <a:xfrm>
            <a:off x="1941022"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Feb</a:t>
            </a:r>
          </a:p>
        </p:txBody>
      </p:sp>
      <p:sp>
        <p:nvSpPr>
          <p:cNvPr id="70" name="TextBox 69"/>
          <p:cNvSpPr txBox="1"/>
          <p:nvPr/>
        </p:nvSpPr>
        <p:spPr>
          <a:xfrm>
            <a:off x="2419004"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Mar</a:t>
            </a:r>
          </a:p>
        </p:txBody>
      </p:sp>
      <p:sp>
        <p:nvSpPr>
          <p:cNvPr id="71" name="TextBox 70"/>
          <p:cNvSpPr txBox="1"/>
          <p:nvPr/>
        </p:nvSpPr>
        <p:spPr>
          <a:xfrm>
            <a:off x="289698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Apr</a:t>
            </a:r>
          </a:p>
        </p:txBody>
      </p:sp>
      <p:sp>
        <p:nvSpPr>
          <p:cNvPr id="72" name="TextBox 71"/>
          <p:cNvSpPr txBox="1"/>
          <p:nvPr/>
        </p:nvSpPr>
        <p:spPr>
          <a:xfrm>
            <a:off x="3374967"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May</a:t>
            </a:r>
          </a:p>
        </p:txBody>
      </p:sp>
      <p:sp>
        <p:nvSpPr>
          <p:cNvPr id="73" name="TextBox 72"/>
          <p:cNvSpPr txBox="1"/>
          <p:nvPr/>
        </p:nvSpPr>
        <p:spPr>
          <a:xfrm>
            <a:off x="3852949"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Jun</a:t>
            </a:r>
          </a:p>
        </p:txBody>
      </p:sp>
      <p:sp>
        <p:nvSpPr>
          <p:cNvPr id="74" name="TextBox 73"/>
          <p:cNvSpPr txBox="1"/>
          <p:nvPr/>
        </p:nvSpPr>
        <p:spPr>
          <a:xfrm>
            <a:off x="4330931"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Jul</a:t>
            </a:r>
          </a:p>
        </p:txBody>
      </p:sp>
      <p:sp>
        <p:nvSpPr>
          <p:cNvPr id="75" name="TextBox 74"/>
          <p:cNvSpPr txBox="1"/>
          <p:nvPr/>
        </p:nvSpPr>
        <p:spPr>
          <a:xfrm>
            <a:off x="4808913"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Aug</a:t>
            </a:r>
          </a:p>
        </p:txBody>
      </p:sp>
      <p:sp>
        <p:nvSpPr>
          <p:cNvPr id="76" name="TextBox 75"/>
          <p:cNvSpPr txBox="1"/>
          <p:nvPr/>
        </p:nvSpPr>
        <p:spPr>
          <a:xfrm>
            <a:off x="528689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Sep</a:t>
            </a:r>
          </a:p>
        </p:txBody>
      </p:sp>
      <p:sp>
        <p:nvSpPr>
          <p:cNvPr id="77" name="TextBox 76"/>
          <p:cNvSpPr txBox="1"/>
          <p:nvPr/>
        </p:nvSpPr>
        <p:spPr>
          <a:xfrm>
            <a:off x="5764876"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Oct</a:t>
            </a:r>
          </a:p>
        </p:txBody>
      </p:sp>
      <p:sp>
        <p:nvSpPr>
          <p:cNvPr id="78" name="TextBox 77"/>
          <p:cNvSpPr txBox="1"/>
          <p:nvPr/>
        </p:nvSpPr>
        <p:spPr>
          <a:xfrm>
            <a:off x="6242858"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Nov</a:t>
            </a:r>
          </a:p>
        </p:txBody>
      </p:sp>
      <p:sp>
        <p:nvSpPr>
          <p:cNvPr id="79" name="TextBox 78"/>
          <p:cNvSpPr txBox="1"/>
          <p:nvPr/>
        </p:nvSpPr>
        <p:spPr>
          <a:xfrm>
            <a:off x="67208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Dec</a:t>
            </a:r>
          </a:p>
        </p:txBody>
      </p:sp>
      <p:sp>
        <p:nvSpPr>
          <p:cNvPr id="80" name="TextBox 79"/>
          <p:cNvSpPr txBox="1"/>
          <p:nvPr/>
        </p:nvSpPr>
        <p:spPr>
          <a:xfrm>
            <a:off x="1042416" y="2249424"/>
            <a:ext cx="585216" cy="128016"/>
          </a:xfrm>
          <a:prstGeom prst="rect">
            <a:avLst/>
          </a:prstGeom>
          <a:noFill/>
        </p:spPr>
        <p:txBody>
          <a:bodyPr wrap="square" lIns="27432" rIns="27432" tIns="27432" bIns="27432" anchor="t">
            <a:spAutoFit/>
          </a:bodyPr>
          <a:lstStyle/>
          <a:p>
            <a:pPr algn="l"/>
            <a:r>
              <a:rPr sz="900" b="1">
                <a:solidFill>
                  <a:srgbClr val="5F6B63"/>
                </a:solidFill>
                <a:latin typeface="Aptos"/>
              </a:rPr>
              <a:t>PRICE</a:t>
            </a:r>
          </a:p>
        </p:txBody>
      </p:sp>
      <p:sp>
        <p:nvSpPr>
          <p:cNvPr id="81" name="TextBox 80"/>
          <p:cNvSpPr txBox="1"/>
          <p:nvPr/>
        </p:nvSpPr>
        <p:spPr>
          <a:xfrm>
            <a:off x="1810512" y="2249424"/>
            <a:ext cx="1143000" cy="128016"/>
          </a:xfrm>
          <a:prstGeom prst="rect">
            <a:avLst/>
          </a:prstGeom>
          <a:noFill/>
        </p:spPr>
        <p:txBody>
          <a:bodyPr wrap="square" lIns="27432" rIns="27432" tIns="27432" bIns="27432" anchor="t">
            <a:spAutoFit/>
          </a:bodyPr>
          <a:lstStyle/>
          <a:p>
            <a:pPr algn="l"/>
            <a:r>
              <a:rPr sz="1000" b="1">
                <a:solidFill>
                  <a:srgbClr val="355C47"/>
                </a:solidFill>
                <a:latin typeface="Aptos"/>
              </a:rPr>
              <a:t>CONVENTIONAL</a:t>
            </a:r>
          </a:p>
        </p:txBody>
      </p:sp>
      <p:sp>
        <p:nvSpPr>
          <p:cNvPr id="82" name="TextBox 81"/>
          <p:cNvSpPr txBox="1"/>
          <p:nvPr/>
        </p:nvSpPr>
        <p:spPr>
          <a:xfrm>
            <a:off x="3035808" y="2249424"/>
            <a:ext cx="1143000" cy="128016"/>
          </a:xfrm>
          <a:prstGeom prst="rect">
            <a:avLst/>
          </a:prstGeom>
          <a:noFill/>
        </p:spPr>
        <p:txBody>
          <a:bodyPr wrap="square" lIns="27432" rIns="27432" tIns="27432" bIns="27432" anchor="t">
            <a:spAutoFit/>
          </a:bodyPr>
          <a:lstStyle/>
          <a:p>
            <a:pPr algn="l"/>
            <a:r>
              <a:rPr sz="1000" b="1">
                <a:solidFill>
                  <a:srgbClr val="C58A2A"/>
                </a:solidFill>
                <a:latin typeface="Aptos"/>
              </a:rPr>
              <a:t>ORGANIC</a:t>
            </a:r>
          </a:p>
        </p:txBody>
      </p:sp>
      <p:sp>
        <p:nvSpPr>
          <p:cNvPr id="83" name="Rounded Rectangle 82"/>
          <p:cNvSpPr/>
          <p:nvPr/>
        </p:nvSpPr>
        <p:spPr>
          <a:xfrm>
            <a:off x="7790688" y="1737360"/>
            <a:ext cx="3712463"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8046720" y="1993392"/>
            <a:ext cx="160934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174736" y="2103120"/>
            <a:ext cx="1353312" cy="164592"/>
          </a:xfrm>
          <a:prstGeom prst="rect">
            <a:avLst/>
          </a:prstGeom>
          <a:noFill/>
        </p:spPr>
        <p:txBody>
          <a:bodyPr wrap="square" lIns="27432" rIns="27432" tIns="27432" bIns="27432" anchor="t">
            <a:spAutoFit/>
          </a:bodyPr>
          <a:lstStyle/>
          <a:p>
            <a:pPr algn="ctr"/>
            <a:r>
              <a:rPr sz="1000" b="1">
                <a:solidFill>
                  <a:srgbClr val="5F6B63"/>
                </a:solidFill>
                <a:latin typeface="Aptos"/>
              </a:rPr>
              <a:t>CONVENTIONAL PEAK</a:t>
            </a:r>
          </a:p>
        </p:txBody>
      </p:sp>
      <p:sp>
        <p:nvSpPr>
          <p:cNvPr id="86" name="TextBox 85"/>
          <p:cNvSpPr txBox="1"/>
          <p:nvPr/>
        </p:nvSpPr>
        <p:spPr>
          <a:xfrm>
            <a:off x="8174736" y="2304288"/>
            <a:ext cx="135331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Jul</a:t>
            </a:r>
          </a:p>
        </p:txBody>
      </p:sp>
      <p:sp>
        <p:nvSpPr>
          <p:cNvPr id="87" name="Rounded Rectangle 86"/>
          <p:cNvSpPr/>
          <p:nvPr/>
        </p:nvSpPr>
        <p:spPr>
          <a:xfrm>
            <a:off x="9747504" y="1993392"/>
            <a:ext cx="1499616"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75520" y="2103120"/>
            <a:ext cx="1243584" cy="164592"/>
          </a:xfrm>
          <a:prstGeom prst="rect">
            <a:avLst/>
          </a:prstGeom>
          <a:noFill/>
        </p:spPr>
        <p:txBody>
          <a:bodyPr wrap="square" lIns="27432" rIns="27432" tIns="27432" bIns="27432" anchor="t">
            <a:spAutoFit/>
          </a:bodyPr>
          <a:lstStyle/>
          <a:p>
            <a:pPr algn="ctr"/>
            <a:r>
              <a:rPr sz="1000" b="1">
                <a:solidFill>
                  <a:srgbClr val="5F6B63"/>
                </a:solidFill>
                <a:latin typeface="Aptos"/>
              </a:rPr>
              <a:t>ORGANIC PEAK</a:t>
            </a:r>
          </a:p>
        </p:txBody>
      </p:sp>
      <p:sp>
        <p:nvSpPr>
          <p:cNvPr id="89" name="TextBox 88"/>
          <p:cNvSpPr txBox="1"/>
          <p:nvPr/>
        </p:nvSpPr>
        <p:spPr>
          <a:xfrm>
            <a:off x="9875520" y="2304288"/>
            <a:ext cx="1243584"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Jul</a:t>
            </a:r>
          </a:p>
        </p:txBody>
      </p:sp>
      <p:sp>
        <p:nvSpPr>
          <p:cNvPr id="90" name="TextBox 89"/>
          <p:cNvSpPr txBox="1"/>
          <p:nvPr/>
        </p:nvSpPr>
        <p:spPr>
          <a:xfrm>
            <a:off x="8046720" y="3163824"/>
            <a:ext cx="2926080" cy="15087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Both product types peak in July, not during the highest-volume months.</a:t>
            </a:r>
          </a:p>
          <a:p>
            <a:pPr algn="l">
              <a:lnSpc>
                <a:spcPct val="115000"/>
              </a:lnSpc>
            </a:pPr>
            <a:r>
              <a:rPr sz="1300">
                <a:solidFill>
                  <a:srgbClr val="1F2621"/>
                </a:solidFill>
                <a:latin typeface="Aptos"/>
              </a:rPr>
              <a:t>- That means the operating plan should switch from service protection to margin protection in summer.</a:t>
            </a:r>
          </a:p>
          <a:p>
            <a:pPr algn="l">
              <a:lnSpc>
                <a:spcPct val="115000"/>
              </a:lnSpc>
            </a:pPr>
            <a:r>
              <a:rPr sz="1300">
                <a:solidFill>
                  <a:srgbClr val="1F2621"/>
                </a:solidFill>
                <a:latin typeface="Aptos"/>
              </a:rPr>
              <a:t>- Summer is the cleanest season for monetizing premium markets.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Volume peaks earlier than price</a:t>
            </a:r>
          </a:p>
        </p:txBody>
      </p:sp>
      <p:sp>
        <p:nvSpPr>
          <p:cNvPr id="9" name="Rounded Rectangle 8"/>
          <p:cNvSpPr/>
          <p:nvPr/>
        </p:nvSpPr>
        <p:spPr>
          <a:xfrm>
            <a:off x="749808" y="1737360"/>
            <a:ext cx="676656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75104"/>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MONTHLY VOLUME PROFILE</a:t>
            </a:r>
          </a:p>
        </p:txBody>
      </p:sp>
      <p:cxnSp>
        <p:nvCxnSpPr>
          <p:cNvPr id="11" name="Connector 10"/>
          <p:cNvCxnSpPr/>
          <p:nvPr/>
        </p:nvCxnSpPr>
        <p:spPr>
          <a:xfrm>
            <a:off x="1682496" y="4818888"/>
            <a:ext cx="5330952"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82496" y="2560320"/>
            <a:ext cx="0" cy="2258568"/>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42416" y="474573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0</a:t>
            </a:r>
          </a:p>
        </p:txBody>
      </p:sp>
      <p:cxnSp>
        <p:nvCxnSpPr>
          <p:cNvPr id="14" name="Connector 13"/>
          <p:cNvCxnSpPr/>
          <p:nvPr/>
        </p:nvCxnSpPr>
        <p:spPr>
          <a:xfrm>
            <a:off x="1682496" y="411784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42416" y="404469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50,000,000</a:t>
            </a:r>
          </a:p>
        </p:txBody>
      </p:sp>
      <p:cxnSp>
        <p:nvCxnSpPr>
          <p:cNvPr id="16" name="Connector 15"/>
          <p:cNvCxnSpPr/>
          <p:nvPr/>
        </p:nvCxnSpPr>
        <p:spPr>
          <a:xfrm>
            <a:off x="1682496" y="341680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042416" y="334365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100,000,000</a:t>
            </a:r>
          </a:p>
        </p:txBody>
      </p:sp>
      <p:cxnSp>
        <p:nvCxnSpPr>
          <p:cNvPr id="18" name="Connector 17"/>
          <p:cNvCxnSpPr/>
          <p:nvPr/>
        </p:nvCxnSpPr>
        <p:spPr>
          <a:xfrm>
            <a:off x="1682496" y="271576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42416" y="264261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150,000,000</a:t>
            </a:r>
          </a:p>
        </p:txBody>
      </p:sp>
      <p:cxnSp>
        <p:nvCxnSpPr>
          <p:cNvPr id="20" name="Connector 19"/>
          <p:cNvCxnSpPr/>
          <p:nvPr/>
        </p:nvCxnSpPr>
        <p:spPr>
          <a:xfrm>
            <a:off x="1682496" y="201472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42416" y="194157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200,000,000</a:t>
            </a:r>
          </a:p>
        </p:txBody>
      </p:sp>
      <p:sp>
        <p:nvSpPr>
          <p:cNvPr id="22" name="Oval 21"/>
          <p:cNvSpPr/>
          <p:nvPr/>
        </p:nvSpPr>
        <p:spPr>
          <a:xfrm>
            <a:off x="1627632" y="322651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682496" y="3281383"/>
            <a:ext cx="477982" cy="9331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2105614" y="331983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2160478" y="3298923"/>
            <a:ext cx="477982" cy="7577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583596" y="324405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638460" y="3298923"/>
            <a:ext cx="477981" cy="125581"/>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061577" y="336964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3116441" y="3257001"/>
            <a:ext cx="477982" cy="167503"/>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539559" y="320213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3594423" y="3257001"/>
            <a:ext cx="477982" cy="156265"/>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017541" y="3358402"/>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4072405" y="3413266"/>
            <a:ext cx="477982" cy="3715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495523" y="339555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4550387" y="3450418"/>
            <a:ext cx="477982" cy="691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973505" y="340246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5028369" y="3457330"/>
            <a:ext cx="477982" cy="1373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5451487" y="341620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5506351" y="3456382"/>
            <a:ext cx="477981" cy="1468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5929468" y="340151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984332" y="3456382"/>
            <a:ext cx="477982" cy="15277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6407450" y="355429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6462314" y="3492316"/>
            <a:ext cx="477982" cy="11684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885432" y="3437452"/>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627632" y="468227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682496" y="4737134"/>
            <a:ext cx="477982" cy="1108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2105614" y="469335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2160478" y="4739710"/>
            <a:ext cx="477982" cy="850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2583596" y="46848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2638460" y="4739710"/>
            <a:ext cx="477981" cy="595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3061577" y="469080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3116441" y="4740788"/>
            <a:ext cx="477982" cy="487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3539559" y="468592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3594423" y="4740788"/>
            <a:ext cx="477982" cy="8493"/>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4017541" y="469441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4072405" y="4749281"/>
            <a:ext cx="477982" cy="5895"/>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4495523" y="470031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flipV="1">
            <a:off x="4550387" y="4754962"/>
            <a:ext cx="477982" cy="21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9" name="Oval 58"/>
          <p:cNvSpPr/>
          <p:nvPr/>
        </p:nvSpPr>
        <p:spPr>
          <a:xfrm>
            <a:off x="4973505" y="470009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flipV="1">
            <a:off x="5028369" y="4753030"/>
            <a:ext cx="477982" cy="193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5451487" y="469816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flipV="1">
            <a:off x="5506351" y="4752038"/>
            <a:ext cx="477981" cy="99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5929468" y="469717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5984332" y="4752038"/>
            <a:ext cx="477982" cy="440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6407450" y="470158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flipV="1">
            <a:off x="6462314" y="4747426"/>
            <a:ext cx="477982" cy="901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6885432" y="469256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630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Jan</a:t>
            </a:r>
          </a:p>
        </p:txBody>
      </p:sp>
      <p:sp>
        <p:nvSpPr>
          <p:cNvPr id="69" name="TextBox 68"/>
          <p:cNvSpPr txBox="1"/>
          <p:nvPr/>
        </p:nvSpPr>
        <p:spPr>
          <a:xfrm>
            <a:off x="1941022"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Feb</a:t>
            </a:r>
          </a:p>
        </p:txBody>
      </p:sp>
      <p:sp>
        <p:nvSpPr>
          <p:cNvPr id="70" name="TextBox 69"/>
          <p:cNvSpPr txBox="1"/>
          <p:nvPr/>
        </p:nvSpPr>
        <p:spPr>
          <a:xfrm>
            <a:off x="2419004"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Mar</a:t>
            </a:r>
          </a:p>
        </p:txBody>
      </p:sp>
      <p:sp>
        <p:nvSpPr>
          <p:cNvPr id="71" name="TextBox 70"/>
          <p:cNvSpPr txBox="1"/>
          <p:nvPr/>
        </p:nvSpPr>
        <p:spPr>
          <a:xfrm>
            <a:off x="289698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Apr</a:t>
            </a:r>
          </a:p>
        </p:txBody>
      </p:sp>
      <p:sp>
        <p:nvSpPr>
          <p:cNvPr id="72" name="TextBox 71"/>
          <p:cNvSpPr txBox="1"/>
          <p:nvPr/>
        </p:nvSpPr>
        <p:spPr>
          <a:xfrm>
            <a:off x="3374967"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May</a:t>
            </a:r>
          </a:p>
        </p:txBody>
      </p:sp>
      <p:sp>
        <p:nvSpPr>
          <p:cNvPr id="73" name="TextBox 72"/>
          <p:cNvSpPr txBox="1"/>
          <p:nvPr/>
        </p:nvSpPr>
        <p:spPr>
          <a:xfrm>
            <a:off x="3852949"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Jun</a:t>
            </a:r>
          </a:p>
        </p:txBody>
      </p:sp>
      <p:sp>
        <p:nvSpPr>
          <p:cNvPr id="74" name="TextBox 73"/>
          <p:cNvSpPr txBox="1"/>
          <p:nvPr/>
        </p:nvSpPr>
        <p:spPr>
          <a:xfrm>
            <a:off x="4330931"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Jul</a:t>
            </a:r>
          </a:p>
        </p:txBody>
      </p:sp>
      <p:sp>
        <p:nvSpPr>
          <p:cNvPr id="75" name="TextBox 74"/>
          <p:cNvSpPr txBox="1"/>
          <p:nvPr/>
        </p:nvSpPr>
        <p:spPr>
          <a:xfrm>
            <a:off x="4808913"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Aug</a:t>
            </a:r>
          </a:p>
        </p:txBody>
      </p:sp>
      <p:sp>
        <p:nvSpPr>
          <p:cNvPr id="76" name="TextBox 75"/>
          <p:cNvSpPr txBox="1"/>
          <p:nvPr/>
        </p:nvSpPr>
        <p:spPr>
          <a:xfrm>
            <a:off x="528689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Sep</a:t>
            </a:r>
          </a:p>
        </p:txBody>
      </p:sp>
      <p:sp>
        <p:nvSpPr>
          <p:cNvPr id="77" name="TextBox 76"/>
          <p:cNvSpPr txBox="1"/>
          <p:nvPr/>
        </p:nvSpPr>
        <p:spPr>
          <a:xfrm>
            <a:off x="5764876"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Oct</a:t>
            </a:r>
          </a:p>
        </p:txBody>
      </p:sp>
      <p:sp>
        <p:nvSpPr>
          <p:cNvPr id="78" name="TextBox 77"/>
          <p:cNvSpPr txBox="1"/>
          <p:nvPr/>
        </p:nvSpPr>
        <p:spPr>
          <a:xfrm>
            <a:off x="6242858"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Nov</a:t>
            </a:r>
          </a:p>
        </p:txBody>
      </p:sp>
      <p:sp>
        <p:nvSpPr>
          <p:cNvPr id="79" name="TextBox 78"/>
          <p:cNvSpPr txBox="1"/>
          <p:nvPr/>
        </p:nvSpPr>
        <p:spPr>
          <a:xfrm>
            <a:off x="67208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Dec</a:t>
            </a:r>
          </a:p>
        </p:txBody>
      </p:sp>
      <p:sp>
        <p:nvSpPr>
          <p:cNvPr id="80" name="TextBox 79"/>
          <p:cNvSpPr txBox="1"/>
          <p:nvPr/>
        </p:nvSpPr>
        <p:spPr>
          <a:xfrm>
            <a:off x="1042416" y="2249424"/>
            <a:ext cx="585216" cy="128016"/>
          </a:xfrm>
          <a:prstGeom prst="rect">
            <a:avLst/>
          </a:prstGeom>
          <a:noFill/>
        </p:spPr>
        <p:txBody>
          <a:bodyPr wrap="square" lIns="27432" rIns="27432" tIns="27432" bIns="27432" anchor="t">
            <a:spAutoFit/>
          </a:bodyPr>
          <a:lstStyle/>
          <a:p>
            <a:pPr algn="l"/>
            <a:r>
              <a:rPr sz="900" b="1">
                <a:solidFill>
                  <a:srgbClr val="5F6B63"/>
                </a:solidFill>
                <a:latin typeface="Aptos"/>
              </a:rPr>
              <a:t>VOLUME</a:t>
            </a:r>
          </a:p>
        </p:txBody>
      </p:sp>
      <p:sp>
        <p:nvSpPr>
          <p:cNvPr id="81" name="TextBox 80"/>
          <p:cNvSpPr txBox="1"/>
          <p:nvPr/>
        </p:nvSpPr>
        <p:spPr>
          <a:xfrm>
            <a:off x="1810512" y="2249424"/>
            <a:ext cx="1143000" cy="128016"/>
          </a:xfrm>
          <a:prstGeom prst="rect">
            <a:avLst/>
          </a:prstGeom>
          <a:noFill/>
        </p:spPr>
        <p:txBody>
          <a:bodyPr wrap="square" lIns="27432" rIns="27432" tIns="27432" bIns="27432" anchor="t">
            <a:spAutoFit/>
          </a:bodyPr>
          <a:lstStyle/>
          <a:p>
            <a:pPr algn="l"/>
            <a:r>
              <a:rPr sz="1000" b="1">
                <a:solidFill>
                  <a:srgbClr val="355C47"/>
                </a:solidFill>
                <a:latin typeface="Aptos"/>
              </a:rPr>
              <a:t>CONVENTIONAL</a:t>
            </a:r>
          </a:p>
        </p:txBody>
      </p:sp>
      <p:sp>
        <p:nvSpPr>
          <p:cNvPr id="82" name="TextBox 81"/>
          <p:cNvSpPr txBox="1"/>
          <p:nvPr/>
        </p:nvSpPr>
        <p:spPr>
          <a:xfrm>
            <a:off x="3035808" y="2249424"/>
            <a:ext cx="1143000" cy="128016"/>
          </a:xfrm>
          <a:prstGeom prst="rect">
            <a:avLst/>
          </a:prstGeom>
          <a:noFill/>
        </p:spPr>
        <p:txBody>
          <a:bodyPr wrap="square" lIns="27432" rIns="27432" tIns="27432" bIns="27432" anchor="t">
            <a:spAutoFit/>
          </a:bodyPr>
          <a:lstStyle/>
          <a:p>
            <a:pPr algn="l"/>
            <a:r>
              <a:rPr sz="1000" b="1">
                <a:solidFill>
                  <a:srgbClr val="C58A2A"/>
                </a:solidFill>
                <a:latin typeface="Aptos"/>
              </a:rPr>
              <a:t>ORGANIC</a:t>
            </a:r>
          </a:p>
        </p:txBody>
      </p:sp>
      <p:sp>
        <p:nvSpPr>
          <p:cNvPr id="83" name="Rounded Rectangle 82"/>
          <p:cNvSpPr/>
          <p:nvPr/>
        </p:nvSpPr>
        <p:spPr>
          <a:xfrm>
            <a:off x="7790688" y="1737360"/>
            <a:ext cx="3712463"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8046720" y="1993392"/>
            <a:ext cx="160934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174736" y="2103120"/>
            <a:ext cx="1353312" cy="164592"/>
          </a:xfrm>
          <a:prstGeom prst="rect">
            <a:avLst/>
          </a:prstGeom>
          <a:noFill/>
        </p:spPr>
        <p:txBody>
          <a:bodyPr wrap="square" lIns="27432" rIns="27432" tIns="27432" bIns="27432" anchor="t">
            <a:spAutoFit/>
          </a:bodyPr>
          <a:lstStyle/>
          <a:p>
            <a:pPr algn="ctr"/>
            <a:r>
              <a:rPr sz="1000" b="1">
                <a:solidFill>
                  <a:srgbClr val="5F6B63"/>
                </a:solidFill>
                <a:latin typeface="Aptos"/>
              </a:rPr>
              <a:t>CONVENTIONAL PEAK</a:t>
            </a:r>
          </a:p>
        </p:txBody>
      </p:sp>
      <p:sp>
        <p:nvSpPr>
          <p:cNvPr id="86" name="TextBox 85"/>
          <p:cNvSpPr txBox="1"/>
          <p:nvPr/>
        </p:nvSpPr>
        <p:spPr>
          <a:xfrm>
            <a:off x="8174736" y="2304288"/>
            <a:ext cx="135331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May</a:t>
            </a:r>
          </a:p>
        </p:txBody>
      </p:sp>
      <p:sp>
        <p:nvSpPr>
          <p:cNvPr id="87" name="Rounded Rectangle 86"/>
          <p:cNvSpPr/>
          <p:nvPr/>
        </p:nvSpPr>
        <p:spPr>
          <a:xfrm>
            <a:off x="9747504" y="1993392"/>
            <a:ext cx="1499616"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75520" y="2103120"/>
            <a:ext cx="1243584" cy="164592"/>
          </a:xfrm>
          <a:prstGeom prst="rect">
            <a:avLst/>
          </a:prstGeom>
          <a:noFill/>
        </p:spPr>
        <p:txBody>
          <a:bodyPr wrap="square" lIns="27432" rIns="27432" tIns="27432" bIns="27432" anchor="t">
            <a:spAutoFit/>
          </a:bodyPr>
          <a:lstStyle/>
          <a:p>
            <a:pPr algn="ctr"/>
            <a:r>
              <a:rPr sz="1000" b="1">
                <a:solidFill>
                  <a:srgbClr val="5F6B63"/>
                </a:solidFill>
                <a:latin typeface="Aptos"/>
              </a:rPr>
              <a:t>ORGANIC PEAK</a:t>
            </a:r>
          </a:p>
        </p:txBody>
      </p:sp>
      <p:sp>
        <p:nvSpPr>
          <p:cNvPr id="89" name="TextBox 88"/>
          <p:cNvSpPr txBox="1"/>
          <p:nvPr/>
        </p:nvSpPr>
        <p:spPr>
          <a:xfrm>
            <a:off x="9875520" y="2304288"/>
            <a:ext cx="1243584"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Jan</a:t>
            </a:r>
          </a:p>
        </p:txBody>
      </p:sp>
      <p:sp>
        <p:nvSpPr>
          <p:cNvPr id="90" name="TextBox 89"/>
          <p:cNvSpPr txBox="1"/>
          <p:nvPr/>
        </p:nvSpPr>
        <p:spPr>
          <a:xfrm>
            <a:off x="8046720" y="3163824"/>
            <a:ext cx="2926080" cy="15087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Organic volume peaks in January while conventional peaks in May.</a:t>
            </a:r>
          </a:p>
          <a:p>
            <a:pPr algn="l">
              <a:lnSpc>
                <a:spcPct val="115000"/>
              </a:lnSpc>
            </a:pPr>
            <a:r>
              <a:rPr sz="1300">
                <a:solidFill>
                  <a:srgbClr val="1F2621"/>
                </a:solidFill>
                <a:latin typeface="Aptos"/>
              </a:rPr>
              <a:t>- Both soften into November, which is why off-peak demand support matters.</a:t>
            </a:r>
          </a:p>
          <a:p>
            <a:pPr algn="l">
              <a:lnSpc>
                <a:spcPct val="115000"/>
              </a:lnSpc>
            </a:pPr>
            <a:r>
              <a:rPr sz="1300">
                <a:solidFill>
                  <a:srgbClr val="1F2621"/>
                </a:solidFill>
                <a:latin typeface="Aptos"/>
              </a:rPr>
              <a:t>- Volume timing and price timing do not line up, creating the duck-curve operating problem.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27</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Seasonality should change when West Valley pushes volume vs margin</a:t>
            </a:r>
          </a:p>
        </p:txBody>
      </p:sp>
      <p:sp>
        <p:nvSpPr>
          <p:cNvPr id="11" name="TextBox 10"/>
          <p:cNvSpPr txBox="1"/>
          <p:nvPr/>
        </p:nvSpPr>
        <p:spPr>
          <a:xfrm>
            <a:off x="548640" y="1097280"/>
            <a:ext cx="10607040" cy="320040"/>
          </a:xfrm>
          <a:prstGeom prst="rect">
            <a:avLst/>
          </a:prstGeom>
          <a:noFill/>
        </p:spPr>
        <p:txBody>
          <a:bodyPr wrap="square" lIns="27432" rIns="27432" tIns="27432" bIns="27432" anchor="t">
            <a:spAutoFit/>
          </a:bodyPr>
          <a:lstStyle/>
          <a:p>
            <a:pPr algn="l"/>
            <a:r>
              <a:rPr sz="1300" b="0">
                <a:solidFill>
                  <a:srgbClr val="5F6B63"/>
                </a:solidFill>
                <a:latin typeface="Aptos"/>
              </a:rPr>
              <a:t>Organic volume peaks in Jan while price peaks in Jul; that gap is the operating lever.</a:t>
            </a:r>
          </a:p>
        </p:txBody>
      </p:sp>
      <p:sp>
        <p:nvSpPr>
          <p:cNvPr id="12" name="Rounded Rectangle 11"/>
          <p:cNvSpPr/>
          <p:nvPr/>
        </p:nvSpPr>
        <p:spPr>
          <a:xfrm>
            <a:off x="685800"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Jan</a:t>
            </a:r>
          </a:p>
        </p:txBody>
      </p:sp>
      <p:sp>
        <p:nvSpPr>
          <p:cNvPr id="14" name="Rounded Rectangle 13"/>
          <p:cNvSpPr/>
          <p:nvPr/>
        </p:nvSpPr>
        <p:spPr>
          <a:xfrm>
            <a:off x="1517904"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1790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Feb</a:t>
            </a:r>
          </a:p>
        </p:txBody>
      </p:sp>
      <p:sp>
        <p:nvSpPr>
          <p:cNvPr id="16" name="Rounded Rectangle 15"/>
          <p:cNvSpPr/>
          <p:nvPr/>
        </p:nvSpPr>
        <p:spPr>
          <a:xfrm>
            <a:off x="2350008"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50008"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Mar</a:t>
            </a:r>
          </a:p>
        </p:txBody>
      </p:sp>
      <p:sp>
        <p:nvSpPr>
          <p:cNvPr id="18" name="Rounded Rectangle 17"/>
          <p:cNvSpPr/>
          <p:nvPr/>
        </p:nvSpPr>
        <p:spPr>
          <a:xfrm>
            <a:off x="3182112"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82112"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Apr</a:t>
            </a:r>
          </a:p>
        </p:txBody>
      </p:sp>
      <p:sp>
        <p:nvSpPr>
          <p:cNvPr id="20" name="Rounded Rectangle 19"/>
          <p:cNvSpPr/>
          <p:nvPr/>
        </p:nvSpPr>
        <p:spPr>
          <a:xfrm>
            <a:off x="4014216"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14216"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May</a:t>
            </a:r>
          </a:p>
        </p:txBody>
      </p:sp>
      <p:sp>
        <p:nvSpPr>
          <p:cNvPr id="22" name="Rounded Rectangle 21"/>
          <p:cNvSpPr/>
          <p:nvPr/>
        </p:nvSpPr>
        <p:spPr>
          <a:xfrm>
            <a:off x="4846320" y="1737360"/>
            <a:ext cx="713232" cy="438912"/>
          </a:xfrm>
          <a:prstGeom prst="roundRect">
            <a:avLst/>
          </a:prstGeom>
          <a:solidFill>
            <a:srgbClr val="FCFAF5"/>
          </a:solidFill>
          <a:ln>
            <a:solidFill>
              <a:srgbClr val="FCFA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1828800"/>
            <a:ext cx="713232" cy="182880"/>
          </a:xfrm>
          <a:prstGeom prst="rect">
            <a:avLst/>
          </a:prstGeom>
          <a:noFill/>
        </p:spPr>
        <p:txBody>
          <a:bodyPr wrap="square" lIns="27432" rIns="27432" tIns="27432" bIns="27432" anchor="t">
            <a:spAutoFit/>
          </a:bodyPr>
          <a:lstStyle/>
          <a:p>
            <a:pPr algn="ctr"/>
            <a:r>
              <a:rPr sz="1100" b="1">
                <a:solidFill>
                  <a:srgbClr val="1F2621"/>
                </a:solidFill>
                <a:latin typeface="Aptos"/>
              </a:rPr>
              <a:t>Jun</a:t>
            </a:r>
          </a:p>
        </p:txBody>
      </p:sp>
      <p:sp>
        <p:nvSpPr>
          <p:cNvPr id="24" name="Rounded Rectangle 23"/>
          <p:cNvSpPr/>
          <p:nvPr/>
        </p:nvSpPr>
        <p:spPr>
          <a:xfrm>
            <a:off x="5678424"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7842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Jul</a:t>
            </a:r>
          </a:p>
        </p:txBody>
      </p:sp>
      <p:sp>
        <p:nvSpPr>
          <p:cNvPr id="26" name="Rounded Rectangle 25"/>
          <p:cNvSpPr/>
          <p:nvPr/>
        </p:nvSpPr>
        <p:spPr>
          <a:xfrm>
            <a:off x="6510528"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Aug</a:t>
            </a:r>
          </a:p>
        </p:txBody>
      </p:sp>
      <p:sp>
        <p:nvSpPr>
          <p:cNvPr id="28" name="Rounded Rectangle 27"/>
          <p:cNvSpPr/>
          <p:nvPr/>
        </p:nvSpPr>
        <p:spPr>
          <a:xfrm>
            <a:off x="7342632"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42632"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Sep</a:t>
            </a:r>
          </a:p>
        </p:txBody>
      </p:sp>
      <p:sp>
        <p:nvSpPr>
          <p:cNvPr id="30" name="Rounded Rectangle 29"/>
          <p:cNvSpPr/>
          <p:nvPr/>
        </p:nvSpPr>
        <p:spPr>
          <a:xfrm>
            <a:off x="8174736" y="1737360"/>
            <a:ext cx="713232" cy="438912"/>
          </a:xfrm>
          <a:prstGeom prst="roundRect">
            <a:avLst/>
          </a:prstGeom>
          <a:solidFill>
            <a:srgbClr val="D8D1C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74736" y="1828800"/>
            <a:ext cx="713232" cy="182880"/>
          </a:xfrm>
          <a:prstGeom prst="rect">
            <a:avLst/>
          </a:prstGeom>
          <a:noFill/>
        </p:spPr>
        <p:txBody>
          <a:bodyPr wrap="square" lIns="27432" rIns="27432" tIns="27432" bIns="27432" anchor="t">
            <a:spAutoFit/>
          </a:bodyPr>
          <a:lstStyle/>
          <a:p>
            <a:pPr algn="ctr"/>
            <a:r>
              <a:rPr sz="1100" b="1">
                <a:solidFill>
                  <a:srgbClr val="1F2621"/>
                </a:solidFill>
                <a:latin typeface="Aptos"/>
              </a:rPr>
              <a:t>Oct</a:t>
            </a:r>
          </a:p>
        </p:txBody>
      </p:sp>
      <p:sp>
        <p:nvSpPr>
          <p:cNvPr id="32" name="Rounded Rectangle 31"/>
          <p:cNvSpPr/>
          <p:nvPr/>
        </p:nvSpPr>
        <p:spPr>
          <a:xfrm>
            <a:off x="9006840" y="1737360"/>
            <a:ext cx="713232" cy="43891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06840"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Nov</a:t>
            </a:r>
          </a:p>
        </p:txBody>
      </p:sp>
      <p:sp>
        <p:nvSpPr>
          <p:cNvPr id="34" name="Rounded Rectangle 33"/>
          <p:cNvSpPr/>
          <p:nvPr/>
        </p:nvSpPr>
        <p:spPr>
          <a:xfrm>
            <a:off x="9838944" y="1737360"/>
            <a:ext cx="713232" cy="43891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3894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Dec</a:t>
            </a:r>
          </a:p>
        </p:txBody>
      </p:sp>
      <p:sp>
        <p:nvSpPr>
          <p:cNvPr id="36" name="Rounded Rectangle 35"/>
          <p:cNvSpPr/>
          <p:nvPr/>
        </p:nvSpPr>
        <p:spPr>
          <a:xfrm>
            <a:off x="713232" y="2542032"/>
            <a:ext cx="10808208" cy="28346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761488"/>
            <a:ext cx="1508760" cy="146304"/>
          </a:xfrm>
          <a:prstGeom prst="rect">
            <a:avLst/>
          </a:prstGeom>
          <a:noFill/>
        </p:spPr>
        <p:txBody>
          <a:bodyPr wrap="square" lIns="27432" rIns="27432" tIns="27432" bIns="27432" anchor="t">
            <a:spAutoFit/>
          </a:bodyPr>
          <a:lstStyle/>
          <a:p>
            <a:pPr algn="l"/>
            <a:r>
              <a:rPr sz="1000" b="1">
                <a:solidFill>
                  <a:srgbClr val="5F6B63"/>
                </a:solidFill>
                <a:latin typeface="Aptos"/>
              </a:rPr>
              <a:t>OPERATING STANCE</a:t>
            </a:r>
          </a:p>
        </p:txBody>
      </p:sp>
      <p:sp>
        <p:nvSpPr>
          <p:cNvPr id="38" name="TextBox 37"/>
          <p:cNvSpPr txBox="1"/>
          <p:nvPr/>
        </p:nvSpPr>
        <p:spPr>
          <a:xfrm>
            <a:off x="2569463" y="2761488"/>
            <a:ext cx="1325880" cy="146304"/>
          </a:xfrm>
          <a:prstGeom prst="rect">
            <a:avLst/>
          </a:prstGeom>
          <a:noFill/>
        </p:spPr>
        <p:txBody>
          <a:bodyPr wrap="square" lIns="27432" rIns="27432" tIns="27432" bIns="27432" anchor="t">
            <a:spAutoFit/>
          </a:bodyPr>
          <a:lstStyle/>
          <a:p>
            <a:pPr algn="l"/>
            <a:r>
              <a:rPr sz="1000" b="1">
                <a:solidFill>
                  <a:srgbClr val="5F6B63"/>
                </a:solidFill>
                <a:latin typeface="Aptos"/>
              </a:rPr>
              <a:t>WINDOW</a:t>
            </a:r>
          </a:p>
        </p:txBody>
      </p:sp>
      <p:sp>
        <p:nvSpPr>
          <p:cNvPr id="39" name="TextBox 38"/>
          <p:cNvSpPr txBox="1"/>
          <p:nvPr/>
        </p:nvSpPr>
        <p:spPr>
          <a:xfrm>
            <a:off x="4041647" y="2761488"/>
            <a:ext cx="4572000" cy="146304"/>
          </a:xfrm>
          <a:prstGeom prst="rect">
            <a:avLst/>
          </a:prstGeom>
          <a:noFill/>
        </p:spPr>
        <p:txBody>
          <a:bodyPr wrap="square" lIns="27432" rIns="27432" tIns="27432" bIns="27432" anchor="t">
            <a:spAutoFit/>
          </a:bodyPr>
          <a:lstStyle/>
          <a:p>
            <a:pPr algn="l"/>
            <a:r>
              <a:rPr sz="1000" b="1">
                <a:solidFill>
                  <a:srgbClr val="5F6B63"/>
                </a:solidFill>
                <a:latin typeface="Aptos"/>
              </a:rPr>
              <a:t>WHAT WEST VALLEY SHOULD DO</a:t>
            </a:r>
          </a:p>
        </p:txBody>
      </p:sp>
      <p:sp>
        <p:nvSpPr>
          <p:cNvPr id="40" name="TextBox 39"/>
          <p:cNvSpPr txBox="1"/>
          <p:nvPr/>
        </p:nvSpPr>
        <p:spPr>
          <a:xfrm>
            <a:off x="8759951" y="2761488"/>
            <a:ext cx="2834640" cy="146304"/>
          </a:xfrm>
          <a:prstGeom prst="rect">
            <a:avLst/>
          </a:prstGeom>
          <a:noFill/>
        </p:spPr>
        <p:txBody>
          <a:bodyPr wrap="square" lIns="27432" rIns="27432" tIns="27432" bIns="27432" anchor="t">
            <a:spAutoFit/>
          </a:bodyPr>
          <a:lstStyle/>
          <a:p>
            <a:pPr algn="l"/>
            <a:r>
              <a:rPr sz="1000" b="1">
                <a:solidFill>
                  <a:srgbClr val="5F6B63"/>
                </a:solidFill>
                <a:latin typeface="Aptos"/>
              </a:rPr>
              <a:t>WHY IT MATTERS</a:t>
            </a:r>
          </a:p>
        </p:txBody>
      </p:sp>
      <p:sp>
        <p:nvSpPr>
          <p:cNvPr id="41" name="Rounded Rectangle 40"/>
          <p:cNvSpPr/>
          <p:nvPr/>
        </p:nvSpPr>
        <p:spPr>
          <a:xfrm>
            <a:off x="914400" y="3090672"/>
            <a:ext cx="1298448" cy="53035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3209544"/>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Push volume</a:t>
            </a:r>
          </a:p>
        </p:txBody>
      </p:sp>
      <p:sp>
        <p:nvSpPr>
          <p:cNvPr id="43" name="TextBox 42"/>
          <p:cNvSpPr txBox="1"/>
          <p:nvPr/>
        </p:nvSpPr>
        <p:spPr>
          <a:xfrm>
            <a:off x="2450592" y="3163824"/>
            <a:ext cx="1143000" cy="365760"/>
          </a:xfrm>
          <a:prstGeom prst="rect">
            <a:avLst/>
          </a:prstGeom>
          <a:noFill/>
        </p:spPr>
        <p:txBody>
          <a:bodyPr wrap="square" lIns="27432" rIns="27432" tIns="27432" bIns="27432" anchor="t">
            <a:spAutoFit/>
          </a:bodyPr>
          <a:lstStyle/>
          <a:p>
            <a:pPr algn="l"/>
            <a:r>
              <a:rPr sz="1400" b="1">
                <a:solidFill>
                  <a:srgbClr val="355C47"/>
                </a:solidFill>
                <a:latin typeface="Aptos Display"/>
              </a:rPr>
              <a:t>Jan to May</a:t>
            </a:r>
          </a:p>
        </p:txBody>
      </p:sp>
      <p:sp>
        <p:nvSpPr>
          <p:cNvPr id="44" name="TextBox 43"/>
          <p:cNvSpPr txBox="1"/>
          <p:nvPr/>
        </p:nvSpPr>
        <p:spPr>
          <a:xfrm>
            <a:off x="3767328" y="3136392"/>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Prioritize service, retailer availability, and clean flow while the market is naturally absorbing more units.</a:t>
            </a:r>
          </a:p>
        </p:txBody>
      </p:sp>
      <p:sp>
        <p:nvSpPr>
          <p:cNvPr id="45" name="TextBox 44"/>
          <p:cNvSpPr txBox="1"/>
          <p:nvPr/>
        </p:nvSpPr>
        <p:spPr>
          <a:xfrm>
            <a:off x="8412480" y="3136392"/>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This is the best window to prove service quality before summer pricing peaks.</a:t>
            </a:r>
          </a:p>
        </p:txBody>
      </p:sp>
      <p:sp>
        <p:nvSpPr>
          <p:cNvPr id="46" name="Rounded Rectangle 45"/>
          <p:cNvSpPr/>
          <p:nvPr/>
        </p:nvSpPr>
        <p:spPr>
          <a:xfrm>
            <a:off x="914400" y="3822191"/>
            <a:ext cx="1298448" cy="53035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7552" y="3941063"/>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Protect margin</a:t>
            </a:r>
          </a:p>
        </p:txBody>
      </p:sp>
      <p:sp>
        <p:nvSpPr>
          <p:cNvPr id="48" name="TextBox 47"/>
          <p:cNvSpPr txBox="1"/>
          <p:nvPr/>
        </p:nvSpPr>
        <p:spPr>
          <a:xfrm>
            <a:off x="2450592" y="3895343"/>
            <a:ext cx="1143000" cy="365760"/>
          </a:xfrm>
          <a:prstGeom prst="rect">
            <a:avLst/>
          </a:prstGeom>
          <a:noFill/>
        </p:spPr>
        <p:txBody>
          <a:bodyPr wrap="square" lIns="27432" rIns="27432" tIns="27432" bIns="27432" anchor="t">
            <a:spAutoFit/>
          </a:bodyPr>
          <a:lstStyle/>
          <a:p>
            <a:pPr algn="l"/>
            <a:r>
              <a:rPr sz="1400" b="1">
                <a:solidFill>
                  <a:srgbClr val="C58A2A"/>
                </a:solidFill>
                <a:latin typeface="Aptos Display"/>
              </a:rPr>
              <a:t>Jul to Sep</a:t>
            </a:r>
          </a:p>
        </p:txBody>
      </p:sp>
      <p:sp>
        <p:nvSpPr>
          <p:cNvPr id="49" name="TextBox 48"/>
          <p:cNvSpPr txBox="1"/>
          <p:nvPr/>
        </p:nvSpPr>
        <p:spPr>
          <a:xfrm>
            <a:off x="3767328" y="3867911"/>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Hold pricing discipline and allocate the strongest fruit to the highest-paying pilot markets.</a:t>
            </a:r>
          </a:p>
        </p:txBody>
      </p:sp>
      <p:sp>
        <p:nvSpPr>
          <p:cNvPr id="50" name="TextBox 49"/>
          <p:cNvSpPr txBox="1"/>
          <p:nvPr/>
        </p:nvSpPr>
        <p:spPr>
          <a:xfrm>
            <a:off x="8412480" y="3867911"/>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Price support is strongest here, so margin capture matters more than raw throughput.</a:t>
            </a:r>
          </a:p>
        </p:txBody>
      </p:sp>
      <p:sp>
        <p:nvSpPr>
          <p:cNvPr id="51" name="Rounded Rectangle 50"/>
          <p:cNvSpPr/>
          <p:nvPr/>
        </p:nvSpPr>
        <p:spPr>
          <a:xfrm>
            <a:off x="914400" y="4553712"/>
            <a:ext cx="1298448" cy="53035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87552" y="4672584"/>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Stimulate demand</a:t>
            </a:r>
          </a:p>
        </p:txBody>
      </p:sp>
      <p:sp>
        <p:nvSpPr>
          <p:cNvPr id="53" name="TextBox 52"/>
          <p:cNvSpPr txBox="1"/>
          <p:nvPr/>
        </p:nvSpPr>
        <p:spPr>
          <a:xfrm>
            <a:off x="2450592" y="4626864"/>
            <a:ext cx="1143000" cy="365760"/>
          </a:xfrm>
          <a:prstGeom prst="rect">
            <a:avLst/>
          </a:prstGeom>
          <a:noFill/>
        </p:spPr>
        <p:txBody>
          <a:bodyPr wrap="square" lIns="27432" rIns="27432" tIns="27432" bIns="27432" anchor="t">
            <a:spAutoFit/>
          </a:bodyPr>
          <a:lstStyle/>
          <a:p>
            <a:pPr algn="l"/>
            <a:r>
              <a:rPr sz="1400" b="1">
                <a:solidFill>
                  <a:srgbClr val="3F728A"/>
                </a:solidFill>
                <a:latin typeface="Aptos Display"/>
              </a:rPr>
              <a:t>Nov to Feb</a:t>
            </a:r>
          </a:p>
        </p:txBody>
      </p:sp>
      <p:sp>
        <p:nvSpPr>
          <p:cNvPr id="54" name="TextBox 53"/>
          <p:cNvSpPr txBox="1"/>
          <p:nvPr/>
        </p:nvSpPr>
        <p:spPr>
          <a:xfrm>
            <a:off x="3767328" y="4599432"/>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Use promotions, alternate channels, and tighter inventory planning when both types soften.</a:t>
            </a:r>
          </a:p>
        </p:txBody>
      </p:sp>
      <p:sp>
        <p:nvSpPr>
          <p:cNvPr id="55" name="TextBox 54"/>
          <p:cNvSpPr txBox="1"/>
          <p:nvPr/>
        </p:nvSpPr>
        <p:spPr>
          <a:xfrm>
            <a:off x="8412480" y="4599432"/>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Low-demand months require commercial support so the pilot does not confuse seasonality with weak economics.</a:t>
            </a:r>
          </a:p>
        </p:txBody>
      </p:sp>
      <p:sp>
        <p:nvSpPr>
          <p:cNvPr id="56" name="TextBox 55"/>
          <p:cNvSpPr txBox="1"/>
          <p:nvPr/>
        </p:nvSpPr>
        <p:spPr>
          <a:xfrm>
            <a:off x="749808" y="5650992"/>
            <a:ext cx="10149840" cy="201168"/>
          </a:xfrm>
          <a:prstGeom prst="rect">
            <a:avLst/>
          </a:prstGeom>
          <a:noFill/>
        </p:spPr>
        <p:txBody>
          <a:bodyPr wrap="square" lIns="27432" rIns="27432" tIns="27432" bIns="27432" anchor="t">
            <a:spAutoFit/>
          </a:bodyPr>
          <a:lstStyle/>
          <a:p>
            <a:pPr algn="l"/>
            <a:r>
              <a:rPr sz="1200" b="0">
                <a:solidFill>
                  <a:srgbClr val="5F6B63"/>
                </a:solidFill>
                <a:latin typeface="Aptos"/>
              </a:rPr>
              <a:t>Management implication: the pilot should be judged against the right seasonal job each month, not against a flat annual operating assumption.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28</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 monthly operating calendar turns seasonality into advantage</a:t>
            </a:r>
          </a:p>
        </p:txBody>
      </p:sp>
      <p:sp>
        <p:nvSpPr>
          <p:cNvPr id="11" name="TextBox 10"/>
          <p:cNvSpPr txBox="1"/>
          <p:nvPr/>
        </p:nvSpPr>
        <p:spPr>
          <a:xfrm>
            <a:off x="749808" y="1143000"/>
            <a:ext cx="1417320" cy="146304"/>
          </a:xfrm>
          <a:prstGeom prst="rect">
            <a:avLst/>
          </a:prstGeom>
          <a:noFill/>
        </p:spPr>
        <p:txBody>
          <a:bodyPr wrap="square" lIns="27432" rIns="27432" tIns="27432" bIns="27432" anchor="t">
            <a:spAutoFit/>
          </a:bodyPr>
          <a:lstStyle/>
          <a:p>
            <a:pPr algn="l"/>
            <a:r>
              <a:rPr sz="1000" b="1">
                <a:solidFill>
                  <a:srgbClr val="5F6B63"/>
                </a:solidFill>
                <a:latin typeface="Aptos"/>
              </a:rPr>
              <a:t>READING GUIDE</a:t>
            </a:r>
          </a:p>
        </p:txBody>
      </p:sp>
      <p:sp>
        <p:nvSpPr>
          <p:cNvPr id="12" name="Oval 11"/>
          <p:cNvSpPr/>
          <p:nvPr/>
        </p:nvSpPr>
        <p:spPr>
          <a:xfrm>
            <a:off x="1938528" y="1115568"/>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7627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Service</a:t>
            </a:r>
          </a:p>
        </p:txBody>
      </p:sp>
      <p:sp>
        <p:nvSpPr>
          <p:cNvPr id="14" name="Oval 13"/>
          <p:cNvSpPr/>
          <p:nvPr/>
        </p:nvSpPr>
        <p:spPr>
          <a:xfrm>
            <a:off x="4178808" y="1115568"/>
            <a:ext cx="164592" cy="164592"/>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Protect margin</a:t>
            </a:r>
          </a:p>
        </p:txBody>
      </p:sp>
      <p:sp>
        <p:nvSpPr>
          <p:cNvPr id="16" name="Oval 15"/>
          <p:cNvSpPr/>
          <p:nvPr/>
        </p:nvSpPr>
        <p:spPr>
          <a:xfrm>
            <a:off x="6419088" y="1115568"/>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5683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Stimulate demand</a:t>
            </a:r>
          </a:p>
        </p:txBody>
      </p:sp>
      <p:sp>
        <p:nvSpPr>
          <p:cNvPr id="18" name="Oval 17"/>
          <p:cNvSpPr/>
          <p:nvPr/>
        </p:nvSpPr>
        <p:spPr>
          <a:xfrm>
            <a:off x="8659368" y="1115568"/>
            <a:ext cx="164592" cy="164592"/>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9711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Rebalance / reset</a:t>
            </a:r>
          </a:p>
        </p:txBody>
      </p:sp>
      <p:sp>
        <p:nvSpPr>
          <p:cNvPr id="20" name="Rounded Rectangle 19"/>
          <p:cNvSpPr/>
          <p:nvPr/>
        </p:nvSpPr>
        <p:spPr>
          <a:xfrm>
            <a:off x="621792" y="1444752"/>
            <a:ext cx="11027664" cy="3675887"/>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1" name="Table 20"/>
          <p:cNvGraphicFramePr>
            <a:graphicFrameLocks noGrp="1"/>
          </p:cNvGraphicFramePr>
          <p:nvPr/>
        </p:nvGraphicFramePr>
        <p:xfrm>
          <a:off x="749808" y="1664208"/>
          <a:ext cx="10698480" cy="2889504"/>
        </p:xfrm>
        <a:graphic>
          <a:graphicData uri="http://schemas.openxmlformats.org/drawingml/2006/table">
            <a:tbl>
              <a:tblPr firstRow="1" bandRow="1">
                <a:tableStyleId>{5C22544A-7EE6-4342-B048-85BDC9FD1C3A}</a:tableStyleId>
              </a:tblPr>
              <a:tblGrid>
                <a:gridCol w="1481328"/>
                <a:gridCol w="768096"/>
                <a:gridCol w="768096"/>
                <a:gridCol w="768096"/>
                <a:gridCol w="768096"/>
                <a:gridCol w="768096"/>
                <a:gridCol w="768096"/>
                <a:gridCol w="768096"/>
                <a:gridCol w="768096"/>
                <a:gridCol w="768096"/>
                <a:gridCol w="768096"/>
                <a:gridCol w="768096"/>
                <a:gridCol w="768096"/>
              </a:tblGrid>
              <a:tr h="722376">
                <a:tc>
                  <a:txBody>
                    <a:bodyPr/>
                    <a:lstStyle/>
                    <a:p>
                      <a:pPr algn="ctr">
                        <a:spcAft>
                          <a:spcPts val="0"/>
                        </a:spcAft>
                      </a:pPr>
                    </a:p>
                  </a:txBody>
                  <a:tcPr/>
                </a:tc>
                <a:tc>
                  <a:txBody>
                    <a:bodyPr/>
                    <a:lstStyle/>
                    <a:p>
                      <a:pPr algn="ctr">
                        <a:spcAft>
                          <a:spcPts val="0"/>
                        </a:spcAft>
                      </a:pPr>
                      <a:r>
                        <a:rPr sz="950" b="1">
                          <a:solidFill>
                            <a:srgbClr val="1F2621"/>
                          </a:solidFill>
                          <a:latin typeface="Aptos"/>
                        </a:rPr>
                        <a:t>Jan</a:t>
                      </a:r>
                    </a:p>
                  </a:txBody>
                  <a:tcPr>
                    <a:solidFill>
                      <a:srgbClr val="FCFAF5"/>
                    </a:solidFill>
                  </a:tcPr>
                </a:tc>
                <a:tc>
                  <a:txBody>
                    <a:bodyPr/>
                    <a:lstStyle/>
                    <a:p>
                      <a:pPr algn="ctr">
                        <a:spcAft>
                          <a:spcPts val="0"/>
                        </a:spcAft>
                      </a:pPr>
                      <a:r>
                        <a:rPr sz="950" b="1">
                          <a:solidFill>
                            <a:srgbClr val="1F2621"/>
                          </a:solidFill>
                          <a:latin typeface="Aptos"/>
                        </a:rPr>
                        <a:t>Feb</a:t>
                      </a:r>
                    </a:p>
                  </a:txBody>
                  <a:tcPr>
                    <a:solidFill>
                      <a:srgbClr val="FCFAF5"/>
                    </a:solidFill>
                  </a:tcPr>
                </a:tc>
                <a:tc>
                  <a:txBody>
                    <a:bodyPr/>
                    <a:lstStyle/>
                    <a:p>
                      <a:pPr algn="ctr">
                        <a:spcAft>
                          <a:spcPts val="0"/>
                        </a:spcAft>
                      </a:pPr>
                      <a:r>
                        <a:rPr sz="950" b="1">
                          <a:solidFill>
                            <a:srgbClr val="1F2621"/>
                          </a:solidFill>
                          <a:latin typeface="Aptos"/>
                        </a:rPr>
                        <a:t>Mar</a:t>
                      </a:r>
                    </a:p>
                  </a:txBody>
                  <a:tcPr>
                    <a:solidFill>
                      <a:srgbClr val="FCFAF5"/>
                    </a:solidFill>
                  </a:tcPr>
                </a:tc>
                <a:tc>
                  <a:txBody>
                    <a:bodyPr/>
                    <a:lstStyle/>
                    <a:p>
                      <a:pPr algn="ctr">
                        <a:spcAft>
                          <a:spcPts val="0"/>
                        </a:spcAft>
                      </a:pPr>
                      <a:r>
                        <a:rPr sz="950" b="1">
                          <a:solidFill>
                            <a:srgbClr val="1F2621"/>
                          </a:solidFill>
                          <a:latin typeface="Aptos"/>
                        </a:rPr>
                        <a:t>Apr</a:t>
                      </a:r>
                    </a:p>
                  </a:txBody>
                  <a:tcPr>
                    <a:solidFill>
                      <a:srgbClr val="FCFAF5"/>
                    </a:solidFill>
                  </a:tcPr>
                </a:tc>
                <a:tc>
                  <a:txBody>
                    <a:bodyPr/>
                    <a:lstStyle/>
                    <a:p>
                      <a:pPr algn="ctr">
                        <a:spcAft>
                          <a:spcPts val="0"/>
                        </a:spcAft>
                      </a:pPr>
                      <a:r>
                        <a:rPr sz="950" b="1">
                          <a:solidFill>
                            <a:srgbClr val="1F2621"/>
                          </a:solidFill>
                          <a:latin typeface="Aptos"/>
                        </a:rPr>
                        <a:t>May</a:t>
                      </a:r>
                    </a:p>
                  </a:txBody>
                  <a:tcPr>
                    <a:solidFill>
                      <a:srgbClr val="FCFAF5"/>
                    </a:solidFill>
                  </a:tcPr>
                </a:tc>
                <a:tc>
                  <a:txBody>
                    <a:bodyPr/>
                    <a:lstStyle/>
                    <a:p>
                      <a:pPr algn="ctr">
                        <a:spcAft>
                          <a:spcPts val="0"/>
                        </a:spcAft>
                      </a:pPr>
                      <a:r>
                        <a:rPr sz="950" b="1">
                          <a:solidFill>
                            <a:srgbClr val="1F2621"/>
                          </a:solidFill>
                          <a:latin typeface="Aptos"/>
                        </a:rPr>
                        <a:t>Jun</a:t>
                      </a:r>
                    </a:p>
                  </a:txBody>
                  <a:tcPr>
                    <a:solidFill>
                      <a:srgbClr val="FCFAF5"/>
                    </a:solidFill>
                  </a:tcPr>
                </a:tc>
                <a:tc>
                  <a:txBody>
                    <a:bodyPr/>
                    <a:lstStyle/>
                    <a:p>
                      <a:pPr algn="ctr">
                        <a:spcAft>
                          <a:spcPts val="0"/>
                        </a:spcAft>
                      </a:pPr>
                      <a:r>
                        <a:rPr sz="950" b="1">
                          <a:solidFill>
                            <a:srgbClr val="1F2621"/>
                          </a:solidFill>
                          <a:latin typeface="Aptos"/>
                        </a:rPr>
                        <a:t>Jul</a:t>
                      </a:r>
                    </a:p>
                  </a:txBody>
                  <a:tcPr>
                    <a:solidFill>
                      <a:srgbClr val="FCFAF5"/>
                    </a:solidFill>
                  </a:tcPr>
                </a:tc>
                <a:tc>
                  <a:txBody>
                    <a:bodyPr/>
                    <a:lstStyle/>
                    <a:p>
                      <a:pPr algn="ctr">
                        <a:spcAft>
                          <a:spcPts val="0"/>
                        </a:spcAft>
                      </a:pPr>
                      <a:r>
                        <a:rPr sz="950" b="1">
                          <a:solidFill>
                            <a:srgbClr val="1F2621"/>
                          </a:solidFill>
                          <a:latin typeface="Aptos"/>
                        </a:rPr>
                        <a:t>Aug</a:t>
                      </a:r>
                    </a:p>
                  </a:txBody>
                  <a:tcPr>
                    <a:solidFill>
                      <a:srgbClr val="FCFAF5"/>
                    </a:solidFill>
                  </a:tcPr>
                </a:tc>
                <a:tc>
                  <a:txBody>
                    <a:bodyPr/>
                    <a:lstStyle/>
                    <a:p>
                      <a:pPr algn="ctr">
                        <a:spcAft>
                          <a:spcPts val="0"/>
                        </a:spcAft>
                      </a:pPr>
                      <a:r>
                        <a:rPr sz="950" b="1">
                          <a:solidFill>
                            <a:srgbClr val="1F2621"/>
                          </a:solidFill>
                          <a:latin typeface="Aptos"/>
                        </a:rPr>
                        <a:t>Sep</a:t>
                      </a:r>
                    </a:p>
                  </a:txBody>
                  <a:tcPr>
                    <a:solidFill>
                      <a:srgbClr val="FCFAF5"/>
                    </a:solidFill>
                  </a:tcPr>
                </a:tc>
                <a:tc>
                  <a:txBody>
                    <a:bodyPr/>
                    <a:lstStyle/>
                    <a:p>
                      <a:pPr algn="ctr">
                        <a:spcAft>
                          <a:spcPts val="0"/>
                        </a:spcAft>
                      </a:pPr>
                      <a:r>
                        <a:rPr sz="950" b="1">
                          <a:solidFill>
                            <a:srgbClr val="1F2621"/>
                          </a:solidFill>
                          <a:latin typeface="Aptos"/>
                        </a:rPr>
                        <a:t>Oct</a:t>
                      </a:r>
                    </a:p>
                  </a:txBody>
                  <a:tcPr>
                    <a:solidFill>
                      <a:srgbClr val="FCFAF5"/>
                    </a:solidFill>
                  </a:tcPr>
                </a:tc>
                <a:tc>
                  <a:txBody>
                    <a:bodyPr/>
                    <a:lstStyle/>
                    <a:p>
                      <a:pPr algn="ctr">
                        <a:spcAft>
                          <a:spcPts val="0"/>
                        </a:spcAft>
                      </a:pPr>
                      <a:r>
                        <a:rPr sz="950" b="1">
                          <a:solidFill>
                            <a:srgbClr val="1F2621"/>
                          </a:solidFill>
                          <a:latin typeface="Aptos"/>
                        </a:rPr>
                        <a:t>Nov</a:t>
                      </a:r>
                    </a:p>
                  </a:txBody>
                  <a:tcPr>
                    <a:solidFill>
                      <a:srgbClr val="FCFAF5"/>
                    </a:solidFill>
                  </a:tcPr>
                </a:tc>
                <a:tc>
                  <a:txBody>
                    <a:bodyPr/>
                    <a:lstStyle/>
                    <a:p>
                      <a:pPr algn="ctr">
                        <a:spcAft>
                          <a:spcPts val="0"/>
                        </a:spcAft>
                      </a:pPr>
                      <a:r>
                        <a:rPr sz="950" b="1">
                          <a:solidFill>
                            <a:srgbClr val="1F2621"/>
                          </a:solidFill>
                          <a:latin typeface="Aptos"/>
                        </a:rPr>
                        <a:t>Dec</a:t>
                      </a:r>
                    </a:p>
                  </a:txBody>
                  <a:tcPr>
                    <a:solidFill>
                      <a:srgbClr val="FCFAF5"/>
                    </a:solidFill>
                  </a:tcPr>
                </a:tc>
              </a:tr>
              <a:tr h="722376">
                <a:tc>
                  <a:txBody>
                    <a:bodyPr/>
                    <a:lstStyle/>
                    <a:p>
                      <a:pPr algn="ctr">
                        <a:spcAft>
                          <a:spcPts val="0"/>
                        </a:spcAft>
                      </a:pPr>
                      <a:r>
                        <a:rPr sz="950" b="1">
                          <a:solidFill>
                            <a:srgbClr val="1F2621"/>
                          </a:solidFill>
                          <a:latin typeface="Aptos"/>
                        </a:rPr>
                        <a:t>Commercial posture</a:t>
                      </a:r>
                    </a:p>
                  </a:txBody>
                  <a:tcPr>
                    <a:solidFill>
                      <a:srgbClr val="FCFAF5"/>
                    </a:solidFill>
                  </a:tcPr>
                </a:tc>
                <a:tc>
                  <a:txBody>
                    <a:bodyPr/>
                    <a:lstStyle/>
                    <a:p>
                      <a:pPr algn="ctr">
                        <a:spcAft>
                          <a:spcPts val="0"/>
                        </a:spcAft>
                      </a:pPr>
                      <a:r>
                        <a:rPr sz="950" b="1">
                          <a:solidFill>
                            <a:srgbClr val="FCFAF5"/>
                          </a:solidFill>
                          <a:latin typeface="Aptos"/>
                        </a:rPr>
                        <a:t>Stimulate</a:t>
                      </a:r>
                    </a:p>
                  </a:txBody>
                  <a:tcPr>
                    <a:solidFill>
                      <a:srgbClr val="3F728A"/>
                    </a:solidFill>
                  </a:tcPr>
                </a:tc>
                <a:tc>
                  <a:txBody>
                    <a:bodyPr/>
                    <a:lstStyle/>
                    <a:p>
                      <a:pPr algn="ctr">
                        <a:spcAft>
                          <a:spcPts val="0"/>
                        </a:spcAft>
                      </a:pPr>
                      <a:r>
                        <a:rPr sz="950" b="1">
                          <a:solidFill>
                            <a:srgbClr val="FCFAF5"/>
                          </a:solidFill>
                          <a:latin typeface="Aptos"/>
                        </a:rPr>
                        <a:t>Stimulate</a:t>
                      </a:r>
                    </a:p>
                  </a:txBody>
                  <a:tcPr>
                    <a:solidFill>
                      <a:srgbClr val="3F728A"/>
                    </a:solidFill>
                  </a:tcPr>
                </a:tc>
                <a:tc>
                  <a:txBody>
                    <a:bodyPr/>
                    <a:lstStyle/>
                    <a:p>
                      <a:pPr algn="ctr">
                        <a:spcAft>
                          <a:spcPts val="0"/>
                        </a:spcAft>
                      </a:pPr>
                      <a:r>
                        <a:rPr sz="950" b="1">
                          <a:solidFill>
                            <a:srgbClr val="FCFAF5"/>
                          </a:solidFill>
                          <a:latin typeface="Aptos"/>
                        </a:rPr>
                        <a:t>Support</a:t>
                      </a:r>
                    </a:p>
                  </a:txBody>
                  <a:tcPr>
                    <a:solidFill>
                      <a:srgbClr val="889A83"/>
                    </a:solidFill>
                  </a:tcPr>
                </a:tc>
                <a:tc>
                  <a:txBody>
                    <a:bodyPr/>
                    <a:lstStyle/>
                    <a:p>
                      <a:pPr algn="ctr">
                        <a:spcAft>
                          <a:spcPts val="0"/>
                        </a:spcAft>
                      </a:pPr>
                      <a:r>
                        <a:rPr sz="950" b="1">
                          <a:solidFill>
                            <a:srgbClr val="FCFAF5"/>
                          </a:solidFill>
                          <a:latin typeface="Aptos"/>
                        </a:rPr>
                        <a:t>Support</a:t>
                      </a:r>
                    </a:p>
                  </a:txBody>
                  <a:tcPr>
                    <a:solidFill>
                      <a:srgbClr val="889A83"/>
                    </a:solidFill>
                  </a:tcPr>
                </a:tc>
                <a:tc>
                  <a:txBody>
                    <a:bodyPr/>
                    <a:lstStyle/>
                    <a:p>
                      <a:pPr algn="ctr">
                        <a:spcAft>
                          <a:spcPts val="0"/>
                        </a:spcAft>
                      </a:pPr>
                      <a:r>
                        <a:rPr sz="950" b="1">
                          <a:solidFill>
                            <a:srgbClr val="FCFAF5"/>
                          </a:solidFill>
                          <a:latin typeface="Aptos"/>
                        </a:rPr>
                        <a:t>Service</a:t>
                      </a:r>
                    </a:p>
                  </a:txBody>
                  <a:tcPr>
                    <a:solidFill>
                      <a:srgbClr val="355C47"/>
                    </a:solidFill>
                  </a:tcPr>
                </a:tc>
                <a:tc>
                  <a:txBody>
                    <a:bodyPr/>
                    <a:lstStyle/>
                    <a:p>
                      <a:pPr algn="ctr">
                        <a:spcAft>
                          <a:spcPts val="0"/>
                        </a:spcAft>
                      </a:pPr>
                      <a:r>
                        <a:rPr sz="950" b="1">
                          <a:solidFill>
                            <a:srgbClr val="1F2621"/>
                          </a:solidFill>
                          <a:latin typeface="Aptos"/>
                        </a:rPr>
                        <a:t>Balance</a:t>
                      </a:r>
                    </a:p>
                  </a:txBody>
                  <a:tcPr>
                    <a:solidFill>
                      <a:srgbClr val="D8D1C6"/>
                    </a:solidFill>
                  </a:tcPr>
                </a:tc>
                <a:tc>
                  <a:txBody>
                    <a:bodyPr/>
                    <a:lstStyle/>
                    <a:p>
                      <a:pPr algn="ctr">
                        <a:spcAft>
                          <a:spcPts val="0"/>
                        </a:spcAft>
                      </a:pPr>
                      <a:r>
                        <a:rPr sz="950" b="1">
                          <a:solidFill>
                            <a:srgbClr val="FCFAF5"/>
                          </a:solidFill>
                          <a:latin typeface="Aptos"/>
                        </a:rPr>
                        <a:t>Protect</a:t>
                      </a:r>
                    </a:p>
                  </a:txBody>
                  <a:tcPr>
                    <a:solidFill>
                      <a:srgbClr val="C58A2A"/>
                    </a:solidFill>
                  </a:tcPr>
                </a:tc>
                <a:tc>
                  <a:txBody>
                    <a:bodyPr/>
                    <a:lstStyle/>
                    <a:p>
                      <a:pPr algn="ctr">
                        <a:spcAft>
                          <a:spcPts val="0"/>
                        </a:spcAft>
                      </a:pPr>
                      <a:r>
                        <a:rPr sz="950" b="1">
                          <a:solidFill>
                            <a:srgbClr val="FCFAF5"/>
                          </a:solidFill>
                          <a:latin typeface="Aptos"/>
                        </a:rPr>
                        <a:t>Protect</a:t>
                      </a:r>
                    </a:p>
                  </a:txBody>
                  <a:tcPr>
                    <a:solidFill>
                      <a:srgbClr val="C58A2A"/>
                    </a:solidFill>
                  </a:tcPr>
                </a:tc>
                <a:tc>
                  <a:txBody>
                    <a:bodyPr/>
                    <a:lstStyle/>
                    <a:p>
                      <a:pPr algn="ctr">
                        <a:spcAft>
                          <a:spcPts val="0"/>
                        </a:spcAft>
                      </a:pPr>
                      <a:r>
                        <a:rPr sz="950" b="1">
                          <a:solidFill>
                            <a:srgbClr val="FCFAF5"/>
                          </a:solidFill>
                          <a:latin typeface="Aptos"/>
                        </a:rPr>
                        <a:t>Protect</a:t>
                      </a:r>
                    </a:p>
                  </a:txBody>
                  <a:tcPr>
                    <a:solidFill>
                      <a:srgbClr val="C58A2A"/>
                    </a:solidFill>
                  </a:tcPr>
                </a:tc>
                <a:tc>
                  <a:txBody>
                    <a:bodyPr/>
                    <a:lstStyle/>
                    <a:p>
                      <a:pPr algn="ctr">
                        <a:spcAft>
                          <a:spcPts val="0"/>
                        </a:spcAft>
                      </a:pPr>
                      <a:r>
                        <a:rPr sz="950" b="1">
                          <a:solidFill>
                            <a:srgbClr val="FCFAF5"/>
                          </a:solidFill>
                          <a:latin typeface="Aptos"/>
                        </a:rPr>
                        <a:t>Rebalance</a:t>
                      </a:r>
                    </a:p>
                  </a:txBody>
                  <a:tcPr>
                    <a:solidFill>
                      <a:srgbClr val="B5533A"/>
                    </a:solidFill>
                  </a:tcPr>
                </a:tc>
                <a:tc>
                  <a:txBody>
                    <a:bodyPr/>
                    <a:lstStyle/>
                    <a:p>
                      <a:pPr algn="ctr">
                        <a:spcAft>
                          <a:spcPts val="0"/>
                        </a:spcAft>
                      </a:pPr>
                      <a:r>
                        <a:rPr sz="950" b="1">
                          <a:solidFill>
                            <a:srgbClr val="FCFAF5"/>
                          </a:solidFill>
                          <a:latin typeface="Aptos"/>
                        </a:rPr>
                        <a:t>Stimulate</a:t>
                      </a:r>
                    </a:p>
                  </a:txBody>
                  <a:tcPr>
                    <a:solidFill>
                      <a:srgbClr val="3F728A"/>
                    </a:solidFill>
                  </a:tcPr>
                </a:tc>
                <a:tc>
                  <a:txBody>
                    <a:bodyPr/>
                    <a:lstStyle/>
                    <a:p>
                      <a:pPr algn="ctr">
                        <a:spcAft>
                          <a:spcPts val="0"/>
                        </a:spcAft>
                      </a:pPr>
                      <a:r>
                        <a:rPr sz="950" b="1">
                          <a:solidFill>
                            <a:srgbClr val="FCFAF5"/>
                          </a:solidFill>
                          <a:latin typeface="Aptos"/>
                        </a:rPr>
                        <a:t>Stimulate</a:t>
                      </a:r>
                    </a:p>
                  </a:txBody>
                  <a:tcPr>
                    <a:solidFill>
                      <a:srgbClr val="3F728A"/>
                    </a:solidFill>
                  </a:tcPr>
                </a:tc>
              </a:tr>
              <a:tr h="722376">
                <a:tc>
                  <a:txBody>
                    <a:bodyPr/>
                    <a:lstStyle/>
                    <a:p>
                      <a:pPr algn="ctr">
                        <a:spcAft>
                          <a:spcPts val="0"/>
                        </a:spcAft>
                      </a:pPr>
                      <a:r>
                        <a:rPr sz="950" b="1">
                          <a:solidFill>
                            <a:srgbClr val="1F2621"/>
                          </a:solidFill>
                          <a:latin typeface="Aptos"/>
                        </a:rPr>
                        <a:t>Supply posture</a:t>
                      </a:r>
                    </a:p>
                  </a:txBody>
                  <a:tcPr>
                    <a:solidFill>
                      <a:srgbClr val="FCFAF5"/>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Peak flow</a:t>
                      </a:r>
                    </a:p>
                  </a:txBody>
                  <a:tcPr>
                    <a:solidFill>
                      <a:srgbClr val="355C47"/>
                    </a:solidFill>
                  </a:tcPr>
                </a:tc>
                <a:tc>
                  <a:txBody>
                    <a:bodyPr/>
                    <a:lstStyle/>
                    <a:p>
                      <a:pPr algn="ctr">
                        <a:spcAft>
                          <a:spcPts val="0"/>
                        </a:spcAft>
                      </a:pPr>
                      <a:r>
                        <a:rPr sz="950" b="1">
                          <a:solidFill>
                            <a:srgbClr val="1F2621"/>
                          </a:solidFill>
                          <a:latin typeface="Aptos"/>
                        </a:rPr>
                        <a:t>Normalize</a:t>
                      </a:r>
                    </a:p>
                  </a:txBody>
                  <a:tcPr>
                    <a:solidFill>
                      <a:srgbClr val="D8D1C6"/>
                    </a:solidFill>
                  </a:tcPr>
                </a:tc>
                <a:tc>
                  <a:txBody>
                    <a:bodyPr/>
                    <a:lstStyle/>
                    <a:p>
                      <a:pPr algn="ctr">
                        <a:spcAft>
                          <a:spcPts val="0"/>
                        </a:spcAft>
                      </a:pPr>
                      <a:r>
                        <a:rPr sz="950" b="1">
                          <a:solidFill>
                            <a:srgbClr val="FCFAF5"/>
                          </a:solidFill>
                          <a:latin typeface="Aptos"/>
                        </a:rPr>
                        <a:t>Tighten mix</a:t>
                      </a:r>
                    </a:p>
                  </a:txBody>
                  <a:tcPr>
                    <a:solidFill>
                      <a:srgbClr val="C58A2A"/>
                    </a:solidFill>
                  </a:tcPr>
                </a:tc>
                <a:tc>
                  <a:txBody>
                    <a:bodyPr/>
                    <a:lstStyle/>
                    <a:p>
                      <a:pPr algn="ctr">
                        <a:spcAft>
                          <a:spcPts val="0"/>
                        </a:spcAft>
                      </a:pPr>
                      <a:r>
                        <a:rPr sz="950" b="1">
                          <a:solidFill>
                            <a:srgbClr val="FCFAF5"/>
                          </a:solidFill>
                          <a:latin typeface="Aptos"/>
                        </a:rPr>
                        <a:t>Tighten mix</a:t>
                      </a:r>
                    </a:p>
                  </a:txBody>
                  <a:tcPr>
                    <a:solidFill>
                      <a:srgbClr val="C58A2A"/>
                    </a:solidFill>
                  </a:tcPr>
                </a:tc>
                <a:tc>
                  <a:txBody>
                    <a:bodyPr/>
                    <a:lstStyle/>
                    <a:p>
                      <a:pPr algn="ctr">
                        <a:spcAft>
                          <a:spcPts val="0"/>
                        </a:spcAft>
                      </a:pPr>
                      <a:r>
                        <a:rPr sz="950" b="1">
                          <a:solidFill>
                            <a:srgbClr val="FCFAF5"/>
                          </a:solidFill>
                          <a:latin typeface="Aptos"/>
                        </a:rPr>
                        <a:t>Tighten mix</a:t>
                      </a:r>
                    </a:p>
                  </a:txBody>
                  <a:tcPr>
                    <a:solidFill>
                      <a:srgbClr val="C58A2A"/>
                    </a:solidFill>
                  </a:tcPr>
                </a:tc>
                <a:tc>
                  <a:txBody>
                    <a:bodyPr/>
                    <a:lstStyle/>
                    <a:p>
                      <a:pPr algn="ctr">
                        <a:spcAft>
                          <a:spcPts val="0"/>
                        </a:spcAft>
                      </a:pPr>
                      <a:r>
                        <a:rPr sz="950" b="1">
                          <a:solidFill>
                            <a:srgbClr val="FCFAF5"/>
                          </a:solidFill>
                          <a:latin typeface="Aptos"/>
                        </a:rPr>
                        <a:t>Reset</a:t>
                      </a:r>
                    </a:p>
                  </a:txBody>
                  <a:tcPr>
                    <a:solidFill>
                      <a:srgbClr val="B5533A"/>
                    </a:solidFill>
                  </a:tcPr>
                </a:tc>
                <a:tc>
                  <a:txBody>
                    <a:bodyPr/>
                    <a:lstStyle/>
                    <a:p>
                      <a:pPr algn="ctr">
                        <a:spcAft>
                          <a:spcPts val="0"/>
                        </a:spcAft>
                      </a:pPr>
                      <a:r>
                        <a:rPr sz="950" b="1">
                          <a:solidFill>
                            <a:srgbClr val="FCFAF5"/>
                          </a:solidFill>
                          <a:latin typeface="Aptos"/>
                        </a:rPr>
                        <a:t>Flex down</a:t>
                      </a:r>
                    </a:p>
                  </a:txBody>
                  <a:tcPr>
                    <a:solidFill>
                      <a:srgbClr val="3F728A"/>
                    </a:solidFill>
                  </a:tcPr>
                </a:tc>
                <a:tc>
                  <a:txBody>
                    <a:bodyPr/>
                    <a:lstStyle/>
                    <a:p>
                      <a:pPr algn="ctr">
                        <a:spcAft>
                          <a:spcPts val="0"/>
                        </a:spcAft>
                      </a:pPr>
                      <a:r>
                        <a:rPr sz="950" b="1">
                          <a:solidFill>
                            <a:srgbClr val="FCFAF5"/>
                          </a:solidFill>
                          <a:latin typeface="Aptos"/>
                        </a:rPr>
                        <a:t>Flex down</a:t>
                      </a:r>
                    </a:p>
                  </a:txBody>
                  <a:tcPr>
                    <a:solidFill>
                      <a:srgbClr val="3F728A"/>
                    </a:solidFill>
                  </a:tcPr>
                </a:tc>
              </a:tr>
              <a:tr h="722376">
                <a:tc>
                  <a:txBody>
                    <a:bodyPr/>
                    <a:lstStyle/>
                    <a:p>
                      <a:pPr algn="ctr">
                        <a:spcAft>
                          <a:spcPts val="0"/>
                        </a:spcAft>
                      </a:pPr>
                      <a:r>
                        <a:rPr sz="950" b="1">
                          <a:solidFill>
                            <a:srgbClr val="1F2621"/>
                          </a:solidFill>
                          <a:latin typeface="Aptos"/>
                        </a:rPr>
                        <a:t>Operating focus</a:t>
                      </a:r>
                    </a:p>
                  </a:txBody>
                  <a:tcPr>
                    <a:solidFill>
                      <a:srgbClr val="FCFAF5"/>
                    </a:solidFill>
                  </a:tcPr>
                </a:tc>
                <a:tc>
                  <a:txBody>
                    <a:bodyPr/>
                    <a:lstStyle/>
                    <a:p>
                      <a:pPr algn="ctr">
                        <a:spcAft>
                          <a:spcPts val="0"/>
                        </a:spcAft>
                      </a:pPr>
                      <a:r>
                        <a:rPr sz="950" b="1">
                          <a:solidFill>
                            <a:srgbClr val="FCFAF5"/>
                          </a:solidFill>
                          <a:latin typeface="Aptos"/>
                        </a:rPr>
                        <a:t>Forecast</a:t>
                      </a:r>
                    </a:p>
                  </a:txBody>
                  <a:tcPr>
                    <a:solidFill>
                      <a:srgbClr val="889A83"/>
                    </a:solidFill>
                  </a:tcPr>
                </a:tc>
                <a:tc>
                  <a:txBody>
                    <a:bodyPr/>
                    <a:lstStyle/>
                    <a:p>
                      <a:pPr algn="ctr">
                        <a:spcAft>
                          <a:spcPts val="0"/>
                        </a:spcAft>
                      </a:pPr>
                      <a:r>
                        <a:rPr sz="950" b="1">
                          <a:solidFill>
                            <a:srgbClr val="FCFAF5"/>
                          </a:solidFill>
                          <a:latin typeface="Aptos"/>
                        </a:rPr>
                        <a:t>Promote</a:t>
                      </a:r>
                    </a:p>
                  </a:txBody>
                  <a:tcPr>
                    <a:solidFill>
                      <a:srgbClr val="3F728A"/>
                    </a:solidFill>
                  </a:tcPr>
                </a:tc>
                <a:tc>
                  <a:txBody>
                    <a:bodyPr/>
                    <a:lstStyle/>
                    <a:p>
                      <a:pPr algn="ctr">
                        <a:spcAft>
                          <a:spcPts val="0"/>
                        </a:spcAft>
                      </a:pPr>
                      <a:r>
                        <a:rPr sz="950" b="1">
                          <a:solidFill>
                            <a:srgbClr val="FCFAF5"/>
                          </a:solidFill>
                          <a:latin typeface="Aptos"/>
                        </a:rPr>
                        <a:t>Allocate</a:t>
                      </a:r>
                    </a:p>
                  </a:txBody>
                  <a:tcPr>
                    <a:solidFill>
                      <a:srgbClr val="355C47"/>
                    </a:solidFill>
                  </a:tcPr>
                </a:tc>
                <a:tc>
                  <a:txBody>
                    <a:bodyPr/>
                    <a:lstStyle/>
                    <a:p>
                      <a:pPr algn="ctr">
                        <a:spcAft>
                          <a:spcPts val="0"/>
                        </a:spcAft>
                      </a:pPr>
                      <a:r>
                        <a:rPr sz="950" b="1">
                          <a:solidFill>
                            <a:srgbClr val="FCFAF5"/>
                          </a:solidFill>
                          <a:latin typeface="Aptos"/>
                        </a:rPr>
                        <a:t>Allocate</a:t>
                      </a:r>
                    </a:p>
                  </a:txBody>
                  <a:tcPr>
                    <a:solidFill>
                      <a:srgbClr val="355C47"/>
                    </a:solidFill>
                  </a:tcPr>
                </a:tc>
                <a:tc>
                  <a:txBody>
                    <a:bodyPr/>
                    <a:lstStyle/>
                    <a:p>
                      <a:pPr algn="ctr">
                        <a:spcAft>
                          <a:spcPts val="0"/>
                        </a:spcAft>
                      </a:pPr>
                      <a:r>
                        <a:rPr sz="950" b="1">
                          <a:solidFill>
                            <a:srgbClr val="FCFAF5"/>
                          </a:solidFill>
                          <a:latin typeface="Aptos"/>
                        </a:rPr>
                        <a:t>Service</a:t>
                      </a:r>
                    </a:p>
                  </a:txBody>
                  <a:tcPr>
                    <a:solidFill>
                      <a:srgbClr val="355C47"/>
                    </a:solidFill>
                  </a:tcPr>
                </a:tc>
                <a:tc>
                  <a:txBody>
                    <a:bodyPr/>
                    <a:lstStyle/>
                    <a:p>
                      <a:pPr algn="ctr">
                        <a:spcAft>
                          <a:spcPts val="0"/>
                        </a:spcAft>
                      </a:pPr>
                      <a:r>
                        <a:rPr sz="950" b="1">
                          <a:solidFill>
                            <a:srgbClr val="1F2621"/>
                          </a:solidFill>
                          <a:latin typeface="Aptos"/>
                        </a:rPr>
                        <a:t>Audit</a:t>
                      </a:r>
                    </a:p>
                  </a:txBody>
                  <a:tcPr>
                    <a:solidFill>
                      <a:srgbClr val="D8D1C6"/>
                    </a:solidFill>
                  </a:tcPr>
                </a:tc>
                <a:tc>
                  <a:txBody>
                    <a:bodyPr/>
                    <a:lstStyle/>
                    <a:p>
                      <a:pPr algn="ctr">
                        <a:spcAft>
                          <a:spcPts val="0"/>
                        </a:spcAft>
                      </a:pPr>
                      <a:r>
                        <a:rPr sz="950" b="1">
                          <a:solidFill>
                            <a:srgbClr val="FCFAF5"/>
                          </a:solidFill>
                          <a:latin typeface="Aptos"/>
                        </a:rPr>
                        <a:t>Margin</a:t>
                      </a:r>
                    </a:p>
                  </a:txBody>
                  <a:tcPr>
                    <a:solidFill>
                      <a:srgbClr val="C58A2A"/>
                    </a:solidFill>
                  </a:tcPr>
                </a:tc>
                <a:tc>
                  <a:txBody>
                    <a:bodyPr/>
                    <a:lstStyle/>
                    <a:p>
                      <a:pPr algn="ctr">
                        <a:spcAft>
                          <a:spcPts val="0"/>
                        </a:spcAft>
                      </a:pPr>
                      <a:r>
                        <a:rPr sz="950" b="1">
                          <a:solidFill>
                            <a:srgbClr val="FCFAF5"/>
                          </a:solidFill>
                          <a:latin typeface="Aptos"/>
                        </a:rPr>
                        <a:t>Margin</a:t>
                      </a:r>
                    </a:p>
                  </a:txBody>
                  <a:tcPr>
                    <a:solidFill>
                      <a:srgbClr val="C58A2A"/>
                    </a:solidFill>
                  </a:tcPr>
                </a:tc>
                <a:tc>
                  <a:txBody>
                    <a:bodyPr/>
                    <a:lstStyle/>
                    <a:p>
                      <a:pPr algn="ctr">
                        <a:spcAft>
                          <a:spcPts val="0"/>
                        </a:spcAft>
                      </a:pPr>
                      <a:r>
                        <a:rPr sz="950" b="1">
                          <a:solidFill>
                            <a:srgbClr val="FCFAF5"/>
                          </a:solidFill>
                          <a:latin typeface="Aptos"/>
                        </a:rPr>
                        <a:t>Margin</a:t>
                      </a:r>
                    </a:p>
                  </a:txBody>
                  <a:tcPr>
                    <a:solidFill>
                      <a:srgbClr val="C58A2A"/>
                    </a:solidFill>
                  </a:tcPr>
                </a:tc>
                <a:tc>
                  <a:txBody>
                    <a:bodyPr/>
                    <a:lstStyle/>
                    <a:p>
                      <a:pPr algn="ctr">
                        <a:spcAft>
                          <a:spcPts val="0"/>
                        </a:spcAft>
                      </a:pPr>
                      <a:r>
                        <a:rPr sz="950" b="1">
                          <a:solidFill>
                            <a:srgbClr val="FCFAF5"/>
                          </a:solidFill>
                          <a:latin typeface="Aptos"/>
                        </a:rPr>
                        <a:t>Plan</a:t>
                      </a:r>
                    </a:p>
                  </a:txBody>
                  <a:tcPr>
                    <a:solidFill>
                      <a:srgbClr val="B5533A"/>
                    </a:solidFill>
                  </a:tcPr>
                </a:tc>
                <a:tc>
                  <a:txBody>
                    <a:bodyPr/>
                    <a:lstStyle/>
                    <a:p>
                      <a:pPr algn="ctr">
                        <a:spcAft>
                          <a:spcPts val="0"/>
                        </a:spcAft>
                      </a:pPr>
                      <a:r>
                        <a:rPr sz="950" b="1">
                          <a:solidFill>
                            <a:srgbClr val="FCFAF5"/>
                          </a:solidFill>
                          <a:latin typeface="Aptos"/>
                        </a:rPr>
                        <a:t>Clear</a:t>
                      </a:r>
                    </a:p>
                  </a:txBody>
                  <a:tcPr>
                    <a:solidFill>
                      <a:srgbClr val="3F728A"/>
                    </a:solidFill>
                  </a:tcPr>
                </a:tc>
                <a:tc>
                  <a:txBody>
                    <a:bodyPr/>
                    <a:lstStyle/>
                    <a:p>
                      <a:pPr algn="ctr">
                        <a:spcAft>
                          <a:spcPts val="0"/>
                        </a:spcAft>
                      </a:pPr>
                      <a:r>
                        <a:rPr sz="950" b="1">
                          <a:solidFill>
                            <a:srgbClr val="FCFAF5"/>
                          </a:solidFill>
                          <a:latin typeface="Aptos"/>
                        </a:rPr>
                        <a:t>Review</a:t>
                      </a:r>
                    </a:p>
                  </a:txBody>
                  <a:tcPr>
                    <a:solidFill>
                      <a:srgbClr val="889A83"/>
                    </a:solidFill>
                  </a:tcPr>
                </a:tc>
              </a:tr>
            </a:tbl>
          </a:graphicData>
        </a:graphic>
      </p:graphicFrame>
      <p:sp>
        <p:nvSpPr>
          <p:cNvPr id="22" name="Rounded Rectangle 21"/>
          <p:cNvSpPr/>
          <p:nvPr/>
        </p:nvSpPr>
        <p:spPr>
          <a:xfrm>
            <a:off x="749808" y="5285232"/>
            <a:ext cx="10716768"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37667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JAN TO MAY</a:t>
            </a:r>
          </a:p>
        </p:txBody>
      </p:sp>
      <p:sp>
        <p:nvSpPr>
          <p:cNvPr id="24" name="TextBox 23"/>
          <p:cNvSpPr txBox="1"/>
          <p:nvPr/>
        </p:nvSpPr>
        <p:spPr>
          <a:xfrm>
            <a:off x="877824" y="5522976"/>
            <a:ext cx="3316224" cy="219456"/>
          </a:xfrm>
          <a:prstGeom prst="rect">
            <a:avLst/>
          </a:prstGeom>
          <a:noFill/>
        </p:spPr>
        <p:txBody>
          <a:bodyPr wrap="square" lIns="27432" rIns="27432" tIns="27432" bIns="27432" anchor="t">
            <a:spAutoFit/>
          </a:bodyPr>
          <a:lstStyle/>
          <a:p>
            <a:pPr algn="l"/>
            <a:r>
              <a:rPr sz="1700" b="1">
                <a:solidFill>
                  <a:srgbClr val="355C47"/>
                </a:solidFill>
                <a:latin typeface="Aptos Display"/>
              </a:rPr>
              <a:t>Service + flow</a:t>
            </a:r>
          </a:p>
        </p:txBody>
      </p:sp>
      <p:sp>
        <p:nvSpPr>
          <p:cNvPr id="25" name="TextBox 24"/>
          <p:cNvSpPr txBox="1"/>
          <p:nvPr/>
        </p:nvSpPr>
        <p:spPr>
          <a:xfrm>
            <a:off x="877824" y="5779008"/>
            <a:ext cx="3316224" cy="292608"/>
          </a:xfrm>
          <a:prstGeom prst="rect">
            <a:avLst/>
          </a:prstGeom>
          <a:noFill/>
        </p:spPr>
        <p:txBody>
          <a:bodyPr wrap="square" lIns="27432" rIns="27432" tIns="27432" bIns="27432" anchor="t">
            <a:spAutoFit/>
          </a:bodyPr>
          <a:lstStyle/>
          <a:p>
            <a:pPr algn="l"/>
            <a:r>
              <a:rPr sz="1000" b="0">
                <a:solidFill>
                  <a:srgbClr val="1F2621"/>
                </a:solidFill>
                <a:latin typeface="Aptos"/>
              </a:rPr>
              <a:t>Prove availability while market volume is naturally strongest.</a:t>
            </a:r>
          </a:p>
        </p:txBody>
      </p:sp>
      <p:cxnSp>
        <p:nvCxnSpPr>
          <p:cNvPr id="26" name="Connector 25"/>
          <p:cNvCxnSpPr/>
          <p:nvPr/>
        </p:nvCxnSpPr>
        <p:spPr>
          <a:xfrm>
            <a:off x="4322064" y="5449824"/>
            <a:ext cx="0" cy="530352"/>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450080" y="537667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JUL TO SEP</a:t>
            </a:r>
          </a:p>
        </p:txBody>
      </p:sp>
      <p:sp>
        <p:nvSpPr>
          <p:cNvPr id="28" name="TextBox 27"/>
          <p:cNvSpPr txBox="1"/>
          <p:nvPr/>
        </p:nvSpPr>
        <p:spPr>
          <a:xfrm>
            <a:off x="4450080" y="5522976"/>
            <a:ext cx="3316224" cy="219456"/>
          </a:xfrm>
          <a:prstGeom prst="rect">
            <a:avLst/>
          </a:prstGeom>
          <a:noFill/>
        </p:spPr>
        <p:txBody>
          <a:bodyPr wrap="square" lIns="27432" rIns="27432" tIns="27432" bIns="27432" anchor="t">
            <a:spAutoFit/>
          </a:bodyPr>
          <a:lstStyle/>
          <a:p>
            <a:pPr algn="l"/>
            <a:r>
              <a:rPr sz="1700" b="1">
                <a:solidFill>
                  <a:srgbClr val="355C47"/>
                </a:solidFill>
                <a:latin typeface="Aptos Display"/>
              </a:rPr>
              <a:t>Margin season</a:t>
            </a:r>
          </a:p>
        </p:txBody>
      </p:sp>
      <p:sp>
        <p:nvSpPr>
          <p:cNvPr id="29" name="TextBox 28"/>
          <p:cNvSpPr txBox="1"/>
          <p:nvPr/>
        </p:nvSpPr>
        <p:spPr>
          <a:xfrm>
            <a:off x="4450080" y="5779008"/>
            <a:ext cx="3316224" cy="292608"/>
          </a:xfrm>
          <a:prstGeom prst="rect">
            <a:avLst/>
          </a:prstGeom>
          <a:noFill/>
        </p:spPr>
        <p:txBody>
          <a:bodyPr wrap="square" lIns="27432" rIns="27432" tIns="27432" bIns="27432" anchor="t">
            <a:spAutoFit/>
          </a:bodyPr>
          <a:lstStyle/>
          <a:p>
            <a:pPr algn="l"/>
            <a:r>
              <a:rPr sz="1000" b="0">
                <a:solidFill>
                  <a:srgbClr val="1F2621"/>
                </a:solidFill>
                <a:latin typeface="Aptos"/>
              </a:rPr>
              <a:t>Allocate tightly and protect price in the premium window.</a:t>
            </a:r>
          </a:p>
        </p:txBody>
      </p:sp>
      <p:cxnSp>
        <p:nvCxnSpPr>
          <p:cNvPr id="30" name="Connector 29"/>
          <p:cNvCxnSpPr/>
          <p:nvPr/>
        </p:nvCxnSpPr>
        <p:spPr>
          <a:xfrm>
            <a:off x="7894320" y="5449824"/>
            <a:ext cx="0" cy="530352"/>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022336" y="537667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NOV TO FEB</a:t>
            </a:r>
          </a:p>
        </p:txBody>
      </p:sp>
      <p:sp>
        <p:nvSpPr>
          <p:cNvPr id="32" name="TextBox 31"/>
          <p:cNvSpPr txBox="1"/>
          <p:nvPr/>
        </p:nvSpPr>
        <p:spPr>
          <a:xfrm>
            <a:off x="8022336" y="5522976"/>
            <a:ext cx="3316224" cy="219456"/>
          </a:xfrm>
          <a:prstGeom prst="rect">
            <a:avLst/>
          </a:prstGeom>
          <a:noFill/>
        </p:spPr>
        <p:txBody>
          <a:bodyPr wrap="square" lIns="27432" rIns="27432" tIns="27432" bIns="27432" anchor="t">
            <a:spAutoFit/>
          </a:bodyPr>
          <a:lstStyle/>
          <a:p>
            <a:pPr algn="l"/>
            <a:r>
              <a:rPr sz="1700" b="1">
                <a:solidFill>
                  <a:srgbClr val="C58A2A"/>
                </a:solidFill>
                <a:latin typeface="Aptos Display"/>
              </a:rPr>
              <a:t>Demand support</a:t>
            </a:r>
          </a:p>
        </p:txBody>
      </p:sp>
      <p:sp>
        <p:nvSpPr>
          <p:cNvPr id="33" name="TextBox 32"/>
          <p:cNvSpPr txBox="1"/>
          <p:nvPr/>
        </p:nvSpPr>
        <p:spPr>
          <a:xfrm>
            <a:off x="8022336" y="5779008"/>
            <a:ext cx="3316224" cy="292608"/>
          </a:xfrm>
          <a:prstGeom prst="rect">
            <a:avLst/>
          </a:prstGeom>
          <a:noFill/>
        </p:spPr>
        <p:txBody>
          <a:bodyPr wrap="square" lIns="27432" rIns="27432" tIns="27432" bIns="27432" anchor="t">
            <a:spAutoFit/>
          </a:bodyPr>
          <a:lstStyle/>
          <a:p>
            <a:pPr algn="l"/>
            <a:r>
              <a:rPr sz="1000" b="0">
                <a:solidFill>
                  <a:srgbClr val="1F2621"/>
                </a:solidFill>
                <a:latin typeface="Aptos"/>
              </a:rPr>
              <a:t>Use promotions and lean inventory to protect demand.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29</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Growers need flex contracts, cold-chain discipline, and backup lanes</a:t>
            </a:r>
          </a:p>
        </p:txBody>
      </p:sp>
      <p:sp>
        <p:nvSpPr>
          <p:cNvPr id="11" name="TextBox 10"/>
          <p:cNvSpPr txBox="1"/>
          <p:nvPr/>
        </p:nvSpPr>
        <p:spPr>
          <a:xfrm>
            <a:off x="548640" y="1097280"/>
            <a:ext cx="10241280" cy="320040"/>
          </a:xfrm>
          <a:prstGeom prst="rect">
            <a:avLst/>
          </a:prstGeom>
          <a:noFill/>
        </p:spPr>
        <p:txBody>
          <a:bodyPr wrap="square" lIns="27432" rIns="27432" tIns="27432" bIns="27432" anchor="t">
            <a:spAutoFit/>
          </a:bodyPr>
          <a:lstStyle/>
          <a:p>
            <a:pPr algn="l"/>
            <a:r>
              <a:rPr sz="1300" b="0">
                <a:solidFill>
                  <a:srgbClr val="5F6B63"/>
                </a:solidFill>
                <a:latin typeface="Aptos"/>
              </a:rPr>
              <a:t>Build seasonality discipline into contracts and execution rules before the pilot scales.</a:t>
            </a:r>
          </a:p>
        </p:txBody>
      </p:sp>
      <p:sp>
        <p:nvSpPr>
          <p:cNvPr id="12" name="Rounded Rectangle 11"/>
          <p:cNvSpPr/>
          <p:nvPr/>
        </p:nvSpPr>
        <p:spPr>
          <a:xfrm>
            <a:off x="749808" y="1572768"/>
            <a:ext cx="1078992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914400" y="1828800"/>
          <a:ext cx="10442448" cy="3602736"/>
        </p:xfrm>
        <a:graphic>
          <a:graphicData uri="http://schemas.openxmlformats.org/drawingml/2006/table">
            <a:tbl>
              <a:tblPr firstRow="1" bandRow="1">
                <a:tableStyleId>{5C22544A-7EE6-4342-B048-85BDC9FD1C3A}</a:tableStyleId>
              </a:tblPr>
              <a:tblGrid>
                <a:gridCol w="1737360"/>
                <a:gridCol w="1737360"/>
                <a:gridCol w="3794760"/>
                <a:gridCol w="3172968"/>
              </a:tblGrid>
              <a:tr h="420624">
                <a:tc>
                  <a:txBody>
                    <a:bodyPr/>
                    <a:lstStyle/>
                    <a:p>
                      <a:pPr algn="ctr">
                        <a:spcAft>
                          <a:spcPts val="0"/>
                        </a:spcAft>
                      </a:pPr>
                      <a:r>
                        <a:rPr sz="1000" b="1">
                          <a:solidFill>
                            <a:srgbClr val="FCFAF5"/>
                          </a:solidFill>
                          <a:latin typeface="Aptos"/>
                        </a:rPr>
                        <a:t>Lever</a:t>
                      </a:r>
                    </a:p>
                  </a:txBody>
                  <a:tcPr>
                    <a:solidFill>
                      <a:srgbClr val="355C47"/>
                    </a:solidFill>
                  </a:tcPr>
                </a:tc>
                <a:tc>
                  <a:txBody>
                    <a:bodyPr/>
                    <a:lstStyle/>
                    <a:p>
                      <a:pPr algn="ctr">
                        <a:spcAft>
                          <a:spcPts val="0"/>
                        </a:spcAft>
                      </a:pPr>
                      <a:r>
                        <a:rPr sz="1000" b="1">
                          <a:solidFill>
                            <a:srgbClr val="FCFAF5"/>
                          </a:solidFill>
                          <a:latin typeface="Aptos"/>
                        </a:rPr>
                        <a:t>How it should work</a:t>
                      </a:r>
                    </a:p>
                  </a:txBody>
                  <a:tcPr>
                    <a:solidFill>
                      <a:srgbClr val="355C47"/>
                    </a:solidFill>
                  </a:tcPr>
                </a:tc>
                <a:tc>
                  <a:txBody>
                    <a:bodyPr/>
                    <a:lstStyle/>
                    <a:p>
                      <a:pPr algn="ctr">
                        <a:spcAft>
                          <a:spcPts val="0"/>
                        </a:spcAft>
                      </a:pPr>
                      <a:r>
                        <a:rPr sz="1000" b="1">
                          <a:solidFill>
                            <a:srgbClr val="FCFAF5"/>
                          </a:solidFill>
                          <a:latin typeface="Aptos"/>
                        </a:rPr>
                        <a:t>Critical operating move</a:t>
                      </a:r>
                    </a:p>
                  </a:txBody>
                  <a:tcPr>
                    <a:solidFill>
                      <a:srgbClr val="355C47"/>
                    </a:solidFill>
                  </a:tcPr>
                </a:tc>
                <a:tc>
                  <a:txBody>
                    <a:bodyPr/>
                    <a:lstStyle/>
                    <a:p>
                      <a:pPr algn="ctr">
                        <a:spcAft>
                          <a:spcPts val="0"/>
                        </a:spcAft>
                      </a:pPr>
                      <a:r>
                        <a:rPr sz="1000" b="1">
                          <a:solidFill>
                            <a:srgbClr val="FCFAF5"/>
                          </a:solidFill>
                          <a:latin typeface="Aptos"/>
                        </a:rPr>
                        <a:t>Why it matters</a:t>
                      </a:r>
                    </a:p>
                  </a:txBody>
                  <a:tcPr>
                    <a:solidFill>
                      <a:srgbClr val="355C47"/>
                    </a:solidFill>
                  </a:tcPr>
                </a:tc>
              </a:tr>
              <a:tr h="1060704">
                <a:tc>
                  <a:txBody>
                    <a:bodyPr/>
                    <a:lstStyle/>
                    <a:p>
                      <a:pPr algn="ctr">
                        <a:spcAft>
                          <a:spcPts val="0"/>
                        </a:spcAft>
                      </a:pPr>
                      <a:r>
                        <a:rPr sz="1200" b="1">
                          <a:solidFill>
                            <a:srgbClr val="FCFAF5"/>
                          </a:solidFill>
                          <a:latin typeface="Aptos Display"/>
                        </a:rPr>
                        <a:t>Contract tiers</a:t>
                      </a:r>
                    </a:p>
                  </a:txBody>
                  <a:tcPr>
                    <a:solidFill>
                      <a:srgbClr val="355C47"/>
                    </a:solidFill>
                  </a:tcPr>
                </a:tc>
                <a:tc>
                  <a:txBody>
                    <a:bodyPr/>
                    <a:lstStyle/>
                    <a:p>
                      <a:pPr algn="l">
                        <a:spcAft>
                          <a:spcPts val="0"/>
                        </a:spcAft>
                      </a:pPr>
                      <a:r>
                        <a:rPr sz="1300" b="1">
                          <a:solidFill>
                            <a:srgbClr val="355C47"/>
                          </a:solidFill>
                          <a:latin typeface="Aptos Display"/>
                        </a:rPr>
                        <a:t>Base + flex volume</a:t>
                      </a:r>
                    </a:p>
                  </a:txBody>
                  <a:tcPr>
                    <a:solidFill>
                      <a:srgbClr val="FCFAF5"/>
                    </a:solidFill>
                  </a:tcPr>
                </a:tc>
                <a:tc>
                  <a:txBody>
                    <a:bodyPr/>
                    <a:lstStyle/>
                    <a:p>
                      <a:pPr algn="l">
                        <a:spcAft>
                          <a:spcPts val="0"/>
                        </a:spcAft>
                      </a:pPr>
                      <a:r>
                        <a:rPr sz="1200" b="0">
                          <a:solidFill>
                            <a:srgbClr val="1F2621"/>
                          </a:solidFill>
                          <a:latin typeface="Aptos"/>
                        </a:rPr>
                        <a:t>Lock a stable base commitment, then layer in seasonal flex volume so supply can expand without year-round overcommitment.</a:t>
                      </a:r>
                    </a:p>
                  </a:txBody>
                  <a:tcPr>
                    <a:solidFill>
                      <a:srgbClr val="FCFAF5"/>
                    </a:solidFill>
                  </a:tcPr>
                </a:tc>
                <a:tc>
                  <a:txBody>
                    <a:bodyPr/>
                    <a:lstStyle/>
                    <a:p>
                      <a:pPr algn="l">
                        <a:spcAft>
                          <a:spcPts val="0"/>
                        </a:spcAft>
                      </a:pPr>
                      <a:r>
                        <a:rPr sz="1200" b="0">
                          <a:solidFill>
                            <a:srgbClr val="1F2621"/>
                          </a:solidFill>
                          <a:latin typeface="Aptos"/>
                        </a:rPr>
                        <a:t>Prevents the pilot from buying peak-season optionality with permanent fixed cost.</a:t>
                      </a:r>
                    </a:p>
                  </a:txBody>
                  <a:tcPr>
                    <a:solidFill>
                      <a:srgbClr val="FCFAF5"/>
                    </a:solidFill>
                  </a:tcPr>
                </a:tc>
              </a:tr>
              <a:tr h="1060704">
                <a:tc>
                  <a:txBody>
                    <a:bodyPr/>
                    <a:lstStyle/>
                    <a:p>
                      <a:pPr algn="ctr">
                        <a:spcAft>
                          <a:spcPts val="0"/>
                        </a:spcAft>
                      </a:pPr>
                      <a:r>
                        <a:rPr sz="1200" b="1">
                          <a:solidFill>
                            <a:srgbClr val="FCFAF5"/>
                          </a:solidFill>
                          <a:latin typeface="Aptos Display"/>
                        </a:rPr>
                        <a:t>Cold-chain readiness</a:t>
                      </a:r>
                    </a:p>
                  </a:txBody>
                  <a:tcPr>
                    <a:solidFill>
                      <a:srgbClr val="3F728A"/>
                    </a:solidFill>
                  </a:tcPr>
                </a:tc>
                <a:tc>
                  <a:txBody>
                    <a:bodyPr/>
                    <a:lstStyle/>
                    <a:p>
                      <a:pPr algn="l">
                        <a:spcAft>
                          <a:spcPts val="0"/>
                        </a:spcAft>
                      </a:pPr>
                      <a:r>
                        <a:rPr sz="1300" b="1">
                          <a:solidFill>
                            <a:srgbClr val="3F728A"/>
                          </a:solidFill>
                          <a:latin typeface="Aptos Display"/>
                        </a:rPr>
                        <a:t>Protect service</a:t>
                      </a:r>
                    </a:p>
                  </a:txBody>
                  <a:tcPr>
                    <a:solidFill>
                      <a:srgbClr val="F7F3EC"/>
                    </a:solidFill>
                  </a:tcPr>
                </a:tc>
                <a:tc>
                  <a:txBody>
                    <a:bodyPr/>
                    <a:lstStyle/>
                    <a:p>
                      <a:pPr algn="l">
                        <a:spcAft>
                          <a:spcPts val="0"/>
                        </a:spcAft>
                      </a:pPr>
                      <a:r>
                        <a:rPr sz="1200" b="0">
                          <a:solidFill>
                            <a:srgbClr val="1F2621"/>
                          </a:solidFill>
                          <a:latin typeface="Aptos"/>
                        </a:rPr>
                        <a:t>Tighten transit monitoring, storage discipline, and receiving checks during the months when flow is highest.</a:t>
                      </a:r>
                    </a:p>
                  </a:txBody>
                  <a:tcPr>
                    <a:solidFill>
                      <a:srgbClr val="F7F3EC"/>
                    </a:solidFill>
                  </a:tcPr>
                </a:tc>
                <a:tc>
                  <a:txBody>
                    <a:bodyPr/>
                    <a:lstStyle/>
                    <a:p>
                      <a:pPr algn="l">
                        <a:spcAft>
                          <a:spcPts val="0"/>
                        </a:spcAft>
                      </a:pPr>
                      <a:r>
                        <a:rPr sz="1200" b="0">
                          <a:solidFill>
                            <a:srgbClr val="1F2621"/>
                          </a:solidFill>
                          <a:latin typeface="Aptos"/>
                        </a:rPr>
                        <a:t>Spoilage and service misses can erase good city economics faster than freight swings do.</a:t>
                      </a:r>
                    </a:p>
                  </a:txBody>
                  <a:tcPr>
                    <a:solidFill>
                      <a:srgbClr val="F7F3EC"/>
                    </a:solidFill>
                  </a:tcPr>
                </a:tc>
              </a:tr>
              <a:tr h="1060704">
                <a:tc>
                  <a:txBody>
                    <a:bodyPr/>
                    <a:lstStyle/>
                    <a:p>
                      <a:pPr algn="ctr">
                        <a:spcAft>
                          <a:spcPts val="0"/>
                        </a:spcAft>
                      </a:pPr>
                      <a:r>
                        <a:rPr sz="1200" b="1">
                          <a:solidFill>
                            <a:srgbClr val="FCFAF5"/>
                          </a:solidFill>
                          <a:latin typeface="Aptos Display"/>
                        </a:rPr>
                        <a:t>Alternate lanes</a:t>
                      </a:r>
                    </a:p>
                  </a:txBody>
                  <a:tcPr>
                    <a:solidFill>
                      <a:srgbClr val="B5533A"/>
                    </a:solidFill>
                  </a:tcPr>
                </a:tc>
                <a:tc>
                  <a:txBody>
                    <a:bodyPr/>
                    <a:lstStyle/>
                    <a:p>
                      <a:pPr algn="l">
                        <a:spcAft>
                          <a:spcPts val="0"/>
                        </a:spcAft>
                      </a:pPr>
                      <a:r>
                        <a:rPr sz="1300" b="1">
                          <a:solidFill>
                            <a:srgbClr val="B5533A"/>
                          </a:solidFill>
                          <a:latin typeface="Aptos Display"/>
                        </a:rPr>
                        <a:t>Reduce disruption</a:t>
                      </a:r>
                    </a:p>
                  </a:txBody>
                  <a:tcPr>
                    <a:solidFill>
                      <a:srgbClr val="FCFAF5"/>
                    </a:solidFill>
                  </a:tcPr>
                </a:tc>
                <a:tc>
                  <a:txBody>
                    <a:bodyPr/>
                    <a:lstStyle/>
                    <a:p>
                      <a:pPr algn="l">
                        <a:spcAft>
                          <a:spcPts val="0"/>
                        </a:spcAft>
                      </a:pPr>
                      <a:r>
                        <a:rPr sz="1200" b="0">
                          <a:solidFill>
                            <a:srgbClr val="1F2621"/>
                          </a:solidFill>
                          <a:latin typeface="Aptos"/>
                        </a:rPr>
                        <a:t>Pre-qualify backup carriers and routes before the peak season so lane shocks do not force reactive reallocations.</a:t>
                      </a:r>
                    </a:p>
                  </a:txBody>
                  <a:tcPr>
                    <a:solidFill>
                      <a:srgbClr val="FCFAF5"/>
                    </a:solidFill>
                  </a:tcPr>
                </a:tc>
                <a:tc>
                  <a:txBody>
                    <a:bodyPr/>
                    <a:lstStyle/>
                    <a:p>
                      <a:pPr algn="l">
                        <a:spcAft>
                          <a:spcPts val="0"/>
                        </a:spcAft>
                      </a:pPr>
                      <a:r>
                        <a:rPr sz="1200" b="0">
                          <a:solidFill>
                            <a:srgbClr val="1F2621"/>
                          </a:solidFill>
                          <a:latin typeface="Aptos"/>
                        </a:rPr>
                        <a:t>The pilot should never have to choose between service and margin because a lane fails.</a:t>
                      </a:r>
                    </a:p>
                  </a:txBody>
                  <a:tcPr>
                    <a:solidFill>
                      <a:srgbClr val="FCFAF5"/>
                    </a:solidFill>
                  </a:tcPr>
                </a:tc>
              </a:tr>
            </a:tbl>
          </a:graphicData>
        </a:graphic>
      </p:graphicFrame>
      <p:sp>
        <p:nvSpPr>
          <p:cNvPr id="14" name="Rounded Rectangle 13"/>
          <p:cNvSpPr/>
          <p:nvPr/>
        </p:nvSpPr>
        <p:spPr>
          <a:xfrm>
            <a:off x="932688" y="5303520"/>
            <a:ext cx="10149840" cy="420624"/>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5422392"/>
            <a:ext cx="1325880" cy="128016"/>
          </a:xfrm>
          <a:prstGeom prst="rect">
            <a:avLst/>
          </a:prstGeom>
          <a:noFill/>
        </p:spPr>
        <p:txBody>
          <a:bodyPr wrap="square" lIns="27432" rIns="27432" tIns="27432" bIns="27432" anchor="t">
            <a:spAutoFit/>
          </a:bodyPr>
          <a:lstStyle/>
          <a:p>
            <a:pPr algn="l"/>
            <a:r>
              <a:rPr sz="1000" b="1">
                <a:solidFill>
                  <a:srgbClr val="5F6B63"/>
                </a:solidFill>
                <a:latin typeface="Aptos"/>
              </a:rPr>
              <a:t>OPERATING RULE</a:t>
            </a:r>
          </a:p>
        </p:txBody>
      </p:sp>
      <p:sp>
        <p:nvSpPr>
          <p:cNvPr id="16" name="TextBox 15"/>
          <p:cNvSpPr txBox="1"/>
          <p:nvPr/>
        </p:nvSpPr>
        <p:spPr>
          <a:xfrm>
            <a:off x="2523744" y="5385816"/>
            <a:ext cx="8211312" cy="164592"/>
          </a:xfrm>
          <a:prstGeom prst="rect">
            <a:avLst/>
          </a:prstGeom>
          <a:noFill/>
        </p:spPr>
        <p:txBody>
          <a:bodyPr wrap="square" lIns="27432" rIns="27432" tIns="27432" bIns="27432" anchor="t">
            <a:spAutoFit/>
          </a:bodyPr>
          <a:lstStyle/>
          <a:p>
            <a:pPr algn="l"/>
            <a:r>
              <a:rPr sz="1200" b="1">
                <a:solidFill>
                  <a:srgbClr val="1F2621"/>
                </a:solidFill>
                <a:latin typeface="Aptos"/>
              </a:rPr>
              <a:t>Contract base volume, protect the cold chain, and pre-book fallback lanes before peak flow starts.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30</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Trade associations should protect off-peak retailer demand</a:t>
            </a:r>
          </a:p>
        </p:txBody>
      </p:sp>
      <p:sp>
        <p:nvSpPr>
          <p:cNvPr id="11" name="TextBox 10"/>
          <p:cNvSpPr txBox="1"/>
          <p:nvPr/>
        </p:nvSpPr>
        <p:spPr>
          <a:xfrm>
            <a:off x="548640" y="1097280"/>
            <a:ext cx="10515600" cy="320040"/>
          </a:xfrm>
          <a:prstGeom prst="rect">
            <a:avLst/>
          </a:prstGeom>
          <a:noFill/>
        </p:spPr>
        <p:txBody>
          <a:bodyPr wrap="square" lIns="27432" rIns="27432" tIns="27432" bIns="27432" anchor="t">
            <a:spAutoFit/>
          </a:bodyPr>
          <a:lstStyle/>
          <a:p>
            <a:pPr algn="l"/>
            <a:r>
              <a:rPr sz="1300" b="0">
                <a:solidFill>
                  <a:srgbClr val="5F6B63"/>
                </a:solidFill>
                <a:latin typeface="Aptos"/>
              </a:rPr>
              <a:t>Aim off-peak support at buyers, trade calendars, and food-service pull, not generic consumer messaging alone.</a:t>
            </a:r>
          </a:p>
        </p:txBody>
      </p:sp>
      <p:sp>
        <p:nvSpPr>
          <p:cNvPr id="12" name="Rounded Rectangle 11"/>
          <p:cNvSpPr/>
          <p:nvPr/>
        </p:nvSpPr>
        <p:spPr>
          <a:xfrm>
            <a:off x="749808" y="1645920"/>
            <a:ext cx="667512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1874519"/>
            <a:ext cx="2560320" cy="182880"/>
          </a:xfrm>
          <a:prstGeom prst="rect">
            <a:avLst/>
          </a:prstGeom>
          <a:noFill/>
        </p:spPr>
        <p:txBody>
          <a:bodyPr wrap="square" lIns="27432" rIns="27432" tIns="27432" bIns="27432" anchor="t">
            <a:spAutoFit/>
          </a:bodyPr>
          <a:lstStyle/>
          <a:p>
            <a:pPr algn="l"/>
            <a:r>
              <a:rPr sz="1100" b="1">
                <a:solidFill>
                  <a:srgbClr val="5F6B63"/>
                </a:solidFill>
                <a:latin typeface="Aptos"/>
              </a:rPr>
              <a:t>OFF-PEAK BUYER PLAYBOOK</a:t>
            </a:r>
          </a:p>
        </p:txBody>
      </p:sp>
      <p:sp>
        <p:nvSpPr>
          <p:cNvPr id="14" name="Oval 13"/>
          <p:cNvSpPr/>
          <p:nvPr/>
        </p:nvSpPr>
        <p:spPr>
          <a:xfrm>
            <a:off x="1005840" y="2212848"/>
            <a:ext cx="310896" cy="31089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286000"/>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1</a:t>
            </a:r>
          </a:p>
        </p:txBody>
      </p:sp>
      <p:sp>
        <p:nvSpPr>
          <p:cNvPr id="16" name="TextBox 15"/>
          <p:cNvSpPr txBox="1"/>
          <p:nvPr/>
        </p:nvSpPr>
        <p:spPr>
          <a:xfrm>
            <a:off x="1426464" y="2194560"/>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RETAIL PROMO CALENDAR</a:t>
            </a:r>
          </a:p>
        </p:txBody>
      </p:sp>
      <p:sp>
        <p:nvSpPr>
          <p:cNvPr id="17" name="TextBox 16"/>
          <p:cNvSpPr txBox="1"/>
          <p:nvPr/>
        </p:nvSpPr>
        <p:spPr>
          <a:xfrm>
            <a:off x="1426464" y="2377440"/>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Concentrate retailer ads, features, and display support in Nov-Feb when baseline turns are softest.</a:t>
            </a:r>
          </a:p>
        </p:txBody>
      </p:sp>
      <p:sp>
        <p:nvSpPr>
          <p:cNvPr id="18" name="Oval 17"/>
          <p:cNvSpPr/>
          <p:nvPr/>
        </p:nvSpPr>
        <p:spPr>
          <a:xfrm>
            <a:off x="1005840" y="3054096"/>
            <a:ext cx="310896" cy="310896"/>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127248"/>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2</a:t>
            </a:r>
          </a:p>
        </p:txBody>
      </p:sp>
      <p:sp>
        <p:nvSpPr>
          <p:cNvPr id="20" name="TextBox 19"/>
          <p:cNvSpPr txBox="1"/>
          <p:nvPr/>
        </p:nvSpPr>
        <p:spPr>
          <a:xfrm>
            <a:off x="1426464" y="3035808"/>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FOOD-SERVICE CHANNELS</a:t>
            </a:r>
          </a:p>
        </p:txBody>
      </p:sp>
      <p:sp>
        <p:nvSpPr>
          <p:cNvPr id="21" name="TextBox 20"/>
          <p:cNvSpPr txBox="1"/>
          <p:nvPr/>
        </p:nvSpPr>
        <p:spPr>
          <a:xfrm>
            <a:off x="1426464" y="3218688"/>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Lean harder on restaurants, prepared foods, and institutional buyers when retail pull weakens.</a:t>
            </a:r>
          </a:p>
        </p:txBody>
      </p:sp>
      <p:sp>
        <p:nvSpPr>
          <p:cNvPr id="22" name="Oval 21"/>
          <p:cNvSpPr/>
          <p:nvPr/>
        </p:nvSpPr>
        <p:spPr>
          <a:xfrm>
            <a:off x="1005840" y="3895344"/>
            <a:ext cx="310896" cy="310896"/>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968496"/>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3</a:t>
            </a:r>
          </a:p>
        </p:txBody>
      </p:sp>
      <p:sp>
        <p:nvSpPr>
          <p:cNvPr id="24" name="TextBox 23"/>
          <p:cNvSpPr txBox="1"/>
          <p:nvPr/>
        </p:nvSpPr>
        <p:spPr>
          <a:xfrm>
            <a:off x="1426464" y="3877056"/>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TRADE FUNDS + SLOTTING</a:t>
            </a:r>
          </a:p>
        </p:txBody>
      </p:sp>
      <p:sp>
        <p:nvSpPr>
          <p:cNvPr id="25" name="TextBox 24"/>
          <p:cNvSpPr txBox="1"/>
          <p:nvPr/>
        </p:nvSpPr>
        <p:spPr>
          <a:xfrm>
            <a:off x="1426464" y="4059936"/>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Use trade dollars, temporary allowances, and slotting support to win attention in soft months.</a:t>
            </a:r>
          </a:p>
        </p:txBody>
      </p:sp>
      <p:sp>
        <p:nvSpPr>
          <p:cNvPr id="26" name="Oval 25"/>
          <p:cNvSpPr/>
          <p:nvPr/>
        </p:nvSpPr>
        <p:spPr>
          <a:xfrm>
            <a:off x="1005840" y="4736592"/>
            <a:ext cx="310896" cy="31089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4809744"/>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4</a:t>
            </a:r>
          </a:p>
        </p:txBody>
      </p:sp>
      <p:sp>
        <p:nvSpPr>
          <p:cNvPr id="28" name="TextBox 27"/>
          <p:cNvSpPr txBox="1"/>
          <p:nvPr/>
        </p:nvSpPr>
        <p:spPr>
          <a:xfrm>
            <a:off x="1426464" y="471830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SHELF DISCIPLINE</a:t>
            </a:r>
          </a:p>
        </p:txBody>
      </p:sp>
      <p:sp>
        <p:nvSpPr>
          <p:cNvPr id="29" name="TextBox 28"/>
          <p:cNvSpPr txBox="1"/>
          <p:nvPr/>
        </p:nvSpPr>
        <p:spPr>
          <a:xfrm>
            <a:off x="1426464" y="4901184"/>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Coordinate assortment, facing, and freshness standards so promotions convert to repeat orders.</a:t>
            </a:r>
          </a:p>
        </p:txBody>
      </p:sp>
      <p:sp>
        <p:nvSpPr>
          <p:cNvPr id="30" name="Rounded Rectangle 29"/>
          <p:cNvSpPr/>
          <p:nvPr/>
        </p:nvSpPr>
        <p:spPr>
          <a:xfrm>
            <a:off x="7699248" y="1645920"/>
            <a:ext cx="3840480" cy="431596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36992" y="1874519"/>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WHERE TO PUSH HARDER</a:t>
            </a:r>
          </a:p>
        </p:txBody>
      </p:sp>
      <p:sp>
        <p:nvSpPr>
          <p:cNvPr id="32" name="Rounded Rectangle 31"/>
          <p:cNvSpPr/>
          <p:nvPr/>
        </p:nvSpPr>
        <p:spPr>
          <a:xfrm>
            <a:off x="7936992" y="2212848"/>
            <a:ext cx="1645920" cy="822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65008" y="232257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SOFTEST MONTHS</a:t>
            </a:r>
          </a:p>
        </p:txBody>
      </p:sp>
      <p:sp>
        <p:nvSpPr>
          <p:cNvPr id="34" name="TextBox 33"/>
          <p:cNvSpPr txBox="1"/>
          <p:nvPr/>
        </p:nvSpPr>
        <p:spPr>
          <a:xfrm>
            <a:off x="8065008" y="2523744"/>
            <a:ext cx="1389888" cy="402336"/>
          </a:xfrm>
          <a:prstGeom prst="rect">
            <a:avLst/>
          </a:prstGeom>
          <a:noFill/>
        </p:spPr>
        <p:txBody>
          <a:bodyPr wrap="square" lIns="27432" rIns="27432" tIns="27432" bIns="27432" anchor="ctr">
            <a:spAutoFit/>
          </a:bodyPr>
          <a:lstStyle/>
          <a:p>
            <a:pPr algn="l"/>
            <a:r>
              <a:rPr sz="1900" b="1">
                <a:solidFill>
                  <a:srgbClr val="3F728A"/>
                </a:solidFill>
                <a:latin typeface="Aptos Display"/>
              </a:rPr>
              <a:t>Nov to Feb</a:t>
            </a:r>
          </a:p>
        </p:txBody>
      </p:sp>
      <p:sp>
        <p:nvSpPr>
          <p:cNvPr id="35" name="Rounded Rectangle 34"/>
          <p:cNvSpPr/>
          <p:nvPr/>
        </p:nvSpPr>
        <p:spPr>
          <a:xfrm>
            <a:off x="9646920" y="2212848"/>
            <a:ext cx="1600200" cy="822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74936" y="2322576"/>
            <a:ext cx="1344168" cy="164592"/>
          </a:xfrm>
          <a:prstGeom prst="rect">
            <a:avLst/>
          </a:prstGeom>
          <a:noFill/>
        </p:spPr>
        <p:txBody>
          <a:bodyPr wrap="square" lIns="27432" rIns="27432" tIns="27432" bIns="27432" anchor="t">
            <a:spAutoFit/>
          </a:bodyPr>
          <a:lstStyle/>
          <a:p>
            <a:pPr algn="l"/>
            <a:r>
              <a:rPr sz="1000" b="1">
                <a:solidFill>
                  <a:srgbClr val="5F6B63"/>
                </a:solidFill>
                <a:latin typeface="Aptos"/>
              </a:rPr>
              <a:t>PRIMARY BUYER</a:t>
            </a:r>
          </a:p>
        </p:txBody>
      </p:sp>
      <p:sp>
        <p:nvSpPr>
          <p:cNvPr id="37" name="TextBox 36"/>
          <p:cNvSpPr txBox="1"/>
          <p:nvPr/>
        </p:nvSpPr>
        <p:spPr>
          <a:xfrm>
            <a:off x="9774936" y="2523744"/>
            <a:ext cx="1344168" cy="402336"/>
          </a:xfrm>
          <a:prstGeom prst="rect">
            <a:avLst/>
          </a:prstGeom>
          <a:noFill/>
        </p:spPr>
        <p:txBody>
          <a:bodyPr wrap="square" lIns="27432" rIns="27432" tIns="27432" bIns="27432" anchor="ctr">
            <a:spAutoFit/>
          </a:bodyPr>
          <a:lstStyle/>
          <a:p>
            <a:pPr algn="l"/>
            <a:r>
              <a:rPr sz="1900" b="1">
                <a:solidFill>
                  <a:srgbClr val="C58A2A"/>
                </a:solidFill>
                <a:latin typeface="Aptos Display"/>
              </a:rPr>
              <a:t>Retail + FS</a:t>
            </a:r>
          </a:p>
        </p:txBody>
      </p:sp>
      <p:sp>
        <p:nvSpPr>
          <p:cNvPr id="38" name="TextBox 37"/>
          <p:cNvSpPr txBox="1"/>
          <p:nvPr/>
        </p:nvSpPr>
        <p:spPr>
          <a:xfrm>
            <a:off x="7955279" y="3246120"/>
            <a:ext cx="3154680" cy="155448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Do not mistake seasonal softness for launch failure.</a:t>
            </a:r>
          </a:p>
          <a:p>
            <a:pPr algn="l">
              <a:lnSpc>
                <a:spcPct val="115000"/>
              </a:lnSpc>
            </a:pPr>
            <a:r>
              <a:rPr sz="1200">
                <a:solidFill>
                  <a:srgbClr val="1F2621"/>
                </a:solidFill>
                <a:latin typeface="Aptos"/>
              </a:rPr>
              <a:t>- Push through buyer calendars, not just consumer media.</a:t>
            </a:r>
          </a:p>
          <a:p>
            <a:pPr algn="l">
              <a:lnSpc>
                <a:spcPct val="115000"/>
              </a:lnSpc>
            </a:pPr>
            <a:r>
              <a:rPr sz="1200">
                <a:solidFill>
                  <a:srgbClr val="1F2621"/>
                </a:solidFill>
                <a:latin typeface="Aptos"/>
              </a:rPr>
              <a:t>- Separate repeat demand from promo-driven lift.</a:t>
            </a:r>
          </a:p>
        </p:txBody>
      </p:sp>
      <p:sp>
        <p:nvSpPr>
          <p:cNvPr id="39" name="Rounded Rectangle 38"/>
          <p:cNvSpPr/>
          <p:nvPr/>
        </p:nvSpPr>
        <p:spPr>
          <a:xfrm>
            <a:off x="7936992" y="4864608"/>
            <a:ext cx="3154680" cy="82296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83296" y="4956048"/>
            <a:ext cx="2862072" cy="164592"/>
          </a:xfrm>
          <a:prstGeom prst="rect">
            <a:avLst/>
          </a:prstGeom>
          <a:noFill/>
        </p:spPr>
        <p:txBody>
          <a:bodyPr wrap="square" lIns="27432" rIns="27432" tIns="27432" bIns="27432" anchor="t">
            <a:spAutoFit/>
          </a:bodyPr>
          <a:lstStyle/>
          <a:p>
            <a:pPr algn="l"/>
            <a:r>
              <a:rPr sz="1000" b="1">
                <a:solidFill>
                  <a:srgbClr val="5F6B63"/>
                </a:solidFill>
                <a:latin typeface="Aptos"/>
              </a:rPr>
              <a:t>EXECUTION RULE</a:t>
            </a:r>
          </a:p>
        </p:txBody>
      </p:sp>
      <p:sp>
        <p:nvSpPr>
          <p:cNvPr id="41" name="TextBox 40"/>
          <p:cNvSpPr txBox="1"/>
          <p:nvPr/>
        </p:nvSpPr>
        <p:spPr>
          <a:xfrm>
            <a:off x="8083296" y="5138928"/>
            <a:ext cx="2862072" cy="256032"/>
          </a:xfrm>
          <a:prstGeom prst="rect">
            <a:avLst/>
          </a:prstGeom>
          <a:noFill/>
        </p:spPr>
        <p:txBody>
          <a:bodyPr wrap="square" lIns="27432" rIns="27432" tIns="27432" bIns="27432" anchor="t">
            <a:spAutoFit/>
          </a:bodyPr>
          <a:lstStyle/>
          <a:p>
            <a:pPr algn="l"/>
            <a:r>
              <a:rPr sz="1800" b="1">
                <a:solidFill>
                  <a:srgbClr val="C58A2A"/>
                </a:solidFill>
                <a:latin typeface="Aptos Display"/>
              </a:rPr>
              <a:t>Front-load trade support</a:t>
            </a:r>
          </a:p>
        </p:txBody>
      </p:sp>
      <p:sp>
        <p:nvSpPr>
          <p:cNvPr id="42" name="TextBox 41"/>
          <p:cNvSpPr txBox="1"/>
          <p:nvPr/>
        </p:nvSpPr>
        <p:spPr>
          <a:xfrm>
            <a:off x="8083296" y="5413248"/>
            <a:ext cx="2862072" cy="164592"/>
          </a:xfrm>
          <a:prstGeom prst="rect">
            <a:avLst/>
          </a:prstGeom>
          <a:noFill/>
        </p:spPr>
        <p:txBody>
          <a:bodyPr wrap="square" lIns="27432" rIns="27432" tIns="27432" bIns="27432" anchor="t">
            <a:spAutoFit/>
          </a:bodyPr>
          <a:lstStyle/>
          <a:p>
            <a:pPr algn="l"/>
            <a:r>
              <a:rPr sz="1100" b="0">
                <a:solidFill>
                  <a:srgbClr val="1F2621"/>
                </a:solidFill>
                <a:latin typeface="Aptos"/>
              </a:rPr>
              <a:t>Spend trade dollars and retailer attention in Nov-Feb, not when summer demand is already doing the work.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31</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Monthly S&amp;OP should align growers, West Valley, and retailers</a:t>
            </a:r>
          </a:p>
        </p:txBody>
      </p:sp>
      <p:sp>
        <p:nvSpPr>
          <p:cNvPr id="11" name="TextBox 10"/>
          <p:cNvSpPr txBox="1"/>
          <p:nvPr/>
        </p:nvSpPr>
        <p:spPr>
          <a:xfrm>
            <a:off x="548640" y="1097280"/>
            <a:ext cx="10515600" cy="320040"/>
          </a:xfrm>
          <a:prstGeom prst="rect">
            <a:avLst/>
          </a:prstGeom>
          <a:noFill/>
        </p:spPr>
        <p:txBody>
          <a:bodyPr wrap="square" lIns="27432" rIns="27432" tIns="27432" bIns="27432" anchor="t">
            <a:spAutoFit/>
          </a:bodyPr>
          <a:lstStyle/>
          <a:p>
            <a:pPr algn="l"/>
            <a:r>
              <a:rPr sz="1300" b="0">
                <a:solidFill>
                  <a:srgbClr val="5F6B63"/>
                </a:solidFill>
                <a:latin typeface="Aptos"/>
              </a:rPr>
              <a:t>One monthly forum should translate market signals into volume, routing, and promotion decisions.</a:t>
            </a:r>
          </a:p>
        </p:txBody>
      </p:sp>
      <p:sp>
        <p:nvSpPr>
          <p:cNvPr id="12" name="Rounded Rectangle 11"/>
          <p:cNvSpPr/>
          <p:nvPr/>
        </p:nvSpPr>
        <p:spPr>
          <a:xfrm>
            <a:off x="777240"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GROWERS</a:t>
            </a:r>
          </a:p>
        </p:txBody>
      </p:sp>
      <p:sp>
        <p:nvSpPr>
          <p:cNvPr id="14" name="TextBox 13"/>
          <p:cNvSpPr txBox="1"/>
          <p:nvPr/>
        </p:nvSpPr>
        <p:spPr>
          <a:xfrm>
            <a:off x="923544" y="2084832"/>
            <a:ext cx="2724912" cy="502920"/>
          </a:xfrm>
          <a:prstGeom prst="rect">
            <a:avLst/>
          </a:prstGeom>
          <a:noFill/>
        </p:spPr>
        <p:txBody>
          <a:bodyPr wrap="square" lIns="27432" rIns="27432" tIns="27432" bIns="27432" anchor="t">
            <a:spAutoFit/>
          </a:bodyPr>
          <a:lstStyle/>
          <a:p>
            <a:pPr algn="l"/>
            <a:r>
              <a:rPr sz="2400" b="1">
                <a:solidFill>
                  <a:srgbClr val="355C47"/>
                </a:solidFill>
                <a:latin typeface="Aptos Display"/>
              </a:rPr>
              <a:t>Supply commitment</a:t>
            </a:r>
          </a:p>
        </p:txBody>
      </p:sp>
      <p:sp>
        <p:nvSpPr>
          <p:cNvPr id="15" name="TextBox 14"/>
          <p:cNvSpPr txBox="1"/>
          <p:nvPr/>
        </p:nvSpPr>
        <p:spPr>
          <a:xfrm>
            <a:off x="923544"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Provide base volume, flex capacity, and harvest timing updates.</a:t>
            </a:r>
          </a:p>
        </p:txBody>
      </p:sp>
      <p:sp>
        <p:nvSpPr>
          <p:cNvPr id="16" name="Rounded Rectangle 15"/>
          <p:cNvSpPr/>
          <p:nvPr/>
        </p:nvSpPr>
        <p:spPr>
          <a:xfrm>
            <a:off x="4507992"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4296"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WEST VALLEY</a:t>
            </a:r>
          </a:p>
        </p:txBody>
      </p:sp>
      <p:sp>
        <p:nvSpPr>
          <p:cNvPr id="18" name="TextBox 17"/>
          <p:cNvSpPr txBox="1"/>
          <p:nvPr/>
        </p:nvSpPr>
        <p:spPr>
          <a:xfrm>
            <a:off x="4654296" y="2084832"/>
            <a:ext cx="2724912" cy="502920"/>
          </a:xfrm>
          <a:prstGeom prst="rect">
            <a:avLst/>
          </a:prstGeom>
          <a:noFill/>
        </p:spPr>
        <p:txBody>
          <a:bodyPr wrap="square" lIns="27432" rIns="27432" tIns="27432" bIns="27432" anchor="t">
            <a:spAutoFit/>
          </a:bodyPr>
          <a:lstStyle/>
          <a:p>
            <a:pPr algn="l"/>
            <a:r>
              <a:rPr sz="2400" b="1">
                <a:solidFill>
                  <a:srgbClr val="3F728A"/>
                </a:solidFill>
                <a:latin typeface="Aptos Display"/>
              </a:rPr>
              <a:t>Control tower</a:t>
            </a:r>
          </a:p>
        </p:txBody>
      </p:sp>
      <p:sp>
        <p:nvSpPr>
          <p:cNvPr id="19" name="TextBox 18"/>
          <p:cNvSpPr txBox="1"/>
          <p:nvPr/>
        </p:nvSpPr>
        <p:spPr>
          <a:xfrm>
            <a:off x="4654296"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Convert price, freight, and demand signals into city allocation decisions.</a:t>
            </a:r>
          </a:p>
        </p:txBody>
      </p:sp>
      <p:sp>
        <p:nvSpPr>
          <p:cNvPr id="20" name="Rounded Rectangle 19"/>
          <p:cNvSpPr/>
          <p:nvPr/>
        </p:nvSpPr>
        <p:spPr>
          <a:xfrm>
            <a:off x="8238744"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8"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RETAILERS</a:t>
            </a:r>
          </a:p>
        </p:txBody>
      </p:sp>
      <p:sp>
        <p:nvSpPr>
          <p:cNvPr id="22" name="TextBox 21"/>
          <p:cNvSpPr txBox="1"/>
          <p:nvPr/>
        </p:nvSpPr>
        <p:spPr>
          <a:xfrm>
            <a:off x="8385048" y="2084832"/>
            <a:ext cx="2724912" cy="502920"/>
          </a:xfrm>
          <a:prstGeom prst="rect">
            <a:avLst/>
          </a:prstGeom>
          <a:noFill/>
        </p:spPr>
        <p:txBody>
          <a:bodyPr wrap="square" lIns="27432" rIns="27432" tIns="27432" bIns="27432" anchor="t">
            <a:spAutoFit/>
          </a:bodyPr>
          <a:lstStyle/>
          <a:p>
            <a:pPr algn="l"/>
            <a:r>
              <a:rPr sz="2400" b="1">
                <a:solidFill>
                  <a:srgbClr val="C58A2A"/>
                </a:solidFill>
                <a:latin typeface="Aptos Display"/>
              </a:rPr>
              <a:t>Demand signal</a:t>
            </a:r>
          </a:p>
        </p:txBody>
      </p:sp>
      <p:sp>
        <p:nvSpPr>
          <p:cNvPr id="23" name="TextBox 22"/>
          <p:cNvSpPr txBox="1"/>
          <p:nvPr/>
        </p:nvSpPr>
        <p:spPr>
          <a:xfrm>
            <a:off x="8385048"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Feed promo calendars, replenishment risk, and reorder visibility into the review.</a:t>
            </a:r>
          </a:p>
        </p:txBody>
      </p:sp>
      <p:sp>
        <p:nvSpPr>
          <p:cNvPr id="24" name="Rounded Rectangle 23"/>
          <p:cNvSpPr/>
          <p:nvPr/>
        </p:nvSpPr>
        <p:spPr>
          <a:xfrm>
            <a:off x="1874519" y="3493008"/>
            <a:ext cx="8458200" cy="10607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76272" y="3749039"/>
            <a:ext cx="292608" cy="29260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03704"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1</a:t>
            </a:r>
          </a:p>
        </p:txBody>
      </p:sp>
      <p:sp>
        <p:nvSpPr>
          <p:cNvPr id="27" name="TextBox 26"/>
          <p:cNvSpPr txBox="1"/>
          <p:nvPr/>
        </p:nvSpPr>
        <p:spPr>
          <a:xfrm>
            <a:off x="2560320"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Forecast demand</a:t>
            </a:r>
          </a:p>
        </p:txBody>
      </p:sp>
      <p:cxnSp>
        <p:nvCxnSpPr>
          <p:cNvPr id="28" name="Connector 27"/>
          <p:cNvCxnSpPr/>
          <p:nvPr/>
        </p:nvCxnSpPr>
        <p:spPr>
          <a:xfrm>
            <a:off x="3867912"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215383" y="3749039"/>
            <a:ext cx="292608" cy="2926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42815"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2</a:t>
            </a:r>
          </a:p>
        </p:txBody>
      </p:sp>
      <p:sp>
        <p:nvSpPr>
          <p:cNvPr id="31" name="TextBox 30"/>
          <p:cNvSpPr txBox="1"/>
          <p:nvPr/>
        </p:nvSpPr>
        <p:spPr>
          <a:xfrm>
            <a:off x="4599431"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Lock commitments</a:t>
            </a:r>
          </a:p>
        </p:txBody>
      </p:sp>
      <p:cxnSp>
        <p:nvCxnSpPr>
          <p:cNvPr id="32" name="Connector 31"/>
          <p:cNvCxnSpPr/>
          <p:nvPr/>
        </p:nvCxnSpPr>
        <p:spPr>
          <a:xfrm>
            <a:off x="5907023"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254496" y="3749039"/>
            <a:ext cx="292608" cy="2926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81928"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3</a:t>
            </a:r>
          </a:p>
        </p:txBody>
      </p:sp>
      <p:sp>
        <p:nvSpPr>
          <p:cNvPr id="35" name="TextBox 34"/>
          <p:cNvSpPr txBox="1"/>
          <p:nvPr/>
        </p:nvSpPr>
        <p:spPr>
          <a:xfrm>
            <a:off x="6638544"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Allocate by city</a:t>
            </a:r>
          </a:p>
        </p:txBody>
      </p:sp>
      <p:cxnSp>
        <p:nvCxnSpPr>
          <p:cNvPr id="36" name="Connector 35"/>
          <p:cNvCxnSpPr/>
          <p:nvPr/>
        </p:nvCxnSpPr>
        <p:spPr>
          <a:xfrm>
            <a:off x="7946136"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8293608" y="3749039"/>
            <a:ext cx="292608" cy="29260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21040"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4</a:t>
            </a:r>
          </a:p>
        </p:txBody>
      </p:sp>
      <p:sp>
        <p:nvSpPr>
          <p:cNvPr id="39" name="TextBox 38"/>
          <p:cNvSpPr txBox="1"/>
          <p:nvPr/>
        </p:nvSpPr>
        <p:spPr>
          <a:xfrm>
            <a:off x="8677656"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Review margin + service</a:t>
            </a:r>
          </a:p>
        </p:txBody>
      </p:sp>
      <p:sp>
        <p:nvSpPr>
          <p:cNvPr id="40" name="Rounded Rectangle 39"/>
          <p:cNvSpPr/>
          <p:nvPr/>
        </p:nvSpPr>
        <p:spPr>
          <a:xfrm>
            <a:off x="768096" y="4791456"/>
            <a:ext cx="10744200"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892040"/>
            <a:ext cx="3325368" cy="146304"/>
          </a:xfrm>
          <a:prstGeom prst="rect">
            <a:avLst/>
          </a:prstGeom>
          <a:noFill/>
        </p:spPr>
        <p:txBody>
          <a:bodyPr wrap="square" lIns="27432" rIns="27432" tIns="27432" bIns="27432" anchor="t">
            <a:spAutoFit/>
          </a:bodyPr>
          <a:lstStyle/>
          <a:p>
            <a:pPr algn="l"/>
            <a:r>
              <a:rPr sz="1000" b="1">
                <a:solidFill>
                  <a:srgbClr val="5F6B63"/>
                </a:solidFill>
                <a:latin typeface="Aptos"/>
              </a:rPr>
              <a:t>CADENCE</a:t>
            </a:r>
          </a:p>
        </p:txBody>
      </p:sp>
      <p:sp>
        <p:nvSpPr>
          <p:cNvPr id="42" name="TextBox 41"/>
          <p:cNvSpPr txBox="1"/>
          <p:nvPr/>
        </p:nvSpPr>
        <p:spPr>
          <a:xfrm>
            <a:off x="896112" y="5047488"/>
            <a:ext cx="332536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Monthly</a:t>
            </a:r>
          </a:p>
        </p:txBody>
      </p:sp>
      <p:sp>
        <p:nvSpPr>
          <p:cNvPr id="43" name="TextBox 42"/>
          <p:cNvSpPr txBox="1"/>
          <p:nvPr/>
        </p:nvSpPr>
        <p:spPr>
          <a:xfrm>
            <a:off x="896112" y="5303520"/>
            <a:ext cx="3325368" cy="365760"/>
          </a:xfrm>
          <a:prstGeom prst="rect">
            <a:avLst/>
          </a:prstGeom>
          <a:noFill/>
        </p:spPr>
        <p:txBody>
          <a:bodyPr wrap="square" lIns="27432" rIns="27432" tIns="27432" bIns="27432" anchor="t">
            <a:spAutoFit/>
          </a:bodyPr>
          <a:lstStyle/>
          <a:p>
            <a:pPr algn="l"/>
            <a:r>
              <a:rPr sz="1100" b="0">
                <a:solidFill>
                  <a:srgbClr val="1F2621"/>
                </a:solidFill>
                <a:latin typeface="Aptos"/>
              </a:rPr>
              <a:t>Update commitments and allocations every month, not quarterly.</a:t>
            </a:r>
          </a:p>
        </p:txBody>
      </p:sp>
      <p:cxnSp>
        <p:nvCxnSpPr>
          <p:cNvPr id="44" name="Connector 43"/>
          <p:cNvCxnSpPr/>
          <p:nvPr/>
        </p:nvCxnSpPr>
        <p:spPr>
          <a:xfrm>
            <a:off x="4349496" y="4956048"/>
            <a:ext cx="0" cy="640080"/>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477512" y="4892040"/>
            <a:ext cx="3325368" cy="146304"/>
          </a:xfrm>
          <a:prstGeom prst="rect">
            <a:avLst/>
          </a:prstGeom>
          <a:noFill/>
        </p:spPr>
        <p:txBody>
          <a:bodyPr wrap="square" lIns="27432" rIns="27432" tIns="27432" bIns="27432" anchor="t">
            <a:spAutoFit/>
          </a:bodyPr>
          <a:lstStyle/>
          <a:p>
            <a:pPr algn="l"/>
            <a:r>
              <a:rPr sz="1000" b="1">
                <a:solidFill>
                  <a:srgbClr val="5F6B63"/>
                </a:solidFill>
                <a:latin typeface="Aptos"/>
              </a:rPr>
              <a:t>DECISION OUTPUT</a:t>
            </a:r>
          </a:p>
        </p:txBody>
      </p:sp>
      <p:sp>
        <p:nvSpPr>
          <p:cNvPr id="46" name="TextBox 45"/>
          <p:cNvSpPr txBox="1"/>
          <p:nvPr/>
        </p:nvSpPr>
        <p:spPr>
          <a:xfrm>
            <a:off x="4477512" y="5047488"/>
            <a:ext cx="3325368" cy="237744"/>
          </a:xfrm>
          <a:prstGeom prst="rect">
            <a:avLst/>
          </a:prstGeom>
          <a:noFill/>
        </p:spPr>
        <p:txBody>
          <a:bodyPr wrap="square" lIns="27432" rIns="27432" tIns="27432" bIns="27432" anchor="t">
            <a:spAutoFit/>
          </a:bodyPr>
          <a:lstStyle/>
          <a:p>
            <a:pPr algn="l"/>
            <a:r>
              <a:rPr sz="1800" b="1">
                <a:solidFill>
                  <a:srgbClr val="3F728A"/>
                </a:solidFill>
                <a:latin typeface="Aptos Display"/>
              </a:rPr>
              <a:t>Commit + allocate</a:t>
            </a:r>
          </a:p>
        </p:txBody>
      </p:sp>
      <p:sp>
        <p:nvSpPr>
          <p:cNvPr id="47" name="TextBox 46"/>
          <p:cNvSpPr txBox="1"/>
          <p:nvPr/>
        </p:nvSpPr>
        <p:spPr>
          <a:xfrm>
            <a:off x="4477512" y="5303520"/>
            <a:ext cx="3325368" cy="365760"/>
          </a:xfrm>
          <a:prstGeom prst="rect">
            <a:avLst/>
          </a:prstGeom>
          <a:noFill/>
        </p:spPr>
        <p:txBody>
          <a:bodyPr wrap="square" lIns="27432" rIns="27432" tIns="27432" bIns="27432" anchor="t">
            <a:spAutoFit/>
          </a:bodyPr>
          <a:lstStyle/>
          <a:p>
            <a:pPr algn="l"/>
            <a:r>
              <a:rPr sz="1100" b="0">
                <a:solidFill>
                  <a:srgbClr val="1F2621"/>
                </a:solidFill>
                <a:latin typeface="Aptos"/>
              </a:rPr>
              <a:t>Reset grower volume, lanes, and promo timing in the same review.</a:t>
            </a:r>
          </a:p>
        </p:txBody>
      </p:sp>
      <p:cxnSp>
        <p:nvCxnSpPr>
          <p:cNvPr id="48" name="Connector 47"/>
          <p:cNvCxnSpPr/>
          <p:nvPr/>
        </p:nvCxnSpPr>
        <p:spPr>
          <a:xfrm>
            <a:off x="7930896" y="4956048"/>
            <a:ext cx="0" cy="640080"/>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58912" y="4892040"/>
            <a:ext cx="3325368" cy="146304"/>
          </a:xfrm>
          <a:prstGeom prst="rect">
            <a:avLst/>
          </a:prstGeom>
          <a:noFill/>
        </p:spPr>
        <p:txBody>
          <a:bodyPr wrap="square" lIns="27432" rIns="27432" tIns="27432" bIns="27432" anchor="t">
            <a:spAutoFit/>
          </a:bodyPr>
          <a:lstStyle/>
          <a:p>
            <a:pPr algn="l"/>
            <a:r>
              <a:rPr sz="1000" b="1">
                <a:solidFill>
                  <a:srgbClr val="5F6B63"/>
                </a:solidFill>
                <a:latin typeface="Aptos"/>
              </a:rPr>
              <a:t>SUCCESS SIGNAL</a:t>
            </a:r>
          </a:p>
        </p:txBody>
      </p:sp>
      <p:sp>
        <p:nvSpPr>
          <p:cNvPr id="50" name="TextBox 49"/>
          <p:cNvSpPr txBox="1"/>
          <p:nvPr/>
        </p:nvSpPr>
        <p:spPr>
          <a:xfrm>
            <a:off x="8058912" y="5047488"/>
            <a:ext cx="3325368" cy="237744"/>
          </a:xfrm>
          <a:prstGeom prst="rect">
            <a:avLst/>
          </a:prstGeom>
          <a:noFill/>
        </p:spPr>
        <p:txBody>
          <a:bodyPr wrap="square" lIns="27432" rIns="27432" tIns="27432" bIns="27432" anchor="t">
            <a:spAutoFit/>
          </a:bodyPr>
          <a:lstStyle/>
          <a:p>
            <a:pPr algn="l"/>
            <a:r>
              <a:rPr sz="1800" b="1">
                <a:solidFill>
                  <a:srgbClr val="C58A2A"/>
                </a:solidFill>
                <a:latin typeface="Aptos Display"/>
              </a:rPr>
              <a:t>Margin and service</a:t>
            </a:r>
          </a:p>
        </p:txBody>
      </p:sp>
      <p:sp>
        <p:nvSpPr>
          <p:cNvPr id="51" name="TextBox 50"/>
          <p:cNvSpPr txBox="1"/>
          <p:nvPr/>
        </p:nvSpPr>
        <p:spPr>
          <a:xfrm>
            <a:off x="8058912" y="5303520"/>
            <a:ext cx="3325368" cy="365760"/>
          </a:xfrm>
          <a:prstGeom prst="rect">
            <a:avLst/>
          </a:prstGeom>
          <a:noFill/>
        </p:spPr>
        <p:txBody>
          <a:bodyPr wrap="square" lIns="27432" rIns="27432" tIns="27432" bIns="27432" anchor="t">
            <a:spAutoFit/>
          </a:bodyPr>
          <a:lstStyle/>
          <a:p>
            <a:pPr algn="l"/>
            <a:r>
              <a:rPr sz="1100" b="0">
                <a:solidFill>
                  <a:srgbClr val="1F2621"/>
                </a:solidFill>
                <a:latin typeface="Aptos"/>
              </a:rPr>
              <a:t>Higher realized margin should not come with fill-rate or freshness slippage.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in 2026, then scale only what the pilot proves</a:t>
            </a:r>
          </a:p>
        </p:txBody>
      </p:sp>
      <p:sp>
        <p:nvSpPr>
          <p:cNvPr id="9" name="TextBox 8"/>
          <p:cNvSpPr txBox="1"/>
          <p:nvPr/>
        </p:nvSpPr>
        <p:spPr>
          <a:xfrm>
            <a:off x="548640" y="1097280"/>
            <a:ext cx="10607040" cy="320040"/>
          </a:xfrm>
          <a:prstGeom prst="rect">
            <a:avLst/>
          </a:prstGeom>
          <a:noFill/>
        </p:spPr>
        <p:txBody>
          <a:bodyPr wrap="square" lIns="27432" rIns="27432" tIns="27432" bIns="27432" anchor="t">
            <a:spAutoFit/>
          </a:bodyPr>
          <a:lstStyle/>
          <a:p>
            <a:pPr algn="l"/>
            <a:r>
              <a:rPr sz="1300" b="0">
                <a:solidFill>
                  <a:srgbClr val="5F6B63"/>
                </a:solidFill>
                <a:latin typeface="Aptos"/>
              </a:rPr>
              <a:t>Treat year one as a live test of economics, service, and demand quality, not a commitment to broad expansion.</a:t>
            </a:r>
          </a:p>
        </p:txBody>
      </p:sp>
      <p:sp>
        <p:nvSpPr>
          <p:cNvPr id="10" name="Rounded Rectangle 9"/>
          <p:cNvSpPr/>
          <p:nvPr/>
        </p:nvSpPr>
        <p:spPr>
          <a:xfrm>
            <a:off x="749808" y="1600200"/>
            <a:ext cx="7680960" cy="44348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10512"/>
            <a:ext cx="1828800" cy="182880"/>
          </a:xfrm>
          <a:prstGeom prst="rect">
            <a:avLst/>
          </a:prstGeom>
          <a:noFill/>
        </p:spPr>
        <p:txBody>
          <a:bodyPr wrap="square" lIns="27432" rIns="27432" tIns="27432" bIns="27432" anchor="t">
            <a:spAutoFit/>
          </a:bodyPr>
          <a:lstStyle/>
          <a:p>
            <a:pPr algn="l"/>
            <a:r>
              <a:rPr sz="1100" b="1">
                <a:solidFill>
                  <a:srgbClr val="5F6B63"/>
                </a:solidFill>
                <a:latin typeface="Aptos"/>
              </a:rPr>
              <a:t>ROLLOUT ROADMAP</a:t>
            </a:r>
          </a:p>
        </p:txBody>
      </p:sp>
      <p:sp>
        <p:nvSpPr>
          <p:cNvPr id="12" name="Rounded Rectangle 11"/>
          <p:cNvSpPr/>
          <p:nvPr/>
        </p:nvSpPr>
        <p:spPr>
          <a:xfrm>
            <a:off x="914400" y="2148840"/>
            <a:ext cx="960120" cy="676656"/>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27685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2026</a:t>
            </a:r>
          </a:p>
        </p:txBody>
      </p:sp>
      <p:sp>
        <p:nvSpPr>
          <p:cNvPr id="14" name="Rounded Rectangle 13"/>
          <p:cNvSpPr/>
          <p:nvPr/>
        </p:nvSpPr>
        <p:spPr>
          <a:xfrm>
            <a:off x="2084831" y="214884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4028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PILOT</a:t>
            </a:r>
          </a:p>
        </p:txBody>
      </p:sp>
      <p:sp>
        <p:nvSpPr>
          <p:cNvPr id="16" name="TextBox 15"/>
          <p:cNvSpPr txBox="1"/>
          <p:nvPr/>
        </p:nvSpPr>
        <p:spPr>
          <a:xfrm>
            <a:off x="2267712" y="242316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Launch the five-city test and prove realized margin, fill rate, and spoilage control.</a:t>
            </a:r>
          </a:p>
        </p:txBody>
      </p:sp>
      <p:sp>
        <p:nvSpPr>
          <p:cNvPr id="17" name="Rounded Rectangle 16"/>
          <p:cNvSpPr/>
          <p:nvPr/>
        </p:nvSpPr>
        <p:spPr>
          <a:xfrm>
            <a:off x="6382512" y="2148840"/>
            <a:ext cx="1737360" cy="676656"/>
          </a:xfrm>
          <a:prstGeom prst="roundRect">
            <a:avLst/>
          </a:prstGeom>
          <a:solidFill>
            <a:srgbClr val="FFFDF9"/>
          </a:solidFill>
          <a:ln w="15240">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224028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city economics hold in live execution.</a:t>
            </a:r>
          </a:p>
        </p:txBody>
      </p:sp>
      <p:sp>
        <p:nvSpPr>
          <p:cNvPr id="19" name="Rounded Rectangle 18"/>
          <p:cNvSpPr/>
          <p:nvPr/>
        </p:nvSpPr>
        <p:spPr>
          <a:xfrm>
            <a:off x="914400" y="3429000"/>
            <a:ext cx="960120" cy="676656"/>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55701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2027</a:t>
            </a:r>
          </a:p>
        </p:txBody>
      </p:sp>
      <p:sp>
        <p:nvSpPr>
          <p:cNvPr id="21" name="Rounded Rectangle 20"/>
          <p:cNvSpPr/>
          <p:nvPr/>
        </p:nvSpPr>
        <p:spPr>
          <a:xfrm>
            <a:off x="2084831" y="342900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67712" y="352044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EXPAND SELECTIVELY</a:t>
            </a:r>
          </a:p>
        </p:txBody>
      </p:sp>
      <p:sp>
        <p:nvSpPr>
          <p:cNvPr id="23" name="TextBox 22"/>
          <p:cNvSpPr txBox="1"/>
          <p:nvPr/>
        </p:nvSpPr>
        <p:spPr>
          <a:xfrm>
            <a:off x="2267712" y="370332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Add retailer doors only in markets where reorder behavior and service levels remain strong.</a:t>
            </a:r>
          </a:p>
        </p:txBody>
      </p:sp>
      <p:sp>
        <p:nvSpPr>
          <p:cNvPr id="24" name="Rounded Rectangle 23"/>
          <p:cNvSpPr/>
          <p:nvPr/>
        </p:nvSpPr>
        <p:spPr>
          <a:xfrm>
            <a:off x="6382512" y="3429000"/>
            <a:ext cx="1737360" cy="676656"/>
          </a:xfrm>
          <a:prstGeom prst="roundRect">
            <a:avLst/>
          </a:prstGeom>
          <a:solidFill>
            <a:srgbClr val="FFFDF9"/>
          </a:solidFill>
          <a:ln w="15240">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19672" y="352044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economics survive broader coverage.</a:t>
            </a:r>
          </a:p>
        </p:txBody>
      </p:sp>
      <p:sp>
        <p:nvSpPr>
          <p:cNvPr id="26" name="Rounded Rectangle 25"/>
          <p:cNvSpPr/>
          <p:nvPr/>
        </p:nvSpPr>
        <p:spPr>
          <a:xfrm>
            <a:off x="914400" y="4709160"/>
            <a:ext cx="960120" cy="676656"/>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83717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2028</a:t>
            </a:r>
          </a:p>
        </p:txBody>
      </p:sp>
      <p:sp>
        <p:nvSpPr>
          <p:cNvPr id="28" name="Rounded Rectangle 27"/>
          <p:cNvSpPr/>
          <p:nvPr/>
        </p:nvSpPr>
        <p:spPr>
          <a:xfrm>
            <a:off x="2084831" y="470916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67712" y="480060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OPTIMIZE SYSTEM</a:t>
            </a:r>
          </a:p>
        </p:txBody>
      </p:sp>
      <p:sp>
        <p:nvSpPr>
          <p:cNvPr id="30" name="TextBox 29"/>
          <p:cNvSpPr txBox="1"/>
          <p:nvPr/>
        </p:nvSpPr>
        <p:spPr>
          <a:xfrm>
            <a:off x="2267712" y="498348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Tighten grower contracts, allocation logic, and seasonal playbooks around what the pilot confirms.</a:t>
            </a:r>
          </a:p>
        </p:txBody>
      </p:sp>
      <p:sp>
        <p:nvSpPr>
          <p:cNvPr id="31" name="Rounded Rectangle 30"/>
          <p:cNvSpPr/>
          <p:nvPr/>
        </p:nvSpPr>
        <p:spPr>
          <a:xfrm>
            <a:off x="6382512" y="4709160"/>
            <a:ext cx="1737360" cy="676656"/>
          </a:xfrm>
          <a:prstGeom prst="roundRect">
            <a:avLst/>
          </a:prstGeom>
          <a:solidFill>
            <a:srgbClr val="FFFDF9"/>
          </a:solidFill>
          <a:ln w="15240">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19672" y="480060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process gains are repeatable.</a:t>
            </a:r>
          </a:p>
        </p:txBody>
      </p:sp>
      <p:sp>
        <p:nvSpPr>
          <p:cNvPr id="33" name="Rounded Rectangle 32"/>
          <p:cNvSpPr/>
          <p:nvPr/>
        </p:nvSpPr>
        <p:spPr>
          <a:xfrm>
            <a:off x="8705088" y="1600200"/>
            <a:ext cx="2788920" cy="44348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42832" y="1810512"/>
            <a:ext cx="2011680" cy="182880"/>
          </a:xfrm>
          <a:prstGeom prst="rect">
            <a:avLst/>
          </a:prstGeom>
          <a:noFill/>
        </p:spPr>
        <p:txBody>
          <a:bodyPr wrap="square" lIns="27432" rIns="27432" tIns="27432" bIns="27432" anchor="t">
            <a:spAutoFit/>
          </a:bodyPr>
          <a:lstStyle/>
          <a:p>
            <a:pPr algn="l"/>
            <a:r>
              <a:rPr sz="1100" b="1">
                <a:solidFill>
                  <a:srgbClr val="5F6B63"/>
                </a:solidFill>
                <a:latin typeface="Aptos"/>
              </a:rPr>
              <a:t>SCALE ONLY IF</a:t>
            </a:r>
          </a:p>
        </p:txBody>
      </p:sp>
      <p:sp>
        <p:nvSpPr>
          <p:cNvPr id="35" name="Oval 34"/>
          <p:cNvSpPr/>
          <p:nvPr/>
        </p:nvSpPr>
        <p:spPr>
          <a:xfrm>
            <a:off x="8979408" y="2240280"/>
            <a:ext cx="256032" cy="25603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08592" y="222199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MARGIN</a:t>
            </a:r>
          </a:p>
        </p:txBody>
      </p:sp>
      <p:sp>
        <p:nvSpPr>
          <p:cNvPr id="37" name="TextBox 36"/>
          <p:cNvSpPr txBox="1"/>
          <p:nvPr/>
        </p:nvSpPr>
        <p:spPr>
          <a:xfrm>
            <a:off x="9308592" y="240487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Realized margin beats the base case after freight and spoilage.</a:t>
            </a:r>
          </a:p>
        </p:txBody>
      </p:sp>
      <p:sp>
        <p:nvSpPr>
          <p:cNvPr id="38" name="Oval 37"/>
          <p:cNvSpPr/>
          <p:nvPr/>
        </p:nvSpPr>
        <p:spPr>
          <a:xfrm>
            <a:off x="8979408" y="3337560"/>
            <a:ext cx="256032" cy="25603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08592" y="331927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SERVICE</a:t>
            </a:r>
          </a:p>
        </p:txBody>
      </p:sp>
      <p:sp>
        <p:nvSpPr>
          <p:cNvPr id="40" name="TextBox 39"/>
          <p:cNvSpPr txBox="1"/>
          <p:nvPr/>
        </p:nvSpPr>
        <p:spPr>
          <a:xfrm>
            <a:off x="9308592" y="350215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Fill rate holds through peak-season pressure.</a:t>
            </a:r>
          </a:p>
        </p:txBody>
      </p:sp>
      <p:sp>
        <p:nvSpPr>
          <p:cNvPr id="41" name="Oval 40"/>
          <p:cNvSpPr/>
          <p:nvPr/>
        </p:nvSpPr>
        <p:spPr>
          <a:xfrm>
            <a:off x="8979408" y="4434840"/>
            <a:ext cx="256032" cy="256032"/>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08592" y="441655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DEMAND</a:t>
            </a:r>
          </a:p>
        </p:txBody>
      </p:sp>
      <p:sp>
        <p:nvSpPr>
          <p:cNvPr id="43" name="TextBox 42"/>
          <p:cNvSpPr txBox="1"/>
          <p:nvPr/>
        </p:nvSpPr>
        <p:spPr>
          <a:xfrm>
            <a:off x="9308592" y="459943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Retailers reorder because demand is repeatable, not launch noise.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Pilot KPIs should prove margin, service, spoilage, and repeat orders</a:t>
            </a:r>
          </a:p>
        </p:txBody>
      </p:sp>
      <p:sp>
        <p:nvSpPr>
          <p:cNvPr id="9" name="Rounded Rectangle 8"/>
          <p:cNvSpPr/>
          <p:nvPr/>
        </p:nvSpPr>
        <p:spPr>
          <a:xfrm>
            <a:off x="749808" y="1627632"/>
            <a:ext cx="365760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847088"/>
            <a:ext cx="1645920" cy="182880"/>
          </a:xfrm>
          <a:prstGeom prst="rect">
            <a:avLst/>
          </a:prstGeom>
          <a:noFill/>
        </p:spPr>
        <p:txBody>
          <a:bodyPr wrap="square" lIns="27432" rIns="27432" tIns="27432" bIns="27432" anchor="t">
            <a:spAutoFit/>
          </a:bodyPr>
          <a:lstStyle/>
          <a:p>
            <a:pPr algn="l"/>
            <a:r>
              <a:rPr sz="1100" b="1">
                <a:solidFill>
                  <a:srgbClr val="5F6B63"/>
                </a:solidFill>
                <a:latin typeface="Aptos"/>
              </a:rPr>
              <a:t>HEALTH CHECK</a:t>
            </a:r>
          </a:p>
        </p:txBody>
      </p:sp>
      <p:sp>
        <p:nvSpPr>
          <p:cNvPr id="11" name="Rounded Rectangle 10"/>
          <p:cNvSpPr/>
          <p:nvPr/>
        </p:nvSpPr>
        <p:spPr>
          <a:xfrm>
            <a:off x="960120" y="2240280"/>
            <a:ext cx="201168" cy="64008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2258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GROSS MARGIN</a:t>
            </a:r>
          </a:p>
        </p:txBody>
      </p:sp>
      <p:sp>
        <p:nvSpPr>
          <p:cNvPr id="13" name="TextBox 12"/>
          <p:cNvSpPr txBox="1"/>
          <p:nvPr/>
        </p:nvSpPr>
        <p:spPr>
          <a:xfrm>
            <a:off x="1298448" y="2441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Proof that premium pricing survives live execution.</a:t>
            </a:r>
          </a:p>
        </p:txBody>
      </p:sp>
      <p:sp>
        <p:nvSpPr>
          <p:cNvPr id="14" name="Rounded Rectangle 13"/>
          <p:cNvSpPr/>
          <p:nvPr/>
        </p:nvSpPr>
        <p:spPr>
          <a:xfrm>
            <a:off x="960120" y="3383280"/>
            <a:ext cx="201168" cy="64008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3401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FILL RATE</a:t>
            </a:r>
          </a:p>
        </p:txBody>
      </p:sp>
      <p:sp>
        <p:nvSpPr>
          <p:cNvPr id="16" name="TextBox 15"/>
          <p:cNvSpPr txBox="1"/>
          <p:nvPr/>
        </p:nvSpPr>
        <p:spPr>
          <a:xfrm>
            <a:off x="1298448" y="3584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Proof that service can scale without breaking.</a:t>
            </a:r>
          </a:p>
        </p:txBody>
      </p:sp>
      <p:sp>
        <p:nvSpPr>
          <p:cNvPr id="17" name="Rounded Rectangle 16"/>
          <p:cNvSpPr/>
          <p:nvPr/>
        </p:nvSpPr>
        <p:spPr>
          <a:xfrm>
            <a:off x="960120" y="4526280"/>
            <a:ext cx="201168" cy="64008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4544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REORDER RATE</a:t>
            </a:r>
          </a:p>
        </p:txBody>
      </p:sp>
      <p:sp>
        <p:nvSpPr>
          <p:cNvPr id="19" name="TextBox 18"/>
          <p:cNvSpPr txBox="1"/>
          <p:nvPr/>
        </p:nvSpPr>
        <p:spPr>
          <a:xfrm>
            <a:off x="1298448" y="4727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Proof that demand repeats after launch week.</a:t>
            </a:r>
          </a:p>
        </p:txBody>
      </p:sp>
      <p:sp>
        <p:nvSpPr>
          <p:cNvPr id="20" name="Rounded Rectangle 19"/>
          <p:cNvSpPr/>
          <p:nvPr/>
        </p:nvSpPr>
        <p:spPr>
          <a:xfrm>
            <a:off x="4645152" y="1627632"/>
            <a:ext cx="681228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64608" y="1847088"/>
            <a:ext cx="2286000" cy="182880"/>
          </a:xfrm>
          <a:prstGeom prst="rect">
            <a:avLst/>
          </a:prstGeom>
          <a:noFill/>
        </p:spPr>
        <p:txBody>
          <a:bodyPr wrap="square" lIns="27432" rIns="27432" tIns="27432" bIns="27432" anchor="t">
            <a:spAutoFit/>
          </a:bodyPr>
          <a:lstStyle/>
          <a:p>
            <a:pPr algn="l"/>
            <a:r>
              <a:rPr sz="1100" b="1">
                <a:solidFill>
                  <a:srgbClr val="5F6B63"/>
                </a:solidFill>
                <a:latin typeface="Aptos"/>
              </a:rPr>
              <a:t>PILOT SCORECARD</a:t>
            </a:r>
          </a:p>
        </p:txBody>
      </p:sp>
      <p:graphicFrame>
        <p:nvGraphicFramePr>
          <p:cNvPr id="22" name="Table 21"/>
          <p:cNvGraphicFramePr>
            <a:graphicFrameLocks noGrp="1"/>
          </p:cNvGraphicFramePr>
          <p:nvPr/>
        </p:nvGraphicFramePr>
        <p:xfrm>
          <a:off x="4864608" y="2148840"/>
          <a:ext cx="6355080" cy="3456432"/>
        </p:xfrm>
        <a:graphic>
          <a:graphicData uri="http://schemas.openxmlformats.org/drawingml/2006/table">
            <a:tbl>
              <a:tblPr firstRow="1" bandRow="1">
                <a:tableStyleId>{5C22544A-7EE6-4342-B048-85BDC9FD1C3A}</a:tableStyleId>
              </a:tblPr>
              <a:tblGrid>
                <a:gridCol w="1828800"/>
                <a:gridCol w="3063240"/>
                <a:gridCol w="1463040"/>
              </a:tblGrid>
              <a:tr h="493776">
                <a:tc>
                  <a:txBody>
                    <a:bodyPr/>
                    <a:lstStyle/>
                    <a:p>
                      <a:r>
                        <a:rPr sz="1100" b="1">
                          <a:solidFill>
                            <a:srgbClr val="FCFAF5"/>
                          </a:solidFill>
                          <a:latin typeface="Aptos"/>
                        </a:rPr>
                        <a:t>KPI</a:t>
                      </a:r>
                    </a:p>
                  </a:txBody>
                  <a:tcPr>
                    <a:solidFill>
                      <a:srgbClr val="355C47"/>
                    </a:solidFill>
                  </a:tcPr>
                </a:tc>
                <a:tc>
                  <a:txBody>
                    <a:bodyPr/>
                    <a:lstStyle/>
                    <a:p>
                      <a:r>
                        <a:rPr sz="1100" b="1">
                          <a:solidFill>
                            <a:srgbClr val="FCFAF5"/>
                          </a:solidFill>
                          <a:latin typeface="Aptos"/>
                        </a:rPr>
                        <a:t>Why it matters</a:t>
                      </a:r>
                    </a:p>
                  </a:txBody>
                  <a:tcPr>
                    <a:solidFill>
                      <a:srgbClr val="355C47"/>
                    </a:solidFill>
                  </a:tcPr>
                </a:tc>
                <a:tc>
                  <a:txBody>
                    <a:bodyPr/>
                    <a:lstStyle/>
                    <a:p>
                      <a:r>
                        <a:rPr sz="1100" b="1">
                          <a:solidFill>
                            <a:srgbClr val="FCFAF5"/>
                          </a:solidFill>
                          <a:latin typeface="Aptos"/>
                        </a:rPr>
                        <a:t>Cadence / owner</a:t>
                      </a:r>
                    </a:p>
                  </a:txBody>
                  <a:tcPr>
                    <a:solidFill>
                      <a:srgbClr val="355C47"/>
                    </a:solidFill>
                  </a:tcPr>
                </a:tc>
              </a:tr>
              <a:tr h="493776">
                <a:tc>
                  <a:txBody>
                    <a:bodyPr/>
                    <a:lstStyle/>
                    <a:p>
                      <a:r>
                        <a:rPr sz="1100" b="0">
                          <a:solidFill>
                            <a:srgbClr val="1F2621"/>
                          </a:solidFill>
                          <a:latin typeface="Aptos"/>
                        </a:rPr>
                        <a:t>Realized gross margin</a:t>
                      </a:r>
                    </a:p>
                  </a:txBody>
                  <a:tcPr>
                    <a:solidFill>
                      <a:srgbClr val="FCFAF5"/>
                    </a:solidFill>
                  </a:tcPr>
                </a:tc>
                <a:tc>
                  <a:txBody>
                    <a:bodyPr/>
                    <a:lstStyle/>
                    <a:p>
                      <a:r>
                        <a:rPr sz="1100" b="0">
                          <a:solidFill>
                            <a:srgbClr val="1F2621"/>
                          </a:solidFill>
                          <a:latin typeface="Aptos"/>
                        </a:rPr>
                        <a:t>Confirms whether forecast economics survive live execution.</a:t>
                      </a:r>
                    </a:p>
                  </a:txBody>
                  <a:tcPr>
                    <a:solidFill>
                      <a:srgbClr val="FCFAF5"/>
                    </a:solidFill>
                  </a:tcPr>
                </a:tc>
                <a:tc>
                  <a:txBody>
                    <a:bodyPr/>
                    <a:lstStyle/>
                    <a:p>
                      <a:r>
                        <a:rPr sz="1100" b="0">
                          <a:solidFill>
                            <a:srgbClr val="1F2621"/>
                          </a:solidFill>
                          <a:latin typeface="Aptos"/>
                        </a:rPr>
                        <a:t>Weekly / finance</a:t>
                      </a:r>
                    </a:p>
                  </a:txBody>
                  <a:tcPr>
                    <a:solidFill>
                      <a:srgbClr val="FCFAF5"/>
                    </a:solidFill>
                  </a:tcPr>
                </a:tc>
              </a:tr>
              <a:tr h="493776">
                <a:tc>
                  <a:txBody>
                    <a:bodyPr/>
                    <a:lstStyle/>
                    <a:p>
                      <a:r>
                        <a:rPr sz="1100" b="0">
                          <a:solidFill>
                            <a:srgbClr val="1F2621"/>
                          </a:solidFill>
                          <a:latin typeface="Aptos"/>
                        </a:rPr>
                        <a:t>Freight per unit</a:t>
                      </a:r>
                    </a:p>
                  </a:txBody>
                  <a:tcPr>
                    <a:solidFill>
                      <a:srgbClr val="F7F3EC"/>
                    </a:solidFill>
                  </a:tcPr>
                </a:tc>
                <a:tc>
                  <a:txBody>
                    <a:bodyPr/>
                    <a:lstStyle/>
                    <a:p>
                      <a:r>
                        <a:rPr sz="1100" b="0">
                          <a:solidFill>
                            <a:srgbClr val="1F2621"/>
                          </a:solidFill>
                          <a:latin typeface="Aptos"/>
                        </a:rPr>
                        <a:t>Shows whether routing and carrier discipline are improving.</a:t>
                      </a:r>
                    </a:p>
                  </a:txBody>
                  <a:tcPr>
                    <a:solidFill>
                      <a:srgbClr val="F7F3EC"/>
                    </a:solidFill>
                  </a:tcPr>
                </a:tc>
                <a:tc>
                  <a:txBody>
                    <a:bodyPr/>
                    <a:lstStyle/>
                    <a:p>
                      <a:r>
                        <a:rPr sz="1100" b="0">
                          <a:solidFill>
                            <a:srgbClr val="1F2621"/>
                          </a:solidFill>
                          <a:latin typeface="Aptos"/>
                        </a:rPr>
                        <a:t>Weekly / logistics</a:t>
                      </a:r>
                    </a:p>
                  </a:txBody>
                  <a:tcPr>
                    <a:solidFill>
                      <a:srgbClr val="F7F3EC"/>
                    </a:solidFill>
                  </a:tcPr>
                </a:tc>
              </a:tr>
              <a:tr h="493776">
                <a:tc>
                  <a:txBody>
                    <a:bodyPr/>
                    <a:lstStyle/>
                    <a:p>
                      <a:r>
                        <a:rPr sz="1100" b="0">
                          <a:solidFill>
                            <a:srgbClr val="1F2621"/>
                          </a:solidFill>
                          <a:latin typeface="Aptos"/>
                        </a:rPr>
                        <a:t>Fill rate</a:t>
                      </a:r>
                    </a:p>
                  </a:txBody>
                  <a:tcPr>
                    <a:solidFill>
                      <a:srgbClr val="FCFAF5"/>
                    </a:solidFill>
                  </a:tcPr>
                </a:tc>
                <a:tc>
                  <a:txBody>
                    <a:bodyPr/>
                    <a:lstStyle/>
                    <a:p>
                      <a:r>
                        <a:rPr sz="1100" b="0">
                          <a:solidFill>
                            <a:srgbClr val="1F2621"/>
                          </a:solidFill>
                          <a:latin typeface="Aptos"/>
                        </a:rPr>
                        <a:t>Measures retailer execution quality during seasonal peaks.</a:t>
                      </a:r>
                    </a:p>
                  </a:txBody>
                  <a:tcPr>
                    <a:solidFill>
                      <a:srgbClr val="FCFAF5"/>
                    </a:solidFill>
                  </a:tcPr>
                </a:tc>
                <a:tc>
                  <a:txBody>
                    <a:bodyPr/>
                    <a:lstStyle/>
                    <a:p>
                      <a:r>
                        <a:rPr sz="1100" b="0">
                          <a:solidFill>
                            <a:srgbClr val="1F2621"/>
                          </a:solidFill>
                          <a:latin typeface="Aptos"/>
                        </a:rPr>
                        <a:t>Weekly / operations</a:t>
                      </a:r>
                    </a:p>
                  </a:txBody>
                  <a:tcPr>
                    <a:solidFill>
                      <a:srgbClr val="FCFAF5"/>
                    </a:solidFill>
                  </a:tcPr>
                </a:tc>
              </a:tr>
              <a:tr h="493776">
                <a:tc>
                  <a:txBody>
                    <a:bodyPr/>
                    <a:lstStyle/>
                    <a:p>
                      <a:r>
                        <a:rPr sz="1100" b="0">
                          <a:solidFill>
                            <a:srgbClr val="1F2621"/>
                          </a:solidFill>
                          <a:latin typeface="Aptos"/>
                        </a:rPr>
                        <a:t>Spoilage rate</a:t>
                      </a:r>
                    </a:p>
                  </a:txBody>
                  <a:tcPr>
                    <a:solidFill>
                      <a:srgbClr val="F7F3EC"/>
                    </a:solidFill>
                  </a:tcPr>
                </a:tc>
                <a:tc>
                  <a:txBody>
                    <a:bodyPr/>
                    <a:lstStyle/>
                    <a:p>
                      <a:r>
                        <a:rPr sz="1100" b="0">
                          <a:solidFill>
                            <a:srgbClr val="1F2621"/>
                          </a:solidFill>
                          <a:latin typeface="Aptos"/>
                        </a:rPr>
                        <a:t>Captures cold-chain and freshness failures directly.</a:t>
                      </a:r>
                    </a:p>
                  </a:txBody>
                  <a:tcPr>
                    <a:solidFill>
                      <a:srgbClr val="F7F3EC"/>
                    </a:solidFill>
                  </a:tcPr>
                </a:tc>
                <a:tc>
                  <a:txBody>
                    <a:bodyPr/>
                    <a:lstStyle/>
                    <a:p>
                      <a:r>
                        <a:rPr sz="1100" b="0">
                          <a:solidFill>
                            <a:srgbClr val="1F2621"/>
                          </a:solidFill>
                          <a:latin typeface="Aptos"/>
                        </a:rPr>
                        <a:t>Weekly / operations</a:t>
                      </a:r>
                    </a:p>
                  </a:txBody>
                  <a:tcPr>
                    <a:solidFill>
                      <a:srgbClr val="F7F3EC"/>
                    </a:solidFill>
                  </a:tcPr>
                </a:tc>
              </a:tr>
              <a:tr h="493776">
                <a:tc>
                  <a:txBody>
                    <a:bodyPr/>
                    <a:lstStyle/>
                    <a:p>
                      <a:r>
                        <a:rPr sz="1100" b="0">
                          <a:solidFill>
                            <a:srgbClr val="1F2621"/>
                          </a:solidFill>
                          <a:latin typeface="Aptos"/>
                        </a:rPr>
                        <a:t>Reorder rate</a:t>
                      </a:r>
                    </a:p>
                  </a:txBody>
                  <a:tcPr>
                    <a:solidFill>
                      <a:srgbClr val="FCFAF5"/>
                    </a:solidFill>
                  </a:tcPr>
                </a:tc>
                <a:tc>
                  <a:txBody>
                    <a:bodyPr/>
                    <a:lstStyle/>
                    <a:p>
                      <a:r>
                        <a:rPr sz="1100" b="0">
                          <a:solidFill>
                            <a:srgbClr val="1F2621"/>
                          </a:solidFill>
                          <a:latin typeface="Aptos"/>
                        </a:rPr>
                        <a:t>Tests whether demand is repeatable beyond launch.</a:t>
                      </a:r>
                    </a:p>
                  </a:txBody>
                  <a:tcPr>
                    <a:solidFill>
                      <a:srgbClr val="FCFAF5"/>
                    </a:solidFill>
                  </a:tcPr>
                </a:tc>
                <a:tc>
                  <a:txBody>
                    <a:bodyPr/>
                    <a:lstStyle/>
                    <a:p>
                      <a:r>
                        <a:rPr sz="1100" b="0">
                          <a:solidFill>
                            <a:srgbClr val="1F2621"/>
                          </a:solidFill>
                          <a:latin typeface="Aptos"/>
                        </a:rPr>
                        <a:t>Monthly / commercial</a:t>
                      </a:r>
                    </a:p>
                  </a:txBody>
                  <a:tcPr>
                    <a:solidFill>
                      <a:srgbClr val="FCFAF5"/>
                    </a:solidFill>
                  </a:tcPr>
                </a:tc>
              </a:tr>
              <a:tr h="493776">
                <a:tc>
                  <a:txBody>
                    <a:bodyPr/>
                    <a:lstStyle/>
                    <a:p>
                      <a:r>
                        <a:rPr sz="1100" b="0">
                          <a:solidFill>
                            <a:srgbClr val="1F2621"/>
                          </a:solidFill>
                          <a:latin typeface="Aptos"/>
                        </a:rPr>
                        <a:t>Forecast accuracy</a:t>
                      </a:r>
                    </a:p>
                  </a:txBody>
                  <a:tcPr>
                    <a:solidFill>
                      <a:srgbClr val="F7F3EC"/>
                    </a:solidFill>
                  </a:tcPr>
                </a:tc>
                <a:tc>
                  <a:txBody>
                    <a:bodyPr/>
                    <a:lstStyle/>
                    <a:p>
                      <a:r>
                        <a:rPr sz="1100" b="0">
                          <a:solidFill>
                            <a:srgbClr val="1F2621"/>
                          </a:solidFill>
                          <a:latin typeface="Aptos"/>
                        </a:rPr>
                        <a:t>Shows whether monthly S&amp;OP is improving allocation decisions.</a:t>
                      </a:r>
                    </a:p>
                  </a:txBody>
                  <a:tcPr>
                    <a:solidFill>
                      <a:srgbClr val="F7F3EC"/>
                    </a:solidFill>
                  </a:tcPr>
                </a:tc>
                <a:tc>
                  <a:txBody>
                    <a:bodyPr/>
                    <a:lstStyle/>
                    <a:p>
                      <a:r>
                        <a:rPr sz="1100" b="0">
                          <a:solidFill>
                            <a:srgbClr val="1F2621"/>
                          </a:solidFill>
                          <a:latin typeface="Aptos"/>
                        </a:rPr>
                        <a:t>Monthly / planning</a:t>
                      </a:r>
                    </a:p>
                  </a:txBody>
                  <a:tcPr>
                    <a:solidFill>
                      <a:srgbClr val="F7F3EC"/>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34</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Scale should follow stage gates, not geography ambition</a:t>
            </a:r>
          </a:p>
        </p:txBody>
      </p:sp>
      <p:sp>
        <p:nvSpPr>
          <p:cNvPr id="9" name="TextBox 8"/>
          <p:cNvSpPr txBox="1"/>
          <p:nvPr/>
        </p:nvSpPr>
        <p:spPr>
          <a:xfrm>
            <a:off x="548640" y="1097280"/>
            <a:ext cx="10698480" cy="320040"/>
          </a:xfrm>
          <a:prstGeom prst="rect">
            <a:avLst/>
          </a:prstGeom>
          <a:noFill/>
        </p:spPr>
        <p:txBody>
          <a:bodyPr wrap="square" lIns="27432" rIns="27432" tIns="27432" bIns="27432" anchor="t">
            <a:spAutoFit/>
          </a:bodyPr>
          <a:lstStyle/>
          <a:p>
            <a:pPr algn="l"/>
            <a:r>
              <a:rPr sz="1300" b="0">
                <a:solidFill>
                  <a:srgbClr val="5F6B63"/>
                </a:solidFill>
                <a:latin typeface="Aptos"/>
              </a:rPr>
              <a:t>The model can choose where to test, but scale should still depend on live pilot evidence.</a:t>
            </a:r>
          </a:p>
        </p:txBody>
      </p:sp>
      <p:sp>
        <p:nvSpPr>
          <p:cNvPr id="10" name="Rounded Rectangle 9"/>
          <p:cNvSpPr/>
          <p:nvPr/>
        </p:nvSpPr>
        <p:spPr>
          <a:xfrm>
            <a:off x="685800" y="2057400"/>
            <a:ext cx="2240280" cy="38404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1</a:t>
            </a:r>
          </a:p>
        </p:txBody>
      </p:sp>
      <p:sp>
        <p:nvSpPr>
          <p:cNvPr id="12" name="Rounded Rectangle 11"/>
          <p:cNvSpPr/>
          <p:nvPr/>
        </p:nvSpPr>
        <p:spPr>
          <a:xfrm>
            <a:off x="685800"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2743200"/>
            <a:ext cx="1920240" cy="256032"/>
          </a:xfrm>
          <a:prstGeom prst="rect">
            <a:avLst/>
          </a:prstGeom>
          <a:noFill/>
        </p:spPr>
        <p:txBody>
          <a:bodyPr wrap="square" lIns="27432" rIns="27432" tIns="27432" bIns="27432" anchor="t">
            <a:spAutoFit/>
          </a:bodyPr>
          <a:lstStyle/>
          <a:p>
            <a:pPr algn="l"/>
            <a:r>
              <a:rPr sz="1700" b="1">
                <a:solidFill>
                  <a:srgbClr val="355C47"/>
                </a:solidFill>
                <a:latin typeface="Aptos Display"/>
              </a:rPr>
              <a:t>Pilot live</a:t>
            </a:r>
          </a:p>
        </p:txBody>
      </p:sp>
      <p:sp>
        <p:nvSpPr>
          <p:cNvPr id="14" name="TextBox 13"/>
          <p:cNvSpPr txBox="1"/>
          <p:nvPr/>
        </p:nvSpPr>
        <p:spPr>
          <a:xfrm>
            <a:off x="832104"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Launch and collect clean economics by city.</a:t>
            </a:r>
          </a:p>
        </p:txBody>
      </p:sp>
      <p:cxnSp>
        <p:nvCxnSpPr>
          <p:cNvPr id="15" name="Connector 14"/>
          <p:cNvCxnSpPr/>
          <p:nvPr/>
        </p:nvCxnSpPr>
        <p:spPr>
          <a:xfrm>
            <a:off x="2953512"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502152" y="2057400"/>
            <a:ext cx="2240280" cy="384048"/>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7016"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2</a:t>
            </a:r>
          </a:p>
        </p:txBody>
      </p:sp>
      <p:sp>
        <p:nvSpPr>
          <p:cNvPr id="18" name="Rounded Rectangle 17"/>
          <p:cNvSpPr/>
          <p:nvPr/>
        </p:nvSpPr>
        <p:spPr>
          <a:xfrm>
            <a:off x="3502152"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8456" y="2743200"/>
            <a:ext cx="1920240" cy="256032"/>
          </a:xfrm>
          <a:prstGeom prst="rect">
            <a:avLst/>
          </a:prstGeom>
          <a:noFill/>
        </p:spPr>
        <p:txBody>
          <a:bodyPr wrap="square" lIns="27432" rIns="27432" tIns="27432" bIns="27432" anchor="t">
            <a:spAutoFit/>
          </a:bodyPr>
          <a:lstStyle/>
          <a:p>
            <a:pPr algn="l"/>
            <a:r>
              <a:rPr sz="1700" b="1">
                <a:solidFill>
                  <a:srgbClr val="3F728A"/>
                </a:solidFill>
                <a:latin typeface="Aptos Display"/>
              </a:rPr>
              <a:t>Economics verified</a:t>
            </a:r>
          </a:p>
        </p:txBody>
      </p:sp>
      <p:sp>
        <p:nvSpPr>
          <p:cNvPr id="20" name="TextBox 19"/>
          <p:cNvSpPr txBox="1"/>
          <p:nvPr/>
        </p:nvSpPr>
        <p:spPr>
          <a:xfrm>
            <a:off x="3648456"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Confirm realized margin and freight per unit.</a:t>
            </a:r>
          </a:p>
        </p:txBody>
      </p:sp>
      <p:cxnSp>
        <p:nvCxnSpPr>
          <p:cNvPr id="21" name="Connector 20"/>
          <p:cNvCxnSpPr/>
          <p:nvPr/>
        </p:nvCxnSpPr>
        <p:spPr>
          <a:xfrm>
            <a:off x="5769864"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18504" y="2057400"/>
            <a:ext cx="2240280" cy="384048"/>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3368"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3</a:t>
            </a:r>
          </a:p>
        </p:txBody>
      </p:sp>
      <p:sp>
        <p:nvSpPr>
          <p:cNvPr id="24" name="Rounded Rectangle 23"/>
          <p:cNvSpPr/>
          <p:nvPr/>
        </p:nvSpPr>
        <p:spPr>
          <a:xfrm>
            <a:off x="6318504"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4808" y="2743200"/>
            <a:ext cx="1920240" cy="256032"/>
          </a:xfrm>
          <a:prstGeom prst="rect">
            <a:avLst/>
          </a:prstGeom>
          <a:noFill/>
        </p:spPr>
        <p:txBody>
          <a:bodyPr wrap="square" lIns="27432" rIns="27432" tIns="27432" bIns="27432" anchor="t">
            <a:spAutoFit/>
          </a:bodyPr>
          <a:lstStyle/>
          <a:p>
            <a:pPr algn="l"/>
            <a:r>
              <a:rPr sz="1700" b="1">
                <a:solidFill>
                  <a:srgbClr val="889A83"/>
                </a:solidFill>
                <a:latin typeface="Aptos Display"/>
              </a:rPr>
              <a:t>Service verified</a:t>
            </a:r>
          </a:p>
        </p:txBody>
      </p:sp>
      <p:sp>
        <p:nvSpPr>
          <p:cNvPr id="26" name="TextBox 25"/>
          <p:cNvSpPr txBox="1"/>
          <p:nvPr/>
        </p:nvSpPr>
        <p:spPr>
          <a:xfrm>
            <a:off x="6464808"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Confirm fill rate, spoilage control, and reorder behavior.</a:t>
            </a:r>
          </a:p>
        </p:txBody>
      </p:sp>
      <p:cxnSp>
        <p:nvCxnSpPr>
          <p:cNvPr id="27" name="Connector 26"/>
          <p:cNvCxnSpPr/>
          <p:nvPr/>
        </p:nvCxnSpPr>
        <p:spPr>
          <a:xfrm>
            <a:off x="8586216"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4856" y="2057400"/>
            <a:ext cx="2240280" cy="384048"/>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89720"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4</a:t>
            </a:r>
          </a:p>
        </p:txBody>
      </p:sp>
      <p:sp>
        <p:nvSpPr>
          <p:cNvPr id="30" name="Rounded Rectangle 29"/>
          <p:cNvSpPr/>
          <p:nvPr/>
        </p:nvSpPr>
        <p:spPr>
          <a:xfrm>
            <a:off x="9134856"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81160" y="2743200"/>
            <a:ext cx="1920240" cy="256032"/>
          </a:xfrm>
          <a:prstGeom prst="rect">
            <a:avLst/>
          </a:prstGeom>
          <a:noFill/>
        </p:spPr>
        <p:txBody>
          <a:bodyPr wrap="square" lIns="27432" rIns="27432" tIns="27432" bIns="27432" anchor="t">
            <a:spAutoFit/>
          </a:bodyPr>
          <a:lstStyle/>
          <a:p>
            <a:pPr algn="l"/>
            <a:r>
              <a:rPr sz="1700" b="1">
                <a:solidFill>
                  <a:srgbClr val="C58A2A"/>
                </a:solidFill>
                <a:latin typeface="Aptos Display"/>
              </a:rPr>
              <a:t>Scale selectively</a:t>
            </a:r>
          </a:p>
        </p:txBody>
      </p:sp>
      <p:sp>
        <p:nvSpPr>
          <p:cNvPr id="32" name="TextBox 31"/>
          <p:cNvSpPr txBox="1"/>
          <p:nvPr/>
        </p:nvSpPr>
        <p:spPr>
          <a:xfrm>
            <a:off x="9281160"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Expand only where pilot evidence remains strong.</a:t>
            </a:r>
          </a:p>
        </p:txBody>
      </p:sp>
      <p:sp>
        <p:nvSpPr>
          <p:cNvPr id="33" name="Rounded Rectangle 32"/>
          <p:cNvSpPr/>
          <p:nvPr/>
        </p:nvSpPr>
        <p:spPr>
          <a:xfrm>
            <a:off x="987552" y="4617720"/>
            <a:ext cx="10012680" cy="868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115568" y="4727448"/>
            <a:ext cx="1051560" cy="649224"/>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70432" y="4782312"/>
            <a:ext cx="941832" cy="539496"/>
          </a:xfrm>
          <a:prstGeom prst="rect">
            <a:avLst/>
          </a:prstGeom>
          <a:noFill/>
        </p:spPr>
        <p:txBody>
          <a:bodyPr wrap="square" lIns="27432" rIns="27432" tIns="27432" bIns="27432" anchor="ctr">
            <a:spAutoFit/>
          </a:bodyPr>
          <a:lstStyle/>
          <a:p>
            <a:pPr algn="ctr"/>
            <a:r>
              <a:rPr sz="1000" b="1">
                <a:solidFill>
                  <a:srgbClr val="FCFAF5"/>
                </a:solidFill>
                <a:latin typeface="Aptos"/>
              </a:rPr>
              <a:t>TAKEAWAY</a:t>
            </a:r>
          </a:p>
        </p:txBody>
      </p:sp>
      <p:sp>
        <p:nvSpPr>
          <p:cNvPr id="36" name="TextBox 35"/>
          <p:cNvSpPr txBox="1"/>
          <p:nvPr/>
        </p:nvSpPr>
        <p:spPr>
          <a:xfrm>
            <a:off x="2359152" y="4709160"/>
            <a:ext cx="6217920" cy="685800"/>
          </a:xfrm>
          <a:prstGeom prst="rect">
            <a:avLst/>
          </a:prstGeom>
          <a:noFill/>
        </p:spPr>
        <p:txBody>
          <a:bodyPr wrap="square" lIns="27432" rIns="27432" tIns="27432" bIns="27432" anchor="ctr">
            <a:spAutoFit/>
          </a:bodyPr>
          <a:lstStyle/>
          <a:p>
            <a:pPr algn="l"/>
            <a:r>
              <a:rPr sz="1200" b="1">
                <a:solidFill>
                  <a:srgbClr val="1F2621"/>
                </a:solidFill>
                <a:latin typeface="Aptos"/>
              </a:rPr>
              <a:t>Use the pilot to validate economics and service before adding geography.</a:t>
            </a:r>
          </a:p>
        </p:txBody>
      </p:sp>
      <p:cxnSp>
        <p:nvCxnSpPr>
          <p:cNvPr id="37" name="Connector 36"/>
          <p:cNvCxnSpPr/>
          <p:nvPr/>
        </p:nvCxnSpPr>
        <p:spPr>
          <a:xfrm>
            <a:off x="8668512" y="4745736"/>
            <a:ext cx="0" cy="612648"/>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833104" y="4709160"/>
            <a:ext cx="1938528" cy="685800"/>
          </a:xfrm>
          <a:prstGeom prst="rect">
            <a:avLst/>
          </a:prstGeom>
          <a:noFill/>
        </p:spPr>
        <p:txBody>
          <a:bodyPr wrap="square" lIns="27432" rIns="27432" tIns="27432" bIns="27432" anchor="ctr">
            <a:spAutoFit/>
          </a:bodyPr>
          <a:lstStyle/>
          <a:p>
            <a:pPr algn="l"/>
            <a:r>
              <a:rPr sz="1000" b="0">
                <a:solidFill>
                  <a:srgbClr val="5F6B63"/>
                </a:solidFill>
                <a:latin typeface="Aptos"/>
              </a:rPr>
              <a:t>The model is strong enough to choose where to test, not yet strong enough to dictate exact retailer-level allocation.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RISKS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35</a:t>
            </a:r>
          </a:p>
        </p:txBody>
      </p:sp>
      <p:sp>
        <p:nvSpPr>
          <p:cNvPr id="8" name="Rounded Rectangle 7"/>
          <p:cNvSpPr/>
          <p:nvPr/>
        </p:nvSpPr>
        <p:spPr>
          <a:xfrm>
            <a:off x="10241280" y="256032"/>
            <a:ext cx="1280160" cy="274320"/>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Top risks are freight, competitors, import disruption, and forecast error</a:t>
            </a:r>
          </a:p>
        </p:txBody>
      </p:sp>
      <p:sp>
        <p:nvSpPr>
          <p:cNvPr id="11" name="Rounded Rectangle 10"/>
          <p:cNvSpPr/>
          <p:nvPr/>
        </p:nvSpPr>
        <p:spPr>
          <a:xfrm>
            <a:off x="749808" y="1600200"/>
            <a:ext cx="685800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187952" y="1810512"/>
            <a:ext cx="0" cy="365760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 y="3657600"/>
            <a:ext cx="6291072"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200400" y="1673352"/>
            <a:ext cx="2011680" cy="182880"/>
          </a:xfrm>
          <a:prstGeom prst="rect">
            <a:avLst/>
          </a:prstGeom>
          <a:noFill/>
        </p:spPr>
        <p:txBody>
          <a:bodyPr wrap="square" lIns="27432" rIns="27432" tIns="27432" bIns="27432" anchor="t">
            <a:spAutoFit/>
          </a:bodyPr>
          <a:lstStyle/>
          <a:p>
            <a:pPr algn="ctr"/>
            <a:r>
              <a:rPr sz="1100" b="1">
                <a:solidFill>
                  <a:srgbClr val="5F6B63"/>
                </a:solidFill>
                <a:latin typeface="Aptos"/>
              </a:rPr>
              <a:t>High impact</a:t>
            </a:r>
          </a:p>
        </p:txBody>
      </p:sp>
      <p:sp>
        <p:nvSpPr>
          <p:cNvPr id="15" name="TextBox 14"/>
          <p:cNvSpPr txBox="1"/>
          <p:nvPr/>
        </p:nvSpPr>
        <p:spPr>
          <a:xfrm>
            <a:off x="3200400" y="5504688"/>
            <a:ext cx="2011680" cy="182880"/>
          </a:xfrm>
          <a:prstGeom prst="rect">
            <a:avLst/>
          </a:prstGeom>
          <a:noFill/>
        </p:spPr>
        <p:txBody>
          <a:bodyPr wrap="square" lIns="27432" rIns="27432" tIns="27432" bIns="27432" anchor="t">
            <a:spAutoFit/>
          </a:bodyPr>
          <a:lstStyle/>
          <a:p>
            <a:pPr algn="ctr"/>
            <a:r>
              <a:rPr sz="1100" b="1">
                <a:solidFill>
                  <a:srgbClr val="5F6B63"/>
                </a:solidFill>
                <a:latin typeface="Aptos"/>
              </a:rPr>
              <a:t>Low impact</a:t>
            </a:r>
          </a:p>
        </p:txBody>
      </p:sp>
      <p:sp>
        <p:nvSpPr>
          <p:cNvPr id="16" name="TextBox 15"/>
          <p:cNvSpPr txBox="1"/>
          <p:nvPr/>
        </p:nvSpPr>
        <p:spPr>
          <a:xfrm>
            <a:off x="658368" y="3383280"/>
            <a:ext cx="822960" cy="365760"/>
          </a:xfrm>
          <a:prstGeom prst="rect">
            <a:avLst/>
          </a:prstGeom>
          <a:noFill/>
        </p:spPr>
        <p:txBody>
          <a:bodyPr wrap="square" lIns="27432" rIns="27432" tIns="27432" bIns="27432" anchor="t">
            <a:spAutoFit/>
          </a:bodyPr>
          <a:lstStyle/>
          <a:p>
            <a:pPr algn="ctr"/>
            <a:r>
              <a:rPr sz="1100" b="1">
                <a:solidFill>
                  <a:srgbClr val="5F6B63"/>
                </a:solidFill>
                <a:latin typeface="Aptos"/>
              </a:rPr>
              <a:t>Low
prob.</a:t>
            </a:r>
          </a:p>
        </p:txBody>
      </p:sp>
      <p:sp>
        <p:nvSpPr>
          <p:cNvPr id="17" name="TextBox 16"/>
          <p:cNvSpPr txBox="1"/>
          <p:nvPr/>
        </p:nvSpPr>
        <p:spPr>
          <a:xfrm>
            <a:off x="7315200" y="3383280"/>
            <a:ext cx="822960" cy="365760"/>
          </a:xfrm>
          <a:prstGeom prst="rect">
            <a:avLst/>
          </a:prstGeom>
          <a:noFill/>
        </p:spPr>
        <p:txBody>
          <a:bodyPr wrap="square" lIns="27432" rIns="27432" tIns="27432" bIns="27432" anchor="t">
            <a:spAutoFit/>
          </a:bodyPr>
          <a:lstStyle/>
          <a:p>
            <a:pPr algn="ctr"/>
            <a:r>
              <a:rPr sz="1100" b="1">
                <a:solidFill>
                  <a:srgbClr val="5F6B63"/>
                </a:solidFill>
                <a:latin typeface="Aptos"/>
              </a:rPr>
              <a:t>High
prob.</a:t>
            </a:r>
          </a:p>
        </p:txBody>
      </p:sp>
      <p:sp>
        <p:nvSpPr>
          <p:cNvPr id="18" name="Oval 17"/>
          <p:cNvSpPr/>
          <p:nvPr/>
        </p:nvSpPr>
        <p:spPr>
          <a:xfrm>
            <a:off x="6144768" y="2066543"/>
            <a:ext cx="749808" cy="74980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15584" y="2852927"/>
            <a:ext cx="1783080" cy="384048"/>
          </a:xfrm>
          <a:prstGeom prst="rect">
            <a:avLst/>
          </a:prstGeom>
          <a:noFill/>
        </p:spPr>
        <p:txBody>
          <a:bodyPr wrap="square" lIns="27432" rIns="27432" tIns="27432" bIns="27432" anchor="t">
            <a:spAutoFit/>
          </a:bodyPr>
          <a:lstStyle/>
          <a:p>
            <a:pPr algn="ctr"/>
            <a:r>
              <a:rPr sz="1000" b="0">
                <a:solidFill>
                  <a:srgbClr val="1F2621"/>
                </a:solidFill>
                <a:latin typeface="Aptos"/>
              </a:rPr>
              <a:t>Freight spikes</a:t>
            </a:r>
          </a:p>
        </p:txBody>
      </p:sp>
      <p:sp>
        <p:nvSpPr>
          <p:cNvPr id="20" name="Oval 19"/>
          <p:cNvSpPr/>
          <p:nvPr/>
        </p:nvSpPr>
        <p:spPr>
          <a:xfrm>
            <a:off x="4407408" y="1901952"/>
            <a:ext cx="749808" cy="74980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23360" y="2688336"/>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Import disruption</a:t>
            </a:r>
          </a:p>
        </p:txBody>
      </p:sp>
      <p:sp>
        <p:nvSpPr>
          <p:cNvPr id="22" name="Oval 21"/>
          <p:cNvSpPr/>
          <p:nvPr/>
        </p:nvSpPr>
        <p:spPr>
          <a:xfrm>
            <a:off x="1847088" y="4315968"/>
            <a:ext cx="749808" cy="7498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89888" y="5193792"/>
            <a:ext cx="2048256" cy="384048"/>
          </a:xfrm>
          <a:prstGeom prst="rect">
            <a:avLst/>
          </a:prstGeom>
          <a:noFill/>
        </p:spPr>
        <p:txBody>
          <a:bodyPr wrap="square" lIns="27432" rIns="27432" tIns="27432" bIns="27432" anchor="t">
            <a:spAutoFit/>
          </a:bodyPr>
          <a:lstStyle/>
          <a:p>
            <a:pPr algn="ctr"/>
            <a:r>
              <a:rPr sz="1000" b="0">
                <a:solidFill>
                  <a:srgbClr val="1F2621"/>
                </a:solidFill>
                <a:latin typeface="Aptos"/>
              </a:rPr>
              <a:t>Competitor response</a:t>
            </a:r>
          </a:p>
        </p:txBody>
      </p:sp>
      <p:sp>
        <p:nvSpPr>
          <p:cNvPr id="24" name="Oval 23"/>
          <p:cNvSpPr/>
          <p:nvPr/>
        </p:nvSpPr>
        <p:spPr>
          <a:xfrm>
            <a:off x="4800600" y="3200400"/>
            <a:ext cx="749808" cy="7498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16552" y="3986784"/>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Forecast error</a:t>
            </a:r>
          </a:p>
        </p:txBody>
      </p:sp>
      <p:sp>
        <p:nvSpPr>
          <p:cNvPr id="26" name="Oval 25"/>
          <p:cNvSpPr/>
          <p:nvPr/>
        </p:nvSpPr>
        <p:spPr>
          <a:xfrm>
            <a:off x="5212080" y="3977639"/>
            <a:ext cx="749808" cy="7498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28032" y="4764024"/>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Retailer uptake</a:t>
            </a:r>
          </a:p>
        </p:txBody>
      </p:sp>
      <p:sp>
        <p:nvSpPr>
          <p:cNvPr id="28" name="Oval 27"/>
          <p:cNvSpPr/>
          <p:nvPr/>
        </p:nvSpPr>
        <p:spPr>
          <a:xfrm>
            <a:off x="3794760" y="3767328"/>
            <a:ext cx="749808" cy="7498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10712" y="4553712"/>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Spoilage</a:t>
            </a:r>
          </a:p>
        </p:txBody>
      </p:sp>
      <p:sp>
        <p:nvSpPr>
          <p:cNvPr id="30" name="Rounded Rectangle 29"/>
          <p:cNvSpPr/>
          <p:nvPr/>
        </p:nvSpPr>
        <p:spPr>
          <a:xfrm>
            <a:off x="7918704" y="1600200"/>
            <a:ext cx="3529584" cy="411480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1810512"/>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WATCHLIST</a:t>
            </a:r>
          </a:p>
        </p:txBody>
      </p:sp>
      <p:sp>
        <p:nvSpPr>
          <p:cNvPr id="32" name="TextBox 31"/>
          <p:cNvSpPr txBox="1"/>
          <p:nvPr/>
        </p:nvSpPr>
        <p:spPr>
          <a:xfrm>
            <a:off x="8183879" y="2157984"/>
            <a:ext cx="2560320" cy="164592"/>
          </a:xfrm>
          <a:prstGeom prst="rect">
            <a:avLst/>
          </a:prstGeom>
          <a:noFill/>
        </p:spPr>
        <p:txBody>
          <a:bodyPr wrap="square" lIns="27432" rIns="27432" tIns="27432" bIns="27432" anchor="t">
            <a:spAutoFit/>
          </a:bodyPr>
          <a:lstStyle/>
          <a:p>
            <a:pPr algn="l"/>
            <a:r>
              <a:rPr sz="1000" b="1">
                <a:solidFill>
                  <a:srgbClr val="B5533A"/>
                </a:solidFill>
                <a:latin typeface="Aptos"/>
              </a:rPr>
              <a:t>FREIGHT SPIKES</a:t>
            </a:r>
          </a:p>
        </p:txBody>
      </p:sp>
      <p:sp>
        <p:nvSpPr>
          <p:cNvPr id="33" name="TextBox 32"/>
          <p:cNvSpPr txBox="1"/>
          <p:nvPr/>
        </p:nvSpPr>
        <p:spPr>
          <a:xfrm>
            <a:off x="8183879" y="2322576"/>
            <a:ext cx="2743200" cy="384048"/>
          </a:xfrm>
          <a:prstGeom prst="rect">
            <a:avLst/>
          </a:prstGeom>
          <a:noFill/>
        </p:spPr>
        <p:txBody>
          <a:bodyPr wrap="square" lIns="27432" rIns="27432" tIns="27432" bIns="27432" anchor="t">
            <a:spAutoFit/>
          </a:bodyPr>
          <a:lstStyle/>
          <a:p>
            <a:pPr algn="l"/>
            <a:r>
              <a:rPr sz="1100" b="0">
                <a:solidFill>
                  <a:srgbClr val="1F2621"/>
                </a:solidFill>
                <a:latin typeface="Aptos"/>
              </a:rPr>
              <a:t>Pre-book core lanes and keep alternates ready before peak season.</a:t>
            </a:r>
          </a:p>
        </p:txBody>
      </p:sp>
      <p:sp>
        <p:nvSpPr>
          <p:cNvPr id="34" name="TextBox 33"/>
          <p:cNvSpPr txBox="1"/>
          <p:nvPr/>
        </p:nvSpPr>
        <p:spPr>
          <a:xfrm>
            <a:off x="8183879" y="3054096"/>
            <a:ext cx="2560320" cy="164592"/>
          </a:xfrm>
          <a:prstGeom prst="rect">
            <a:avLst/>
          </a:prstGeom>
          <a:noFill/>
        </p:spPr>
        <p:txBody>
          <a:bodyPr wrap="square" lIns="27432" rIns="27432" tIns="27432" bIns="27432" anchor="t">
            <a:spAutoFit/>
          </a:bodyPr>
          <a:lstStyle/>
          <a:p>
            <a:pPr algn="l"/>
            <a:r>
              <a:rPr sz="1000" b="1">
                <a:solidFill>
                  <a:srgbClr val="355C47"/>
                </a:solidFill>
                <a:latin typeface="Aptos"/>
              </a:rPr>
              <a:t>COMPETITOR RESPONSE</a:t>
            </a:r>
          </a:p>
        </p:txBody>
      </p:sp>
      <p:sp>
        <p:nvSpPr>
          <p:cNvPr id="35" name="TextBox 34"/>
          <p:cNvSpPr txBox="1"/>
          <p:nvPr/>
        </p:nvSpPr>
        <p:spPr>
          <a:xfrm>
            <a:off x="8183879" y="3218688"/>
            <a:ext cx="2743200" cy="384048"/>
          </a:xfrm>
          <a:prstGeom prst="rect">
            <a:avLst/>
          </a:prstGeom>
          <a:noFill/>
        </p:spPr>
        <p:txBody>
          <a:bodyPr wrap="square" lIns="27432" rIns="27432" tIns="27432" bIns="27432" anchor="t">
            <a:spAutoFit/>
          </a:bodyPr>
          <a:lstStyle/>
          <a:p>
            <a:pPr algn="l"/>
            <a:r>
              <a:rPr sz="1100" b="0">
                <a:solidFill>
                  <a:srgbClr val="1F2621"/>
                </a:solidFill>
                <a:latin typeface="Aptos"/>
              </a:rPr>
              <a:t>The 20,000-unit pilot is less than 1% of any target city's organic volume. Monitor but do not overweight.</a:t>
            </a:r>
          </a:p>
        </p:txBody>
      </p:sp>
      <p:sp>
        <p:nvSpPr>
          <p:cNvPr id="36" name="TextBox 35"/>
          <p:cNvSpPr txBox="1"/>
          <p:nvPr/>
        </p:nvSpPr>
        <p:spPr>
          <a:xfrm>
            <a:off x="8183879" y="3950208"/>
            <a:ext cx="2560320" cy="164592"/>
          </a:xfrm>
          <a:prstGeom prst="rect">
            <a:avLst/>
          </a:prstGeom>
          <a:noFill/>
        </p:spPr>
        <p:txBody>
          <a:bodyPr wrap="square" lIns="27432" rIns="27432" tIns="27432" bIns="27432" anchor="t">
            <a:spAutoFit/>
          </a:bodyPr>
          <a:lstStyle/>
          <a:p>
            <a:pPr algn="l"/>
            <a:r>
              <a:rPr sz="1000" b="1">
                <a:solidFill>
                  <a:srgbClr val="3F728A"/>
                </a:solidFill>
                <a:latin typeface="Aptos"/>
              </a:rPr>
              <a:t>IMPORT DISRUPTION</a:t>
            </a:r>
          </a:p>
        </p:txBody>
      </p:sp>
      <p:sp>
        <p:nvSpPr>
          <p:cNvPr id="37" name="TextBox 36"/>
          <p:cNvSpPr txBox="1"/>
          <p:nvPr/>
        </p:nvSpPr>
        <p:spPr>
          <a:xfrm>
            <a:off x="8183879" y="4114800"/>
            <a:ext cx="2743200" cy="384048"/>
          </a:xfrm>
          <a:prstGeom prst="rect">
            <a:avLst/>
          </a:prstGeom>
          <a:noFill/>
        </p:spPr>
        <p:txBody>
          <a:bodyPr wrap="square" lIns="27432" rIns="27432" tIns="27432" bIns="27432" anchor="t">
            <a:spAutoFit/>
          </a:bodyPr>
          <a:lstStyle/>
          <a:p>
            <a:pPr algn="l"/>
            <a:r>
              <a:rPr sz="1100" b="0">
                <a:solidFill>
                  <a:srgbClr val="1F2621"/>
                </a:solidFill>
                <a:latin typeface="Aptos"/>
              </a:rPr>
              <a:t>Use flexible grower commitments and staggered sourcing windows.</a:t>
            </a:r>
          </a:p>
        </p:txBody>
      </p:sp>
      <p:sp>
        <p:nvSpPr>
          <p:cNvPr id="38" name="TextBox 37"/>
          <p:cNvSpPr txBox="1"/>
          <p:nvPr/>
        </p:nvSpPr>
        <p:spPr>
          <a:xfrm>
            <a:off x="8183879" y="4846320"/>
            <a:ext cx="2560320" cy="164592"/>
          </a:xfrm>
          <a:prstGeom prst="rect">
            <a:avLst/>
          </a:prstGeom>
          <a:noFill/>
        </p:spPr>
        <p:txBody>
          <a:bodyPr wrap="square" lIns="27432" rIns="27432" tIns="27432" bIns="27432" anchor="t">
            <a:spAutoFit/>
          </a:bodyPr>
          <a:lstStyle/>
          <a:p>
            <a:pPr algn="l"/>
            <a:r>
              <a:rPr sz="1000" b="1">
                <a:solidFill>
                  <a:srgbClr val="3F728A"/>
                </a:solidFill>
                <a:latin typeface="Aptos"/>
              </a:rPr>
              <a:t>FORECAST ERROR</a:t>
            </a:r>
          </a:p>
        </p:txBody>
      </p:sp>
      <p:sp>
        <p:nvSpPr>
          <p:cNvPr id="39" name="TextBox 38"/>
          <p:cNvSpPr txBox="1"/>
          <p:nvPr/>
        </p:nvSpPr>
        <p:spPr>
          <a:xfrm>
            <a:off x="8183879" y="5010912"/>
            <a:ext cx="2743200" cy="384048"/>
          </a:xfrm>
          <a:prstGeom prst="rect">
            <a:avLst/>
          </a:prstGeom>
          <a:noFill/>
        </p:spPr>
        <p:txBody>
          <a:bodyPr wrap="square" lIns="27432" rIns="27432" tIns="27432" bIns="27432" anchor="t">
            <a:spAutoFit/>
          </a:bodyPr>
          <a:lstStyle/>
          <a:p>
            <a:pPr algn="l"/>
            <a:r>
              <a:rPr sz="1100" b="0">
                <a:solidFill>
                  <a:srgbClr val="1F2621"/>
                </a:solidFill>
                <a:latin typeface="Aptos"/>
              </a:rPr>
              <a:t>Re-run allocation monthly using realized pilot demand.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RISKS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Each major risk already has a countermeasure</a:t>
            </a:r>
          </a:p>
        </p:txBody>
      </p:sp>
      <p:sp>
        <p:nvSpPr>
          <p:cNvPr id="9" name="TextBox 8"/>
          <p:cNvSpPr txBox="1"/>
          <p:nvPr/>
        </p:nvSpPr>
        <p:spPr>
          <a:xfrm>
            <a:off x="548640" y="1097280"/>
            <a:ext cx="10424160" cy="320040"/>
          </a:xfrm>
          <a:prstGeom prst="rect">
            <a:avLst/>
          </a:prstGeom>
          <a:noFill/>
        </p:spPr>
        <p:txBody>
          <a:bodyPr wrap="square" lIns="27432" rIns="27432" tIns="27432" bIns="27432" anchor="t">
            <a:spAutoFit/>
          </a:bodyPr>
          <a:lstStyle/>
          <a:p>
            <a:pPr algn="l"/>
            <a:r>
              <a:rPr sz="1300" b="0">
                <a:solidFill>
                  <a:srgbClr val="5F6B63"/>
                </a:solidFill>
                <a:latin typeface="Aptos"/>
              </a:rPr>
              <a:t>Every major threat should already have a response and owner before West Valley scales.</a:t>
            </a:r>
          </a:p>
        </p:txBody>
      </p:sp>
      <p:graphicFrame>
        <p:nvGraphicFramePr>
          <p:cNvPr id="10" name="Table 9"/>
          <p:cNvGraphicFramePr>
            <a:graphicFrameLocks noGrp="1"/>
          </p:cNvGraphicFramePr>
          <p:nvPr/>
        </p:nvGraphicFramePr>
        <p:xfrm>
          <a:off x="658368" y="1691640"/>
          <a:ext cx="10835639" cy="3785616"/>
        </p:xfrm>
        <a:graphic>
          <a:graphicData uri="http://schemas.openxmlformats.org/drawingml/2006/table">
            <a:tbl>
              <a:tblPr firstRow="1" bandRow="1">
                <a:tableStyleId>{5C22544A-7EE6-4342-B048-85BDC9FD1C3A}</a:tableStyleId>
              </a:tblPr>
              <a:tblGrid>
                <a:gridCol w="1874519"/>
                <a:gridCol w="2148840"/>
                <a:gridCol w="4526280"/>
                <a:gridCol w="2286000"/>
              </a:tblGrid>
              <a:tr h="630936">
                <a:tc>
                  <a:txBody>
                    <a:bodyPr/>
                    <a:lstStyle/>
                    <a:p>
                      <a:r>
                        <a:rPr sz="1100" b="0">
                          <a:solidFill>
                            <a:srgbClr val="1F2621"/>
                          </a:solidFill>
                          <a:latin typeface="Aptos"/>
                        </a:rPr>
                        <a:t>Risk</a:t>
                      </a:r>
                    </a:p>
                  </a:txBody>
                  <a:tcPr>
                    <a:solidFill>
                      <a:srgbClr val="355C47"/>
                    </a:solidFill>
                  </a:tcPr>
                </a:tc>
                <a:tc>
                  <a:txBody>
                    <a:bodyPr/>
                    <a:lstStyle/>
                    <a:p>
                      <a:r>
                        <a:rPr sz="1100" b="0">
                          <a:solidFill>
                            <a:srgbClr val="1F2621"/>
                          </a:solidFill>
                          <a:latin typeface="Aptos"/>
                        </a:rPr>
                        <a:t>Trigger</a:t>
                      </a:r>
                    </a:p>
                  </a:txBody>
                  <a:tcPr>
                    <a:solidFill>
                      <a:srgbClr val="355C47"/>
                    </a:solidFill>
                  </a:tcPr>
                </a:tc>
                <a:tc>
                  <a:txBody>
                    <a:bodyPr/>
                    <a:lstStyle/>
                    <a:p>
                      <a:r>
                        <a:rPr sz="1100" b="0">
                          <a:solidFill>
                            <a:srgbClr val="1F2621"/>
                          </a:solidFill>
                          <a:latin typeface="Aptos"/>
                        </a:rPr>
                        <a:t>Countermeasure</a:t>
                      </a:r>
                    </a:p>
                  </a:txBody>
                  <a:tcPr>
                    <a:solidFill>
                      <a:srgbClr val="355C47"/>
                    </a:solidFill>
                  </a:tcPr>
                </a:tc>
                <a:tc>
                  <a:txBody>
                    <a:bodyPr/>
                    <a:lstStyle/>
                    <a:p>
                      <a:r>
                        <a:rPr sz="1100" b="0">
                          <a:solidFill>
                            <a:srgbClr val="1F2621"/>
                          </a:solidFill>
                          <a:latin typeface="Aptos"/>
                        </a:rPr>
                        <a:t>Owner</a:t>
                      </a:r>
                    </a:p>
                  </a:txBody>
                  <a:tcPr>
                    <a:solidFill>
                      <a:srgbClr val="355C47"/>
                    </a:solidFill>
                  </a:tcPr>
                </a:tc>
              </a:tr>
              <a:tr h="630936">
                <a:tc>
                  <a:txBody>
                    <a:bodyPr/>
                    <a:lstStyle/>
                    <a:p>
                      <a:r>
                        <a:rPr sz="1100" b="0">
                          <a:solidFill>
                            <a:srgbClr val="1F2621"/>
                          </a:solidFill>
                          <a:latin typeface="Aptos"/>
                        </a:rPr>
                        <a:t>Freight spikes</a:t>
                      </a:r>
                    </a:p>
                  </a:txBody>
                  <a:tcPr>
                    <a:solidFill>
                      <a:srgbClr val="FCFAF5"/>
                    </a:solidFill>
                  </a:tcPr>
                </a:tc>
                <a:tc>
                  <a:txBody>
                    <a:bodyPr/>
                    <a:lstStyle/>
                    <a:p>
                      <a:r>
                        <a:rPr sz="1100" b="0">
                          <a:solidFill>
                            <a:srgbClr val="1F2621"/>
                          </a:solidFill>
                          <a:latin typeface="Aptos"/>
                        </a:rPr>
                        <a:t>Peak-season lane tightness</a:t>
                      </a:r>
                    </a:p>
                  </a:txBody>
                  <a:tcPr>
                    <a:solidFill>
                      <a:srgbClr val="FCFAF5"/>
                    </a:solidFill>
                  </a:tcPr>
                </a:tc>
                <a:tc>
                  <a:txBody>
                    <a:bodyPr/>
                    <a:lstStyle/>
                    <a:p>
                      <a:r>
                        <a:rPr sz="1100" b="0">
                          <a:solidFill>
                            <a:srgbClr val="1F2621"/>
                          </a:solidFill>
                          <a:latin typeface="Aptos"/>
                        </a:rPr>
                        <a:t>Lock core carrier capacity and maintain alternate lanes.</a:t>
                      </a:r>
                    </a:p>
                  </a:txBody>
                  <a:tcPr>
                    <a:solidFill>
                      <a:srgbClr val="FCFAF5"/>
                    </a:solidFill>
                  </a:tcPr>
                </a:tc>
                <a:tc>
                  <a:txBody>
                    <a:bodyPr/>
                    <a:lstStyle/>
                    <a:p>
                      <a:r>
                        <a:rPr sz="1100" b="0">
                          <a:solidFill>
                            <a:srgbClr val="1F2621"/>
                          </a:solidFill>
                          <a:latin typeface="Aptos"/>
                        </a:rPr>
                        <a:t>Logistics lead</a:t>
                      </a:r>
                    </a:p>
                  </a:txBody>
                  <a:tcPr>
                    <a:solidFill>
                      <a:srgbClr val="FCFAF5"/>
                    </a:solidFill>
                  </a:tcPr>
                </a:tc>
              </a:tr>
              <a:tr h="630936">
                <a:tc>
                  <a:txBody>
                    <a:bodyPr/>
                    <a:lstStyle/>
                    <a:p>
                      <a:r>
                        <a:rPr sz="1100" b="0">
                          <a:solidFill>
                            <a:srgbClr val="1F2621"/>
                          </a:solidFill>
                          <a:latin typeface="Aptos"/>
                        </a:rPr>
                        <a:t>Import or supply disruption</a:t>
                      </a:r>
                    </a:p>
                  </a:txBody>
                  <a:tcPr>
                    <a:solidFill>
                      <a:srgbClr val="F7F3EC"/>
                    </a:solidFill>
                  </a:tcPr>
                </a:tc>
                <a:tc>
                  <a:txBody>
                    <a:bodyPr/>
                    <a:lstStyle/>
                    <a:p>
                      <a:r>
                        <a:rPr sz="1100" b="0">
                          <a:solidFill>
                            <a:srgbClr val="1F2621"/>
                          </a:solidFill>
                          <a:latin typeface="Aptos"/>
                        </a:rPr>
                        <a:t>Supply interruption or customs delay</a:t>
                      </a:r>
                    </a:p>
                  </a:txBody>
                  <a:tcPr>
                    <a:solidFill>
                      <a:srgbClr val="F7F3EC"/>
                    </a:solidFill>
                  </a:tcPr>
                </a:tc>
                <a:tc>
                  <a:txBody>
                    <a:bodyPr/>
                    <a:lstStyle/>
                    <a:p>
                      <a:r>
                        <a:rPr sz="1100" b="0">
                          <a:solidFill>
                            <a:srgbClr val="1F2621"/>
                          </a:solidFill>
                          <a:latin typeface="Aptos"/>
                        </a:rPr>
                        <a:t>Use flexible grower contracts and staggered commitments.</a:t>
                      </a:r>
                    </a:p>
                  </a:txBody>
                  <a:tcPr>
                    <a:solidFill>
                      <a:srgbClr val="F7F3EC"/>
                    </a:solidFill>
                  </a:tcPr>
                </a:tc>
                <a:tc>
                  <a:txBody>
                    <a:bodyPr/>
                    <a:lstStyle/>
                    <a:p>
                      <a:r>
                        <a:rPr sz="1100" b="0">
                          <a:solidFill>
                            <a:srgbClr val="1F2621"/>
                          </a:solidFill>
                          <a:latin typeface="Aptos"/>
                        </a:rPr>
                        <a:t>Sourcing lead</a:t>
                      </a:r>
                    </a:p>
                  </a:txBody>
                  <a:tcPr>
                    <a:solidFill>
                      <a:srgbClr val="F7F3EC"/>
                    </a:solidFill>
                  </a:tcPr>
                </a:tc>
              </a:tr>
              <a:tr h="630936">
                <a:tc>
                  <a:txBody>
                    <a:bodyPr/>
                    <a:lstStyle/>
                    <a:p>
                      <a:r>
                        <a:rPr sz="1100" b="0">
                          <a:solidFill>
                            <a:srgbClr val="1F2621"/>
                          </a:solidFill>
                          <a:latin typeface="Aptos"/>
                        </a:rPr>
                        <a:t>Spoilage / service failures</a:t>
                      </a:r>
                    </a:p>
                  </a:txBody>
                  <a:tcPr>
                    <a:solidFill>
                      <a:srgbClr val="FCFAF5"/>
                    </a:solidFill>
                  </a:tcPr>
                </a:tc>
                <a:tc>
                  <a:txBody>
                    <a:bodyPr/>
                    <a:lstStyle/>
                    <a:p>
                      <a:r>
                        <a:rPr sz="1100" b="0">
                          <a:solidFill>
                            <a:srgbClr val="1F2621"/>
                          </a:solidFill>
                          <a:latin typeface="Aptos"/>
                        </a:rPr>
                        <a:t>Shrink or weak fill-rate trend</a:t>
                      </a:r>
                    </a:p>
                  </a:txBody>
                  <a:tcPr>
                    <a:solidFill>
                      <a:srgbClr val="FCFAF5"/>
                    </a:solidFill>
                  </a:tcPr>
                </a:tc>
                <a:tc>
                  <a:txBody>
                    <a:bodyPr/>
                    <a:lstStyle/>
                    <a:p>
                      <a:r>
                        <a:rPr sz="1100" b="0">
                          <a:solidFill>
                            <a:srgbClr val="1F2621"/>
                          </a:solidFill>
                          <a:latin typeface="Aptos"/>
                        </a:rPr>
                        <a:t>Tighten cold-chain controls and receiving discipline.</a:t>
                      </a:r>
                    </a:p>
                  </a:txBody>
                  <a:tcPr>
                    <a:solidFill>
                      <a:srgbClr val="FCFAF5"/>
                    </a:solidFill>
                  </a:tcPr>
                </a:tc>
                <a:tc>
                  <a:txBody>
                    <a:bodyPr/>
                    <a:lstStyle/>
                    <a:p>
                      <a:r>
                        <a:rPr sz="1100" b="0">
                          <a:solidFill>
                            <a:srgbClr val="1F2621"/>
                          </a:solidFill>
                          <a:latin typeface="Aptos"/>
                        </a:rPr>
                        <a:t>Operations lead</a:t>
                      </a:r>
                    </a:p>
                  </a:txBody>
                  <a:tcPr>
                    <a:solidFill>
                      <a:srgbClr val="FCFAF5"/>
                    </a:solidFill>
                  </a:tcPr>
                </a:tc>
              </a:tr>
              <a:tr h="630936">
                <a:tc>
                  <a:txBody>
                    <a:bodyPr/>
                    <a:lstStyle/>
                    <a:p>
                      <a:r>
                        <a:rPr sz="1100" b="0">
                          <a:solidFill>
                            <a:srgbClr val="1F2621"/>
                          </a:solidFill>
                          <a:latin typeface="Aptos"/>
                        </a:rPr>
                        <a:t>Forecast error</a:t>
                      </a:r>
                    </a:p>
                  </a:txBody>
                  <a:tcPr>
                    <a:solidFill>
                      <a:srgbClr val="F7F3EC"/>
                    </a:solidFill>
                  </a:tcPr>
                </a:tc>
                <a:tc>
                  <a:txBody>
                    <a:bodyPr/>
                    <a:lstStyle/>
                    <a:p>
                      <a:r>
                        <a:rPr sz="1100" b="0">
                          <a:solidFill>
                            <a:srgbClr val="1F2621"/>
                          </a:solidFill>
                          <a:latin typeface="Aptos"/>
                        </a:rPr>
                        <a:t>Demand misses by city</a:t>
                      </a:r>
                    </a:p>
                  </a:txBody>
                  <a:tcPr>
                    <a:solidFill>
                      <a:srgbClr val="F7F3EC"/>
                    </a:solidFill>
                  </a:tcPr>
                </a:tc>
                <a:tc>
                  <a:txBody>
                    <a:bodyPr/>
                    <a:lstStyle/>
                    <a:p>
                      <a:r>
                        <a:rPr sz="1100" b="0">
                          <a:solidFill>
                            <a:srgbClr val="1F2621"/>
                          </a:solidFill>
                          <a:latin typeface="Aptos"/>
                        </a:rPr>
                        <a:t>Run monthly S&amp;OP and reallocate by city using realized demand.</a:t>
                      </a:r>
                    </a:p>
                  </a:txBody>
                  <a:tcPr>
                    <a:solidFill>
                      <a:srgbClr val="F7F3EC"/>
                    </a:solidFill>
                  </a:tcPr>
                </a:tc>
                <a:tc>
                  <a:txBody>
                    <a:bodyPr/>
                    <a:lstStyle/>
                    <a:p>
                      <a:r>
                        <a:rPr sz="1100" b="0">
                          <a:solidFill>
                            <a:srgbClr val="1F2621"/>
                          </a:solidFill>
                          <a:latin typeface="Aptos"/>
                        </a:rPr>
                        <a:t>Commercial lead</a:t>
                      </a:r>
                    </a:p>
                  </a:txBody>
                  <a:tcPr>
                    <a:solidFill>
                      <a:srgbClr val="F7F3EC"/>
                    </a:solidFill>
                  </a:tcPr>
                </a:tc>
              </a:tr>
              <a:tr h="630936">
                <a:tc>
                  <a:txBody>
                    <a:bodyPr/>
                    <a:lstStyle/>
                    <a:p>
                      <a:r>
                        <a:rPr sz="1100" b="0">
                          <a:solidFill>
                            <a:srgbClr val="1F2621"/>
                          </a:solidFill>
                          <a:latin typeface="Aptos"/>
                        </a:rPr>
                        <a:t>Retailer uptake risk</a:t>
                      </a:r>
                    </a:p>
                  </a:txBody>
                  <a:tcPr>
                    <a:solidFill>
                      <a:srgbClr val="FCFAF5"/>
                    </a:solidFill>
                  </a:tcPr>
                </a:tc>
                <a:tc>
                  <a:txBody>
                    <a:bodyPr/>
                    <a:lstStyle/>
                    <a:p>
                      <a:r>
                        <a:rPr sz="1100" b="0">
                          <a:solidFill>
                            <a:srgbClr val="1F2621"/>
                          </a:solidFill>
                          <a:latin typeface="Aptos"/>
                        </a:rPr>
                        <a:t>Weak reorder behavior</a:t>
                      </a:r>
                    </a:p>
                  </a:txBody>
                  <a:tcPr>
                    <a:solidFill>
                      <a:srgbClr val="FCFAF5"/>
                    </a:solidFill>
                  </a:tcPr>
                </a:tc>
                <a:tc>
                  <a:txBody>
                    <a:bodyPr/>
                    <a:lstStyle/>
                    <a:p>
                      <a:r>
                        <a:rPr sz="1100" b="0">
                          <a:solidFill>
                            <a:srgbClr val="1F2621"/>
                          </a:solidFill>
                          <a:latin typeface="Aptos"/>
                        </a:rPr>
                        <a:t>Require stage gates before expanding beyond the pilot.</a:t>
                      </a:r>
                    </a:p>
                  </a:txBody>
                  <a:tcPr>
                    <a:solidFill>
                      <a:srgbClr val="FCFAF5"/>
                    </a:solidFill>
                  </a:tcPr>
                </a:tc>
                <a:tc>
                  <a:txBody>
                    <a:bodyPr/>
                    <a:lstStyle/>
                    <a:p>
                      <a:r>
                        <a:rPr sz="1100" b="0">
                          <a:solidFill>
                            <a:srgbClr val="1F2621"/>
                          </a:solidFill>
                          <a:latin typeface="Aptos"/>
                        </a:rPr>
                        <a:t>General manager</a:t>
                      </a:r>
                    </a:p>
                  </a:txBody>
                  <a:tcPr>
                    <a:solidFill>
                      <a:srgbClr val="FCFAF5"/>
                    </a:solidFill>
                  </a:tcPr>
                </a:tc>
              </a:tr>
            </a:tbl>
          </a:graphicData>
        </a:graphic>
      </p:graphicFrame>
      <p:sp>
        <p:nvSpPr>
          <p:cNvPr id="11" name="Rounded Rectangle 10"/>
          <p:cNvSpPr/>
          <p:nvPr/>
        </p:nvSpPr>
        <p:spPr>
          <a:xfrm>
            <a:off x="868680" y="5650992"/>
            <a:ext cx="9966960" cy="56692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5833872"/>
            <a:ext cx="9601200" cy="146304"/>
          </a:xfrm>
          <a:prstGeom prst="rect">
            <a:avLst/>
          </a:prstGeom>
          <a:noFill/>
        </p:spPr>
        <p:txBody>
          <a:bodyPr wrap="square" lIns="27432" rIns="27432" tIns="27432" bIns="27432" anchor="t">
            <a:spAutoFit/>
          </a:bodyPr>
          <a:lstStyle/>
          <a:p>
            <a:pPr algn="l"/>
            <a:r>
              <a:rPr sz="1200" b="0">
                <a:solidFill>
                  <a:srgbClr val="1F2621"/>
                </a:solidFill>
                <a:latin typeface="Aptos"/>
              </a:rPr>
              <a:t>Operating principle: the pilot should never carry an unmanaged risk; every major threat must already have a trigger, action, and owner before scale decisions are made.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LIMITATIONS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37</a:t>
            </a:r>
          </a:p>
        </p:txBody>
      </p:sp>
      <p:sp>
        <p:nvSpPr>
          <p:cNvPr id="8" name="Rounded Rectangle 7"/>
          <p:cNvSpPr/>
          <p:nvPr/>
        </p:nvSpPr>
        <p:spPr>
          <a:xfrm>
            <a:off x="10314432" y="256032"/>
            <a:ext cx="1170432" cy="274320"/>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0" y="260604"/>
            <a:ext cx="1133856" cy="219456"/>
          </a:xfrm>
          <a:prstGeom prst="rect">
            <a:avLst/>
          </a:prstGeom>
          <a:noFill/>
        </p:spPr>
        <p:txBody>
          <a:bodyPr wrap="square" lIns="27432" rIns="27432" tIns="27432" bIns="27432" anchor="ctr">
            <a:spAutoFit/>
          </a:bodyPr>
          <a:lstStyle/>
          <a:p>
            <a:pPr algn="ctr"/>
            <a:r>
              <a:rPr sz="1100" b="1">
                <a:solidFill>
                  <a:srgbClr val="FCFAF5"/>
                </a:solidFill>
                <a:latin typeface="Aptos"/>
              </a:rPr>
              <a:t>CAVEAT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model can now separate city choice from allocation economics</a:t>
            </a:r>
          </a:p>
        </p:txBody>
      </p:sp>
      <p:sp>
        <p:nvSpPr>
          <p:cNvPr id="11" name="Rounded Rectangle 10"/>
          <p:cNvSpPr/>
          <p:nvPr/>
        </p:nvSpPr>
        <p:spPr>
          <a:xfrm>
            <a:off x="731520" y="1737360"/>
            <a:ext cx="521208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1737360"/>
            <a:ext cx="521208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38528"/>
            <a:ext cx="2103120" cy="228600"/>
          </a:xfrm>
          <a:prstGeom prst="rect">
            <a:avLst/>
          </a:prstGeom>
          <a:noFill/>
        </p:spPr>
        <p:txBody>
          <a:bodyPr wrap="square" lIns="27432" rIns="27432" tIns="27432" bIns="27432" anchor="t">
            <a:spAutoFit/>
          </a:bodyPr>
          <a:lstStyle/>
          <a:p>
            <a:pPr algn="l"/>
            <a:r>
              <a:rPr sz="1500" b="1">
                <a:solidFill>
                  <a:srgbClr val="355C47"/>
                </a:solidFill>
                <a:latin typeface="Aptos Display"/>
              </a:rPr>
              <a:t>What we can defend now</a:t>
            </a:r>
          </a:p>
        </p:txBody>
      </p:sp>
      <p:sp>
        <p:nvSpPr>
          <p:cNvPr id="14" name="TextBox 13"/>
          <p:cNvSpPr txBox="1"/>
          <p:nvPr/>
        </p:nvSpPr>
        <p:spPr>
          <a:xfrm>
            <a:off x="914400" y="2240280"/>
            <a:ext cx="4663440" cy="2606040"/>
          </a:xfrm>
          <a:prstGeom prst="rect">
            <a:avLst/>
          </a:prstGeom>
          <a:noFill/>
        </p:spPr>
        <p:txBody>
          <a:bodyPr wrap="square" lIns="27432" rIns="27432" tIns="18288" bIns="18288">
            <a:spAutoFit/>
          </a:bodyPr>
          <a:lstStyle/>
          <a:p>
            <a:pPr algn="l">
              <a:lnSpc>
                <a:spcPct val="115000"/>
              </a:lnSpc>
            </a:pPr>
            <a:r>
              <a:rPr sz="1400">
                <a:solidFill>
                  <a:srgbClr val="1F2621"/>
                </a:solidFill>
                <a:latin typeface="Aptos"/>
              </a:rPr>
              <a:t>- The cleaned dataset resolves to 40 city markets even though the case text references 41 metro regions.</a:t>
            </a:r>
          </a:p>
          <a:p>
            <a:pPr algn="l">
              <a:lnSpc>
                <a:spcPct val="115000"/>
              </a:lnSpc>
            </a:pPr>
            <a:r>
              <a:rPr sz="1400">
                <a:solidFill>
                  <a:srgbClr val="1F2621"/>
                </a:solidFill>
                <a:latin typeface="Aptos"/>
              </a:rPr>
              <a:t>- The comparable 20,000-unit city screen is still the right way to choose where to test because every market is evaluated on the same basis.</a:t>
            </a:r>
          </a:p>
          <a:p>
            <a:pPr algn="l">
              <a:lnSpc>
                <a:spcPct val="115000"/>
              </a:lnSpc>
            </a:pPr>
            <a:r>
              <a:rPr sz="1400">
                <a:solidFill>
                  <a:srgbClr val="1F2621"/>
                </a:solidFill>
                <a:latin typeface="Aptos"/>
              </a:rPr>
              <a:t>- All 40 city screens remain profitable even at +50% shipping, so the recommendation is an optimization problem, not a survival problem.</a:t>
            </a:r>
          </a:p>
        </p:txBody>
      </p:sp>
      <p:sp>
        <p:nvSpPr>
          <p:cNvPr id="15" name="TextBox 14"/>
          <p:cNvSpPr txBox="1"/>
          <p:nvPr/>
        </p:nvSpPr>
        <p:spPr>
          <a:xfrm>
            <a:off x="6446520" y="1938528"/>
            <a:ext cx="2286000" cy="228600"/>
          </a:xfrm>
          <a:prstGeom prst="rect">
            <a:avLst/>
          </a:prstGeom>
          <a:noFill/>
        </p:spPr>
        <p:txBody>
          <a:bodyPr wrap="square" lIns="27432" rIns="27432" tIns="27432" bIns="27432" anchor="t">
            <a:spAutoFit/>
          </a:bodyPr>
          <a:lstStyle/>
          <a:p>
            <a:pPr algn="l"/>
            <a:r>
              <a:rPr sz="1500" b="1">
                <a:solidFill>
                  <a:srgbClr val="B5533A"/>
                </a:solidFill>
                <a:latin typeface="Aptos Display"/>
              </a:rPr>
              <a:t>What still needs more data</a:t>
            </a:r>
          </a:p>
        </p:txBody>
      </p:sp>
      <p:sp>
        <p:nvSpPr>
          <p:cNvPr id="16" name="TextBox 15"/>
          <p:cNvSpPr txBox="1"/>
          <p:nvPr/>
        </p:nvSpPr>
        <p:spPr>
          <a:xfrm>
            <a:off x="6446520" y="2240280"/>
            <a:ext cx="4663440" cy="2606040"/>
          </a:xfrm>
          <a:prstGeom prst="rect">
            <a:avLst/>
          </a:prstGeom>
          <a:noFill/>
        </p:spPr>
        <p:txBody>
          <a:bodyPr wrap="square" lIns="27432" rIns="27432" tIns="18288" bIns="18288">
            <a:spAutoFit/>
          </a:bodyPr>
          <a:lstStyle/>
          <a:p>
            <a:pPr algn="l">
              <a:lnSpc>
                <a:spcPct val="115000"/>
              </a:lnSpc>
            </a:pPr>
            <a:r>
              <a:rPr sz="1400">
                <a:solidFill>
                  <a:srgbClr val="1F2621"/>
                </a:solidFill>
                <a:latin typeface="Aptos"/>
              </a:rPr>
              <a:t>- 2025 is partial-year data only and June 2025 retail price is used as the simple proxy for June 2026 retail price.</a:t>
            </a:r>
          </a:p>
          <a:p>
            <a:pPr algn="l">
              <a:lnSpc>
                <a:spcPct val="115000"/>
              </a:lnSpc>
            </a:pPr>
            <a:r>
              <a:rPr sz="1400">
                <a:solidFill>
                  <a:srgbClr val="1F2621"/>
                </a:solidFill>
                <a:latin typeface="Aptos"/>
              </a:rPr>
              <a:t>- The model now quantifies split-allocation trade-offs, but it still does not include shrink, retailer-level demand curves, or route-level service costs.</a:t>
            </a:r>
          </a:p>
          <a:p>
            <a:pPr algn="l">
              <a:lnSpc>
                <a:spcPct val="115000"/>
              </a:lnSpc>
            </a:pPr>
            <a:r>
              <a:rPr sz="1400">
                <a:solidFill>
                  <a:srgbClr val="1F2621"/>
                </a:solidFill>
                <a:latin typeface="Aptos"/>
              </a:rPr>
              <a:t>- That means the deck can defend city selection and portfolio logic now, but not exact retailer-by-retailer allocation yet.</a:t>
            </a:r>
          </a:p>
        </p:txBody>
      </p:sp>
      <p:sp>
        <p:nvSpPr>
          <p:cNvPr id="17" name="Rounded Rectangle 16"/>
          <p:cNvSpPr/>
          <p:nvPr/>
        </p:nvSpPr>
        <p:spPr>
          <a:xfrm>
            <a:off x="1005840" y="5440680"/>
            <a:ext cx="10012680" cy="65836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5650992"/>
            <a:ext cx="2011680" cy="146304"/>
          </a:xfrm>
          <a:prstGeom prst="rect">
            <a:avLst/>
          </a:prstGeom>
          <a:noFill/>
        </p:spPr>
        <p:txBody>
          <a:bodyPr wrap="square" lIns="27432" rIns="27432" tIns="27432" bIns="27432" anchor="t">
            <a:spAutoFit/>
          </a:bodyPr>
          <a:lstStyle/>
          <a:p>
            <a:pPr algn="l"/>
            <a:r>
              <a:rPr sz="1000" b="1">
                <a:solidFill>
                  <a:srgbClr val="5F6B63"/>
                </a:solidFill>
                <a:latin typeface="Aptos"/>
              </a:rPr>
              <a:t>NEXT DATA TO COLLECT</a:t>
            </a:r>
          </a:p>
        </p:txBody>
      </p:sp>
      <p:sp>
        <p:nvSpPr>
          <p:cNvPr id="19" name="TextBox 18"/>
          <p:cNvSpPr txBox="1"/>
          <p:nvPr/>
        </p:nvSpPr>
        <p:spPr>
          <a:xfrm>
            <a:off x="2926080" y="5596128"/>
            <a:ext cx="7726679" cy="201168"/>
          </a:xfrm>
          <a:prstGeom prst="rect">
            <a:avLst/>
          </a:prstGeom>
          <a:noFill/>
        </p:spPr>
        <p:txBody>
          <a:bodyPr wrap="square" lIns="27432" rIns="27432" tIns="27432" bIns="27432" anchor="t">
            <a:spAutoFit/>
          </a:bodyPr>
          <a:lstStyle/>
          <a:p>
            <a:pPr algn="l"/>
            <a:r>
              <a:rPr sz="1300" b="0">
                <a:solidFill>
                  <a:srgbClr val="1F2621"/>
                </a:solidFill>
                <a:latin typeface="Aptos"/>
              </a:rPr>
              <a:t>Pilot reorder behavior, lane-level spoilage, and retailer response would move West Valley from screen-level economics to exact allocation and account-level planning.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CONCLUSION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38</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the 5-city pilot, then scale only with proof</a:t>
            </a:r>
          </a:p>
        </p:txBody>
      </p:sp>
      <p:sp>
        <p:nvSpPr>
          <p:cNvPr id="9" name="Rounded Rectangle 8"/>
          <p:cNvSpPr/>
          <p:nvPr/>
        </p:nvSpPr>
        <p:spPr>
          <a:xfrm>
            <a:off x="713232" y="1627632"/>
            <a:ext cx="6400800" cy="44348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65376"/>
            <a:ext cx="2377440" cy="182880"/>
          </a:xfrm>
          <a:prstGeom prst="rect">
            <a:avLst/>
          </a:prstGeom>
          <a:noFill/>
        </p:spPr>
        <p:txBody>
          <a:bodyPr wrap="square" lIns="27432" rIns="27432" tIns="27432" bIns="27432" anchor="t">
            <a:spAutoFit/>
          </a:bodyPr>
          <a:lstStyle/>
          <a:p>
            <a:pPr algn="l"/>
            <a:r>
              <a:rPr sz="1100" b="1">
                <a:solidFill>
                  <a:srgbClr val="5F6B63"/>
                </a:solidFill>
                <a:latin typeface="Aptos"/>
              </a:rPr>
              <a:t>FINAL RECOMMENDATION</a:t>
            </a:r>
          </a:p>
        </p:txBody>
      </p:sp>
      <p:sp>
        <p:nvSpPr>
          <p:cNvPr id="11" name="TextBox 10"/>
          <p:cNvSpPr txBox="1"/>
          <p:nvPr/>
        </p:nvSpPr>
        <p:spPr>
          <a:xfrm>
            <a:off x="932688" y="2157984"/>
            <a:ext cx="5212080" cy="658368"/>
          </a:xfrm>
          <a:prstGeom prst="rect">
            <a:avLst/>
          </a:prstGeom>
          <a:noFill/>
        </p:spPr>
        <p:txBody>
          <a:bodyPr wrap="square" lIns="27432" rIns="27432" tIns="27432" bIns="27432" anchor="t">
            <a:spAutoFit/>
          </a:bodyPr>
          <a:lstStyle/>
          <a:p>
            <a:pPr algn="l"/>
            <a:r>
              <a:rPr sz="2600" b="1">
                <a:solidFill>
                  <a:srgbClr val="355C47"/>
                </a:solidFill>
                <a:latin typeface="Aptos Display"/>
              </a:rPr>
              <a:t>Launch Seattle, Boise, Portland, Spokane, and San Diego first.</a:t>
            </a:r>
          </a:p>
        </p:txBody>
      </p:sp>
      <p:sp>
        <p:nvSpPr>
          <p:cNvPr id="12" name="TextBox 11"/>
          <p:cNvSpPr txBox="1"/>
          <p:nvPr/>
        </p:nvSpPr>
        <p:spPr>
          <a:xfrm>
            <a:off x="932688" y="2834640"/>
            <a:ext cx="5440680" cy="438912"/>
          </a:xfrm>
          <a:prstGeom prst="rect">
            <a:avLst/>
          </a:prstGeom>
          <a:noFill/>
        </p:spPr>
        <p:txBody>
          <a:bodyPr wrap="square" lIns="27432" rIns="27432" tIns="27432" bIns="27432" anchor="t">
            <a:spAutoFit/>
          </a:bodyPr>
          <a:lstStyle/>
          <a:p>
            <a:pPr algn="l"/>
            <a:r>
              <a:rPr sz="1500" b="0">
                <a:solidFill>
                  <a:srgbClr val="1F2621"/>
                </a:solidFill>
                <a:latin typeface="Aptos"/>
              </a:rPr>
              <a:t>The recommendation holds because premium pricing stays stronger than modeled freight swings and seasonality can be managed.</a:t>
            </a:r>
          </a:p>
        </p:txBody>
      </p:sp>
      <p:sp>
        <p:nvSpPr>
          <p:cNvPr id="13" name="Rounded Rectangle 12"/>
          <p:cNvSpPr/>
          <p:nvPr/>
        </p:nvSpPr>
        <p:spPr>
          <a:xfrm>
            <a:off x="932688" y="3547872"/>
            <a:ext cx="1060704"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552444"/>
            <a:ext cx="1024128"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Rounded Rectangle 14"/>
          <p:cNvSpPr/>
          <p:nvPr/>
        </p:nvSpPr>
        <p:spPr>
          <a:xfrm>
            <a:off x="2084831" y="3547872"/>
            <a:ext cx="950976"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03119" y="3552444"/>
            <a:ext cx="914400"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7" name="Rounded Rectangle 16"/>
          <p:cNvSpPr/>
          <p:nvPr/>
        </p:nvSpPr>
        <p:spPr>
          <a:xfrm>
            <a:off x="3127248" y="3547872"/>
            <a:ext cx="111556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45536" y="3552444"/>
            <a:ext cx="1078992"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9" name="Rounded Rectangle 18"/>
          <p:cNvSpPr/>
          <p:nvPr/>
        </p:nvSpPr>
        <p:spPr>
          <a:xfrm>
            <a:off x="4334256" y="3547872"/>
            <a:ext cx="106984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52544" y="3552444"/>
            <a:ext cx="1033272"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21" name="Rounded Rectangle 20"/>
          <p:cNvSpPr/>
          <p:nvPr/>
        </p:nvSpPr>
        <p:spPr>
          <a:xfrm>
            <a:off x="5495544" y="3547872"/>
            <a:ext cx="1271016"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13832" y="3552444"/>
            <a:ext cx="1234440"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23" name="Rounded Rectangle 22"/>
          <p:cNvSpPr/>
          <p:nvPr/>
        </p:nvSpPr>
        <p:spPr>
          <a:xfrm>
            <a:off x="914400"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2416"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AVG PROFIT</a:t>
            </a:r>
          </a:p>
        </p:txBody>
      </p:sp>
      <p:sp>
        <p:nvSpPr>
          <p:cNvPr id="25" name="TextBox 24"/>
          <p:cNvSpPr txBox="1"/>
          <p:nvPr/>
        </p:nvSpPr>
        <p:spPr>
          <a:xfrm>
            <a:off x="1042416" y="4626864"/>
            <a:ext cx="1426464" cy="548640"/>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26" name="Rounded Rectangle 25"/>
          <p:cNvSpPr/>
          <p:nvPr/>
        </p:nvSpPr>
        <p:spPr>
          <a:xfrm>
            <a:off x="2798064"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0"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TOP-5 MARGIN</a:t>
            </a:r>
          </a:p>
        </p:txBody>
      </p:sp>
      <p:sp>
        <p:nvSpPr>
          <p:cNvPr id="28" name="TextBox 27"/>
          <p:cNvSpPr txBox="1"/>
          <p:nvPr/>
        </p:nvSpPr>
        <p:spPr>
          <a:xfrm>
            <a:off x="2926080" y="4626864"/>
            <a:ext cx="1426464" cy="548640"/>
          </a:xfrm>
          <a:prstGeom prst="rect">
            <a:avLst/>
          </a:prstGeom>
          <a:noFill/>
        </p:spPr>
        <p:txBody>
          <a:bodyPr wrap="square" lIns="27432" rIns="27432" tIns="27432" bIns="27432" anchor="ctr">
            <a:spAutoFit/>
          </a:bodyPr>
          <a:lstStyle/>
          <a:p>
            <a:pPr algn="l"/>
            <a:r>
              <a:rPr sz="1900" b="1">
                <a:solidFill>
                  <a:srgbClr val="3F728A"/>
                </a:solidFill>
                <a:latin typeface="Aptos Display"/>
              </a:rPr>
              <a:t>69.7%</a:t>
            </a:r>
          </a:p>
        </p:txBody>
      </p:sp>
      <p:sp>
        <p:nvSpPr>
          <p:cNvPr id="29" name="Rounded Rectangle 28"/>
          <p:cNvSpPr/>
          <p:nvPr/>
        </p:nvSpPr>
        <p:spPr>
          <a:xfrm>
            <a:off x="4681728"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FREIGHT RESULT</a:t>
            </a:r>
          </a:p>
        </p:txBody>
      </p:sp>
      <p:sp>
        <p:nvSpPr>
          <p:cNvPr id="31" name="TextBox 30"/>
          <p:cNvSpPr txBox="1"/>
          <p:nvPr/>
        </p:nvSpPr>
        <p:spPr>
          <a:xfrm>
            <a:off x="4809744" y="4626864"/>
            <a:ext cx="1426464" cy="548640"/>
          </a:xfrm>
          <a:prstGeom prst="rect">
            <a:avLst/>
          </a:prstGeom>
          <a:noFill/>
        </p:spPr>
        <p:txBody>
          <a:bodyPr wrap="square" lIns="27432" rIns="27432" tIns="27432" bIns="27432" anchor="ctr">
            <a:spAutoFit/>
          </a:bodyPr>
          <a:lstStyle/>
          <a:p>
            <a:pPr algn="l"/>
            <a:r>
              <a:rPr sz="1900" b="1">
                <a:solidFill>
                  <a:srgbClr val="C58A2A"/>
                </a:solidFill>
                <a:latin typeface="Aptos Display"/>
              </a:rPr>
              <a:t>Same 5 cities</a:t>
            </a:r>
          </a:p>
        </p:txBody>
      </p:sp>
      <p:sp>
        <p:nvSpPr>
          <p:cNvPr id="32" name="Rounded Rectangle 31"/>
          <p:cNvSpPr/>
          <p:nvPr/>
        </p:nvSpPr>
        <p:spPr>
          <a:xfrm>
            <a:off x="7452360" y="1773936"/>
            <a:ext cx="4069080" cy="1152144"/>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98664" y="1874520"/>
            <a:ext cx="3776472" cy="164592"/>
          </a:xfrm>
          <a:prstGeom prst="rect">
            <a:avLst/>
          </a:prstGeom>
          <a:noFill/>
        </p:spPr>
        <p:txBody>
          <a:bodyPr wrap="square" lIns="27432" rIns="27432" tIns="27432" bIns="27432" anchor="t">
            <a:spAutoFit/>
          </a:bodyPr>
          <a:lstStyle/>
          <a:p>
            <a:pPr algn="l"/>
            <a:r>
              <a:rPr sz="1100" b="1">
                <a:solidFill>
                  <a:srgbClr val="5F6B63"/>
                </a:solidFill>
                <a:latin typeface="Aptos"/>
              </a:rPr>
              <a:t>ECONOMICS</a:t>
            </a:r>
          </a:p>
        </p:txBody>
      </p:sp>
      <p:sp>
        <p:nvSpPr>
          <p:cNvPr id="34" name="TextBox 33"/>
          <p:cNvSpPr txBox="1"/>
          <p:nvPr/>
        </p:nvSpPr>
        <p:spPr>
          <a:xfrm>
            <a:off x="7598664" y="2057400"/>
            <a:ext cx="3776472" cy="256032"/>
          </a:xfrm>
          <a:prstGeom prst="rect">
            <a:avLst/>
          </a:prstGeom>
          <a:noFill/>
        </p:spPr>
        <p:txBody>
          <a:bodyPr wrap="square" lIns="27432" rIns="27432" tIns="27432" bIns="27432" anchor="t">
            <a:spAutoFit/>
          </a:bodyPr>
          <a:lstStyle/>
          <a:p>
            <a:pPr algn="l"/>
            <a:r>
              <a:rPr sz="1600" b="1">
                <a:solidFill>
                  <a:srgbClr val="355C47"/>
                </a:solidFill>
                <a:latin typeface="Aptos Display"/>
              </a:rPr>
              <a:t>$13.7k avg profit</a:t>
            </a:r>
          </a:p>
        </p:txBody>
      </p:sp>
      <p:sp>
        <p:nvSpPr>
          <p:cNvPr id="35" name="TextBox 34"/>
          <p:cNvSpPr txBox="1"/>
          <p:nvPr/>
        </p:nvSpPr>
        <p:spPr>
          <a:xfrm>
            <a:off x="7598664" y="2359152"/>
            <a:ext cx="3776472" cy="438912"/>
          </a:xfrm>
          <a:prstGeom prst="rect">
            <a:avLst/>
          </a:prstGeom>
          <a:noFill/>
        </p:spPr>
        <p:txBody>
          <a:bodyPr wrap="square" lIns="27432" rIns="27432" tIns="27432" bIns="27432" anchor="t">
            <a:spAutoFit/>
          </a:bodyPr>
          <a:lstStyle/>
          <a:p>
            <a:pPr algn="l"/>
            <a:r>
              <a:rPr sz="1000" b="0">
                <a:solidFill>
                  <a:srgbClr val="1F2621"/>
                </a:solidFill>
                <a:latin typeface="Aptos"/>
              </a:rPr>
              <a:t>The top five produce a meaningfully better profit tier than the next options.</a:t>
            </a:r>
          </a:p>
        </p:txBody>
      </p:sp>
      <p:sp>
        <p:nvSpPr>
          <p:cNvPr id="36" name="Rounded Rectangle 35"/>
          <p:cNvSpPr/>
          <p:nvPr/>
        </p:nvSpPr>
        <p:spPr>
          <a:xfrm>
            <a:off x="7452360" y="3127248"/>
            <a:ext cx="4069080" cy="1152144"/>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98664" y="3227832"/>
            <a:ext cx="3776472" cy="164592"/>
          </a:xfrm>
          <a:prstGeom prst="rect">
            <a:avLst/>
          </a:prstGeom>
          <a:noFill/>
        </p:spPr>
        <p:txBody>
          <a:bodyPr wrap="square" lIns="27432" rIns="27432" tIns="27432" bIns="27432" anchor="t">
            <a:spAutoFit/>
          </a:bodyPr>
          <a:lstStyle/>
          <a:p>
            <a:pPr algn="l"/>
            <a:r>
              <a:rPr sz="1100" b="1">
                <a:solidFill>
                  <a:srgbClr val="5F6B63"/>
                </a:solidFill>
                <a:latin typeface="Aptos"/>
              </a:rPr>
              <a:t>RESILIENCE</a:t>
            </a:r>
          </a:p>
        </p:txBody>
      </p:sp>
      <p:sp>
        <p:nvSpPr>
          <p:cNvPr id="38" name="TextBox 37"/>
          <p:cNvSpPr txBox="1"/>
          <p:nvPr/>
        </p:nvSpPr>
        <p:spPr>
          <a:xfrm>
            <a:off x="7598664" y="3410712"/>
            <a:ext cx="3776472" cy="256032"/>
          </a:xfrm>
          <a:prstGeom prst="rect">
            <a:avLst/>
          </a:prstGeom>
          <a:noFill/>
        </p:spPr>
        <p:txBody>
          <a:bodyPr wrap="square" lIns="27432" rIns="27432" tIns="27432" bIns="27432" anchor="t">
            <a:spAutoFit/>
          </a:bodyPr>
          <a:lstStyle/>
          <a:p>
            <a:pPr algn="l"/>
            <a:r>
              <a:rPr sz="1600" b="1">
                <a:solidFill>
                  <a:srgbClr val="3F728A"/>
                </a:solidFill>
                <a:latin typeface="Aptos Display"/>
              </a:rPr>
              <a:t>Same 5 cities</a:t>
            </a:r>
          </a:p>
        </p:txBody>
      </p:sp>
      <p:sp>
        <p:nvSpPr>
          <p:cNvPr id="39" name="TextBox 38"/>
          <p:cNvSpPr txBox="1"/>
          <p:nvPr/>
        </p:nvSpPr>
        <p:spPr>
          <a:xfrm>
            <a:off x="7598664" y="3712464"/>
            <a:ext cx="3776472" cy="438912"/>
          </a:xfrm>
          <a:prstGeom prst="rect">
            <a:avLst/>
          </a:prstGeom>
          <a:noFill/>
        </p:spPr>
        <p:txBody>
          <a:bodyPr wrap="square" lIns="27432" rIns="27432" tIns="27432" bIns="27432" anchor="t">
            <a:spAutoFit/>
          </a:bodyPr>
          <a:lstStyle/>
          <a:p>
            <a:pPr algn="l"/>
            <a:r>
              <a:rPr sz="1000" b="0">
                <a:solidFill>
                  <a:srgbClr val="1F2621"/>
                </a:solidFill>
                <a:latin typeface="Aptos"/>
              </a:rPr>
              <a:t>The ranking is unchanged in the base, +50%, and -50% freight cases.</a:t>
            </a:r>
          </a:p>
        </p:txBody>
      </p:sp>
      <p:sp>
        <p:nvSpPr>
          <p:cNvPr id="40" name="Rounded Rectangle 39"/>
          <p:cNvSpPr/>
          <p:nvPr/>
        </p:nvSpPr>
        <p:spPr>
          <a:xfrm>
            <a:off x="7452360" y="4187952"/>
            <a:ext cx="4069080" cy="1225296"/>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98664" y="4288536"/>
            <a:ext cx="3776472" cy="164592"/>
          </a:xfrm>
          <a:prstGeom prst="rect">
            <a:avLst/>
          </a:prstGeom>
          <a:noFill/>
        </p:spPr>
        <p:txBody>
          <a:bodyPr wrap="square" lIns="27432" rIns="27432" tIns="27432" bIns="27432" anchor="t">
            <a:spAutoFit/>
          </a:bodyPr>
          <a:lstStyle/>
          <a:p>
            <a:pPr algn="l"/>
            <a:r>
              <a:rPr sz="1100" b="1">
                <a:solidFill>
                  <a:srgbClr val="5F6B63"/>
                </a:solidFill>
                <a:latin typeface="Aptos"/>
              </a:rPr>
              <a:t>OPERATING DISCIPLINE</a:t>
            </a:r>
          </a:p>
        </p:txBody>
      </p:sp>
      <p:sp>
        <p:nvSpPr>
          <p:cNvPr id="42" name="TextBox 41"/>
          <p:cNvSpPr txBox="1"/>
          <p:nvPr/>
        </p:nvSpPr>
        <p:spPr>
          <a:xfrm>
            <a:off x="7598664" y="4471416"/>
            <a:ext cx="3776472" cy="256032"/>
          </a:xfrm>
          <a:prstGeom prst="rect">
            <a:avLst/>
          </a:prstGeom>
          <a:noFill/>
        </p:spPr>
        <p:txBody>
          <a:bodyPr wrap="square" lIns="27432" rIns="27432" tIns="27432" bIns="27432" anchor="t">
            <a:spAutoFit/>
          </a:bodyPr>
          <a:lstStyle/>
          <a:p>
            <a:pPr algn="l"/>
            <a:r>
              <a:rPr sz="1600" b="1">
                <a:solidFill>
                  <a:srgbClr val="C58A2A"/>
                </a:solidFill>
                <a:latin typeface="Aptos Display"/>
              </a:rPr>
              <a:t>Pilot before scale</a:t>
            </a:r>
          </a:p>
        </p:txBody>
      </p:sp>
      <p:sp>
        <p:nvSpPr>
          <p:cNvPr id="43" name="TextBox 42"/>
          <p:cNvSpPr txBox="1"/>
          <p:nvPr/>
        </p:nvSpPr>
        <p:spPr>
          <a:xfrm>
            <a:off x="7598664" y="4773168"/>
            <a:ext cx="3776472" cy="512064"/>
          </a:xfrm>
          <a:prstGeom prst="rect">
            <a:avLst/>
          </a:prstGeom>
          <a:noFill/>
        </p:spPr>
        <p:txBody>
          <a:bodyPr wrap="square" lIns="27432" rIns="27432" tIns="27432" bIns="27432" anchor="t">
            <a:spAutoFit/>
          </a:bodyPr>
          <a:lstStyle/>
          <a:p>
            <a:pPr algn="l"/>
            <a:r>
              <a:rPr sz="1000" b="0">
                <a:solidFill>
                  <a:srgbClr val="1F2621"/>
                </a:solidFill>
                <a:latin typeface="Aptos"/>
              </a:rPr>
              <a:t>Scale only where live margin, service, and reorder data confirm the model.</a:t>
            </a:r>
          </a:p>
        </p:txBody>
      </p:sp>
      <p:sp>
        <p:nvSpPr>
          <p:cNvPr id="44" name="Rounded Rectangle 43"/>
          <p:cNvSpPr/>
          <p:nvPr/>
        </p:nvSpPr>
        <p:spPr>
          <a:xfrm>
            <a:off x="7452360" y="5522976"/>
            <a:ext cx="4069080" cy="566928"/>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5669280"/>
            <a:ext cx="3657600" cy="164592"/>
          </a:xfrm>
          <a:prstGeom prst="rect">
            <a:avLst/>
          </a:prstGeom>
          <a:noFill/>
        </p:spPr>
        <p:txBody>
          <a:bodyPr wrap="square" lIns="27432" rIns="27432" tIns="27432" bIns="27432" anchor="t">
            <a:spAutoFit/>
          </a:bodyPr>
          <a:lstStyle/>
          <a:p>
            <a:pPr algn="l"/>
            <a:r>
              <a:rPr sz="1100" b="0">
                <a:solidFill>
                  <a:srgbClr val="1F2621"/>
                </a:solidFill>
                <a:latin typeface="Aptos"/>
              </a:rPr>
              <a:t>Next step: launch, measure live economics, then scale selectively rather than assuming the model is already fully proven.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APPENDIX</a:t>
            </a:r>
          </a:p>
        </p:txBody>
      </p:sp>
      <p:sp>
        <p:nvSpPr>
          <p:cNvPr id="7" name="TextBox 6"/>
          <p:cNvSpPr txBox="1"/>
          <p:nvPr/>
        </p:nvSpPr>
        <p:spPr>
          <a:xfrm>
            <a:off x="548640" y="6519672"/>
            <a:ext cx="3108960" cy="164592"/>
          </a:xfrm>
          <a:prstGeom prst="rect">
            <a:avLst/>
          </a:prstGeom>
          <a:noFill/>
        </p:spPr>
        <p:txBody>
          <a:bodyPr wrap="square" lIns="27432" rIns="27432" tIns="27432" bIns="27432" anchor="t">
            <a:spAutoFit/>
          </a:bodyPr>
          <a:lstStyle/>
          <a:p>
            <a:pPr algn="l"/>
            <a:r>
              <a:rPr sz="900" b="0">
                <a:solidFill>
                  <a:srgbClr val="5F6B63"/>
                </a:solidFill>
                <a:latin typeface="Aptos"/>
              </a:rPr>
              <a:t>SOURCES AND BACKUP</a:t>
            </a:r>
          </a:p>
        </p:txBody>
      </p:sp>
      <p:sp>
        <p:nvSpPr>
          <p:cNvPr id="8" name="TextBox 7"/>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39</a:t>
            </a:r>
          </a:p>
        </p:txBody>
      </p:sp>
      <p:sp>
        <p:nvSpPr>
          <p:cNvPr id="9" name="TextBox 8"/>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Appendix: sources, assumptions, and backup exhibits</a:t>
            </a:r>
          </a:p>
        </p:txBody>
      </p:sp>
      <p:sp>
        <p:nvSpPr>
          <p:cNvPr id="10" name="Rounded Rectangle 9"/>
          <p:cNvSpPr/>
          <p:nvPr/>
        </p:nvSpPr>
        <p:spPr>
          <a:xfrm>
            <a:off x="713232" y="1664208"/>
            <a:ext cx="3657600"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35424" y="1664208"/>
            <a:ext cx="3090672"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90688" y="1664208"/>
            <a:ext cx="3657600"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01952"/>
            <a:ext cx="237744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Primary sources</a:t>
            </a:r>
          </a:p>
        </p:txBody>
      </p:sp>
      <p:sp>
        <p:nvSpPr>
          <p:cNvPr id="14" name="TextBox 13"/>
          <p:cNvSpPr txBox="1"/>
          <p:nvPr/>
        </p:nvSpPr>
        <p:spPr>
          <a:xfrm>
            <a:off x="914400" y="2240280"/>
            <a:ext cx="3200400"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case_full.md and case_context.md</a:t>
            </a:r>
          </a:p>
          <a:p>
            <a:pPr algn="l">
              <a:lnSpc>
                <a:spcPct val="115000"/>
              </a:lnSpc>
            </a:pPr>
            <a:r>
              <a:rPr sz="1300">
                <a:solidFill>
                  <a:srgbClr val="1F2621"/>
                </a:solidFill>
                <a:latin typeface="Aptos"/>
              </a:rPr>
              <a:t>- case_comp_data.csv</a:t>
            </a:r>
          </a:p>
          <a:p>
            <a:pPr algn="l">
              <a:lnSpc>
                <a:spcPct val="115000"/>
              </a:lnSpc>
            </a:pPr>
            <a:r>
              <a:rPr sz="1300">
                <a:solidFill>
                  <a:srgbClr val="1F2621"/>
                </a:solidFill>
                <a:latin typeface="Aptos"/>
              </a:rPr>
              <a:t>- outputs/question_1.md through outputs/question_9.md</a:t>
            </a:r>
          </a:p>
          <a:p>
            <a:pPr algn="l">
              <a:lnSpc>
                <a:spcPct val="115000"/>
              </a:lnSpc>
            </a:pPr>
            <a:r>
              <a:rPr sz="1300">
                <a:solidFill>
                  <a:srgbClr val="1F2621"/>
                </a:solidFill>
                <a:latin typeface="Aptos"/>
              </a:rPr>
              <a:t>- q5 to q7 profitability scenario CSVs</a:t>
            </a:r>
          </a:p>
          <a:p>
            <a:pPr algn="l">
              <a:lnSpc>
                <a:spcPct val="115000"/>
              </a:lnSpc>
            </a:pPr>
            <a:r>
              <a:rPr sz="1300">
                <a:solidFill>
                  <a:srgbClr val="1F2621"/>
                </a:solidFill>
                <a:latin typeface="Aptos"/>
              </a:rPr>
              <a:t>- q8 seasonality CSVs and charts</a:t>
            </a:r>
          </a:p>
        </p:txBody>
      </p:sp>
      <p:sp>
        <p:nvSpPr>
          <p:cNvPr id="15" name="TextBox 14"/>
          <p:cNvSpPr txBox="1"/>
          <p:nvPr/>
        </p:nvSpPr>
        <p:spPr>
          <a:xfrm>
            <a:off x="4736592" y="1901952"/>
            <a:ext cx="219456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Core assumptions</a:t>
            </a:r>
          </a:p>
        </p:txBody>
      </p:sp>
      <p:sp>
        <p:nvSpPr>
          <p:cNvPr id="16" name="TextBox 15"/>
          <p:cNvSpPr txBox="1"/>
          <p:nvPr/>
        </p:nvSpPr>
        <p:spPr>
          <a:xfrm>
            <a:off x="4736592" y="2240280"/>
            <a:ext cx="2670048"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- 20,000-unit comparable city scorecards</a:t>
            </a:r>
          </a:p>
          <a:p>
            <a:pPr algn="l">
              <a:lnSpc>
                <a:spcPct val="115000"/>
              </a:lnSpc>
            </a:pPr>
            <a:r>
              <a:rPr sz="1300">
                <a:solidFill>
                  <a:srgbClr val="1F2621"/>
                </a:solidFill>
                <a:latin typeface="Aptos"/>
              </a:rPr>
              <a:t>- June 2025 retail price used as June 2026 proxy</a:t>
            </a:r>
          </a:p>
          <a:p>
            <a:pPr algn="l">
              <a:lnSpc>
                <a:spcPct val="115000"/>
              </a:lnSpc>
            </a:pPr>
            <a:r>
              <a:rPr sz="1300">
                <a:solidFill>
                  <a:srgbClr val="1F2621"/>
                </a:solidFill>
                <a:latin typeface="Aptos"/>
              </a:rPr>
              <a:t>- Wholesale price modeled at 40% of retail</a:t>
            </a:r>
          </a:p>
          <a:p>
            <a:pPr algn="l">
              <a:lnSpc>
                <a:spcPct val="115000"/>
              </a:lnSpc>
            </a:pPr>
            <a:r>
              <a:rPr sz="1300">
                <a:solidFill>
                  <a:srgbClr val="1F2621"/>
                </a:solidFill>
                <a:latin typeface="Aptos"/>
              </a:rPr>
              <a:t>- $0.20 acquisition cost per avocado</a:t>
            </a:r>
          </a:p>
          <a:p>
            <a:pPr algn="l">
              <a:lnSpc>
                <a:spcPct val="115000"/>
              </a:lnSpc>
            </a:pPr>
            <a:r>
              <a:rPr sz="1300">
                <a:solidFill>
                  <a:srgbClr val="1F2621"/>
                </a:solidFill>
                <a:latin typeface="Aptos"/>
              </a:rPr>
              <a:t>- Shipping = $1,500 fixed + $50 per 100 miles</a:t>
            </a:r>
          </a:p>
        </p:txBody>
      </p:sp>
      <p:sp>
        <p:nvSpPr>
          <p:cNvPr id="17" name="TextBox 16"/>
          <p:cNvSpPr txBox="1"/>
          <p:nvPr/>
        </p:nvSpPr>
        <p:spPr>
          <a:xfrm>
            <a:off x="8001000" y="1901952"/>
            <a:ext cx="256032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Backup exhibits available</a:t>
            </a:r>
          </a:p>
        </p:txBody>
      </p:sp>
      <p:sp>
        <p:nvSpPr>
          <p:cNvPr id="18" name="TextBox 17"/>
          <p:cNvSpPr txBox="1"/>
          <p:nvPr/>
        </p:nvSpPr>
        <p:spPr>
          <a:xfrm>
            <a:off x="8001000" y="2240280"/>
            <a:ext cx="3154680"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Winner matrix and city trend lines</a:t>
            </a:r>
          </a:p>
          <a:p>
            <a:pPr algn="l">
              <a:lnSpc>
                <a:spcPct val="115000"/>
              </a:lnSpc>
            </a:pPr>
            <a:r>
              <a:rPr sz="1300">
                <a:solidFill>
                  <a:srgbClr val="1F2621"/>
                </a:solidFill>
                <a:latin typeface="Aptos"/>
              </a:rPr>
              <a:t>- Growth/share bridge and elasticity visuals</a:t>
            </a:r>
          </a:p>
          <a:p>
            <a:pPr algn="l">
              <a:lnSpc>
                <a:spcPct val="115000"/>
              </a:lnSpc>
            </a:pPr>
            <a:r>
              <a:rPr sz="1300">
                <a:solidFill>
                  <a:srgbClr val="1F2621"/>
                </a:solidFill>
                <a:latin typeface="Aptos"/>
              </a:rPr>
              <a:t>- Selection matrix, frontier zoom, and freight sensitivity</a:t>
            </a:r>
          </a:p>
          <a:p>
            <a:pPr algn="l">
              <a:lnSpc>
                <a:spcPct val="115000"/>
              </a:lnSpc>
            </a:pPr>
            <a:r>
              <a:rPr sz="1300">
                <a:solidFill>
                  <a:srgbClr val="1F2621"/>
                </a:solidFill>
                <a:latin typeface="Aptos"/>
              </a:rPr>
              <a:t>- Seasonality price and volume charts</a:t>
            </a:r>
          </a:p>
          <a:p>
            <a:pPr algn="l">
              <a:lnSpc>
                <a:spcPct val="115000"/>
              </a:lnSpc>
            </a:pPr>
            <a:r>
              <a:rPr sz="1300">
                <a:solidFill>
                  <a:srgbClr val="1F2621"/>
                </a:solidFill>
                <a:latin typeface="Aptos"/>
              </a:rPr>
              <a:t>- Model caveats and implementation stage gates</a:t>
            </a:r>
          </a:p>
        </p:txBody>
      </p:sp>
      <p:sp>
        <p:nvSpPr>
          <p:cNvPr id="19" name="TextBox 18"/>
          <p:cNvSpPr txBox="1"/>
          <p:nvPr/>
        </p:nvSpPr>
        <p:spPr>
          <a:xfrm>
            <a:off x="896112" y="6071616"/>
            <a:ext cx="10058400" cy="219456"/>
          </a:xfrm>
          <a:prstGeom prst="rect">
            <a:avLst/>
          </a:prstGeom>
          <a:noFill/>
        </p:spPr>
        <p:txBody>
          <a:bodyPr wrap="square" lIns="27432" rIns="27432" tIns="27432" bIns="27432" anchor="t">
            <a:spAutoFit/>
          </a:bodyPr>
          <a:lstStyle/>
          <a:p>
            <a:pPr algn="l"/>
            <a:r>
              <a:rPr sz="1200" b="0">
                <a:solidFill>
                  <a:srgbClr val="5F6B63"/>
                </a:solidFill>
                <a:latin typeface="Aptos"/>
              </a:rPr>
              <a:t>Use this appendix to answer questions on data scope, scenario assumptions, seasonality, or why the five-city recommendation stays stable under freight stress.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