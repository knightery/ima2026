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519672"/>
            <a:ext cx="3108960" cy="164592"/>
          </a:xfrm>
          <a:prstGeom prst="rect">
            <a:avLst/>
          </a:prstGeom>
          <a:noFill/>
        </p:spPr>
        <p:txBody>
          <a:bodyPr wrap="square" lIns="27432" rIns="27432" tIns="27432" bIns="27432" anchor="t">
            <a:spAutoFit/>
          </a:bodyPr>
          <a:lstStyle/>
          <a:p>
            <a:pPr algn="l"/>
            <a:r>
              <a:rPr sz="900" b="0">
                <a:solidFill>
                  <a:srgbClr val="5F6B63"/>
                </a:solidFill>
                <a:latin typeface="Aptos"/>
              </a:rPr>
              <a:t>ANONYMIZED TEAM SUBMISSION</a:t>
            </a:r>
          </a:p>
        </p:txBody>
      </p:sp>
      <p:sp>
        <p:nvSpPr>
          <p:cNvPr id="6" name="TextBox 5"/>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a:t>
            </a:r>
          </a:p>
        </p:txBody>
      </p:sp>
      <p:sp>
        <p:nvSpPr>
          <p:cNvPr id="7" name="Rounded Rectangle 6"/>
          <p:cNvSpPr/>
          <p:nvPr/>
        </p:nvSpPr>
        <p:spPr>
          <a:xfrm>
            <a:off x="10021824" y="256032"/>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40112" y="260604"/>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DECISION DECK</a:t>
            </a:r>
          </a:p>
        </p:txBody>
      </p:sp>
      <p:sp>
        <p:nvSpPr>
          <p:cNvPr id="9" name="TextBox 8"/>
          <p:cNvSpPr txBox="1"/>
          <p:nvPr/>
        </p:nvSpPr>
        <p:spPr>
          <a:xfrm>
            <a:off x="548640" y="859536"/>
            <a:ext cx="5349240" cy="182880"/>
          </a:xfrm>
          <a:prstGeom prst="rect">
            <a:avLst/>
          </a:prstGeom>
          <a:noFill/>
        </p:spPr>
        <p:txBody>
          <a:bodyPr wrap="square" lIns="27432" rIns="27432" tIns="27432" bIns="27432" anchor="t">
            <a:spAutoFit/>
          </a:bodyPr>
          <a:lstStyle/>
          <a:p>
            <a:pPr algn="l"/>
            <a:r>
              <a:rPr sz="1100" b="1">
                <a:solidFill>
                  <a:srgbClr val="5F6B63"/>
                </a:solidFill>
                <a:latin typeface="Aptos"/>
              </a:rPr>
              <a:t>WEST VALLEY FRESH DISTRIBUTION COMPANY</a:t>
            </a:r>
          </a:p>
        </p:txBody>
      </p:sp>
      <p:sp>
        <p:nvSpPr>
          <p:cNvPr id="10" name="TextBox 9"/>
          <p:cNvSpPr txBox="1"/>
          <p:nvPr/>
        </p:nvSpPr>
        <p:spPr>
          <a:xfrm>
            <a:off x="548640" y="1133856"/>
            <a:ext cx="6583680" cy="1737360"/>
          </a:xfrm>
          <a:prstGeom prst="rect">
            <a:avLst/>
          </a:prstGeom>
          <a:noFill/>
        </p:spPr>
        <p:txBody>
          <a:bodyPr wrap="square" lIns="27432" rIns="27432" tIns="27432" bIns="27432" anchor="t">
            <a:spAutoFit/>
          </a:bodyPr>
          <a:lstStyle/>
          <a:p>
            <a:pPr algn="l"/>
            <a:r>
              <a:rPr sz="2900" b="1">
                <a:solidFill>
                  <a:srgbClr val="355C47"/>
                </a:solidFill>
                <a:latin typeface="Aptos Display"/>
              </a:rPr>
              <a:t>A disciplined 5-city pilot is the right way to enter organic Hass avocados</a:t>
            </a:r>
          </a:p>
        </p:txBody>
      </p:sp>
      <p:sp>
        <p:nvSpPr>
          <p:cNvPr id="11" name="TextBox 10"/>
          <p:cNvSpPr txBox="1"/>
          <p:nvPr/>
        </p:nvSpPr>
        <p:spPr>
          <a:xfrm>
            <a:off x="548640" y="2907792"/>
            <a:ext cx="6309360" cy="585216"/>
          </a:xfrm>
          <a:prstGeom prst="rect">
            <a:avLst/>
          </a:prstGeom>
          <a:noFill/>
        </p:spPr>
        <p:txBody>
          <a:bodyPr wrap="square" lIns="27432" rIns="27432" tIns="27432" bIns="27432" anchor="t">
            <a:spAutoFit/>
          </a:bodyPr>
          <a:lstStyle/>
          <a:p>
            <a:pPr algn="l"/>
            <a:r>
              <a:rPr sz="1500" b="0">
                <a:solidFill>
                  <a:srgbClr val="1F2621"/>
                </a:solidFill>
                <a:latin typeface="Aptos"/>
              </a:rPr>
              <a:t>This deck argues for a selective launch, not a broad rollout, by testing price support, organic readiness, freight resilience, and seasonality in the supplied city data.</a:t>
            </a:r>
          </a:p>
        </p:txBody>
      </p:sp>
      <p:sp>
        <p:nvSpPr>
          <p:cNvPr id="12" name="Rounded Rectangle 11"/>
          <p:cNvSpPr/>
          <p:nvPr/>
        </p:nvSpPr>
        <p:spPr>
          <a:xfrm>
            <a:off x="548640" y="3822191"/>
            <a:ext cx="2011680" cy="84124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3931919"/>
            <a:ext cx="1755648" cy="164592"/>
          </a:xfrm>
          <a:prstGeom prst="rect">
            <a:avLst/>
          </a:prstGeom>
          <a:noFill/>
        </p:spPr>
        <p:txBody>
          <a:bodyPr wrap="square" lIns="27432" rIns="27432" tIns="27432" bIns="27432" anchor="t">
            <a:spAutoFit/>
          </a:bodyPr>
          <a:lstStyle/>
          <a:p>
            <a:pPr algn="l"/>
            <a:r>
              <a:rPr sz="1000" b="1">
                <a:solidFill>
                  <a:srgbClr val="5F6B63"/>
                </a:solidFill>
                <a:latin typeface="Aptos"/>
              </a:rPr>
              <a:t>PILOT ORDER</a:t>
            </a:r>
          </a:p>
        </p:txBody>
      </p:sp>
      <p:sp>
        <p:nvSpPr>
          <p:cNvPr id="14" name="TextBox 13"/>
          <p:cNvSpPr txBox="1"/>
          <p:nvPr/>
        </p:nvSpPr>
        <p:spPr>
          <a:xfrm>
            <a:off x="676656" y="4133087"/>
            <a:ext cx="1755648" cy="420624"/>
          </a:xfrm>
          <a:prstGeom prst="rect">
            <a:avLst/>
          </a:prstGeom>
          <a:noFill/>
        </p:spPr>
        <p:txBody>
          <a:bodyPr wrap="square" lIns="27432" rIns="27432" tIns="27432" bIns="27432" anchor="ctr">
            <a:spAutoFit/>
          </a:bodyPr>
          <a:lstStyle/>
          <a:p>
            <a:pPr algn="l"/>
            <a:r>
              <a:rPr sz="1900" b="1">
                <a:solidFill>
                  <a:srgbClr val="355C47"/>
                </a:solidFill>
                <a:latin typeface="Aptos Display"/>
              </a:rPr>
              <a:t>20,000 organic units</a:t>
            </a:r>
          </a:p>
        </p:txBody>
      </p:sp>
      <p:sp>
        <p:nvSpPr>
          <p:cNvPr id="15" name="Rounded Rectangle 14"/>
          <p:cNvSpPr/>
          <p:nvPr/>
        </p:nvSpPr>
        <p:spPr>
          <a:xfrm>
            <a:off x="2724912" y="3822191"/>
            <a:ext cx="1828800" cy="84124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52928" y="3931919"/>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MARKET SCOPE</a:t>
            </a:r>
          </a:p>
        </p:txBody>
      </p:sp>
      <p:sp>
        <p:nvSpPr>
          <p:cNvPr id="17" name="TextBox 16"/>
          <p:cNvSpPr txBox="1"/>
          <p:nvPr/>
        </p:nvSpPr>
        <p:spPr>
          <a:xfrm>
            <a:off x="2852928" y="4133087"/>
            <a:ext cx="1572768" cy="420624"/>
          </a:xfrm>
          <a:prstGeom prst="rect">
            <a:avLst/>
          </a:prstGeom>
          <a:noFill/>
        </p:spPr>
        <p:txBody>
          <a:bodyPr wrap="square" lIns="27432" rIns="27432" tIns="27432" bIns="27432" anchor="ctr">
            <a:spAutoFit/>
          </a:bodyPr>
          <a:lstStyle/>
          <a:p>
            <a:pPr algn="l"/>
            <a:r>
              <a:rPr sz="1900" b="1">
                <a:solidFill>
                  <a:srgbClr val="355C47"/>
                </a:solidFill>
                <a:latin typeface="Aptos Display"/>
              </a:rPr>
              <a:t>40 city markets</a:t>
            </a:r>
          </a:p>
        </p:txBody>
      </p:sp>
      <p:sp>
        <p:nvSpPr>
          <p:cNvPr id="18" name="Rounded Rectangle 17"/>
          <p:cNvSpPr/>
          <p:nvPr/>
        </p:nvSpPr>
        <p:spPr>
          <a:xfrm>
            <a:off x="4901184" y="3822191"/>
            <a:ext cx="1965960" cy="84124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0" y="3931919"/>
            <a:ext cx="1709928" cy="164592"/>
          </a:xfrm>
          <a:prstGeom prst="rect">
            <a:avLst/>
          </a:prstGeom>
          <a:noFill/>
        </p:spPr>
        <p:txBody>
          <a:bodyPr wrap="square" lIns="27432" rIns="27432" tIns="27432" bIns="27432" anchor="t">
            <a:spAutoFit/>
          </a:bodyPr>
          <a:lstStyle/>
          <a:p>
            <a:pPr algn="l"/>
            <a:r>
              <a:rPr sz="1000" b="1">
                <a:solidFill>
                  <a:srgbClr val="5F6B63"/>
                </a:solidFill>
                <a:latin typeface="Aptos"/>
              </a:rPr>
              <a:t>HISTORY</a:t>
            </a:r>
          </a:p>
        </p:txBody>
      </p:sp>
      <p:sp>
        <p:nvSpPr>
          <p:cNvPr id="20" name="TextBox 19"/>
          <p:cNvSpPr txBox="1"/>
          <p:nvPr/>
        </p:nvSpPr>
        <p:spPr>
          <a:xfrm>
            <a:off x="5029200" y="4133087"/>
            <a:ext cx="1709928" cy="420624"/>
          </a:xfrm>
          <a:prstGeom prst="rect">
            <a:avLst/>
          </a:prstGeom>
          <a:noFill/>
        </p:spPr>
        <p:txBody>
          <a:bodyPr wrap="square" lIns="27432" rIns="27432" tIns="27432" bIns="27432" anchor="ctr">
            <a:spAutoFit/>
          </a:bodyPr>
          <a:lstStyle/>
          <a:p>
            <a:pPr algn="l"/>
            <a:r>
              <a:rPr sz="1900" b="1">
                <a:solidFill>
                  <a:srgbClr val="3F728A"/>
                </a:solidFill>
                <a:latin typeface="Aptos Display"/>
              </a:rPr>
              <a:t>2019 to Jun 2025</a:t>
            </a:r>
          </a:p>
        </p:txBody>
      </p:sp>
      <p:sp>
        <p:nvSpPr>
          <p:cNvPr id="21" name="Rounded Rectangle 20"/>
          <p:cNvSpPr/>
          <p:nvPr/>
        </p:nvSpPr>
        <p:spPr>
          <a:xfrm>
            <a:off x="7818120" y="1170432"/>
            <a:ext cx="361188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65008" y="1444752"/>
            <a:ext cx="2560320" cy="182880"/>
          </a:xfrm>
          <a:prstGeom prst="rect">
            <a:avLst/>
          </a:prstGeom>
          <a:noFill/>
        </p:spPr>
        <p:txBody>
          <a:bodyPr wrap="square" lIns="27432" rIns="27432" tIns="27432" bIns="27432" anchor="t">
            <a:spAutoFit/>
          </a:bodyPr>
          <a:lstStyle/>
          <a:p>
            <a:pPr algn="l"/>
            <a:r>
              <a:rPr sz="1100" b="1">
                <a:solidFill>
                  <a:srgbClr val="5F6B63"/>
                </a:solidFill>
                <a:latin typeface="Aptos"/>
              </a:rPr>
              <a:t>DECISION TO PROVE</a:t>
            </a:r>
          </a:p>
        </p:txBody>
      </p:sp>
      <p:sp>
        <p:nvSpPr>
          <p:cNvPr id="23" name="TextBox 22"/>
          <p:cNvSpPr txBox="1"/>
          <p:nvPr/>
        </p:nvSpPr>
        <p:spPr>
          <a:xfrm>
            <a:off x="8065008" y="1737360"/>
            <a:ext cx="2999232" cy="786384"/>
          </a:xfrm>
          <a:prstGeom prst="rect">
            <a:avLst/>
          </a:prstGeom>
          <a:noFill/>
        </p:spPr>
        <p:txBody>
          <a:bodyPr wrap="square" lIns="27432" rIns="27432" tIns="27432" bIns="27432" anchor="t">
            <a:spAutoFit/>
          </a:bodyPr>
          <a:lstStyle/>
          <a:p>
            <a:pPr algn="l"/>
            <a:r>
              <a:rPr sz="2100" b="1">
                <a:solidFill>
                  <a:srgbClr val="355C47"/>
                </a:solidFill>
                <a:latin typeface="Aptos Display"/>
              </a:rPr>
              <a:t>Enter through a disciplined 5-city pilot, then scale only where realized economics hold.</a:t>
            </a:r>
          </a:p>
        </p:txBody>
      </p:sp>
      <p:sp>
        <p:nvSpPr>
          <p:cNvPr id="24" name="TextBox 23"/>
          <p:cNvSpPr txBox="1"/>
          <p:nvPr/>
        </p:nvSpPr>
        <p:spPr>
          <a:xfrm>
            <a:off x="8065008" y="2697480"/>
            <a:ext cx="2880360" cy="164592"/>
          </a:xfrm>
          <a:prstGeom prst="rect">
            <a:avLst/>
          </a:prstGeom>
          <a:noFill/>
        </p:spPr>
        <p:txBody>
          <a:bodyPr wrap="square" lIns="27432" rIns="27432" tIns="27432" bIns="27432" anchor="t">
            <a:spAutoFit/>
          </a:bodyPr>
          <a:lstStyle/>
          <a:p>
            <a:pPr algn="l"/>
            <a:r>
              <a:rPr sz="1000" b="1">
                <a:solidFill>
                  <a:srgbClr val="5F6B63"/>
                </a:solidFill>
                <a:latin typeface="Aptos"/>
              </a:rPr>
              <a:t>THIS DECK TESTS</a:t>
            </a:r>
          </a:p>
        </p:txBody>
      </p:sp>
      <p:sp>
        <p:nvSpPr>
          <p:cNvPr id="25" name="TextBox 24"/>
          <p:cNvSpPr txBox="1"/>
          <p:nvPr/>
        </p:nvSpPr>
        <p:spPr>
          <a:xfrm>
            <a:off x="8065008" y="2926080"/>
            <a:ext cx="2852928" cy="1298448"/>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Whether local price support outweighs simple market size.</a:t>
            </a:r>
          </a:p>
          <a:p>
            <a:pPr algn="l">
              <a:lnSpc>
                <a:spcPct val="115000"/>
              </a:lnSpc>
            </a:pPr>
            <a:r>
              <a:rPr sz="1300">
                <a:solidFill>
                  <a:srgbClr val="1F2621"/>
                </a:solidFill>
                <a:latin typeface="Aptos"/>
              </a:rPr>
              <a:t>- Whether the top-ranked cities survive freight volatility.</a:t>
            </a:r>
          </a:p>
          <a:p>
            <a:pPr algn="l">
              <a:lnSpc>
                <a:spcPct val="115000"/>
              </a:lnSpc>
            </a:pPr>
            <a:r>
              <a:rPr sz="1300">
                <a:solidFill>
                  <a:srgbClr val="1F2621"/>
                </a:solidFill>
                <a:latin typeface="Aptos"/>
              </a:rPr>
              <a:t>- Whether seasonality changes how the pilot should operate.</a:t>
            </a:r>
          </a:p>
        </p:txBody>
      </p:sp>
      <p:sp>
        <p:nvSpPr>
          <p:cNvPr id="26" name="TextBox 25"/>
          <p:cNvSpPr txBox="1"/>
          <p:nvPr/>
        </p:nvSpPr>
        <p:spPr>
          <a:xfrm>
            <a:off x="548640" y="5029200"/>
            <a:ext cx="6400800" cy="411480"/>
          </a:xfrm>
          <a:prstGeom prst="rect">
            <a:avLst/>
          </a:prstGeom>
          <a:noFill/>
        </p:spPr>
        <p:txBody>
          <a:bodyPr wrap="square" lIns="27432" rIns="27432" tIns="27432" bIns="27432" anchor="t">
            <a:spAutoFit/>
          </a:bodyPr>
          <a:lstStyle/>
          <a:p>
            <a:pPr algn="l"/>
            <a:r>
              <a:rPr sz="1200" b="0">
                <a:solidFill>
                  <a:srgbClr val="5F6B63"/>
                </a:solidFill>
                <a:latin typeface="Aptos"/>
              </a:rPr>
              <a:t>Prepared as an anonymized submission for the 2026 IMA Student Case Competition. The deck is designed to stand alone without speaker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EXECUTIVE SUMMARY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West Valley should launch a disciplined 5-city organic pilot</a:t>
            </a:r>
          </a:p>
        </p:txBody>
      </p:sp>
      <p:sp>
        <p:nvSpPr>
          <p:cNvPr id="9" name="Rounded Rectangle 8"/>
          <p:cNvSpPr/>
          <p:nvPr/>
        </p:nvSpPr>
        <p:spPr>
          <a:xfrm>
            <a:off x="658368" y="1627632"/>
            <a:ext cx="653796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901952"/>
            <a:ext cx="2194560" cy="182880"/>
          </a:xfrm>
          <a:prstGeom prst="rect">
            <a:avLst/>
          </a:prstGeom>
          <a:noFill/>
        </p:spPr>
        <p:txBody>
          <a:bodyPr wrap="square" lIns="27432" rIns="27432" tIns="27432" bIns="27432" anchor="t">
            <a:spAutoFit/>
          </a:bodyPr>
          <a:lstStyle/>
          <a:p>
            <a:pPr algn="l"/>
            <a:r>
              <a:rPr sz="1100" b="1">
                <a:solidFill>
                  <a:srgbClr val="5F6B63"/>
                </a:solidFill>
                <a:latin typeface="Aptos"/>
              </a:rPr>
              <a:t>RECOMMENDATION</a:t>
            </a:r>
          </a:p>
        </p:txBody>
      </p:sp>
      <p:sp>
        <p:nvSpPr>
          <p:cNvPr id="11" name="TextBox 10"/>
          <p:cNvSpPr txBox="1"/>
          <p:nvPr/>
        </p:nvSpPr>
        <p:spPr>
          <a:xfrm>
            <a:off x="914400" y="2212848"/>
            <a:ext cx="5577840" cy="713232"/>
          </a:xfrm>
          <a:prstGeom prst="rect">
            <a:avLst/>
          </a:prstGeom>
          <a:noFill/>
        </p:spPr>
        <p:txBody>
          <a:bodyPr wrap="square" lIns="27432" rIns="27432" tIns="27432" bIns="27432" anchor="t">
            <a:spAutoFit/>
          </a:bodyPr>
          <a:lstStyle/>
          <a:p>
            <a:pPr algn="l"/>
            <a:r>
              <a:rPr sz="2500" b="1">
                <a:solidFill>
                  <a:srgbClr val="355C47"/>
                </a:solidFill>
                <a:latin typeface="Aptos Display"/>
              </a:rPr>
              <a:t>Launch Seattle, Boise, Portland, Spokane, and San Diego first.</a:t>
            </a:r>
          </a:p>
        </p:txBody>
      </p:sp>
      <p:sp>
        <p:nvSpPr>
          <p:cNvPr id="12" name="TextBox 11"/>
          <p:cNvSpPr txBox="1"/>
          <p:nvPr/>
        </p:nvSpPr>
        <p:spPr>
          <a:xfrm>
            <a:off x="914400" y="2889504"/>
            <a:ext cx="5440680" cy="475488"/>
          </a:xfrm>
          <a:prstGeom prst="rect">
            <a:avLst/>
          </a:prstGeom>
          <a:noFill/>
        </p:spPr>
        <p:txBody>
          <a:bodyPr wrap="square" lIns="27432" rIns="27432" tIns="27432" bIns="27432" anchor="t">
            <a:spAutoFit/>
          </a:bodyPr>
          <a:lstStyle/>
          <a:p>
            <a:pPr algn="l"/>
            <a:r>
              <a:rPr sz="1500" b="0">
                <a:solidFill>
                  <a:srgbClr val="1F2621"/>
                </a:solidFill>
                <a:latin typeface="Aptos"/>
              </a:rPr>
              <a:t>These five cities combine premium June pricing, organic readiness, and manageable freight better than a broad national rollout.</a:t>
            </a:r>
          </a:p>
        </p:txBody>
      </p:sp>
      <p:sp>
        <p:nvSpPr>
          <p:cNvPr id="13" name="Rounded Rectangle 12"/>
          <p:cNvSpPr/>
          <p:nvPr/>
        </p:nvSpPr>
        <p:spPr>
          <a:xfrm>
            <a:off x="914400" y="3611880"/>
            <a:ext cx="105156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616452"/>
            <a:ext cx="101498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5" name="Rounded Rectangle 14"/>
          <p:cNvSpPr/>
          <p:nvPr/>
        </p:nvSpPr>
        <p:spPr>
          <a:xfrm>
            <a:off x="2048256" y="3611880"/>
            <a:ext cx="96012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66544" y="3616452"/>
            <a:ext cx="923544" cy="219456"/>
          </a:xfrm>
          <a:prstGeom prst="rect">
            <a:avLst/>
          </a:prstGeom>
          <a:noFill/>
        </p:spPr>
        <p:txBody>
          <a:bodyPr wrap="square" lIns="27432" rIns="27432" tIns="27432" bIns="27432" anchor="ctr">
            <a:spAutoFit/>
          </a:bodyPr>
          <a:lstStyle/>
          <a:p>
            <a:pPr algn="ctr"/>
            <a:r>
              <a:rPr sz="1100" b="1">
                <a:solidFill>
                  <a:srgbClr val="FCFAF5"/>
                </a:solidFill>
                <a:latin typeface="Aptos"/>
              </a:rPr>
              <a:t>BOISE</a:t>
            </a:r>
          </a:p>
        </p:txBody>
      </p:sp>
      <p:sp>
        <p:nvSpPr>
          <p:cNvPr id="17" name="Rounded Rectangle 16"/>
          <p:cNvSpPr/>
          <p:nvPr/>
        </p:nvSpPr>
        <p:spPr>
          <a:xfrm>
            <a:off x="3081528" y="3611880"/>
            <a:ext cx="11247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99816" y="3616452"/>
            <a:ext cx="1088136" cy="219456"/>
          </a:xfrm>
          <a:prstGeom prst="rect">
            <a:avLst/>
          </a:prstGeom>
          <a:noFill/>
        </p:spPr>
        <p:txBody>
          <a:bodyPr wrap="square" lIns="27432" rIns="27432" tIns="27432" bIns="27432" anchor="ctr">
            <a:spAutoFit/>
          </a:bodyPr>
          <a:lstStyle/>
          <a:p>
            <a:pPr algn="ctr"/>
            <a:r>
              <a:rPr sz="1100" b="1">
                <a:solidFill>
                  <a:srgbClr val="FCFAF5"/>
                </a:solidFill>
                <a:latin typeface="Aptos"/>
              </a:rPr>
              <a:t>PORTLAND</a:t>
            </a:r>
          </a:p>
        </p:txBody>
      </p:sp>
      <p:sp>
        <p:nvSpPr>
          <p:cNvPr id="19" name="Rounded Rectangle 18"/>
          <p:cNvSpPr/>
          <p:nvPr/>
        </p:nvSpPr>
        <p:spPr>
          <a:xfrm>
            <a:off x="4279392" y="3611880"/>
            <a:ext cx="107899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7680" y="3616452"/>
            <a:ext cx="1042416" cy="219456"/>
          </a:xfrm>
          <a:prstGeom prst="rect">
            <a:avLst/>
          </a:prstGeom>
          <a:noFill/>
        </p:spPr>
        <p:txBody>
          <a:bodyPr wrap="square" lIns="27432" rIns="27432" tIns="27432" bIns="27432" anchor="ctr">
            <a:spAutoFit/>
          </a:bodyPr>
          <a:lstStyle/>
          <a:p>
            <a:pPr algn="ctr"/>
            <a:r>
              <a:rPr sz="1100" b="1">
                <a:solidFill>
                  <a:srgbClr val="FCFAF5"/>
                </a:solidFill>
                <a:latin typeface="Aptos"/>
              </a:rPr>
              <a:t>SPOKANE</a:t>
            </a:r>
          </a:p>
        </p:txBody>
      </p:sp>
      <p:sp>
        <p:nvSpPr>
          <p:cNvPr id="21" name="Rounded Rectangle 20"/>
          <p:cNvSpPr/>
          <p:nvPr/>
        </p:nvSpPr>
        <p:spPr>
          <a:xfrm>
            <a:off x="5431536" y="3611880"/>
            <a:ext cx="1298448"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49824" y="3616452"/>
            <a:ext cx="1261872" cy="219456"/>
          </a:xfrm>
          <a:prstGeom prst="rect">
            <a:avLst/>
          </a:prstGeom>
          <a:noFill/>
        </p:spPr>
        <p:txBody>
          <a:bodyPr wrap="square" lIns="27432" rIns="27432" tIns="27432" bIns="27432" anchor="ctr">
            <a:spAutoFit/>
          </a:bodyPr>
          <a:lstStyle/>
          <a:p>
            <a:pPr algn="ctr"/>
            <a:r>
              <a:rPr sz="1100" b="1">
                <a:solidFill>
                  <a:srgbClr val="FCFAF5"/>
                </a:solidFill>
                <a:latin typeface="Aptos"/>
              </a:rPr>
              <a:t>SAN DIEGO</a:t>
            </a:r>
          </a:p>
        </p:txBody>
      </p:sp>
      <p:sp>
        <p:nvSpPr>
          <p:cNvPr id="23" name="Rounded Rectangle 22"/>
          <p:cNvSpPr/>
          <p:nvPr/>
        </p:nvSpPr>
        <p:spPr>
          <a:xfrm>
            <a:off x="896112" y="4315968"/>
            <a:ext cx="1828800" cy="98755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4425696"/>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AVG PROFIT</a:t>
            </a:r>
          </a:p>
        </p:txBody>
      </p:sp>
      <p:sp>
        <p:nvSpPr>
          <p:cNvPr id="25" name="TextBox 24"/>
          <p:cNvSpPr txBox="1"/>
          <p:nvPr/>
        </p:nvSpPr>
        <p:spPr>
          <a:xfrm>
            <a:off x="1024128" y="4626864"/>
            <a:ext cx="1572768" cy="566928"/>
          </a:xfrm>
          <a:prstGeom prst="rect">
            <a:avLst/>
          </a:prstGeom>
          <a:noFill/>
        </p:spPr>
        <p:txBody>
          <a:bodyPr wrap="square" lIns="27432" rIns="27432" tIns="27432" bIns="27432" anchor="ctr">
            <a:spAutoFit/>
          </a:bodyPr>
          <a:lstStyle/>
          <a:p>
            <a:pPr algn="l"/>
            <a:r>
              <a:rPr sz="1900" b="1">
                <a:solidFill>
                  <a:srgbClr val="355C47"/>
                </a:solidFill>
                <a:latin typeface="Aptos Display"/>
              </a:rPr>
              <a:t>$13.7k</a:t>
            </a:r>
          </a:p>
        </p:txBody>
      </p:sp>
      <p:sp>
        <p:nvSpPr>
          <p:cNvPr id="26" name="Rounded Rectangle 25"/>
          <p:cNvSpPr/>
          <p:nvPr/>
        </p:nvSpPr>
        <p:spPr>
          <a:xfrm>
            <a:off x="2944368" y="4315968"/>
            <a:ext cx="1828800" cy="98755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72384" y="4425696"/>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AVG MARGIN</a:t>
            </a:r>
          </a:p>
        </p:txBody>
      </p:sp>
      <p:sp>
        <p:nvSpPr>
          <p:cNvPr id="28" name="TextBox 27"/>
          <p:cNvSpPr txBox="1"/>
          <p:nvPr/>
        </p:nvSpPr>
        <p:spPr>
          <a:xfrm>
            <a:off x="3072384" y="4626864"/>
            <a:ext cx="1572768" cy="566928"/>
          </a:xfrm>
          <a:prstGeom prst="rect">
            <a:avLst/>
          </a:prstGeom>
          <a:noFill/>
        </p:spPr>
        <p:txBody>
          <a:bodyPr wrap="square" lIns="27432" rIns="27432" tIns="27432" bIns="27432" anchor="ctr">
            <a:spAutoFit/>
          </a:bodyPr>
          <a:lstStyle/>
          <a:p>
            <a:pPr algn="l"/>
            <a:r>
              <a:rPr sz="1900" b="1">
                <a:solidFill>
                  <a:srgbClr val="3F728A"/>
                </a:solidFill>
                <a:latin typeface="Aptos Display"/>
              </a:rPr>
              <a:t>69.7%</a:t>
            </a:r>
          </a:p>
        </p:txBody>
      </p:sp>
      <p:sp>
        <p:nvSpPr>
          <p:cNvPr id="29" name="Rounded Rectangle 28"/>
          <p:cNvSpPr/>
          <p:nvPr/>
        </p:nvSpPr>
        <p:spPr>
          <a:xfrm>
            <a:off x="4992624" y="4315968"/>
            <a:ext cx="1828800" cy="98755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0640" y="4425696"/>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RANK-5 GAP</a:t>
            </a:r>
          </a:p>
        </p:txBody>
      </p:sp>
      <p:sp>
        <p:nvSpPr>
          <p:cNvPr id="31" name="TextBox 30"/>
          <p:cNvSpPr txBox="1"/>
          <p:nvPr/>
        </p:nvSpPr>
        <p:spPr>
          <a:xfrm>
            <a:off x="5120640" y="4626864"/>
            <a:ext cx="1572768" cy="566928"/>
          </a:xfrm>
          <a:prstGeom prst="rect">
            <a:avLst/>
          </a:prstGeom>
          <a:noFill/>
        </p:spPr>
        <p:txBody>
          <a:bodyPr wrap="square" lIns="27432" rIns="27432" tIns="27432" bIns="27432" anchor="ctr">
            <a:spAutoFit/>
          </a:bodyPr>
          <a:lstStyle/>
          <a:p>
            <a:pPr algn="l"/>
            <a:r>
              <a:rPr sz="1900" b="1">
                <a:solidFill>
                  <a:srgbClr val="C58A2A"/>
                </a:solidFill>
                <a:latin typeface="Aptos Display"/>
              </a:rPr>
              <a:t>$1k</a:t>
            </a:r>
          </a:p>
        </p:txBody>
      </p:sp>
      <p:sp>
        <p:nvSpPr>
          <p:cNvPr id="32" name="Rounded Rectangle 31"/>
          <p:cNvSpPr/>
          <p:nvPr/>
        </p:nvSpPr>
        <p:spPr>
          <a:xfrm>
            <a:off x="7479792" y="1737360"/>
            <a:ext cx="4023360" cy="1170432"/>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26096" y="1874520"/>
            <a:ext cx="3730752" cy="219456"/>
          </a:xfrm>
          <a:prstGeom prst="rect">
            <a:avLst/>
          </a:prstGeom>
          <a:noFill/>
        </p:spPr>
        <p:txBody>
          <a:bodyPr wrap="square" lIns="27432" rIns="27432" tIns="27432" bIns="27432" anchor="t">
            <a:spAutoFit/>
          </a:bodyPr>
          <a:lstStyle/>
          <a:p>
            <a:pPr algn="l"/>
            <a:r>
              <a:rPr sz="1100" b="1">
                <a:solidFill>
                  <a:srgbClr val="5F6B63"/>
                </a:solidFill>
                <a:latin typeface="Aptos"/>
              </a:rPr>
              <a:t>WHY THESE CITIES</a:t>
            </a:r>
          </a:p>
        </p:txBody>
      </p:sp>
      <p:sp>
        <p:nvSpPr>
          <p:cNvPr id="34" name="TextBox 33"/>
          <p:cNvSpPr txBox="1"/>
          <p:nvPr/>
        </p:nvSpPr>
        <p:spPr>
          <a:xfrm>
            <a:off x="7626096" y="2121408"/>
            <a:ext cx="3730752" cy="502920"/>
          </a:xfrm>
          <a:prstGeom prst="rect">
            <a:avLst/>
          </a:prstGeom>
          <a:noFill/>
        </p:spPr>
        <p:txBody>
          <a:bodyPr wrap="square" lIns="27432" rIns="27432" tIns="27432" bIns="27432" anchor="t">
            <a:spAutoFit/>
          </a:bodyPr>
          <a:lstStyle/>
          <a:p>
            <a:pPr algn="l"/>
            <a:r>
              <a:rPr sz="2400" b="1">
                <a:solidFill>
                  <a:srgbClr val="355C47"/>
                </a:solidFill>
                <a:latin typeface="Aptos Display"/>
              </a:rPr>
              <a:t>Highest June price support</a:t>
            </a:r>
          </a:p>
        </p:txBody>
      </p:sp>
      <p:sp>
        <p:nvSpPr>
          <p:cNvPr id="35" name="TextBox 34"/>
          <p:cNvSpPr txBox="1"/>
          <p:nvPr/>
        </p:nvSpPr>
        <p:spPr>
          <a:xfrm>
            <a:off x="7626096" y="2615184"/>
            <a:ext cx="3730752" cy="146304"/>
          </a:xfrm>
          <a:prstGeom prst="rect">
            <a:avLst/>
          </a:prstGeom>
          <a:noFill/>
        </p:spPr>
        <p:txBody>
          <a:bodyPr wrap="square" lIns="27432" rIns="27432" tIns="27432" bIns="27432" anchor="t">
            <a:spAutoFit/>
          </a:bodyPr>
          <a:lstStyle/>
          <a:p>
            <a:pPr algn="l"/>
            <a:r>
              <a:rPr sz="1500" b="0">
                <a:solidFill>
                  <a:srgbClr val="1F2621"/>
                </a:solidFill>
                <a:latin typeface="Aptos"/>
              </a:rPr>
              <a:t>The selected five are also the five highest-price June 2025 organic markets in the model.</a:t>
            </a:r>
          </a:p>
        </p:txBody>
      </p:sp>
      <p:sp>
        <p:nvSpPr>
          <p:cNvPr id="36" name="Rounded Rectangle 35"/>
          <p:cNvSpPr/>
          <p:nvPr/>
        </p:nvSpPr>
        <p:spPr>
          <a:xfrm>
            <a:off x="7479792" y="3127248"/>
            <a:ext cx="4023360" cy="1170432"/>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26096" y="3264408"/>
            <a:ext cx="3730752" cy="219456"/>
          </a:xfrm>
          <a:prstGeom prst="rect">
            <a:avLst/>
          </a:prstGeom>
          <a:noFill/>
        </p:spPr>
        <p:txBody>
          <a:bodyPr wrap="square" lIns="27432" rIns="27432" tIns="27432" bIns="27432" anchor="t">
            <a:spAutoFit/>
          </a:bodyPr>
          <a:lstStyle/>
          <a:p>
            <a:pPr algn="l"/>
            <a:r>
              <a:rPr sz="1100" b="1">
                <a:solidFill>
                  <a:srgbClr val="5F6B63"/>
                </a:solidFill>
                <a:latin typeface="Aptos"/>
              </a:rPr>
              <a:t>WHY THE LIST HOLDS</a:t>
            </a:r>
          </a:p>
        </p:txBody>
      </p:sp>
      <p:sp>
        <p:nvSpPr>
          <p:cNvPr id="38" name="TextBox 37"/>
          <p:cNvSpPr txBox="1"/>
          <p:nvPr/>
        </p:nvSpPr>
        <p:spPr>
          <a:xfrm>
            <a:off x="7626096" y="3511296"/>
            <a:ext cx="3730752" cy="502920"/>
          </a:xfrm>
          <a:prstGeom prst="rect">
            <a:avLst/>
          </a:prstGeom>
          <a:noFill/>
        </p:spPr>
        <p:txBody>
          <a:bodyPr wrap="square" lIns="27432" rIns="27432" tIns="27432" bIns="27432" anchor="t">
            <a:spAutoFit/>
          </a:bodyPr>
          <a:lstStyle/>
          <a:p>
            <a:pPr algn="l"/>
            <a:r>
              <a:rPr sz="2400" b="1">
                <a:solidFill>
                  <a:srgbClr val="3F728A"/>
                </a:solidFill>
                <a:latin typeface="Aptos Display"/>
              </a:rPr>
              <a:t>Same 5 cities</a:t>
            </a:r>
          </a:p>
        </p:txBody>
      </p:sp>
      <p:sp>
        <p:nvSpPr>
          <p:cNvPr id="39" name="TextBox 38"/>
          <p:cNvSpPr txBox="1"/>
          <p:nvPr/>
        </p:nvSpPr>
        <p:spPr>
          <a:xfrm>
            <a:off x="7626096" y="4005072"/>
            <a:ext cx="3730752" cy="146304"/>
          </a:xfrm>
          <a:prstGeom prst="rect">
            <a:avLst/>
          </a:prstGeom>
          <a:noFill/>
        </p:spPr>
        <p:txBody>
          <a:bodyPr wrap="square" lIns="27432" rIns="27432" tIns="27432" bIns="27432" anchor="t">
            <a:spAutoFit/>
          </a:bodyPr>
          <a:lstStyle/>
          <a:p>
            <a:pPr algn="l"/>
            <a:r>
              <a:rPr sz="1500" b="0">
                <a:solidFill>
                  <a:srgbClr val="1F2621"/>
                </a:solidFill>
                <a:latin typeface="Aptos"/>
              </a:rPr>
              <a:t>The recommendation is unchanged in the base, +50%, and -50% shipping cases.</a:t>
            </a:r>
          </a:p>
        </p:txBody>
      </p:sp>
      <p:sp>
        <p:nvSpPr>
          <p:cNvPr id="40" name="Rounded Rectangle 39"/>
          <p:cNvSpPr/>
          <p:nvPr/>
        </p:nvSpPr>
        <p:spPr>
          <a:xfrm>
            <a:off x="7479792" y="4517136"/>
            <a:ext cx="4023360" cy="1170432"/>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26096" y="4654296"/>
            <a:ext cx="3730752" cy="219456"/>
          </a:xfrm>
          <a:prstGeom prst="rect">
            <a:avLst/>
          </a:prstGeom>
          <a:noFill/>
        </p:spPr>
        <p:txBody>
          <a:bodyPr wrap="square" lIns="27432" rIns="27432" tIns="27432" bIns="27432" anchor="t">
            <a:spAutoFit/>
          </a:bodyPr>
          <a:lstStyle/>
          <a:p>
            <a:pPr algn="l"/>
            <a:r>
              <a:rPr sz="1100" b="1">
                <a:solidFill>
                  <a:srgbClr val="5F6B63"/>
                </a:solidFill>
                <a:latin typeface="Aptos"/>
              </a:rPr>
              <a:t>HOW TO OPERATE IT</a:t>
            </a:r>
          </a:p>
        </p:txBody>
      </p:sp>
      <p:sp>
        <p:nvSpPr>
          <p:cNvPr id="42" name="TextBox 41"/>
          <p:cNvSpPr txBox="1"/>
          <p:nvPr/>
        </p:nvSpPr>
        <p:spPr>
          <a:xfrm>
            <a:off x="7626096" y="4901184"/>
            <a:ext cx="3730752" cy="502920"/>
          </a:xfrm>
          <a:prstGeom prst="rect">
            <a:avLst/>
          </a:prstGeom>
          <a:noFill/>
        </p:spPr>
        <p:txBody>
          <a:bodyPr wrap="square" lIns="27432" rIns="27432" tIns="27432" bIns="27432" anchor="t">
            <a:spAutoFit/>
          </a:bodyPr>
          <a:lstStyle/>
          <a:p>
            <a:pPr algn="l"/>
            <a:r>
              <a:rPr sz="2400" b="1">
                <a:solidFill>
                  <a:srgbClr val="C58A2A"/>
                </a:solidFill>
                <a:latin typeface="Aptos Display"/>
              </a:rPr>
              <a:t>Pilot before scale</a:t>
            </a:r>
          </a:p>
        </p:txBody>
      </p:sp>
      <p:sp>
        <p:nvSpPr>
          <p:cNvPr id="43" name="TextBox 42"/>
          <p:cNvSpPr txBox="1"/>
          <p:nvPr/>
        </p:nvSpPr>
        <p:spPr>
          <a:xfrm>
            <a:off x="7626096" y="5394960"/>
            <a:ext cx="3730752" cy="146304"/>
          </a:xfrm>
          <a:prstGeom prst="rect">
            <a:avLst/>
          </a:prstGeom>
          <a:noFill/>
        </p:spPr>
        <p:txBody>
          <a:bodyPr wrap="square" lIns="27432" rIns="27432" tIns="27432" bIns="27432" anchor="t">
            <a:spAutoFit/>
          </a:bodyPr>
          <a:lstStyle/>
          <a:p>
            <a:pPr algn="l"/>
            <a:r>
              <a:rPr sz="1500" b="0">
                <a:solidFill>
                  <a:srgbClr val="1F2621"/>
                </a:solidFill>
                <a:latin typeface="Aptos"/>
              </a:rPr>
              <a:t>Run a tight launch first and use seasonality to shift from volume protection to margin protection by month.</a:t>
            </a:r>
          </a:p>
        </p:txBody>
      </p:sp>
      <p:sp>
        <p:nvSpPr>
          <p:cNvPr id="44" name="TextBox 43"/>
          <p:cNvSpPr txBox="1"/>
          <p:nvPr/>
        </p:nvSpPr>
        <p:spPr>
          <a:xfrm>
            <a:off x="548640" y="5577840"/>
            <a:ext cx="10972800" cy="320040"/>
          </a:xfrm>
          <a:prstGeom prst="rect">
            <a:avLst/>
          </a:prstGeom>
          <a:noFill/>
        </p:spPr>
        <p:txBody>
          <a:bodyPr wrap="square" lIns="27432" rIns="27432" tIns="27432" bIns="27432" anchor="t">
            <a:spAutoFit/>
          </a:bodyPr>
          <a:lstStyle/>
          <a:p>
            <a:pPr algn="l"/>
            <a:r>
              <a:rPr sz="1300" b="0">
                <a:solidFill>
                  <a:srgbClr val="5F6B63"/>
                </a:solidFill>
                <a:latin typeface="Aptos"/>
              </a:rPr>
              <a:t>Model note: each city is scored as a comparable 20,000-unit scenario using June 2025 retail price as the June 2026 proxy.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FOUNDATION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Seasonality creates a timing gap between volume and price</a:t>
            </a:r>
          </a:p>
        </p:txBody>
      </p:sp>
      <p:pic>
        <p:nvPicPr>
          <p:cNvPr id="9" name="Picture 8" descr="q8_seasonality_volume.png"/>
          <p:cNvPicPr>
            <a:picLocks noChangeAspect="1"/>
          </p:cNvPicPr>
          <p:nvPr/>
        </p:nvPicPr>
        <p:blipFill>
          <a:blip r:embed="rId2"/>
          <a:stretch>
            <a:fillRect/>
          </a:stretch>
        </p:blipFill>
        <p:spPr>
          <a:xfrm>
            <a:off x="841706" y="1417320"/>
            <a:ext cx="4845403" cy="2834640"/>
          </a:xfrm>
          <a:prstGeom prst="rect">
            <a:avLst/>
          </a:prstGeom>
        </p:spPr>
      </p:pic>
      <p:pic>
        <p:nvPicPr>
          <p:cNvPr id="10" name="Picture 9" descr="q8_seasonality_price.png"/>
          <p:cNvPicPr>
            <a:picLocks noChangeAspect="1"/>
          </p:cNvPicPr>
          <p:nvPr/>
        </p:nvPicPr>
        <p:blipFill>
          <a:blip r:embed="rId3"/>
          <a:stretch>
            <a:fillRect/>
          </a:stretch>
        </p:blipFill>
        <p:spPr>
          <a:xfrm>
            <a:off x="6517299" y="1417320"/>
            <a:ext cx="4832777" cy="2834640"/>
          </a:xfrm>
          <a:prstGeom prst="rect">
            <a:avLst/>
          </a:prstGeom>
        </p:spPr>
      </p:pic>
      <p:sp>
        <p:nvSpPr>
          <p:cNvPr id="11" name="TextBox 10"/>
          <p:cNvSpPr txBox="1"/>
          <p:nvPr/>
        </p:nvSpPr>
        <p:spPr>
          <a:xfrm>
            <a:off x="566928" y="4407408"/>
            <a:ext cx="5349240" cy="420624"/>
          </a:xfrm>
          <a:prstGeom prst="rect">
            <a:avLst/>
          </a:prstGeom>
          <a:noFill/>
        </p:spPr>
        <p:txBody>
          <a:bodyPr wrap="square" lIns="27432" rIns="27432" tIns="27432" bIns="27432" anchor="t">
            <a:spAutoFit/>
          </a:bodyPr>
          <a:lstStyle/>
          <a:p>
            <a:pPr algn="l"/>
            <a:r>
              <a:rPr sz="1300" b="0">
                <a:solidFill>
                  <a:srgbClr val="1F2621"/>
                </a:solidFill>
                <a:latin typeface="Aptos"/>
              </a:rPr>
              <a:t>Volume arrives early. Organic volume peaks in January, conventional peaks in May, and both soften into November.</a:t>
            </a:r>
          </a:p>
        </p:txBody>
      </p:sp>
      <p:sp>
        <p:nvSpPr>
          <p:cNvPr id="12" name="TextBox 11"/>
          <p:cNvSpPr txBox="1"/>
          <p:nvPr/>
        </p:nvSpPr>
        <p:spPr>
          <a:xfrm>
            <a:off x="6236208" y="4407408"/>
            <a:ext cx="5349240" cy="420624"/>
          </a:xfrm>
          <a:prstGeom prst="rect">
            <a:avLst/>
          </a:prstGeom>
          <a:noFill/>
        </p:spPr>
        <p:txBody>
          <a:bodyPr wrap="square" lIns="27432" rIns="27432" tIns="27432" bIns="27432" anchor="t">
            <a:spAutoFit/>
          </a:bodyPr>
          <a:lstStyle/>
          <a:p>
            <a:pPr algn="l"/>
            <a:r>
              <a:rPr sz="1300" b="0">
                <a:solidFill>
                  <a:srgbClr val="1F2621"/>
                </a:solidFill>
                <a:latin typeface="Aptos"/>
              </a:rPr>
              <a:t>Price crests later. Both organic and conventional prices peak in July and bottom in February.</a:t>
            </a:r>
          </a:p>
        </p:txBody>
      </p:sp>
      <p:sp>
        <p:nvSpPr>
          <p:cNvPr id="13" name="TextBox 12"/>
          <p:cNvSpPr txBox="1"/>
          <p:nvPr/>
        </p:nvSpPr>
        <p:spPr>
          <a:xfrm>
            <a:off x="566928" y="4919472"/>
            <a:ext cx="10835640" cy="512064"/>
          </a:xfrm>
          <a:prstGeom prst="rect">
            <a:avLst/>
          </a:prstGeom>
          <a:noFill/>
        </p:spPr>
        <p:txBody>
          <a:bodyPr wrap="square" lIns="27432" rIns="27432" tIns="27432" bIns="27432" anchor="t">
            <a:spAutoFit/>
          </a:bodyPr>
          <a:lstStyle/>
          <a:p>
            <a:pPr algn="l"/>
            <a:r>
              <a:rPr sz="1700" b="0">
                <a:solidFill>
                  <a:srgbClr val="5F6B63"/>
                </a:solidFill>
                <a:latin typeface="Aptos"/>
              </a:rPr>
              <a:t>The market absorbs more units before it offers peak pricing, so timing affects margin capture, promotions, and inventory allocation.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FOUNDATION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4</a:t>
            </a:r>
          </a:p>
        </p:txBody>
      </p:sp>
      <p:sp>
        <p:nvSpPr>
          <p:cNvPr id="8" name="Rounded Rectangle 7"/>
          <p:cNvSpPr/>
          <p:nvPr/>
        </p:nvSpPr>
        <p:spPr>
          <a:xfrm>
            <a:off x="384048" y="676656"/>
            <a:ext cx="11430000" cy="50749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eck_q2_growth_share.png"/>
          <p:cNvPicPr>
            <a:picLocks noChangeAspect="1"/>
          </p:cNvPicPr>
          <p:nvPr/>
        </p:nvPicPr>
        <p:blipFill>
          <a:blip r:embed="rId2"/>
          <a:stretch>
            <a:fillRect/>
          </a:stretch>
        </p:blipFill>
        <p:spPr>
          <a:xfrm>
            <a:off x="716359" y="841248"/>
            <a:ext cx="10728801" cy="4736592"/>
          </a:xfrm>
          <a:prstGeom prst="rect">
            <a:avLst/>
          </a:prstGeom>
        </p:spPr>
      </p:pic>
      <p:sp>
        <p:nvSpPr>
          <p:cNvPr id="10" name="Rounded Rectangle 9"/>
          <p:cNvSpPr/>
          <p:nvPr/>
        </p:nvSpPr>
        <p:spPr>
          <a:xfrm>
            <a:off x="621792" y="5504688"/>
            <a:ext cx="10972800" cy="6583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49808" y="5614416"/>
            <a:ext cx="1051560" cy="43891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5669280"/>
            <a:ext cx="941832" cy="329184"/>
          </a:xfrm>
          <a:prstGeom prst="rect">
            <a:avLst/>
          </a:prstGeom>
          <a:noFill/>
        </p:spPr>
        <p:txBody>
          <a:bodyPr wrap="square" lIns="27432" rIns="27432" tIns="27432" bIns="27432" anchor="ctr">
            <a:spAutoFit/>
          </a:bodyPr>
          <a:lstStyle/>
          <a:p>
            <a:pPr algn="ctr"/>
            <a:r>
              <a:rPr sz="1000" b="1">
                <a:solidFill>
                  <a:srgbClr val="FCFAF5"/>
                </a:solidFill>
                <a:latin typeface="Aptos"/>
              </a:rPr>
              <a:t>TAKEAWAY</a:t>
            </a:r>
          </a:p>
        </p:txBody>
      </p:sp>
      <p:sp>
        <p:nvSpPr>
          <p:cNvPr id="13" name="TextBox 12"/>
          <p:cNvSpPr txBox="1"/>
          <p:nvPr/>
        </p:nvSpPr>
        <p:spPr>
          <a:xfrm>
            <a:off x="1993392" y="5596128"/>
            <a:ext cx="7178040" cy="475488"/>
          </a:xfrm>
          <a:prstGeom prst="rect">
            <a:avLst/>
          </a:prstGeom>
          <a:noFill/>
        </p:spPr>
        <p:txBody>
          <a:bodyPr wrap="square" lIns="27432" rIns="27432" tIns="27432" bIns="27432" anchor="ctr">
            <a:spAutoFit/>
          </a:bodyPr>
          <a:lstStyle/>
          <a:p>
            <a:pPr algn="l"/>
            <a:r>
              <a:rPr sz="1200" b="1">
                <a:solidFill>
                  <a:srgbClr val="1F2621"/>
                </a:solidFill>
                <a:latin typeface="Aptos"/>
              </a:rPr>
              <a:t>Organic is still a niche share of the total market, but it is growing materially faster than the overall Hass category.</a:t>
            </a:r>
          </a:p>
        </p:txBody>
      </p:sp>
      <p:cxnSp>
        <p:nvCxnSpPr>
          <p:cNvPr id="14" name="Connector 13"/>
          <p:cNvCxnSpPr/>
          <p:nvPr/>
        </p:nvCxnSpPr>
        <p:spPr>
          <a:xfrm>
            <a:off x="9262872" y="5632704"/>
            <a:ext cx="0" cy="40233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427464" y="5596128"/>
            <a:ext cx="1938528" cy="475488"/>
          </a:xfrm>
          <a:prstGeom prst="rect">
            <a:avLst/>
          </a:prstGeom>
          <a:noFill/>
        </p:spPr>
        <p:txBody>
          <a:bodyPr wrap="square" lIns="27432" rIns="27432" tIns="27432" bIns="27432" anchor="ctr">
            <a:spAutoFit/>
          </a:bodyPr>
          <a:lstStyle/>
          <a:p>
            <a:pPr algn="l"/>
            <a:r>
              <a:rPr sz="1000" b="0">
                <a:solidFill>
                  <a:srgbClr val="5F6B63"/>
                </a:solidFill>
                <a:latin typeface="Aptos"/>
              </a:rPr>
              <a:t>Use this as market context, not as a launch recommendation by itself.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FOUNDATION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pilot screen should be price support, organic readiness, and route efficiency</a:t>
            </a:r>
          </a:p>
        </p:txBody>
      </p:sp>
      <p:sp>
        <p:nvSpPr>
          <p:cNvPr id="9" name="Rounded Rectangle 8"/>
          <p:cNvSpPr/>
          <p:nvPr/>
        </p:nvSpPr>
        <p:spPr>
          <a:xfrm>
            <a:off x="713232" y="1682496"/>
            <a:ext cx="10789920" cy="33832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901952"/>
            <a:ext cx="1463040" cy="164592"/>
          </a:xfrm>
          <a:prstGeom prst="rect">
            <a:avLst/>
          </a:prstGeom>
          <a:noFill/>
        </p:spPr>
        <p:txBody>
          <a:bodyPr wrap="square" lIns="27432" rIns="27432" tIns="27432" bIns="27432" anchor="t">
            <a:spAutoFit/>
          </a:bodyPr>
          <a:lstStyle/>
          <a:p>
            <a:pPr algn="l"/>
            <a:r>
              <a:rPr sz="1000" b="1">
                <a:solidFill>
                  <a:srgbClr val="5F6B63"/>
                </a:solidFill>
                <a:latin typeface="Aptos"/>
              </a:rPr>
              <a:t>FILTER</a:t>
            </a:r>
          </a:p>
        </p:txBody>
      </p:sp>
      <p:sp>
        <p:nvSpPr>
          <p:cNvPr id="11" name="TextBox 10"/>
          <p:cNvSpPr txBox="1"/>
          <p:nvPr/>
        </p:nvSpPr>
        <p:spPr>
          <a:xfrm>
            <a:off x="2487168" y="1901952"/>
            <a:ext cx="2788920" cy="164592"/>
          </a:xfrm>
          <a:prstGeom prst="rect">
            <a:avLst/>
          </a:prstGeom>
          <a:noFill/>
        </p:spPr>
        <p:txBody>
          <a:bodyPr wrap="square" lIns="27432" rIns="27432" tIns="27432" bIns="27432" anchor="t">
            <a:spAutoFit/>
          </a:bodyPr>
          <a:lstStyle/>
          <a:p>
            <a:pPr algn="l"/>
            <a:r>
              <a:rPr sz="1000" b="1">
                <a:solidFill>
                  <a:srgbClr val="5F6B63"/>
                </a:solidFill>
                <a:latin typeface="Aptos"/>
              </a:rPr>
              <a:t>WHAT GOOD LOOKS LIKE</a:t>
            </a:r>
          </a:p>
        </p:txBody>
      </p:sp>
      <p:sp>
        <p:nvSpPr>
          <p:cNvPr id="12" name="TextBox 11"/>
          <p:cNvSpPr txBox="1"/>
          <p:nvPr/>
        </p:nvSpPr>
        <p:spPr>
          <a:xfrm>
            <a:off x="5385816" y="1901952"/>
            <a:ext cx="4800600" cy="164592"/>
          </a:xfrm>
          <a:prstGeom prst="rect">
            <a:avLst/>
          </a:prstGeom>
          <a:noFill/>
        </p:spPr>
        <p:txBody>
          <a:bodyPr wrap="square" lIns="27432" rIns="27432" tIns="27432" bIns="27432" anchor="t">
            <a:spAutoFit/>
          </a:bodyPr>
          <a:lstStyle/>
          <a:p>
            <a:pPr algn="l"/>
            <a:r>
              <a:rPr sz="1000" b="1">
                <a:solidFill>
                  <a:srgbClr val="5F6B63"/>
                </a:solidFill>
                <a:latin typeface="Aptos"/>
              </a:rPr>
              <a:t>EVIDENCE IN THE MODEL</a:t>
            </a:r>
          </a:p>
        </p:txBody>
      </p:sp>
      <p:sp>
        <p:nvSpPr>
          <p:cNvPr id="13" name="TextBox 12"/>
          <p:cNvSpPr txBox="1"/>
          <p:nvPr/>
        </p:nvSpPr>
        <p:spPr>
          <a:xfrm>
            <a:off x="10296144" y="1901952"/>
            <a:ext cx="1920240" cy="164592"/>
          </a:xfrm>
          <a:prstGeom prst="rect">
            <a:avLst/>
          </a:prstGeom>
          <a:noFill/>
        </p:spPr>
        <p:txBody>
          <a:bodyPr wrap="square" lIns="27432" rIns="27432" tIns="27432" bIns="27432" anchor="t">
            <a:spAutoFit/>
          </a:bodyPr>
          <a:lstStyle/>
          <a:p>
            <a:pPr algn="l"/>
            <a:r>
              <a:rPr sz="1000" b="1">
                <a:solidFill>
                  <a:srgbClr val="5F6B63"/>
                </a:solidFill>
                <a:latin typeface="Aptos"/>
              </a:rPr>
              <a:t>WHY IT MATTERS</a:t>
            </a:r>
          </a:p>
        </p:txBody>
      </p:sp>
      <p:sp>
        <p:nvSpPr>
          <p:cNvPr id="14" name="Rounded Rectangle 13"/>
          <p:cNvSpPr/>
          <p:nvPr/>
        </p:nvSpPr>
        <p:spPr>
          <a:xfrm>
            <a:off x="914400" y="2249424"/>
            <a:ext cx="1261872" cy="676656"/>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2404872"/>
            <a:ext cx="1078992" cy="256032"/>
          </a:xfrm>
          <a:prstGeom prst="rect">
            <a:avLst/>
          </a:prstGeom>
          <a:noFill/>
        </p:spPr>
        <p:txBody>
          <a:bodyPr wrap="square" lIns="27432" rIns="27432" tIns="27432" bIns="27432" anchor="ctr">
            <a:spAutoFit/>
          </a:bodyPr>
          <a:lstStyle/>
          <a:p>
            <a:pPr algn="ctr"/>
            <a:r>
              <a:rPr sz="1300" b="1">
                <a:solidFill>
                  <a:srgbClr val="FCFAF5"/>
                </a:solidFill>
                <a:latin typeface="Aptos Display"/>
              </a:rPr>
              <a:t>Price support</a:t>
            </a:r>
          </a:p>
        </p:txBody>
      </p:sp>
      <p:sp>
        <p:nvSpPr>
          <p:cNvPr id="16" name="TextBox 15"/>
          <p:cNvSpPr txBox="1"/>
          <p:nvPr/>
        </p:nvSpPr>
        <p:spPr>
          <a:xfrm>
            <a:off x="2450592" y="2322576"/>
            <a:ext cx="2651760" cy="512064"/>
          </a:xfrm>
          <a:prstGeom prst="rect">
            <a:avLst/>
          </a:prstGeom>
          <a:noFill/>
        </p:spPr>
        <p:txBody>
          <a:bodyPr wrap="square" lIns="27432" rIns="27432" tIns="27432" bIns="27432" anchor="t">
            <a:spAutoFit/>
          </a:bodyPr>
          <a:lstStyle/>
          <a:p>
            <a:pPr algn="l"/>
            <a:r>
              <a:rPr sz="1400" b="1">
                <a:solidFill>
                  <a:srgbClr val="355C47"/>
                </a:solidFill>
                <a:latin typeface="Aptos Display"/>
              </a:rPr>
              <a:t>$2.09 to $2.66 June pricing</a:t>
            </a:r>
          </a:p>
        </p:txBody>
      </p:sp>
      <p:sp>
        <p:nvSpPr>
          <p:cNvPr id="17" name="TextBox 16"/>
          <p:cNvSpPr txBox="1"/>
          <p:nvPr/>
        </p:nvSpPr>
        <p:spPr>
          <a:xfrm>
            <a:off x="5285232" y="2304288"/>
            <a:ext cx="4526280" cy="548640"/>
          </a:xfrm>
          <a:prstGeom prst="rect">
            <a:avLst/>
          </a:prstGeom>
          <a:noFill/>
        </p:spPr>
        <p:txBody>
          <a:bodyPr wrap="square" lIns="27432" rIns="27432" tIns="27432" bIns="27432" anchor="t">
            <a:spAutoFit/>
          </a:bodyPr>
          <a:lstStyle/>
          <a:p>
            <a:pPr algn="l"/>
            <a:r>
              <a:rPr sz="1200" b="0">
                <a:solidFill>
                  <a:srgbClr val="1F2621"/>
                </a:solidFill>
                <a:latin typeface="Aptos"/>
              </a:rPr>
              <a:t>The selected five are also the five highest-price June 2025 organic markets.</a:t>
            </a:r>
          </a:p>
        </p:txBody>
      </p:sp>
      <p:sp>
        <p:nvSpPr>
          <p:cNvPr id="18" name="TextBox 17"/>
          <p:cNvSpPr txBox="1"/>
          <p:nvPr/>
        </p:nvSpPr>
        <p:spPr>
          <a:xfrm>
            <a:off x="10012680" y="2304288"/>
            <a:ext cx="1097280" cy="548640"/>
          </a:xfrm>
          <a:prstGeom prst="rect">
            <a:avLst/>
          </a:prstGeom>
          <a:noFill/>
        </p:spPr>
        <p:txBody>
          <a:bodyPr wrap="square" lIns="27432" rIns="27432" tIns="27432" bIns="27432" anchor="t">
            <a:spAutoFit/>
          </a:bodyPr>
          <a:lstStyle/>
          <a:p>
            <a:pPr algn="l"/>
            <a:r>
              <a:rPr sz="1200" b="0">
                <a:solidFill>
                  <a:srgbClr val="1F2621"/>
                </a:solidFill>
                <a:latin typeface="Aptos"/>
              </a:rPr>
              <a:t>High local price support matters more than raw market size.</a:t>
            </a:r>
          </a:p>
        </p:txBody>
      </p:sp>
      <p:sp>
        <p:nvSpPr>
          <p:cNvPr id="19" name="Rounded Rectangle 18"/>
          <p:cNvSpPr/>
          <p:nvPr/>
        </p:nvSpPr>
        <p:spPr>
          <a:xfrm>
            <a:off x="914400" y="3127248"/>
            <a:ext cx="1261872" cy="676656"/>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3282696"/>
            <a:ext cx="1078992" cy="256032"/>
          </a:xfrm>
          <a:prstGeom prst="rect">
            <a:avLst/>
          </a:prstGeom>
          <a:noFill/>
        </p:spPr>
        <p:txBody>
          <a:bodyPr wrap="square" lIns="27432" rIns="27432" tIns="27432" bIns="27432" anchor="ctr">
            <a:spAutoFit/>
          </a:bodyPr>
          <a:lstStyle/>
          <a:p>
            <a:pPr algn="ctr"/>
            <a:r>
              <a:rPr sz="1300" b="1">
                <a:solidFill>
                  <a:srgbClr val="FCFAF5"/>
                </a:solidFill>
                <a:latin typeface="Aptos Display"/>
              </a:rPr>
              <a:t>Organic readiness</a:t>
            </a:r>
          </a:p>
        </p:txBody>
      </p:sp>
      <p:sp>
        <p:nvSpPr>
          <p:cNvPr id="21" name="TextBox 20"/>
          <p:cNvSpPr txBox="1"/>
          <p:nvPr/>
        </p:nvSpPr>
        <p:spPr>
          <a:xfrm>
            <a:off x="2450592" y="3200400"/>
            <a:ext cx="2651760" cy="512064"/>
          </a:xfrm>
          <a:prstGeom prst="rect">
            <a:avLst/>
          </a:prstGeom>
          <a:noFill/>
        </p:spPr>
        <p:txBody>
          <a:bodyPr wrap="square" lIns="27432" rIns="27432" tIns="27432" bIns="27432" anchor="t">
            <a:spAutoFit/>
          </a:bodyPr>
          <a:lstStyle/>
          <a:p>
            <a:pPr algn="l"/>
            <a:r>
              <a:rPr sz="1400" b="1">
                <a:solidFill>
                  <a:srgbClr val="3F728A"/>
                </a:solidFill>
                <a:latin typeface="Aptos Display"/>
              </a:rPr>
              <a:t>Seattle leads 5 of 7 periods</a:t>
            </a:r>
          </a:p>
        </p:txBody>
      </p:sp>
      <p:sp>
        <p:nvSpPr>
          <p:cNvPr id="22" name="TextBox 21"/>
          <p:cNvSpPr txBox="1"/>
          <p:nvPr/>
        </p:nvSpPr>
        <p:spPr>
          <a:xfrm>
            <a:off x="5285232" y="3182112"/>
            <a:ext cx="4526280" cy="548640"/>
          </a:xfrm>
          <a:prstGeom prst="rect">
            <a:avLst/>
          </a:prstGeom>
          <a:noFill/>
        </p:spPr>
        <p:txBody>
          <a:bodyPr wrap="square" lIns="27432" rIns="27432" tIns="27432" bIns="27432" anchor="t">
            <a:spAutoFit/>
          </a:bodyPr>
          <a:lstStyle/>
          <a:p>
            <a:pPr algn="l"/>
            <a:r>
              <a:rPr sz="1200" b="0">
                <a:solidFill>
                  <a:srgbClr val="1F2621"/>
                </a:solidFill>
                <a:latin typeface="Aptos"/>
              </a:rPr>
              <a:t>Organic penetration varies by city, so launch markets must show willingness to support premium mix.</a:t>
            </a:r>
          </a:p>
        </p:txBody>
      </p:sp>
      <p:sp>
        <p:nvSpPr>
          <p:cNvPr id="23" name="TextBox 22"/>
          <p:cNvSpPr txBox="1"/>
          <p:nvPr/>
        </p:nvSpPr>
        <p:spPr>
          <a:xfrm>
            <a:off x="10012680" y="3182112"/>
            <a:ext cx="1097280" cy="548640"/>
          </a:xfrm>
          <a:prstGeom prst="rect">
            <a:avLst/>
          </a:prstGeom>
          <a:noFill/>
        </p:spPr>
        <p:txBody>
          <a:bodyPr wrap="square" lIns="27432" rIns="27432" tIns="27432" bIns="27432" anchor="t">
            <a:spAutoFit/>
          </a:bodyPr>
          <a:lstStyle/>
          <a:p>
            <a:pPr algn="l"/>
            <a:r>
              <a:rPr sz="1200" b="0">
                <a:solidFill>
                  <a:srgbClr val="1F2621"/>
                </a:solidFill>
                <a:latin typeface="Aptos"/>
              </a:rPr>
              <a:t>Total avocado scale alone is not enough to choose the right pilot.</a:t>
            </a:r>
          </a:p>
        </p:txBody>
      </p:sp>
      <p:sp>
        <p:nvSpPr>
          <p:cNvPr id="24" name="Rounded Rectangle 23"/>
          <p:cNvSpPr/>
          <p:nvPr/>
        </p:nvSpPr>
        <p:spPr>
          <a:xfrm>
            <a:off x="914400" y="4005072"/>
            <a:ext cx="1261872" cy="676656"/>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160520"/>
            <a:ext cx="1078992" cy="256032"/>
          </a:xfrm>
          <a:prstGeom prst="rect">
            <a:avLst/>
          </a:prstGeom>
          <a:noFill/>
        </p:spPr>
        <p:txBody>
          <a:bodyPr wrap="square" lIns="27432" rIns="27432" tIns="27432" bIns="27432" anchor="ctr">
            <a:spAutoFit/>
          </a:bodyPr>
          <a:lstStyle/>
          <a:p>
            <a:pPr algn="ctr"/>
            <a:r>
              <a:rPr sz="1300" b="1">
                <a:solidFill>
                  <a:srgbClr val="FCFAF5"/>
                </a:solidFill>
                <a:latin typeface="Aptos Display"/>
              </a:rPr>
              <a:t>Route efficiency</a:t>
            </a:r>
          </a:p>
        </p:txBody>
      </p:sp>
      <p:sp>
        <p:nvSpPr>
          <p:cNvPr id="26" name="TextBox 25"/>
          <p:cNvSpPr txBox="1"/>
          <p:nvPr/>
        </p:nvSpPr>
        <p:spPr>
          <a:xfrm>
            <a:off x="2450592" y="4078224"/>
            <a:ext cx="2651760" cy="512064"/>
          </a:xfrm>
          <a:prstGeom prst="rect">
            <a:avLst/>
          </a:prstGeom>
          <a:noFill/>
        </p:spPr>
        <p:txBody>
          <a:bodyPr wrap="square" lIns="27432" rIns="27432" tIns="27432" bIns="27432" anchor="t">
            <a:spAutoFit/>
          </a:bodyPr>
          <a:lstStyle/>
          <a:p>
            <a:pPr algn="l"/>
            <a:r>
              <a:rPr sz="1400" b="1">
                <a:solidFill>
                  <a:srgbClr val="B5533A"/>
                </a:solidFill>
                <a:latin typeface="Aptos Display"/>
              </a:rPr>
              <a:t>$813 to $1.0k profit loss at +50% freight</a:t>
            </a:r>
          </a:p>
        </p:txBody>
      </p:sp>
      <p:sp>
        <p:nvSpPr>
          <p:cNvPr id="27" name="TextBox 26"/>
          <p:cNvSpPr txBox="1"/>
          <p:nvPr/>
        </p:nvSpPr>
        <p:spPr>
          <a:xfrm>
            <a:off x="5285232" y="4059936"/>
            <a:ext cx="4526280" cy="548640"/>
          </a:xfrm>
          <a:prstGeom prst="rect">
            <a:avLst/>
          </a:prstGeom>
          <a:noFill/>
        </p:spPr>
        <p:txBody>
          <a:bodyPr wrap="square" lIns="27432" rIns="27432" tIns="27432" bIns="27432" anchor="t">
            <a:spAutoFit/>
          </a:bodyPr>
          <a:lstStyle/>
          <a:p>
            <a:pPr algn="l"/>
            <a:r>
              <a:rPr sz="1200" b="0">
                <a:solidFill>
                  <a:srgbClr val="1F2621"/>
                </a:solidFill>
                <a:latin typeface="Aptos"/>
              </a:rPr>
              <a:t>The recommended cities keep the same ranking even after a large shipping shock.</a:t>
            </a:r>
          </a:p>
        </p:txBody>
      </p:sp>
      <p:sp>
        <p:nvSpPr>
          <p:cNvPr id="28" name="TextBox 27"/>
          <p:cNvSpPr txBox="1"/>
          <p:nvPr/>
        </p:nvSpPr>
        <p:spPr>
          <a:xfrm>
            <a:off x="10012680" y="4059936"/>
            <a:ext cx="1097280" cy="548640"/>
          </a:xfrm>
          <a:prstGeom prst="rect">
            <a:avLst/>
          </a:prstGeom>
          <a:noFill/>
        </p:spPr>
        <p:txBody>
          <a:bodyPr wrap="square" lIns="27432" rIns="27432" tIns="27432" bIns="27432" anchor="t">
            <a:spAutoFit/>
          </a:bodyPr>
          <a:lstStyle/>
          <a:p>
            <a:pPr algn="l"/>
            <a:r>
              <a:rPr sz="1200" b="0">
                <a:solidFill>
                  <a:srgbClr val="1F2621"/>
                </a:solidFill>
                <a:latin typeface="Aptos"/>
              </a:rPr>
              <a:t>Freight changes margin, but it does not overturn the top-five order.</a:t>
            </a:r>
          </a:p>
        </p:txBody>
      </p:sp>
      <p:sp>
        <p:nvSpPr>
          <p:cNvPr id="29" name="TextBox 28"/>
          <p:cNvSpPr txBox="1"/>
          <p:nvPr/>
        </p:nvSpPr>
        <p:spPr>
          <a:xfrm>
            <a:off x="548640" y="5285232"/>
            <a:ext cx="10881360" cy="320040"/>
          </a:xfrm>
          <a:prstGeom prst="rect">
            <a:avLst/>
          </a:prstGeom>
          <a:noFill/>
        </p:spPr>
        <p:txBody>
          <a:bodyPr wrap="square" lIns="27432" rIns="27432" tIns="27432" bIns="27432" anchor="t">
            <a:spAutoFit/>
          </a:bodyPr>
          <a:lstStyle/>
          <a:p>
            <a:pPr algn="l"/>
            <a:r>
              <a:rPr sz="1300" b="0">
                <a:solidFill>
                  <a:srgbClr val="5F6B63"/>
                </a:solidFill>
                <a:latin typeface="Aptos"/>
              </a:rPr>
              <a:t>These three filters explain why the Pacific Northwest plus San Diego survives the market, mix, and freight tests that follow.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6</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Los Angeles leads dollar sales in every required period and in both types</a:t>
            </a:r>
          </a:p>
        </p:txBody>
      </p:sp>
      <p:sp>
        <p:nvSpPr>
          <p:cNvPr id="9" name="Rounded Rectangle 8"/>
          <p:cNvSpPr/>
          <p:nvPr/>
        </p:nvSpPr>
        <p:spPr>
          <a:xfrm>
            <a:off x="713232" y="1627632"/>
            <a:ext cx="7726679"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47088"/>
            <a:ext cx="2194560" cy="164592"/>
          </a:xfrm>
          <a:prstGeom prst="rect">
            <a:avLst/>
          </a:prstGeom>
          <a:noFill/>
        </p:spPr>
        <p:txBody>
          <a:bodyPr wrap="square" lIns="27432" rIns="27432" tIns="27432" bIns="27432" anchor="t">
            <a:spAutoFit/>
          </a:bodyPr>
          <a:lstStyle/>
          <a:p>
            <a:pPr algn="l"/>
            <a:r>
              <a:rPr sz="1000" b="1">
                <a:solidFill>
                  <a:srgbClr val="5F6B63"/>
                </a:solidFill>
                <a:latin typeface="Aptos"/>
              </a:rPr>
              <a:t>WINNER MATRIX</a:t>
            </a:r>
          </a:p>
        </p:txBody>
      </p:sp>
      <p:graphicFrame>
        <p:nvGraphicFramePr>
          <p:cNvPr id="11" name="Table 10"/>
          <p:cNvGraphicFramePr>
            <a:graphicFrameLocks noGrp="1"/>
          </p:cNvGraphicFramePr>
          <p:nvPr/>
        </p:nvGraphicFramePr>
        <p:xfrm>
          <a:off x="914400" y="2157984"/>
          <a:ext cx="7040880" cy="3474720"/>
        </p:xfrm>
        <a:graphic>
          <a:graphicData uri="http://schemas.openxmlformats.org/drawingml/2006/table">
            <a:tbl>
              <a:tblPr firstRow="1" bandRow="1">
                <a:tableStyleId>{5C22544A-7EE6-4342-B048-85BDC9FD1C3A}</a:tableStyleId>
              </a:tblPr>
              <a:tblGrid>
                <a:gridCol w="914400"/>
                <a:gridCol w="1737360"/>
                <a:gridCol w="1325880"/>
                <a:gridCol w="1737360"/>
                <a:gridCol w="1325880"/>
              </a:tblGrid>
              <a:tr h="434340">
                <a:tc>
                  <a:txBody>
                    <a:bodyPr/>
                    <a:lstStyle/>
                    <a:p>
                      <a:r>
                        <a:rPr sz="1000" b="0">
                          <a:solidFill>
                            <a:srgbClr val="1F2621"/>
                          </a:solidFill>
                          <a:latin typeface="Aptos"/>
                        </a:rPr>
                        <a:t>Period</a:t>
                      </a:r>
                    </a:p>
                  </a:txBody>
                  <a:tcPr>
                    <a:solidFill>
                      <a:srgbClr val="355C47"/>
                    </a:solidFill>
                  </a:tcPr>
                </a:tc>
                <a:tc>
                  <a:txBody>
                    <a:bodyPr/>
                    <a:lstStyle/>
                    <a:p>
                      <a:r>
                        <a:rPr sz="1000" b="0">
                          <a:solidFill>
                            <a:srgbClr val="1F2621"/>
                          </a:solidFill>
                          <a:latin typeface="Aptos"/>
                        </a:rPr>
                        <a:t>Conventional</a:t>
                      </a:r>
                    </a:p>
                  </a:txBody>
                  <a:tcPr>
                    <a:solidFill>
                      <a:srgbClr val="355C47"/>
                    </a:solidFill>
                  </a:tcPr>
                </a:tc>
                <a:tc>
                  <a:txBody>
                    <a:bodyPr/>
                    <a:lstStyle/>
                    <a:p>
                      <a:r>
                        <a:rPr sz="1000" b="0">
                          <a:solidFill>
                            <a:srgbClr val="1F2621"/>
                          </a:solidFill>
                          <a:latin typeface="Aptos"/>
                        </a:rPr>
                        <a:t>Sales</a:t>
                      </a:r>
                    </a:p>
                  </a:txBody>
                  <a:tcPr>
                    <a:solidFill>
                      <a:srgbClr val="355C47"/>
                    </a:solidFill>
                  </a:tcPr>
                </a:tc>
                <a:tc>
                  <a:txBody>
                    <a:bodyPr/>
                    <a:lstStyle/>
                    <a:p>
                      <a:r>
                        <a:rPr sz="1000" b="0">
                          <a:solidFill>
                            <a:srgbClr val="1F2621"/>
                          </a:solidFill>
                          <a:latin typeface="Aptos"/>
                        </a:rPr>
                        <a:t>Organic</a:t>
                      </a:r>
                    </a:p>
                  </a:txBody>
                  <a:tcPr>
                    <a:solidFill>
                      <a:srgbClr val="355C47"/>
                    </a:solidFill>
                  </a:tcPr>
                </a:tc>
                <a:tc>
                  <a:txBody>
                    <a:bodyPr/>
                    <a:lstStyle/>
                    <a:p>
                      <a:r>
                        <a:rPr sz="1000" b="0">
                          <a:solidFill>
                            <a:srgbClr val="1F2621"/>
                          </a:solidFill>
                          <a:latin typeface="Aptos"/>
                        </a:rPr>
                        <a:t>Sales</a:t>
                      </a:r>
                    </a:p>
                  </a:txBody>
                  <a:tcPr>
                    <a:solidFill>
                      <a:srgbClr val="355C47"/>
                    </a:solidFill>
                  </a:tcPr>
                </a:tc>
              </a:tr>
              <a:tr h="434340">
                <a:tc>
                  <a:txBody>
                    <a:bodyPr/>
                    <a:lstStyle/>
                    <a:p>
                      <a:r>
                        <a:rPr sz="1000" b="0">
                          <a:solidFill>
                            <a:srgbClr val="1F2621"/>
                          </a:solidFill>
                          <a:latin typeface="Aptos"/>
                        </a:rPr>
                        <a:t>2019</a:t>
                      </a:r>
                    </a:p>
                  </a:txBody>
                  <a:tcPr>
                    <a:solidFill>
                      <a:srgbClr val="FCFAF5"/>
                    </a:solidFill>
                  </a:tcPr>
                </a:tc>
                <a:tc>
                  <a:txBody>
                    <a:bodyPr/>
                    <a:lstStyle/>
                    <a:p>
                      <a:r>
                        <a:rPr sz="1000" b="0">
                          <a:solidFill>
                            <a:srgbClr val="1F2621"/>
                          </a:solidFill>
                          <a:latin typeface="Aptos"/>
                        </a:rPr>
                        <a:t>Los Angeles</a:t>
                      </a:r>
                    </a:p>
                  </a:txBody>
                  <a:tcPr>
                    <a:solidFill>
                      <a:srgbClr val="FCFAF5"/>
                    </a:solidFill>
                  </a:tcPr>
                </a:tc>
                <a:tc>
                  <a:txBody>
                    <a:bodyPr/>
                    <a:lstStyle/>
                    <a:p>
                      <a:r>
                        <a:rPr sz="1000" b="0">
                          <a:solidFill>
                            <a:srgbClr val="1F2621"/>
                          </a:solidFill>
                          <a:latin typeface="Aptos"/>
                        </a:rPr>
                        <a:t>$168,441,113.66</a:t>
                      </a:r>
                    </a:p>
                  </a:txBody>
                  <a:tcPr>
                    <a:solidFill>
                      <a:srgbClr val="FCFAF5"/>
                    </a:solidFill>
                  </a:tcPr>
                </a:tc>
                <a:tc>
                  <a:txBody>
                    <a:bodyPr/>
                    <a:lstStyle/>
                    <a:p>
                      <a:r>
                        <a:rPr sz="1000" b="0">
                          <a:solidFill>
                            <a:srgbClr val="1F2621"/>
                          </a:solidFill>
                          <a:latin typeface="Aptos"/>
                        </a:rPr>
                        <a:t>Los Angeles</a:t>
                      </a:r>
                    </a:p>
                  </a:txBody>
                  <a:tcPr>
                    <a:solidFill>
                      <a:srgbClr val="FCFAF5"/>
                    </a:solidFill>
                  </a:tcPr>
                </a:tc>
                <a:tc>
                  <a:txBody>
                    <a:bodyPr/>
                    <a:lstStyle/>
                    <a:p>
                      <a:r>
                        <a:rPr sz="1000" b="0">
                          <a:solidFill>
                            <a:srgbClr val="1F2621"/>
                          </a:solidFill>
                          <a:latin typeface="Aptos"/>
                        </a:rPr>
                        <a:t>$9,068,580.19</a:t>
                      </a:r>
                    </a:p>
                  </a:txBody>
                  <a:tcPr>
                    <a:solidFill>
                      <a:srgbClr val="FCFAF5"/>
                    </a:solidFill>
                  </a:tcPr>
                </a:tc>
              </a:tr>
              <a:tr h="434340">
                <a:tc>
                  <a:txBody>
                    <a:bodyPr/>
                    <a:lstStyle/>
                    <a:p>
                      <a:r>
                        <a:rPr sz="1000" b="0">
                          <a:solidFill>
                            <a:srgbClr val="1F2621"/>
                          </a:solidFill>
                          <a:latin typeface="Aptos"/>
                        </a:rPr>
                        <a:t>2020</a:t>
                      </a:r>
                    </a:p>
                  </a:txBody>
                  <a:tcPr>
                    <a:solidFill>
                      <a:srgbClr val="F7F3EC"/>
                    </a:solidFill>
                  </a:tcPr>
                </a:tc>
                <a:tc>
                  <a:txBody>
                    <a:bodyPr/>
                    <a:lstStyle/>
                    <a:p>
                      <a:r>
                        <a:rPr sz="1000" b="0">
                          <a:solidFill>
                            <a:srgbClr val="1F2621"/>
                          </a:solidFill>
                          <a:latin typeface="Aptos"/>
                        </a:rPr>
                        <a:t>Los Angeles</a:t>
                      </a:r>
                    </a:p>
                  </a:txBody>
                  <a:tcPr>
                    <a:solidFill>
                      <a:srgbClr val="F7F3EC"/>
                    </a:solidFill>
                  </a:tcPr>
                </a:tc>
                <a:tc>
                  <a:txBody>
                    <a:bodyPr/>
                    <a:lstStyle/>
                    <a:p>
                      <a:r>
                        <a:rPr sz="1000" b="0">
                          <a:solidFill>
                            <a:srgbClr val="1F2621"/>
                          </a:solidFill>
                          <a:latin typeface="Aptos"/>
                        </a:rPr>
                        <a:t>$183,468,438.65</a:t>
                      </a:r>
                    </a:p>
                  </a:txBody>
                  <a:tcPr>
                    <a:solidFill>
                      <a:srgbClr val="F7F3EC"/>
                    </a:solidFill>
                  </a:tcPr>
                </a:tc>
                <a:tc>
                  <a:txBody>
                    <a:bodyPr/>
                    <a:lstStyle/>
                    <a:p>
                      <a:r>
                        <a:rPr sz="1000" b="0">
                          <a:solidFill>
                            <a:srgbClr val="1F2621"/>
                          </a:solidFill>
                          <a:latin typeface="Aptos"/>
                        </a:rPr>
                        <a:t>Los Angeles</a:t>
                      </a:r>
                    </a:p>
                  </a:txBody>
                  <a:tcPr>
                    <a:solidFill>
                      <a:srgbClr val="F7F3EC"/>
                    </a:solidFill>
                  </a:tcPr>
                </a:tc>
                <a:tc>
                  <a:txBody>
                    <a:bodyPr/>
                    <a:lstStyle/>
                    <a:p>
                      <a:r>
                        <a:rPr sz="1000" b="0">
                          <a:solidFill>
                            <a:srgbClr val="1F2621"/>
                          </a:solidFill>
                          <a:latin typeface="Aptos"/>
                        </a:rPr>
                        <a:t>$11,908,220.99</a:t>
                      </a:r>
                    </a:p>
                  </a:txBody>
                  <a:tcPr>
                    <a:solidFill>
                      <a:srgbClr val="F7F3EC"/>
                    </a:solidFill>
                  </a:tcPr>
                </a:tc>
              </a:tr>
              <a:tr h="434340">
                <a:tc>
                  <a:txBody>
                    <a:bodyPr/>
                    <a:lstStyle/>
                    <a:p>
                      <a:r>
                        <a:rPr sz="1000" b="0">
                          <a:solidFill>
                            <a:srgbClr val="1F2621"/>
                          </a:solidFill>
                          <a:latin typeface="Aptos"/>
                        </a:rPr>
                        <a:t>2021</a:t>
                      </a:r>
                    </a:p>
                  </a:txBody>
                  <a:tcPr>
                    <a:solidFill>
                      <a:srgbClr val="FCFAF5"/>
                    </a:solidFill>
                  </a:tcPr>
                </a:tc>
                <a:tc>
                  <a:txBody>
                    <a:bodyPr/>
                    <a:lstStyle/>
                    <a:p>
                      <a:r>
                        <a:rPr sz="1000" b="0">
                          <a:solidFill>
                            <a:srgbClr val="1F2621"/>
                          </a:solidFill>
                          <a:latin typeface="Aptos"/>
                        </a:rPr>
                        <a:t>Los Angeles</a:t>
                      </a:r>
                    </a:p>
                  </a:txBody>
                  <a:tcPr>
                    <a:solidFill>
                      <a:srgbClr val="FCFAF5"/>
                    </a:solidFill>
                  </a:tcPr>
                </a:tc>
                <a:tc>
                  <a:txBody>
                    <a:bodyPr/>
                    <a:lstStyle/>
                    <a:p>
                      <a:r>
                        <a:rPr sz="1000" b="0">
                          <a:solidFill>
                            <a:srgbClr val="1F2621"/>
                          </a:solidFill>
                          <a:latin typeface="Aptos"/>
                        </a:rPr>
                        <a:t>$185,781,878.55</a:t>
                      </a:r>
                    </a:p>
                  </a:txBody>
                  <a:tcPr>
                    <a:solidFill>
                      <a:srgbClr val="FCFAF5"/>
                    </a:solidFill>
                  </a:tcPr>
                </a:tc>
                <a:tc>
                  <a:txBody>
                    <a:bodyPr/>
                    <a:lstStyle/>
                    <a:p>
                      <a:r>
                        <a:rPr sz="1000" b="0">
                          <a:solidFill>
                            <a:srgbClr val="1F2621"/>
                          </a:solidFill>
                          <a:latin typeface="Aptos"/>
                        </a:rPr>
                        <a:t>Los Angeles</a:t>
                      </a:r>
                    </a:p>
                  </a:txBody>
                  <a:tcPr>
                    <a:solidFill>
                      <a:srgbClr val="FCFAF5"/>
                    </a:solidFill>
                  </a:tcPr>
                </a:tc>
                <a:tc>
                  <a:txBody>
                    <a:bodyPr/>
                    <a:lstStyle/>
                    <a:p>
                      <a:r>
                        <a:rPr sz="1000" b="0">
                          <a:solidFill>
                            <a:srgbClr val="1F2621"/>
                          </a:solidFill>
                          <a:latin typeface="Aptos"/>
                        </a:rPr>
                        <a:t>$12,707,651.17</a:t>
                      </a:r>
                    </a:p>
                  </a:txBody>
                  <a:tcPr>
                    <a:solidFill>
                      <a:srgbClr val="FCFAF5"/>
                    </a:solidFill>
                  </a:tcPr>
                </a:tc>
              </a:tr>
              <a:tr h="434340">
                <a:tc>
                  <a:txBody>
                    <a:bodyPr/>
                    <a:lstStyle/>
                    <a:p>
                      <a:r>
                        <a:rPr sz="1000" b="0">
                          <a:solidFill>
                            <a:srgbClr val="1F2621"/>
                          </a:solidFill>
                          <a:latin typeface="Aptos"/>
                        </a:rPr>
                        <a:t>2022</a:t>
                      </a:r>
                    </a:p>
                  </a:txBody>
                  <a:tcPr>
                    <a:solidFill>
                      <a:srgbClr val="F7F3EC"/>
                    </a:solidFill>
                  </a:tcPr>
                </a:tc>
                <a:tc>
                  <a:txBody>
                    <a:bodyPr/>
                    <a:lstStyle/>
                    <a:p>
                      <a:r>
                        <a:rPr sz="1000" b="0">
                          <a:solidFill>
                            <a:srgbClr val="1F2621"/>
                          </a:solidFill>
                          <a:latin typeface="Aptos"/>
                        </a:rPr>
                        <a:t>Los Angeles</a:t>
                      </a:r>
                    </a:p>
                  </a:txBody>
                  <a:tcPr>
                    <a:solidFill>
                      <a:srgbClr val="F7F3EC"/>
                    </a:solidFill>
                  </a:tcPr>
                </a:tc>
                <a:tc>
                  <a:txBody>
                    <a:bodyPr/>
                    <a:lstStyle/>
                    <a:p>
                      <a:r>
                        <a:rPr sz="1000" b="0">
                          <a:solidFill>
                            <a:srgbClr val="1F2621"/>
                          </a:solidFill>
                          <a:latin typeface="Aptos"/>
                        </a:rPr>
                        <a:t>$200,884,971.76</a:t>
                      </a:r>
                    </a:p>
                  </a:txBody>
                  <a:tcPr>
                    <a:solidFill>
                      <a:srgbClr val="F7F3EC"/>
                    </a:solidFill>
                  </a:tcPr>
                </a:tc>
                <a:tc>
                  <a:txBody>
                    <a:bodyPr/>
                    <a:lstStyle/>
                    <a:p>
                      <a:r>
                        <a:rPr sz="1000" b="0">
                          <a:solidFill>
                            <a:srgbClr val="1F2621"/>
                          </a:solidFill>
                          <a:latin typeface="Aptos"/>
                        </a:rPr>
                        <a:t>Los Angeles</a:t>
                      </a:r>
                    </a:p>
                  </a:txBody>
                  <a:tcPr>
                    <a:solidFill>
                      <a:srgbClr val="F7F3EC"/>
                    </a:solidFill>
                  </a:tcPr>
                </a:tc>
                <a:tc>
                  <a:txBody>
                    <a:bodyPr/>
                    <a:lstStyle/>
                    <a:p>
                      <a:r>
                        <a:rPr sz="1000" b="0">
                          <a:solidFill>
                            <a:srgbClr val="1F2621"/>
                          </a:solidFill>
                          <a:latin typeface="Aptos"/>
                        </a:rPr>
                        <a:t>$11,802,704.11</a:t>
                      </a:r>
                    </a:p>
                  </a:txBody>
                  <a:tcPr>
                    <a:solidFill>
                      <a:srgbClr val="F7F3EC"/>
                    </a:solidFill>
                  </a:tcPr>
                </a:tc>
              </a:tr>
              <a:tr h="434340">
                <a:tc>
                  <a:txBody>
                    <a:bodyPr/>
                    <a:lstStyle/>
                    <a:p>
                      <a:r>
                        <a:rPr sz="1000" b="0">
                          <a:solidFill>
                            <a:srgbClr val="1F2621"/>
                          </a:solidFill>
                          <a:latin typeface="Aptos"/>
                        </a:rPr>
                        <a:t>2023</a:t>
                      </a:r>
                    </a:p>
                  </a:txBody>
                  <a:tcPr>
                    <a:solidFill>
                      <a:srgbClr val="FCFAF5"/>
                    </a:solidFill>
                  </a:tcPr>
                </a:tc>
                <a:tc>
                  <a:txBody>
                    <a:bodyPr/>
                    <a:lstStyle/>
                    <a:p>
                      <a:r>
                        <a:rPr sz="1000" b="0">
                          <a:solidFill>
                            <a:srgbClr val="1F2621"/>
                          </a:solidFill>
                          <a:latin typeface="Aptos"/>
                        </a:rPr>
                        <a:t>Los Angeles</a:t>
                      </a:r>
                    </a:p>
                  </a:txBody>
                  <a:tcPr>
                    <a:solidFill>
                      <a:srgbClr val="FCFAF5"/>
                    </a:solidFill>
                  </a:tcPr>
                </a:tc>
                <a:tc>
                  <a:txBody>
                    <a:bodyPr/>
                    <a:lstStyle/>
                    <a:p>
                      <a:r>
                        <a:rPr sz="1000" b="0">
                          <a:solidFill>
                            <a:srgbClr val="1F2621"/>
                          </a:solidFill>
                          <a:latin typeface="Aptos"/>
                        </a:rPr>
                        <a:t>$183,874,319.76</a:t>
                      </a:r>
                    </a:p>
                  </a:txBody>
                  <a:tcPr>
                    <a:solidFill>
                      <a:srgbClr val="FCFAF5"/>
                    </a:solidFill>
                  </a:tcPr>
                </a:tc>
                <a:tc>
                  <a:txBody>
                    <a:bodyPr/>
                    <a:lstStyle/>
                    <a:p>
                      <a:r>
                        <a:rPr sz="1000" b="0">
                          <a:solidFill>
                            <a:srgbClr val="1F2621"/>
                          </a:solidFill>
                          <a:latin typeface="Aptos"/>
                        </a:rPr>
                        <a:t>Los Angeles</a:t>
                      </a:r>
                    </a:p>
                  </a:txBody>
                  <a:tcPr>
                    <a:solidFill>
                      <a:srgbClr val="FCFAF5"/>
                    </a:solidFill>
                  </a:tcPr>
                </a:tc>
                <a:tc>
                  <a:txBody>
                    <a:bodyPr/>
                    <a:lstStyle/>
                    <a:p>
                      <a:r>
                        <a:rPr sz="1000" b="0">
                          <a:solidFill>
                            <a:srgbClr val="1F2621"/>
                          </a:solidFill>
                          <a:latin typeface="Aptos"/>
                        </a:rPr>
                        <a:t>$11,217,465.08</a:t>
                      </a:r>
                    </a:p>
                  </a:txBody>
                  <a:tcPr>
                    <a:solidFill>
                      <a:srgbClr val="FCFAF5"/>
                    </a:solidFill>
                  </a:tcPr>
                </a:tc>
              </a:tr>
              <a:tr h="434340">
                <a:tc>
                  <a:txBody>
                    <a:bodyPr/>
                    <a:lstStyle/>
                    <a:p>
                      <a:r>
                        <a:rPr sz="1000" b="0">
                          <a:solidFill>
                            <a:srgbClr val="1F2621"/>
                          </a:solidFill>
                          <a:latin typeface="Aptos"/>
                        </a:rPr>
                        <a:t>2024</a:t>
                      </a:r>
                    </a:p>
                  </a:txBody>
                  <a:tcPr>
                    <a:solidFill>
                      <a:srgbClr val="F7F3EC"/>
                    </a:solidFill>
                  </a:tcPr>
                </a:tc>
                <a:tc>
                  <a:txBody>
                    <a:bodyPr/>
                    <a:lstStyle/>
                    <a:p>
                      <a:r>
                        <a:rPr sz="1000" b="0">
                          <a:solidFill>
                            <a:srgbClr val="1F2621"/>
                          </a:solidFill>
                          <a:latin typeface="Aptos"/>
                        </a:rPr>
                        <a:t>Los Angeles</a:t>
                      </a:r>
                    </a:p>
                  </a:txBody>
                  <a:tcPr>
                    <a:solidFill>
                      <a:srgbClr val="F7F3EC"/>
                    </a:solidFill>
                  </a:tcPr>
                </a:tc>
                <a:tc>
                  <a:txBody>
                    <a:bodyPr/>
                    <a:lstStyle/>
                    <a:p>
                      <a:r>
                        <a:rPr sz="1000" b="0">
                          <a:solidFill>
                            <a:srgbClr val="1F2621"/>
                          </a:solidFill>
                          <a:latin typeface="Aptos"/>
                        </a:rPr>
                        <a:t>$211,232,192.30</a:t>
                      </a:r>
                    </a:p>
                  </a:txBody>
                  <a:tcPr>
                    <a:solidFill>
                      <a:srgbClr val="F7F3EC"/>
                    </a:solidFill>
                  </a:tcPr>
                </a:tc>
                <a:tc>
                  <a:txBody>
                    <a:bodyPr/>
                    <a:lstStyle/>
                    <a:p>
                      <a:r>
                        <a:rPr sz="1000" b="0">
                          <a:solidFill>
                            <a:srgbClr val="1F2621"/>
                          </a:solidFill>
                          <a:latin typeface="Aptos"/>
                        </a:rPr>
                        <a:t>Los Angeles</a:t>
                      </a:r>
                    </a:p>
                  </a:txBody>
                  <a:tcPr>
                    <a:solidFill>
                      <a:srgbClr val="F7F3EC"/>
                    </a:solidFill>
                  </a:tcPr>
                </a:tc>
                <a:tc>
                  <a:txBody>
                    <a:bodyPr/>
                    <a:lstStyle/>
                    <a:p>
                      <a:r>
                        <a:rPr sz="1000" b="0">
                          <a:solidFill>
                            <a:srgbClr val="1F2621"/>
                          </a:solidFill>
                          <a:latin typeface="Aptos"/>
                        </a:rPr>
                        <a:t>$15,265,758.39</a:t>
                      </a:r>
                    </a:p>
                  </a:txBody>
                  <a:tcPr>
                    <a:solidFill>
                      <a:srgbClr val="F7F3EC"/>
                    </a:solidFill>
                  </a:tcPr>
                </a:tc>
              </a:tr>
              <a:tr h="434340">
                <a:tc>
                  <a:txBody>
                    <a:bodyPr/>
                    <a:lstStyle/>
                    <a:p>
                      <a:r>
                        <a:rPr sz="1000" b="0">
                          <a:solidFill>
                            <a:srgbClr val="1F2621"/>
                          </a:solidFill>
                          <a:latin typeface="Aptos"/>
                        </a:rPr>
                        <a:t>2025 H1</a:t>
                      </a:r>
                    </a:p>
                  </a:txBody>
                  <a:tcPr>
                    <a:solidFill>
                      <a:srgbClr val="FCFAF5"/>
                    </a:solidFill>
                  </a:tcPr>
                </a:tc>
                <a:tc>
                  <a:txBody>
                    <a:bodyPr/>
                    <a:lstStyle/>
                    <a:p>
                      <a:r>
                        <a:rPr sz="1000" b="0">
                          <a:solidFill>
                            <a:srgbClr val="1F2621"/>
                          </a:solidFill>
                          <a:latin typeface="Aptos"/>
                        </a:rPr>
                        <a:t>Los Angeles</a:t>
                      </a:r>
                    </a:p>
                  </a:txBody>
                  <a:tcPr>
                    <a:solidFill>
                      <a:srgbClr val="FCFAF5"/>
                    </a:solidFill>
                  </a:tcPr>
                </a:tc>
                <a:tc>
                  <a:txBody>
                    <a:bodyPr/>
                    <a:lstStyle/>
                    <a:p>
                      <a:r>
                        <a:rPr sz="1000" b="0">
                          <a:solidFill>
                            <a:srgbClr val="1F2621"/>
                          </a:solidFill>
                          <a:latin typeface="Aptos"/>
                        </a:rPr>
                        <a:t>$113,191,850.63</a:t>
                      </a:r>
                    </a:p>
                  </a:txBody>
                  <a:tcPr>
                    <a:solidFill>
                      <a:srgbClr val="FCFAF5"/>
                    </a:solidFill>
                  </a:tcPr>
                </a:tc>
                <a:tc>
                  <a:txBody>
                    <a:bodyPr/>
                    <a:lstStyle/>
                    <a:p>
                      <a:r>
                        <a:rPr sz="1000" b="0">
                          <a:solidFill>
                            <a:srgbClr val="1F2621"/>
                          </a:solidFill>
                          <a:latin typeface="Aptos"/>
                        </a:rPr>
                        <a:t>Los Angeles</a:t>
                      </a:r>
                    </a:p>
                  </a:txBody>
                  <a:tcPr>
                    <a:solidFill>
                      <a:srgbClr val="FCFAF5"/>
                    </a:solidFill>
                  </a:tcPr>
                </a:tc>
                <a:tc>
                  <a:txBody>
                    <a:bodyPr/>
                    <a:lstStyle/>
                    <a:p>
                      <a:r>
                        <a:rPr sz="1000" b="0">
                          <a:solidFill>
                            <a:srgbClr val="1F2621"/>
                          </a:solidFill>
                          <a:latin typeface="Aptos"/>
                        </a:rPr>
                        <a:t>$8,145,110.53</a:t>
                      </a:r>
                    </a:p>
                  </a:txBody>
                  <a:tcPr>
                    <a:solidFill>
                      <a:srgbClr val="FCFAF5"/>
                    </a:solidFill>
                  </a:tcPr>
                </a:tc>
              </a:tr>
            </a:tbl>
          </a:graphicData>
        </a:graphic>
      </p:graphicFrame>
      <p:sp>
        <p:nvSpPr>
          <p:cNvPr id="12" name="Rounded Rectangle 11"/>
          <p:cNvSpPr/>
          <p:nvPr/>
        </p:nvSpPr>
        <p:spPr>
          <a:xfrm>
            <a:off x="8668512" y="1627632"/>
            <a:ext cx="283464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42832" y="1938528"/>
            <a:ext cx="107899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70848" y="2048256"/>
            <a:ext cx="822960" cy="164592"/>
          </a:xfrm>
          <a:prstGeom prst="rect">
            <a:avLst/>
          </a:prstGeom>
          <a:noFill/>
        </p:spPr>
        <p:txBody>
          <a:bodyPr wrap="square" lIns="27432" rIns="27432" tIns="27432" bIns="27432" anchor="t">
            <a:spAutoFit/>
          </a:bodyPr>
          <a:lstStyle/>
          <a:p>
            <a:pPr algn="ctr"/>
            <a:r>
              <a:rPr sz="1000" b="1">
                <a:solidFill>
                  <a:srgbClr val="5F6B63"/>
                </a:solidFill>
                <a:latin typeface="Aptos"/>
              </a:rPr>
              <a:t>WINNER CELLS</a:t>
            </a:r>
          </a:p>
        </p:txBody>
      </p:sp>
      <p:sp>
        <p:nvSpPr>
          <p:cNvPr id="15" name="TextBox 14"/>
          <p:cNvSpPr txBox="1"/>
          <p:nvPr/>
        </p:nvSpPr>
        <p:spPr>
          <a:xfrm>
            <a:off x="9070848" y="2249424"/>
            <a:ext cx="822960"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14/14</a:t>
            </a:r>
          </a:p>
        </p:txBody>
      </p:sp>
      <p:sp>
        <p:nvSpPr>
          <p:cNvPr id="16" name="Rounded Rectangle 15"/>
          <p:cNvSpPr/>
          <p:nvPr/>
        </p:nvSpPr>
        <p:spPr>
          <a:xfrm>
            <a:off x="10113264" y="1938528"/>
            <a:ext cx="107899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0" y="2048256"/>
            <a:ext cx="822960" cy="164592"/>
          </a:xfrm>
          <a:prstGeom prst="rect">
            <a:avLst/>
          </a:prstGeom>
          <a:noFill/>
        </p:spPr>
        <p:txBody>
          <a:bodyPr wrap="square" lIns="27432" rIns="27432" tIns="27432" bIns="27432" anchor="t">
            <a:spAutoFit/>
          </a:bodyPr>
          <a:lstStyle/>
          <a:p>
            <a:pPr algn="ctr"/>
            <a:r>
              <a:rPr sz="1000" b="1">
                <a:solidFill>
                  <a:srgbClr val="5F6B63"/>
                </a:solidFill>
                <a:latin typeface="Aptos"/>
              </a:rPr>
              <a:t>WINNING CITY</a:t>
            </a:r>
          </a:p>
        </p:txBody>
      </p:sp>
      <p:sp>
        <p:nvSpPr>
          <p:cNvPr id="18" name="TextBox 17"/>
          <p:cNvSpPr txBox="1"/>
          <p:nvPr/>
        </p:nvSpPr>
        <p:spPr>
          <a:xfrm>
            <a:off x="10241280" y="2249424"/>
            <a:ext cx="822960"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LA</a:t>
            </a:r>
          </a:p>
        </p:txBody>
      </p:sp>
      <p:sp>
        <p:nvSpPr>
          <p:cNvPr id="19" name="TextBox 18"/>
          <p:cNvSpPr txBox="1"/>
          <p:nvPr/>
        </p:nvSpPr>
        <p:spPr>
          <a:xfrm>
            <a:off x="8942832" y="3154680"/>
            <a:ext cx="2286000" cy="164592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Los Angeles is the clear scale leader in both conventional and organic revenue.</a:t>
            </a:r>
          </a:p>
          <a:p>
            <a:pPr algn="l">
              <a:lnSpc>
                <a:spcPct val="115000"/>
              </a:lnSpc>
            </a:pPr>
            <a:r>
              <a:rPr sz="1300">
                <a:solidFill>
                  <a:srgbClr val="1F2621"/>
                </a:solidFill>
                <a:latin typeface="Aptos"/>
              </a:rPr>
              <a:t>- This answers the sales question cleanly, but it does not mean Los Angeles is the best pilot market.</a:t>
            </a:r>
          </a:p>
          <a:p>
            <a:pPr algn="l">
              <a:lnSpc>
                <a:spcPct val="115000"/>
              </a:lnSpc>
            </a:pPr>
            <a:r>
              <a:rPr sz="1300">
                <a:solidFill>
                  <a:srgbClr val="1F2621"/>
                </a:solidFill>
                <a:latin typeface="Aptos"/>
              </a:rPr>
              <a:t>- The pilot recommendation still depends on price support, organic readiness, and freight.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Conventional sales leadership is structural, not a one-year spike</a:t>
            </a:r>
          </a:p>
        </p:txBody>
      </p:sp>
      <p:sp>
        <p:nvSpPr>
          <p:cNvPr id="9" name="Rounded Rectangle 8"/>
          <p:cNvSpPr/>
          <p:nvPr/>
        </p:nvSpPr>
        <p:spPr>
          <a:xfrm>
            <a:off x="713232" y="1645920"/>
            <a:ext cx="781812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47088"/>
            <a:ext cx="2651760" cy="164592"/>
          </a:xfrm>
          <a:prstGeom prst="rect">
            <a:avLst/>
          </a:prstGeom>
          <a:noFill/>
        </p:spPr>
        <p:txBody>
          <a:bodyPr wrap="square" lIns="27432" rIns="27432" tIns="27432" bIns="27432" anchor="t">
            <a:spAutoFit/>
          </a:bodyPr>
          <a:lstStyle/>
          <a:p>
            <a:pPr algn="l"/>
            <a:r>
              <a:rPr sz="1000" b="1">
                <a:solidFill>
                  <a:srgbClr val="5F6B63"/>
                </a:solidFill>
                <a:latin typeface="Aptos"/>
              </a:rPr>
              <a:t>TOP 5 CONVENTIONAL CITIES</a:t>
            </a:r>
          </a:p>
        </p:txBody>
      </p:sp>
      <p:graphicFrame>
        <p:nvGraphicFramePr>
          <p:cNvPr id="11" name="Table 10"/>
          <p:cNvGraphicFramePr>
            <a:graphicFrameLocks noGrp="1"/>
          </p:cNvGraphicFramePr>
          <p:nvPr/>
        </p:nvGraphicFramePr>
        <p:xfrm>
          <a:off x="914400" y="2139696"/>
          <a:ext cx="7315200" cy="3566160"/>
        </p:xfrm>
        <a:graphic>
          <a:graphicData uri="http://schemas.openxmlformats.org/drawingml/2006/table">
            <a:tbl>
              <a:tblPr firstRow="1" bandRow="1">
                <a:tableStyleId>{5C22544A-7EE6-4342-B048-85BDC9FD1C3A}</a:tableStyleId>
              </a:tblPr>
              <a:tblGrid>
                <a:gridCol w="914400"/>
                <a:gridCol w="1325880"/>
                <a:gridCol w="1188720"/>
                <a:gridCol w="1325880"/>
                <a:gridCol w="1234440"/>
                <a:gridCol w="1325880"/>
              </a:tblGrid>
              <a:tr h="445770">
                <a:tc>
                  <a:txBody>
                    <a:bodyPr/>
                    <a:lstStyle/>
                    <a:p>
                      <a:r>
                        <a:rPr sz="1000" b="0">
                          <a:solidFill>
                            <a:srgbClr val="1F2621"/>
                          </a:solidFill>
                          <a:latin typeface="Aptos"/>
                        </a:rPr>
                        <a:t>Period</a:t>
                      </a:r>
                    </a:p>
                  </a:txBody>
                  <a:tcPr>
                    <a:solidFill>
                      <a:srgbClr val="355C47"/>
                    </a:solidFill>
                  </a:tcPr>
                </a:tc>
                <a:tc>
                  <a:txBody>
                    <a:bodyPr/>
                    <a:lstStyle/>
                    <a:p>
                      <a:r>
                        <a:rPr sz="1000" b="0">
                          <a:solidFill>
                            <a:srgbClr val="1F2621"/>
                          </a:solidFill>
                          <a:latin typeface="Aptos"/>
                        </a:rPr>
                        <a:t>Balt/Wash</a:t>
                      </a:r>
                    </a:p>
                  </a:txBody>
                  <a:tcPr>
                    <a:solidFill>
                      <a:srgbClr val="355C47"/>
                    </a:solidFill>
                  </a:tcPr>
                </a:tc>
                <a:tc>
                  <a:txBody>
                    <a:bodyPr/>
                    <a:lstStyle/>
                    <a:p>
                      <a:r>
                        <a:rPr sz="1000" b="0">
                          <a:solidFill>
                            <a:srgbClr val="1F2621"/>
                          </a:solidFill>
                          <a:latin typeface="Aptos"/>
                        </a:rPr>
                        <a:t>Dallas/FW</a:t>
                      </a:r>
                    </a:p>
                  </a:txBody>
                  <a:tcPr>
                    <a:solidFill>
                      <a:srgbClr val="355C47"/>
                    </a:solidFill>
                  </a:tcPr>
                </a:tc>
                <a:tc>
                  <a:txBody>
                    <a:bodyPr/>
                    <a:lstStyle/>
                    <a:p>
                      <a:r>
                        <a:rPr sz="1000" b="0">
                          <a:solidFill>
                            <a:srgbClr val="1F2621"/>
                          </a:solidFill>
                          <a:latin typeface="Aptos"/>
                        </a:rPr>
                        <a:t>Los Angeles</a:t>
                      </a:r>
                    </a:p>
                  </a:txBody>
                  <a:tcPr>
                    <a:solidFill>
                      <a:srgbClr val="355C47"/>
                    </a:solidFill>
                  </a:tcPr>
                </a:tc>
                <a:tc>
                  <a:txBody>
                    <a:bodyPr/>
                    <a:lstStyle/>
                    <a:p>
                      <a:r>
                        <a:rPr sz="1000" b="0">
                          <a:solidFill>
                            <a:srgbClr val="1F2621"/>
                          </a:solidFill>
                          <a:latin typeface="Aptos"/>
                        </a:rPr>
                        <a:t>New York</a:t>
                      </a:r>
                    </a:p>
                  </a:txBody>
                  <a:tcPr>
                    <a:solidFill>
                      <a:srgbClr val="355C47"/>
                    </a:solidFill>
                  </a:tcPr>
                </a:tc>
                <a:tc>
                  <a:txBody>
                    <a:bodyPr/>
                    <a:lstStyle/>
                    <a:p>
                      <a:r>
                        <a:rPr sz="1000" b="0">
                          <a:solidFill>
                            <a:srgbClr val="1F2621"/>
                          </a:solidFill>
                          <a:latin typeface="Aptos"/>
                        </a:rPr>
                        <a:t>Phoenix/Tucson</a:t>
                      </a:r>
                    </a:p>
                  </a:txBody>
                  <a:tcPr>
                    <a:solidFill>
                      <a:srgbClr val="355C47"/>
                    </a:solidFill>
                  </a:tcPr>
                </a:tc>
              </a:tr>
              <a:tr h="445770">
                <a:tc>
                  <a:txBody>
                    <a:bodyPr/>
                    <a:lstStyle/>
                    <a:p>
                      <a:r>
                        <a:rPr sz="1000" b="0">
                          <a:solidFill>
                            <a:srgbClr val="1F2621"/>
                          </a:solidFill>
                          <a:latin typeface="Aptos"/>
                        </a:rPr>
                        <a:t>2019</a:t>
                      </a:r>
                    </a:p>
                  </a:txBody>
                  <a:tcPr>
                    <a:solidFill>
                      <a:srgbClr val="FCFAF5"/>
                    </a:solidFill>
                  </a:tcPr>
                </a:tc>
                <a:tc>
                  <a:txBody>
                    <a:bodyPr/>
                    <a:lstStyle/>
                    <a:p>
                      <a:r>
                        <a:rPr sz="1000" b="0">
                          <a:solidFill>
                            <a:srgbClr val="1F2621"/>
                          </a:solidFill>
                          <a:latin typeface="Aptos"/>
                        </a:rPr>
                        <a:t>$59.5M</a:t>
                      </a:r>
                    </a:p>
                  </a:txBody>
                  <a:tcPr>
                    <a:solidFill>
                      <a:srgbClr val="FCFAF5"/>
                    </a:solidFill>
                  </a:tcPr>
                </a:tc>
                <a:tc>
                  <a:txBody>
                    <a:bodyPr/>
                    <a:lstStyle/>
                    <a:p>
                      <a:r>
                        <a:rPr sz="1000" b="0">
                          <a:solidFill>
                            <a:srgbClr val="1F2621"/>
                          </a:solidFill>
                          <a:latin typeface="Aptos"/>
                        </a:rPr>
                        <a:t>$64.4M</a:t>
                      </a:r>
                    </a:p>
                  </a:txBody>
                  <a:tcPr>
                    <a:solidFill>
                      <a:srgbClr val="FCFAF5"/>
                    </a:solidFill>
                  </a:tcPr>
                </a:tc>
                <a:tc>
                  <a:txBody>
                    <a:bodyPr/>
                    <a:lstStyle/>
                    <a:p>
                      <a:r>
                        <a:rPr sz="1000" b="0">
                          <a:solidFill>
                            <a:srgbClr val="1F2621"/>
                          </a:solidFill>
                          <a:latin typeface="Aptos"/>
                        </a:rPr>
                        <a:t>$168.4M</a:t>
                      </a:r>
                    </a:p>
                  </a:txBody>
                  <a:tcPr>
                    <a:solidFill>
                      <a:srgbClr val="FCFAF5"/>
                    </a:solidFill>
                  </a:tcPr>
                </a:tc>
                <a:tc>
                  <a:txBody>
                    <a:bodyPr/>
                    <a:lstStyle/>
                    <a:p>
                      <a:r>
                        <a:rPr sz="1000" b="0">
                          <a:solidFill>
                            <a:srgbClr val="1F2621"/>
                          </a:solidFill>
                          <a:latin typeface="Aptos"/>
                        </a:rPr>
                        <a:t>$117.0M</a:t>
                      </a:r>
                    </a:p>
                  </a:txBody>
                  <a:tcPr>
                    <a:solidFill>
                      <a:srgbClr val="FCFAF5"/>
                    </a:solidFill>
                  </a:tcPr>
                </a:tc>
                <a:tc>
                  <a:txBody>
                    <a:bodyPr/>
                    <a:lstStyle/>
                    <a:p>
                      <a:r>
                        <a:rPr sz="1000" b="0">
                          <a:solidFill>
                            <a:srgbClr val="1F2621"/>
                          </a:solidFill>
                          <a:latin typeface="Aptos"/>
                        </a:rPr>
                        <a:t>$54.4M</a:t>
                      </a:r>
                    </a:p>
                  </a:txBody>
                  <a:tcPr>
                    <a:solidFill>
                      <a:srgbClr val="FCFAF5"/>
                    </a:solidFill>
                  </a:tcPr>
                </a:tc>
              </a:tr>
              <a:tr h="445770">
                <a:tc>
                  <a:txBody>
                    <a:bodyPr/>
                    <a:lstStyle/>
                    <a:p>
                      <a:r>
                        <a:rPr sz="1000" b="0">
                          <a:solidFill>
                            <a:srgbClr val="1F2621"/>
                          </a:solidFill>
                          <a:latin typeface="Aptos"/>
                        </a:rPr>
                        <a:t>2020</a:t>
                      </a:r>
                    </a:p>
                  </a:txBody>
                  <a:tcPr>
                    <a:solidFill>
                      <a:srgbClr val="F7F3EC"/>
                    </a:solidFill>
                  </a:tcPr>
                </a:tc>
                <a:tc>
                  <a:txBody>
                    <a:bodyPr/>
                    <a:lstStyle/>
                    <a:p>
                      <a:r>
                        <a:rPr sz="1000" b="0">
                          <a:solidFill>
                            <a:srgbClr val="1F2621"/>
                          </a:solidFill>
                          <a:latin typeface="Aptos"/>
                        </a:rPr>
                        <a:t>$67.7M</a:t>
                      </a:r>
                    </a:p>
                  </a:txBody>
                  <a:tcPr>
                    <a:solidFill>
                      <a:srgbClr val="F7F3EC"/>
                    </a:solidFill>
                  </a:tcPr>
                </a:tc>
                <a:tc>
                  <a:txBody>
                    <a:bodyPr/>
                    <a:lstStyle/>
                    <a:p>
                      <a:r>
                        <a:rPr sz="1000" b="0">
                          <a:solidFill>
                            <a:srgbClr val="1F2621"/>
                          </a:solidFill>
                          <a:latin typeface="Aptos"/>
                        </a:rPr>
                        <a:t>$67.3M</a:t>
                      </a:r>
                    </a:p>
                  </a:txBody>
                  <a:tcPr>
                    <a:solidFill>
                      <a:srgbClr val="F7F3EC"/>
                    </a:solidFill>
                  </a:tcPr>
                </a:tc>
                <a:tc>
                  <a:txBody>
                    <a:bodyPr/>
                    <a:lstStyle/>
                    <a:p>
                      <a:r>
                        <a:rPr sz="1000" b="0">
                          <a:solidFill>
                            <a:srgbClr val="1F2621"/>
                          </a:solidFill>
                          <a:latin typeface="Aptos"/>
                        </a:rPr>
                        <a:t>$183.5M</a:t>
                      </a:r>
                    </a:p>
                  </a:txBody>
                  <a:tcPr>
                    <a:solidFill>
                      <a:srgbClr val="F7F3EC"/>
                    </a:solidFill>
                  </a:tcPr>
                </a:tc>
                <a:tc>
                  <a:txBody>
                    <a:bodyPr/>
                    <a:lstStyle/>
                    <a:p>
                      <a:r>
                        <a:rPr sz="1000" b="0">
                          <a:solidFill>
                            <a:srgbClr val="1F2621"/>
                          </a:solidFill>
                          <a:latin typeface="Aptos"/>
                        </a:rPr>
                        <a:t>$137.4M</a:t>
                      </a:r>
                    </a:p>
                  </a:txBody>
                  <a:tcPr>
                    <a:solidFill>
                      <a:srgbClr val="F7F3EC"/>
                    </a:solidFill>
                  </a:tcPr>
                </a:tc>
                <a:tc>
                  <a:txBody>
                    <a:bodyPr/>
                    <a:lstStyle/>
                    <a:p>
                      <a:r>
                        <a:rPr sz="1000" b="0">
                          <a:solidFill>
                            <a:srgbClr val="1F2621"/>
                          </a:solidFill>
                          <a:latin typeface="Aptos"/>
                        </a:rPr>
                        <a:t>$59.7M</a:t>
                      </a:r>
                    </a:p>
                  </a:txBody>
                  <a:tcPr>
                    <a:solidFill>
                      <a:srgbClr val="F7F3EC"/>
                    </a:solidFill>
                  </a:tcPr>
                </a:tc>
              </a:tr>
              <a:tr h="445770">
                <a:tc>
                  <a:txBody>
                    <a:bodyPr/>
                    <a:lstStyle/>
                    <a:p>
                      <a:r>
                        <a:rPr sz="1000" b="0">
                          <a:solidFill>
                            <a:srgbClr val="1F2621"/>
                          </a:solidFill>
                          <a:latin typeface="Aptos"/>
                        </a:rPr>
                        <a:t>2021</a:t>
                      </a:r>
                    </a:p>
                  </a:txBody>
                  <a:tcPr>
                    <a:solidFill>
                      <a:srgbClr val="FCFAF5"/>
                    </a:solidFill>
                  </a:tcPr>
                </a:tc>
                <a:tc>
                  <a:txBody>
                    <a:bodyPr/>
                    <a:lstStyle/>
                    <a:p>
                      <a:r>
                        <a:rPr sz="1000" b="0">
                          <a:solidFill>
                            <a:srgbClr val="1F2621"/>
                          </a:solidFill>
                          <a:latin typeface="Aptos"/>
                        </a:rPr>
                        <a:t>$62.8M</a:t>
                      </a:r>
                    </a:p>
                  </a:txBody>
                  <a:tcPr>
                    <a:solidFill>
                      <a:srgbClr val="FCFAF5"/>
                    </a:solidFill>
                  </a:tcPr>
                </a:tc>
                <a:tc>
                  <a:txBody>
                    <a:bodyPr/>
                    <a:lstStyle/>
                    <a:p>
                      <a:r>
                        <a:rPr sz="1000" b="0">
                          <a:solidFill>
                            <a:srgbClr val="1F2621"/>
                          </a:solidFill>
                          <a:latin typeface="Aptos"/>
                        </a:rPr>
                        <a:t>$62.5M</a:t>
                      </a:r>
                    </a:p>
                  </a:txBody>
                  <a:tcPr>
                    <a:solidFill>
                      <a:srgbClr val="FCFAF5"/>
                    </a:solidFill>
                  </a:tcPr>
                </a:tc>
                <a:tc>
                  <a:txBody>
                    <a:bodyPr/>
                    <a:lstStyle/>
                    <a:p>
                      <a:r>
                        <a:rPr sz="1000" b="0">
                          <a:solidFill>
                            <a:srgbClr val="1F2621"/>
                          </a:solidFill>
                          <a:latin typeface="Aptos"/>
                        </a:rPr>
                        <a:t>$185.8M</a:t>
                      </a:r>
                    </a:p>
                  </a:txBody>
                  <a:tcPr>
                    <a:solidFill>
                      <a:srgbClr val="FCFAF5"/>
                    </a:solidFill>
                  </a:tcPr>
                </a:tc>
                <a:tc>
                  <a:txBody>
                    <a:bodyPr/>
                    <a:lstStyle/>
                    <a:p>
                      <a:r>
                        <a:rPr sz="1000" b="0">
                          <a:solidFill>
                            <a:srgbClr val="1F2621"/>
                          </a:solidFill>
                          <a:latin typeface="Aptos"/>
                        </a:rPr>
                        <a:t>$124.9M</a:t>
                      </a:r>
                    </a:p>
                  </a:txBody>
                  <a:tcPr>
                    <a:solidFill>
                      <a:srgbClr val="FCFAF5"/>
                    </a:solidFill>
                  </a:tcPr>
                </a:tc>
                <a:tc>
                  <a:txBody>
                    <a:bodyPr/>
                    <a:lstStyle/>
                    <a:p>
                      <a:r>
                        <a:rPr sz="1000" b="0">
                          <a:solidFill>
                            <a:srgbClr val="1F2621"/>
                          </a:solidFill>
                          <a:latin typeface="Aptos"/>
                        </a:rPr>
                        <a:t>$57.5M</a:t>
                      </a:r>
                    </a:p>
                  </a:txBody>
                  <a:tcPr>
                    <a:solidFill>
                      <a:srgbClr val="FCFAF5"/>
                    </a:solidFill>
                  </a:tcPr>
                </a:tc>
              </a:tr>
              <a:tr h="445770">
                <a:tc>
                  <a:txBody>
                    <a:bodyPr/>
                    <a:lstStyle/>
                    <a:p>
                      <a:r>
                        <a:rPr sz="1000" b="0">
                          <a:solidFill>
                            <a:srgbClr val="1F2621"/>
                          </a:solidFill>
                          <a:latin typeface="Aptos"/>
                        </a:rPr>
                        <a:t>2022</a:t>
                      </a:r>
                    </a:p>
                  </a:txBody>
                  <a:tcPr>
                    <a:solidFill>
                      <a:srgbClr val="F7F3EC"/>
                    </a:solidFill>
                  </a:tcPr>
                </a:tc>
                <a:tc>
                  <a:txBody>
                    <a:bodyPr/>
                    <a:lstStyle/>
                    <a:p>
                      <a:r>
                        <a:rPr sz="1000" b="0">
                          <a:solidFill>
                            <a:srgbClr val="1F2621"/>
                          </a:solidFill>
                          <a:latin typeface="Aptos"/>
                        </a:rPr>
                        <a:t>$65.2M</a:t>
                      </a:r>
                    </a:p>
                  </a:txBody>
                  <a:tcPr>
                    <a:solidFill>
                      <a:srgbClr val="F7F3EC"/>
                    </a:solidFill>
                  </a:tcPr>
                </a:tc>
                <a:tc>
                  <a:txBody>
                    <a:bodyPr/>
                    <a:lstStyle/>
                    <a:p>
                      <a:r>
                        <a:rPr sz="1000" b="0">
                          <a:solidFill>
                            <a:srgbClr val="1F2621"/>
                          </a:solidFill>
                          <a:latin typeface="Aptos"/>
                        </a:rPr>
                        <a:t>$71.0M</a:t>
                      </a:r>
                    </a:p>
                  </a:txBody>
                  <a:tcPr>
                    <a:solidFill>
                      <a:srgbClr val="F7F3EC"/>
                    </a:solidFill>
                  </a:tcPr>
                </a:tc>
                <a:tc>
                  <a:txBody>
                    <a:bodyPr/>
                    <a:lstStyle/>
                    <a:p>
                      <a:r>
                        <a:rPr sz="1000" b="0">
                          <a:solidFill>
                            <a:srgbClr val="1F2621"/>
                          </a:solidFill>
                          <a:latin typeface="Aptos"/>
                        </a:rPr>
                        <a:t>$200.9M</a:t>
                      </a:r>
                    </a:p>
                  </a:txBody>
                  <a:tcPr>
                    <a:solidFill>
                      <a:srgbClr val="F7F3EC"/>
                    </a:solidFill>
                  </a:tcPr>
                </a:tc>
                <a:tc>
                  <a:txBody>
                    <a:bodyPr/>
                    <a:lstStyle/>
                    <a:p>
                      <a:r>
                        <a:rPr sz="1000" b="0">
                          <a:solidFill>
                            <a:srgbClr val="1F2621"/>
                          </a:solidFill>
                          <a:latin typeface="Aptos"/>
                        </a:rPr>
                        <a:t>$131.3M</a:t>
                      </a:r>
                    </a:p>
                  </a:txBody>
                  <a:tcPr>
                    <a:solidFill>
                      <a:srgbClr val="F7F3EC"/>
                    </a:solidFill>
                  </a:tcPr>
                </a:tc>
                <a:tc>
                  <a:txBody>
                    <a:bodyPr/>
                    <a:lstStyle/>
                    <a:p>
                      <a:r>
                        <a:rPr sz="1000" b="0">
                          <a:solidFill>
                            <a:srgbClr val="1F2621"/>
                          </a:solidFill>
                          <a:latin typeface="Aptos"/>
                        </a:rPr>
                        <a:t>$64.8M</a:t>
                      </a:r>
                    </a:p>
                  </a:txBody>
                  <a:tcPr>
                    <a:solidFill>
                      <a:srgbClr val="F7F3EC"/>
                    </a:solidFill>
                  </a:tcPr>
                </a:tc>
              </a:tr>
              <a:tr h="445770">
                <a:tc>
                  <a:txBody>
                    <a:bodyPr/>
                    <a:lstStyle/>
                    <a:p>
                      <a:r>
                        <a:rPr sz="1000" b="0">
                          <a:solidFill>
                            <a:srgbClr val="1F2621"/>
                          </a:solidFill>
                          <a:latin typeface="Aptos"/>
                        </a:rPr>
                        <a:t>2023</a:t>
                      </a:r>
                    </a:p>
                  </a:txBody>
                  <a:tcPr>
                    <a:solidFill>
                      <a:srgbClr val="FCFAF5"/>
                    </a:solidFill>
                  </a:tcPr>
                </a:tc>
                <a:tc>
                  <a:txBody>
                    <a:bodyPr/>
                    <a:lstStyle/>
                    <a:p>
                      <a:r>
                        <a:rPr sz="1000" b="0">
                          <a:solidFill>
                            <a:srgbClr val="1F2621"/>
                          </a:solidFill>
                          <a:latin typeface="Aptos"/>
                        </a:rPr>
                        <a:t>$60.5M</a:t>
                      </a:r>
                    </a:p>
                  </a:txBody>
                  <a:tcPr>
                    <a:solidFill>
                      <a:srgbClr val="FCFAF5"/>
                    </a:solidFill>
                  </a:tcPr>
                </a:tc>
                <a:tc>
                  <a:txBody>
                    <a:bodyPr/>
                    <a:lstStyle/>
                    <a:p>
                      <a:r>
                        <a:rPr sz="1000" b="0">
                          <a:solidFill>
                            <a:srgbClr val="1F2621"/>
                          </a:solidFill>
                          <a:latin typeface="Aptos"/>
                        </a:rPr>
                        <a:t>$62.8M</a:t>
                      </a:r>
                    </a:p>
                  </a:txBody>
                  <a:tcPr>
                    <a:solidFill>
                      <a:srgbClr val="FCFAF5"/>
                    </a:solidFill>
                  </a:tcPr>
                </a:tc>
                <a:tc>
                  <a:txBody>
                    <a:bodyPr/>
                    <a:lstStyle/>
                    <a:p>
                      <a:r>
                        <a:rPr sz="1000" b="0">
                          <a:solidFill>
                            <a:srgbClr val="1F2621"/>
                          </a:solidFill>
                          <a:latin typeface="Aptos"/>
                        </a:rPr>
                        <a:t>$183.9M</a:t>
                      </a:r>
                    </a:p>
                  </a:txBody>
                  <a:tcPr>
                    <a:solidFill>
                      <a:srgbClr val="FCFAF5"/>
                    </a:solidFill>
                  </a:tcPr>
                </a:tc>
                <a:tc>
                  <a:txBody>
                    <a:bodyPr/>
                    <a:lstStyle/>
                    <a:p>
                      <a:r>
                        <a:rPr sz="1000" b="0">
                          <a:solidFill>
                            <a:srgbClr val="1F2621"/>
                          </a:solidFill>
                          <a:latin typeface="Aptos"/>
                        </a:rPr>
                        <a:t>$123.2M</a:t>
                      </a:r>
                    </a:p>
                  </a:txBody>
                  <a:tcPr>
                    <a:solidFill>
                      <a:srgbClr val="FCFAF5"/>
                    </a:solidFill>
                  </a:tcPr>
                </a:tc>
                <a:tc>
                  <a:txBody>
                    <a:bodyPr/>
                    <a:lstStyle/>
                    <a:p>
                      <a:r>
                        <a:rPr sz="1000" b="0">
                          <a:solidFill>
                            <a:srgbClr val="1F2621"/>
                          </a:solidFill>
                          <a:latin typeface="Aptos"/>
                        </a:rPr>
                        <a:t>$60.8M</a:t>
                      </a:r>
                    </a:p>
                  </a:txBody>
                  <a:tcPr>
                    <a:solidFill>
                      <a:srgbClr val="FCFAF5"/>
                    </a:solidFill>
                  </a:tcPr>
                </a:tc>
              </a:tr>
              <a:tr h="445770">
                <a:tc>
                  <a:txBody>
                    <a:bodyPr/>
                    <a:lstStyle/>
                    <a:p>
                      <a:r>
                        <a:rPr sz="1000" b="0">
                          <a:solidFill>
                            <a:srgbClr val="1F2621"/>
                          </a:solidFill>
                          <a:latin typeface="Aptos"/>
                        </a:rPr>
                        <a:t>2024</a:t>
                      </a:r>
                    </a:p>
                  </a:txBody>
                  <a:tcPr>
                    <a:solidFill>
                      <a:srgbClr val="F7F3EC"/>
                    </a:solidFill>
                  </a:tcPr>
                </a:tc>
                <a:tc>
                  <a:txBody>
                    <a:bodyPr/>
                    <a:lstStyle/>
                    <a:p>
                      <a:r>
                        <a:rPr sz="1000" b="0">
                          <a:solidFill>
                            <a:srgbClr val="1F2621"/>
                          </a:solidFill>
                          <a:latin typeface="Aptos"/>
                        </a:rPr>
                        <a:t>$76.0M</a:t>
                      </a:r>
                    </a:p>
                  </a:txBody>
                  <a:tcPr>
                    <a:solidFill>
                      <a:srgbClr val="F7F3EC"/>
                    </a:solidFill>
                  </a:tcPr>
                </a:tc>
                <a:tc>
                  <a:txBody>
                    <a:bodyPr/>
                    <a:lstStyle/>
                    <a:p>
                      <a:r>
                        <a:rPr sz="1000" b="0">
                          <a:solidFill>
                            <a:srgbClr val="1F2621"/>
                          </a:solidFill>
                          <a:latin typeface="Aptos"/>
                        </a:rPr>
                        <a:t>$73.2M</a:t>
                      </a:r>
                    </a:p>
                  </a:txBody>
                  <a:tcPr>
                    <a:solidFill>
                      <a:srgbClr val="F7F3EC"/>
                    </a:solidFill>
                  </a:tcPr>
                </a:tc>
                <a:tc>
                  <a:txBody>
                    <a:bodyPr/>
                    <a:lstStyle/>
                    <a:p>
                      <a:r>
                        <a:rPr sz="1000" b="0">
                          <a:solidFill>
                            <a:srgbClr val="1F2621"/>
                          </a:solidFill>
                          <a:latin typeface="Aptos"/>
                        </a:rPr>
                        <a:t>$211.2M</a:t>
                      </a:r>
                    </a:p>
                  </a:txBody>
                  <a:tcPr>
                    <a:solidFill>
                      <a:srgbClr val="F7F3EC"/>
                    </a:solidFill>
                  </a:tcPr>
                </a:tc>
                <a:tc>
                  <a:txBody>
                    <a:bodyPr/>
                    <a:lstStyle/>
                    <a:p>
                      <a:r>
                        <a:rPr sz="1000" b="0">
                          <a:solidFill>
                            <a:srgbClr val="1F2621"/>
                          </a:solidFill>
                          <a:latin typeface="Aptos"/>
                        </a:rPr>
                        <a:t>$161.4M</a:t>
                      </a:r>
                    </a:p>
                  </a:txBody>
                  <a:tcPr>
                    <a:solidFill>
                      <a:srgbClr val="F7F3EC"/>
                    </a:solidFill>
                  </a:tcPr>
                </a:tc>
                <a:tc>
                  <a:txBody>
                    <a:bodyPr/>
                    <a:lstStyle/>
                    <a:p>
                      <a:r>
                        <a:rPr sz="1000" b="0">
                          <a:solidFill>
                            <a:srgbClr val="1F2621"/>
                          </a:solidFill>
                          <a:latin typeface="Aptos"/>
                        </a:rPr>
                        <a:t>$70.0M</a:t>
                      </a:r>
                    </a:p>
                  </a:txBody>
                  <a:tcPr>
                    <a:solidFill>
                      <a:srgbClr val="F7F3EC"/>
                    </a:solidFill>
                  </a:tcPr>
                </a:tc>
              </a:tr>
              <a:tr h="445770">
                <a:tc>
                  <a:txBody>
                    <a:bodyPr/>
                    <a:lstStyle/>
                    <a:p>
                      <a:r>
                        <a:rPr sz="1000" b="0">
                          <a:solidFill>
                            <a:srgbClr val="1F2621"/>
                          </a:solidFill>
                          <a:latin typeface="Aptos"/>
                        </a:rPr>
                        <a:t>2025 H1</a:t>
                      </a:r>
                    </a:p>
                  </a:txBody>
                  <a:tcPr>
                    <a:solidFill>
                      <a:srgbClr val="FCFAF5"/>
                    </a:solidFill>
                  </a:tcPr>
                </a:tc>
                <a:tc>
                  <a:txBody>
                    <a:bodyPr/>
                    <a:lstStyle/>
                    <a:p>
                      <a:r>
                        <a:rPr sz="1000" b="0">
                          <a:solidFill>
                            <a:srgbClr val="1F2621"/>
                          </a:solidFill>
                          <a:latin typeface="Aptos"/>
                        </a:rPr>
                        <a:t>$41.7M</a:t>
                      </a:r>
                    </a:p>
                  </a:txBody>
                  <a:tcPr>
                    <a:solidFill>
                      <a:srgbClr val="FCFAF5"/>
                    </a:solidFill>
                  </a:tcPr>
                </a:tc>
                <a:tc>
                  <a:txBody>
                    <a:bodyPr/>
                    <a:lstStyle/>
                    <a:p>
                      <a:r>
                        <a:rPr sz="1000" b="0">
                          <a:solidFill>
                            <a:srgbClr val="1F2621"/>
                          </a:solidFill>
                          <a:latin typeface="Aptos"/>
                        </a:rPr>
                        <a:t>$42.6M</a:t>
                      </a:r>
                    </a:p>
                  </a:txBody>
                  <a:tcPr>
                    <a:solidFill>
                      <a:srgbClr val="FCFAF5"/>
                    </a:solidFill>
                  </a:tcPr>
                </a:tc>
                <a:tc>
                  <a:txBody>
                    <a:bodyPr/>
                    <a:lstStyle/>
                    <a:p>
                      <a:r>
                        <a:rPr sz="1000" b="0">
                          <a:solidFill>
                            <a:srgbClr val="1F2621"/>
                          </a:solidFill>
                          <a:latin typeface="Aptos"/>
                        </a:rPr>
                        <a:t>$113.2M</a:t>
                      </a:r>
                    </a:p>
                  </a:txBody>
                  <a:tcPr>
                    <a:solidFill>
                      <a:srgbClr val="FCFAF5"/>
                    </a:solidFill>
                  </a:tcPr>
                </a:tc>
                <a:tc>
                  <a:txBody>
                    <a:bodyPr/>
                    <a:lstStyle/>
                    <a:p>
                      <a:r>
                        <a:rPr sz="1000" b="0">
                          <a:solidFill>
                            <a:srgbClr val="1F2621"/>
                          </a:solidFill>
                          <a:latin typeface="Aptos"/>
                        </a:rPr>
                        <a:t>$90.7M</a:t>
                      </a:r>
                    </a:p>
                  </a:txBody>
                  <a:tcPr>
                    <a:solidFill>
                      <a:srgbClr val="FCFAF5"/>
                    </a:solidFill>
                  </a:tcPr>
                </a:tc>
                <a:tc>
                  <a:txBody>
                    <a:bodyPr/>
                    <a:lstStyle/>
                    <a:p>
                      <a:r>
                        <a:rPr sz="1000" b="0">
                          <a:solidFill>
                            <a:srgbClr val="1F2621"/>
                          </a:solidFill>
                          <a:latin typeface="Aptos"/>
                        </a:rPr>
                        <a:t>$39.4M</a:t>
                      </a:r>
                    </a:p>
                  </a:txBody>
                  <a:tcPr>
                    <a:solidFill>
                      <a:srgbClr val="FCFAF5"/>
                    </a:solidFill>
                  </a:tcPr>
                </a:tc>
              </a:tr>
            </a:tbl>
          </a:graphicData>
        </a:graphic>
      </p:graphicFrame>
      <p:sp>
        <p:nvSpPr>
          <p:cNvPr id="12" name="Rounded Rectangle 11"/>
          <p:cNvSpPr/>
          <p:nvPr/>
        </p:nvSpPr>
        <p:spPr>
          <a:xfrm>
            <a:off x="8759952" y="1645920"/>
            <a:ext cx="274320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34272" y="1938528"/>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62288" y="2048256"/>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2024 LEAD VS NY</a:t>
            </a:r>
          </a:p>
        </p:txBody>
      </p:sp>
      <p:sp>
        <p:nvSpPr>
          <p:cNvPr id="15" name="TextBox 14"/>
          <p:cNvSpPr txBox="1"/>
          <p:nvPr/>
        </p:nvSpPr>
        <p:spPr>
          <a:xfrm>
            <a:off x="9162288" y="2249424"/>
            <a:ext cx="193852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$49.8M</a:t>
            </a:r>
          </a:p>
        </p:txBody>
      </p:sp>
      <p:sp>
        <p:nvSpPr>
          <p:cNvPr id="16" name="Rounded Rectangle 15"/>
          <p:cNvSpPr/>
          <p:nvPr/>
        </p:nvSpPr>
        <p:spPr>
          <a:xfrm>
            <a:off x="9034272" y="2999232"/>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62288" y="3108960"/>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2025 H1 LEAD VS NY</a:t>
            </a:r>
          </a:p>
        </p:txBody>
      </p:sp>
      <p:sp>
        <p:nvSpPr>
          <p:cNvPr id="18" name="TextBox 17"/>
          <p:cNvSpPr txBox="1"/>
          <p:nvPr/>
        </p:nvSpPr>
        <p:spPr>
          <a:xfrm>
            <a:off x="9162288" y="3310128"/>
            <a:ext cx="193852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$22.5M</a:t>
            </a:r>
          </a:p>
        </p:txBody>
      </p:sp>
      <p:sp>
        <p:nvSpPr>
          <p:cNvPr id="19" name="TextBox 18"/>
          <p:cNvSpPr txBox="1"/>
          <p:nvPr/>
        </p:nvSpPr>
        <p:spPr>
          <a:xfrm>
            <a:off x="9034272" y="4315968"/>
            <a:ext cx="2148840" cy="685800"/>
          </a:xfrm>
          <a:prstGeom prst="rect">
            <a:avLst/>
          </a:prstGeom>
          <a:noFill/>
        </p:spPr>
        <p:txBody>
          <a:bodyPr wrap="square" lIns="27432" rIns="27432" tIns="27432" bIns="27432" anchor="t">
            <a:spAutoFit/>
          </a:bodyPr>
          <a:lstStyle/>
          <a:p>
            <a:pPr algn="l"/>
            <a:r>
              <a:rPr sz="1300" b="0">
                <a:solidFill>
                  <a:srgbClr val="1F2621"/>
                </a:solidFill>
                <a:latin typeface="Aptos"/>
              </a:rPr>
              <a:t>Los Angeles is not just the winner. It leads by a structurally larger revenue base across every measured period.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8</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Organic sales leadership is consistent, but the gap is much narrower</a:t>
            </a:r>
          </a:p>
        </p:txBody>
      </p:sp>
      <p:sp>
        <p:nvSpPr>
          <p:cNvPr id="9" name="Rounded Rectangle 8"/>
          <p:cNvSpPr/>
          <p:nvPr/>
        </p:nvSpPr>
        <p:spPr>
          <a:xfrm>
            <a:off x="713232" y="1645920"/>
            <a:ext cx="781812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47088"/>
            <a:ext cx="2468880" cy="164592"/>
          </a:xfrm>
          <a:prstGeom prst="rect">
            <a:avLst/>
          </a:prstGeom>
          <a:noFill/>
        </p:spPr>
        <p:txBody>
          <a:bodyPr wrap="square" lIns="27432" rIns="27432" tIns="27432" bIns="27432" anchor="t">
            <a:spAutoFit/>
          </a:bodyPr>
          <a:lstStyle/>
          <a:p>
            <a:pPr algn="l"/>
            <a:r>
              <a:rPr sz="1000" b="1">
                <a:solidFill>
                  <a:srgbClr val="5F6B63"/>
                </a:solidFill>
                <a:latin typeface="Aptos"/>
              </a:rPr>
              <a:t>TOP 5 ORGANIC CITIES</a:t>
            </a:r>
          </a:p>
        </p:txBody>
      </p:sp>
      <p:graphicFrame>
        <p:nvGraphicFramePr>
          <p:cNvPr id="11" name="Table 10"/>
          <p:cNvGraphicFramePr>
            <a:graphicFrameLocks noGrp="1"/>
          </p:cNvGraphicFramePr>
          <p:nvPr/>
        </p:nvGraphicFramePr>
        <p:xfrm>
          <a:off x="914400" y="2139696"/>
          <a:ext cx="7315200" cy="3566160"/>
        </p:xfrm>
        <a:graphic>
          <a:graphicData uri="http://schemas.openxmlformats.org/drawingml/2006/table">
            <a:tbl>
              <a:tblPr firstRow="1" bandRow="1">
                <a:tableStyleId>{5C22544A-7EE6-4342-B048-85BDC9FD1C3A}</a:tableStyleId>
              </a:tblPr>
              <a:tblGrid>
                <a:gridCol w="914400"/>
                <a:gridCol w="1325880"/>
                <a:gridCol w="1325880"/>
                <a:gridCol w="1234440"/>
                <a:gridCol w="1234440"/>
                <a:gridCol w="1280160"/>
              </a:tblGrid>
              <a:tr h="445770">
                <a:tc>
                  <a:txBody>
                    <a:bodyPr/>
                    <a:lstStyle/>
                    <a:p>
                      <a:r>
                        <a:rPr sz="1000" b="0">
                          <a:solidFill>
                            <a:srgbClr val="1F2621"/>
                          </a:solidFill>
                          <a:latin typeface="Aptos"/>
                        </a:rPr>
                        <a:t>Period</a:t>
                      </a:r>
                    </a:p>
                  </a:txBody>
                  <a:tcPr>
                    <a:solidFill>
                      <a:srgbClr val="355C47"/>
                    </a:solidFill>
                  </a:tcPr>
                </a:tc>
                <a:tc>
                  <a:txBody>
                    <a:bodyPr/>
                    <a:lstStyle/>
                    <a:p>
                      <a:r>
                        <a:rPr sz="1000" b="0">
                          <a:solidFill>
                            <a:srgbClr val="1F2621"/>
                          </a:solidFill>
                          <a:latin typeface="Aptos"/>
                        </a:rPr>
                        <a:t>Balt/Wash</a:t>
                      </a:r>
                    </a:p>
                  </a:txBody>
                  <a:tcPr>
                    <a:solidFill>
                      <a:srgbClr val="355C47"/>
                    </a:solidFill>
                  </a:tcPr>
                </a:tc>
                <a:tc>
                  <a:txBody>
                    <a:bodyPr/>
                    <a:lstStyle/>
                    <a:p>
                      <a:r>
                        <a:rPr sz="1000" b="0">
                          <a:solidFill>
                            <a:srgbClr val="1F2621"/>
                          </a:solidFill>
                          <a:latin typeface="Aptos"/>
                        </a:rPr>
                        <a:t>Los Angeles</a:t>
                      </a:r>
                    </a:p>
                  </a:txBody>
                  <a:tcPr>
                    <a:solidFill>
                      <a:srgbClr val="355C47"/>
                    </a:solidFill>
                  </a:tcPr>
                </a:tc>
                <a:tc>
                  <a:txBody>
                    <a:bodyPr/>
                    <a:lstStyle/>
                    <a:p>
                      <a:r>
                        <a:rPr sz="1000" b="0">
                          <a:solidFill>
                            <a:srgbClr val="1F2621"/>
                          </a:solidFill>
                          <a:latin typeface="Aptos"/>
                        </a:rPr>
                        <a:t>New York</a:t>
                      </a:r>
                    </a:p>
                  </a:txBody>
                  <a:tcPr>
                    <a:solidFill>
                      <a:srgbClr val="355C47"/>
                    </a:solidFill>
                  </a:tcPr>
                </a:tc>
                <a:tc>
                  <a:txBody>
                    <a:bodyPr/>
                    <a:lstStyle/>
                    <a:p>
                      <a:r>
                        <a:rPr sz="1000" b="0">
                          <a:solidFill>
                            <a:srgbClr val="1F2621"/>
                          </a:solidFill>
                          <a:latin typeface="Aptos"/>
                        </a:rPr>
                        <a:t>San Fran</a:t>
                      </a:r>
                    </a:p>
                  </a:txBody>
                  <a:tcPr>
                    <a:solidFill>
                      <a:srgbClr val="355C47"/>
                    </a:solidFill>
                  </a:tcPr>
                </a:tc>
                <a:tc>
                  <a:txBody>
                    <a:bodyPr/>
                    <a:lstStyle/>
                    <a:p>
                      <a:r>
                        <a:rPr sz="1000" b="0">
                          <a:solidFill>
                            <a:srgbClr val="1F2621"/>
                          </a:solidFill>
                          <a:latin typeface="Aptos"/>
                        </a:rPr>
                        <a:t>Seattle</a:t>
                      </a:r>
                    </a:p>
                  </a:txBody>
                  <a:tcPr>
                    <a:solidFill>
                      <a:srgbClr val="355C47"/>
                    </a:solidFill>
                  </a:tcPr>
                </a:tc>
              </a:tr>
              <a:tr h="445770">
                <a:tc>
                  <a:txBody>
                    <a:bodyPr/>
                    <a:lstStyle/>
                    <a:p>
                      <a:r>
                        <a:rPr sz="1000" b="0">
                          <a:solidFill>
                            <a:srgbClr val="1F2621"/>
                          </a:solidFill>
                          <a:latin typeface="Aptos"/>
                        </a:rPr>
                        <a:t>2019</a:t>
                      </a:r>
                    </a:p>
                  </a:txBody>
                  <a:tcPr>
                    <a:solidFill>
                      <a:srgbClr val="FCFAF5"/>
                    </a:solidFill>
                  </a:tcPr>
                </a:tc>
                <a:tc>
                  <a:txBody>
                    <a:bodyPr/>
                    <a:lstStyle/>
                    <a:p>
                      <a:r>
                        <a:rPr sz="1000" b="0">
                          <a:solidFill>
                            <a:srgbClr val="1F2621"/>
                          </a:solidFill>
                          <a:latin typeface="Aptos"/>
                        </a:rPr>
                        <a:t>$4.1M</a:t>
                      </a:r>
                    </a:p>
                  </a:txBody>
                  <a:tcPr>
                    <a:solidFill>
                      <a:srgbClr val="FCFAF5"/>
                    </a:solidFill>
                  </a:tcPr>
                </a:tc>
                <a:tc>
                  <a:txBody>
                    <a:bodyPr/>
                    <a:lstStyle/>
                    <a:p>
                      <a:r>
                        <a:rPr sz="1000" b="0">
                          <a:solidFill>
                            <a:srgbClr val="1F2621"/>
                          </a:solidFill>
                          <a:latin typeface="Aptos"/>
                        </a:rPr>
                        <a:t>$9.1M</a:t>
                      </a:r>
                    </a:p>
                  </a:txBody>
                  <a:tcPr>
                    <a:solidFill>
                      <a:srgbClr val="FCFAF5"/>
                    </a:solidFill>
                  </a:tcPr>
                </a:tc>
                <a:tc>
                  <a:txBody>
                    <a:bodyPr/>
                    <a:lstStyle/>
                    <a:p>
                      <a:r>
                        <a:rPr sz="1000" b="0">
                          <a:solidFill>
                            <a:srgbClr val="1F2621"/>
                          </a:solidFill>
                          <a:latin typeface="Aptos"/>
                        </a:rPr>
                        <a:t>$8.9M</a:t>
                      </a:r>
                    </a:p>
                  </a:txBody>
                  <a:tcPr>
                    <a:solidFill>
                      <a:srgbClr val="FCFAF5"/>
                    </a:solidFill>
                  </a:tcPr>
                </a:tc>
                <a:tc>
                  <a:txBody>
                    <a:bodyPr/>
                    <a:lstStyle/>
                    <a:p>
                      <a:r>
                        <a:rPr sz="1000" b="0">
                          <a:solidFill>
                            <a:srgbClr val="1F2621"/>
                          </a:solidFill>
                          <a:latin typeface="Aptos"/>
                        </a:rPr>
                        <a:t>$4.8M</a:t>
                      </a:r>
                    </a:p>
                  </a:txBody>
                  <a:tcPr>
                    <a:solidFill>
                      <a:srgbClr val="FCFAF5"/>
                    </a:solidFill>
                  </a:tcPr>
                </a:tc>
                <a:tc>
                  <a:txBody>
                    <a:bodyPr/>
                    <a:lstStyle/>
                    <a:p>
                      <a:r>
                        <a:rPr sz="1000" b="0">
                          <a:solidFill>
                            <a:srgbClr val="1F2621"/>
                          </a:solidFill>
                          <a:latin typeface="Aptos"/>
                        </a:rPr>
                        <a:t>$6.5M</a:t>
                      </a:r>
                    </a:p>
                  </a:txBody>
                  <a:tcPr>
                    <a:solidFill>
                      <a:srgbClr val="FCFAF5"/>
                    </a:solidFill>
                  </a:tcPr>
                </a:tc>
              </a:tr>
              <a:tr h="445770">
                <a:tc>
                  <a:txBody>
                    <a:bodyPr/>
                    <a:lstStyle/>
                    <a:p>
                      <a:r>
                        <a:rPr sz="1000" b="0">
                          <a:solidFill>
                            <a:srgbClr val="1F2621"/>
                          </a:solidFill>
                          <a:latin typeface="Aptos"/>
                        </a:rPr>
                        <a:t>2020</a:t>
                      </a:r>
                    </a:p>
                  </a:txBody>
                  <a:tcPr>
                    <a:solidFill>
                      <a:srgbClr val="F7F3EC"/>
                    </a:solidFill>
                  </a:tcPr>
                </a:tc>
                <a:tc>
                  <a:txBody>
                    <a:bodyPr/>
                    <a:lstStyle/>
                    <a:p>
                      <a:r>
                        <a:rPr sz="1000" b="0">
                          <a:solidFill>
                            <a:srgbClr val="1F2621"/>
                          </a:solidFill>
                          <a:latin typeface="Aptos"/>
                        </a:rPr>
                        <a:t>$4.7M</a:t>
                      </a:r>
                    </a:p>
                  </a:txBody>
                  <a:tcPr>
                    <a:solidFill>
                      <a:srgbClr val="F7F3EC"/>
                    </a:solidFill>
                  </a:tcPr>
                </a:tc>
                <a:tc>
                  <a:txBody>
                    <a:bodyPr/>
                    <a:lstStyle/>
                    <a:p>
                      <a:r>
                        <a:rPr sz="1000" b="0">
                          <a:solidFill>
                            <a:srgbClr val="1F2621"/>
                          </a:solidFill>
                          <a:latin typeface="Aptos"/>
                        </a:rPr>
                        <a:t>$11.9M</a:t>
                      </a:r>
                    </a:p>
                  </a:txBody>
                  <a:tcPr>
                    <a:solidFill>
                      <a:srgbClr val="F7F3EC"/>
                    </a:solidFill>
                  </a:tcPr>
                </a:tc>
                <a:tc>
                  <a:txBody>
                    <a:bodyPr/>
                    <a:lstStyle/>
                    <a:p>
                      <a:r>
                        <a:rPr sz="1000" b="0">
                          <a:solidFill>
                            <a:srgbClr val="1F2621"/>
                          </a:solidFill>
                          <a:latin typeface="Aptos"/>
                        </a:rPr>
                        <a:t>$9.2M</a:t>
                      </a:r>
                    </a:p>
                  </a:txBody>
                  <a:tcPr>
                    <a:solidFill>
                      <a:srgbClr val="F7F3EC"/>
                    </a:solidFill>
                  </a:tcPr>
                </a:tc>
                <a:tc>
                  <a:txBody>
                    <a:bodyPr/>
                    <a:lstStyle/>
                    <a:p>
                      <a:r>
                        <a:rPr sz="1000" b="0">
                          <a:solidFill>
                            <a:srgbClr val="1F2621"/>
                          </a:solidFill>
                          <a:latin typeface="Aptos"/>
                        </a:rPr>
                        <a:t>$6.7M</a:t>
                      </a:r>
                    </a:p>
                  </a:txBody>
                  <a:tcPr>
                    <a:solidFill>
                      <a:srgbClr val="F7F3EC"/>
                    </a:solidFill>
                  </a:tcPr>
                </a:tc>
                <a:tc>
                  <a:txBody>
                    <a:bodyPr/>
                    <a:lstStyle/>
                    <a:p>
                      <a:r>
                        <a:rPr sz="1000" b="0">
                          <a:solidFill>
                            <a:srgbClr val="1F2621"/>
                          </a:solidFill>
                          <a:latin typeface="Aptos"/>
                        </a:rPr>
                        <a:t>$6.8M</a:t>
                      </a:r>
                    </a:p>
                  </a:txBody>
                  <a:tcPr>
                    <a:solidFill>
                      <a:srgbClr val="F7F3EC"/>
                    </a:solidFill>
                  </a:tcPr>
                </a:tc>
              </a:tr>
              <a:tr h="445770">
                <a:tc>
                  <a:txBody>
                    <a:bodyPr/>
                    <a:lstStyle/>
                    <a:p>
                      <a:r>
                        <a:rPr sz="1000" b="0">
                          <a:solidFill>
                            <a:srgbClr val="1F2621"/>
                          </a:solidFill>
                          <a:latin typeface="Aptos"/>
                        </a:rPr>
                        <a:t>2021</a:t>
                      </a:r>
                    </a:p>
                  </a:txBody>
                  <a:tcPr>
                    <a:solidFill>
                      <a:srgbClr val="FCFAF5"/>
                    </a:solidFill>
                  </a:tcPr>
                </a:tc>
                <a:tc>
                  <a:txBody>
                    <a:bodyPr/>
                    <a:lstStyle/>
                    <a:p>
                      <a:r>
                        <a:rPr sz="1000" b="0">
                          <a:solidFill>
                            <a:srgbClr val="1F2621"/>
                          </a:solidFill>
                          <a:latin typeface="Aptos"/>
                        </a:rPr>
                        <a:t>$5.1M</a:t>
                      </a:r>
                    </a:p>
                  </a:txBody>
                  <a:tcPr>
                    <a:solidFill>
                      <a:srgbClr val="FCFAF5"/>
                    </a:solidFill>
                  </a:tcPr>
                </a:tc>
                <a:tc>
                  <a:txBody>
                    <a:bodyPr/>
                    <a:lstStyle/>
                    <a:p>
                      <a:r>
                        <a:rPr sz="1000" b="0">
                          <a:solidFill>
                            <a:srgbClr val="1F2621"/>
                          </a:solidFill>
                          <a:latin typeface="Aptos"/>
                        </a:rPr>
                        <a:t>$12.7M</a:t>
                      </a:r>
                    </a:p>
                  </a:txBody>
                  <a:tcPr>
                    <a:solidFill>
                      <a:srgbClr val="FCFAF5"/>
                    </a:solidFill>
                  </a:tcPr>
                </a:tc>
                <a:tc>
                  <a:txBody>
                    <a:bodyPr/>
                    <a:lstStyle/>
                    <a:p>
                      <a:r>
                        <a:rPr sz="1000" b="0">
                          <a:solidFill>
                            <a:srgbClr val="1F2621"/>
                          </a:solidFill>
                          <a:latin typeface="Aptos"/>
                        </a:rPr>
                        <a:t>$9.6M</a:t>
                      </a:r>
                    </a:p>
                  </a:txBody>
                  <a:tcPr>
                    <a:solidFill>
                      <a:srgbClr val="FCFAF5"/>
                    </a:solidFill>
                  </a:tcPr>
                </a:tc>
                <a:tc>
                  <a:txBody>
                    <a:bodyPr/>
                    <a:lstStyle/>
                    <a:p>
                      <a:r>
                        <a:rPr sz="1000" b="0">
                          <a:solidFill>
                            <a:srgbClr val="1F2621"/>
                          </a:solidFill>
                          <a:latin typeface="Aptos"/>
                        </a:rPr>
                        <a:t>$7.6M</a:t>
                      </a:r>
                    </a:p>
                  </a:txBody>
                  <a:tcPr>
                    <a:solidFill>
                      <a:srgbClr val="FCFAF5"/>
                    </a:solidFill>
                  </a:tcPr>
                </a:tc>
                <a:tc>
                  <a:txBody>
                    <a:bodyPr/>
                    <a:lstStyle/>
                    <a:p>
                      <a:r>
                        <a:rPr sz="1000" b="0">
                          <a:solidFill>
                            <a:srgbClr val="1F2621"/>
                          </a:solidFill>
                          <a:latin typeface="Aptos"/>
                        </a:rPr>
                        <a:t>$6.5M</a:t>
                      </a:r>
                    </a:p>
                  </a:txBody>
                  <a:tcPr>
                    <a:solidFill>
                      <a:srgbClr val="FCFAF5"/>
                    </a:solidFill>
                  </a:tcPr>
                </a:tc>
              </a:tr>
              <a:tr h="445770">
                <a:tc>
                  <a:txBody>
                    <a:bodyPr/>
                    <a:lstStyle/>
                    <a:p>
                      <a:r>
                        <a:rPr sz="1000" b="0">
                          <a:solidFill>
                            <a:srgbClr val="1F2621"/>
                          </a:solidFill>
                          <a:latin typeface="Aptos"/>
                        </a:rPr>
                        <a:t>2022</a:t>
                      </a:r>
                    </a:p>
                  </a:txBody>
                  <a:tcPr>
                    <a:solidFill>
                      <a:srgbClr val="F7F3EC"/>
                    </a:solidFill>
                  </a:tcPr>
                </a:tc>
                <a:tc>
                  <a:txBody>
                    <a:bodyPr/>
                    <a:lstStyle/>
                    <a:p>
                      <a:r>
                        <a:rPr sz="1000" b="0">
                          <a:solidFill>
                            <a:srgbClr val="1F2621"/>
                          </a:solidFill>
                          <a:latin typeface="Aptos"/>
                        </a:rPr>
                        <a:t>$5.2M</a:t>
                      </a:r>
                    </a:p>
                  </a:txBody>
                  <a:tcPr>
                    <a:solidFill>
                      <a:srgbClr val="F7F3EC"/>
                    </a:solidFill>
                  </a:tcPr>
                </a:tc>
                <a:tc>
                  <a:txBody>
                    <a:bodyPr/>
                    <a:lstStyle/>
                    <a:p>
                      <a:r>
                        <a:rPr sz="1000" b="0">
                          <a:solidFill>
                            <a:srgbClr val="1F2621"/>
                          </a:solidFill>
                          <a:latin typeface="Aptos"/>
                        </a:rPr>
                        <a:t>$11.8M</a:t>
                      </a:r>
                    </a:p>
                  </a:txBody>
                  <a:tcPr>
                    <a:solidFill>
                      <a:srgbClr val="F7F3EC"/>
                    </a:solidFill>
                  </a:tcPr>
                </a:tc>
                <a:tc>
                  <a:txBody>
                    <a:bodyPr/>
                    <a:lstStyle/>
                    <a:p>
                      <a:r>
                        <a:rPr sz="1000" b="0">
                          <a:solidFill>
                            <a:srgbClr val="1F2621"/>
                          </a:solidFill>
                          <a:latin typeface="Aptos"/>
                        </a:rPr>
                        <a:t>$9.4M</a:t>
                      </a:r>
                    </a:p>
                  </a:txBody>
                  <a:tcPr>
                    <a:solidFill>
                      <a:srgbClr val="F7F3EC"/>
                    </a:solidFill>
                  </a:tcPr>
                </a:tc>
                <a:tc>
                  <a:txBody>
                    <a:bodyPr/>
                    <a:lstStyle/>
                    <a:p>
                      <a:r>
                        <a:rPr sz="1000" b="0">
                          <a:solidFill>
                            <a:srgbClr val="1F2621"/>
                          </a:solidFill>
                          <a:latin typeface="Aptos"/>
                        </a:rPr>
                        <a:t>$7.4M</a:t>
                      </a:r>
                    </a:p>
                  </a:txBody>
                  <a:tcPr>
                    <a:solidFill>
                      <a:srgbClr val="F7F3EC"/>
                    </a:solidFill>
                  </a:tcPr>
                </a:tc>
                <a:tc>
                  <a:txBody>
                    <a:bodyPr/>
                    <a:lstStyle/>
                    <a:p>
                      <a:r>
                        <a:rPr sz="1000" b="0">
                          <a:solidFill>
                            <a:srgbClr val="1F2621"/>
                          </a:solidFill>
                          <a:latin typeface="Aptos"/>
                        </a:rPr>
                        <a:t>$7.0M</a:t>
                      </a:r>
                    </a:p>
                  </a:txBody>
                  <a:tcPr>
                    <a:solidFill>
                      <a:srgbClr val="F7F3EC"/>
                    </a:solidFill>
                  </a:tcPr>
                </a:tc>
              </a:tr>
              <a:tr h="445770">
                <a:tc>
                  <a:txBody>
                    <a:bodyPr/>
                    <a:lstStyle/>
                    <a:p>
                      <a:r>
                        <a:rPr sz="1000" b="0">
                          <a:solidFill>
                            <a:srgbClr val="1F2621"/>
                          </a:solidFill>
                          <a:latin typeface="Aptos"/>
                        </a:rPr>
                        <a:t>2023</a:t>
                      </a:r>
                    </a:p>
                  </a:txBody>
                  <a:tcPr>
                    <a:solidFill>
                      <a:srgbClr val="FCFAF5"/>
                    </a:solidFill>
                  </a:tcPr>
                </a:tc>
                <a:tc>
                  <a:txBody>
                    <a:bodyPr/>
                    <a:lstStyle/>
                    <a:p>
                      <a:r>
                        <a:rPr sz="1000" b="0">
                          <a:solidFill>
                            <a:srgbClr val="1F2621"/>
                          </a:solidFill>
                          <a:latin typeface="Aptos"/>
                        </a:rPr>
                        <a:t>$4.4M</a:t>
                      </a:r>
                    </a:p>
                  </a:txBody>
                  <a:tcPr>
                    <a:solidFill>
                      <a:srgbClr val="FCFAF5"/>
                    </a:solidFill>
                  </a:tcPr>
                </a:tc>
                <a:tc>
                  <a:txBody>
                    <a:bodyPr/>
                    <a:lstStyle/>
                    <a:p>
                      <a:r>
                        <a:rPr sz="1000" b="0">
                          <a:solidFill>
                            <a:srgbClr val="1F2621"/>
                          </a:solidFill>
                          <a:latin typeface="Aptos"/>
                        </a:rPr>
                        <a:t>$11.2M</a:t>
                      </a:r>
                    </a:p>
                  </a:txBody>
                  <a:tcPr>
                    <a:solidFill>
                      <a:srgbClr val="FCFAF5"/>
                    </a:solidFill>
                  </a:tcPr>
                </a:tc>
                <a:tc>
                  <a:txBody>
                    <a:bodyPr/>
                    <a:lstStyle/>
                    <a:p>
                      <a:r>
                        <a:rPr sz="1000" b="0">
                          <a:solidFill>
                            <a:srgbClr val="1F2621"/>
                          </a:solidFill>
                          <a:latin typeface="Aptos"/>
                        </a:rPr>
                        <a:t>$9.3M</a:t>
                      </a:r>
                    </a:p>
                  </a:txBody>
                  <a:tcPr>
                    <a:solidFill>
                      <a:srgbClr val="FCFAF5"/>
                    </a:solidFill>
                  </a:tcPr>
                </a:tc>
                <a:tc>
                  <a:txBody>
                    <a:bodyPr/>
                    <a:lstStyle/>
                    <a:p>
                      <a:r>
                        <a:rPr sz="1000" b="0">
                          <a:solidFill>
                            <a:srgbClr val="1F2621"/>
                          </a:solidFill>
                          <a:latin typeface="Aptos"/>
                        </a:rPr>
                        <a:t>$6.1M</a:t>
                      </a:r>
                    </a:p>
                  </a:txBody>
                  <a:tcPr>
                    <a:solidFill>
                      <a:srgbClr val="FCFAF5"/>
                    </a:solidFill>
                  </a:tcPr>
                </a:tc>
                <a:tc>
                  <a:txBody>
                    <a:bodyPr/>
                    <a:lstStyle/>
                    <a:p>
                      <a:r>
                        <a:rPr sz="1000" b="0">
                          <a:solidFill>
                            <a:srgbClr val="1F2621"/>
                          </a:solidFill>
                          <a:latin typeface="Aptos"/>
                        </a:rPr>
                        <a:t>$7.3M</a:t>
                      </a:r>
                    </a:p>
                  </a:txBody>
                  <a:tcPr>
                    <a:solidFill>
                      <a:srgbClr val="FCFAF5"/>
                    </a:solidFill>
                  </a:tcPr>
                </a:tc>
              </a:tr>
              <a:tr h="445770">
                <a:tc>
                  <a:txBody>
                    <a:bodyPr/>
                    <a:lstStyle/>
                    <a:p>
                      <a:r>
                        <a:rPr sz="1000" b="0">
                          <a:solidFill>
                            <a:srgbClr val="1F2621"/>
                          </a:solidFill>
                          <a:latin typeface="Aptos"/>
                        </a:rPr>
                        <a:t>2024</a:t>
                      </a:r>
                    </a:p>
                  </a:txBody>
                  <a:tcPr>
                    <a:solidFill>
                      <a:srgbClr val="F7F3EC"/>
                    </a:solidFill>
                  </a:tcPr>
                </a:tc>
                <a:tc>
                  <a:txBody>
                    <a:bodyPr/>
                    <a:lstStyle/>
                    <a:p>
                      <a:r>
                        <a:rPr sz="1000" b="0">
                          <a:solidFill>
                            <a:srgbClr val="1F2621"/>
                          </a:solidFill>
                          <a:latin typeface="Aptos"/>
                        </a:rPr>
                        <a:t>$8.1M</a:t>
                      </a:r>
                    </a:p>
                  </a:txBody>
                  <a:tcPr>
                    <a:solidFill>
                      <a:srgbClr val="F7F3EC"/>
                    </a:solidFill>
                  </a:tcPr>
                </a:tc>
                <a:tc>
                  <a:txBody>
                    <a:bodyPr/>
                    <a:lstStyle/>
                    <a:p>
                      <a:r>
                        <a:rPr sz="1000" b="0">
                          <a:solidFill>
                            <a:srgbClr val="1F2621"/>
                          </a:solidFill>
                          <a:latin typeface="Aptos"/>
                        </a:rPr>
                        <a:t>$15.3M</a:t>
                      </a:r>
                    </a:p>
                  </a:txBody>
                  <a:tcPr>
                    <a:solidFill>
                      <a:srgbClr val="F7F3EC"/>
                    </a:solidFill>
                  </a:tcPr>
                </a:tc>
                <a:tc>
                  <a:txBody>
                    <a:bodyPr/>
                    <a:lstStyle/>
                    <a:p>
                      <a:r>
                        <a:rPr sz="1000" b="0">
                          <a:solidFill>
                            <a:srgbClr val="1F2621"/>
                          </a:solidFill>
                          <a:latin typeface="Aptos"/>
                        </a:rPr>
                        <a:t>$12.6M</a:t>
                      </a:r>
                    </a:p>
                  </a:txBody>
                  <a:tcPr>
                    <a:solidFill>
                      <a:srgbClr val="F7F3EC"/>
                    </a:solidFill>
                  </a:tcPr>
                </a:tc>
                <a:tc>
                  <a:txBody>
                    <a:bodyPr/>
                    <a:lstStyle/>
                    <a:p>
                      <a:r>
                        <a:rPr sz="1000" b="0">
                          <a:solidFill>
                            <a:srgbClr val="1F2621"/>
                          </a:solidFill>
                          <a:latin typeface="Aptos"/>
                        </a:rPr>
                        <a:t>$5.8M</a:t>
                      </a:r>
                    </a:p>
                  </a:txBody>
                  <a:tcPr>
                    <a:solidFill>
                      <a:srgbClr val="F7F3EC"/>
                    </a:solidFill>
                  </a:tcPr>
                </a:tc>
                <a:tc>
                  <a:txBody>
                    <a:bodyPr/>
                    <a:lstStyle/>
                    <a:p>
                      <a:r>
                        <a:rPr sz="1000" b="0">
                          <a:solidFill>
                            <a:srgbClr val="1F2621"/>
                          </a:solidFill>
                          <a:latin typeface="Aptos"/>
                        </a:rPr>
                        <a:t>$8.9M</a:t>
                      </a:r>
                    </a:p>
                  </a:txBody>
                  <a:tcPr>
                    <a:solidFill>
                      <a:srgbClr val="F7F3EC"/>
                    </a:solidFill>
                  </a:tcPr>
                </a:tc>
              </a:tr>
              <a:tr h="445770">
                <a:tc>
                  <a:txBody>
                    <a:bodyPr/>
                    <a:lstStyle/>
                    <a:p>
                      <a:r>
                        <a:rPr sz="1000" b="0">
                          <a:solidFill>
                            <a:srgbClr val="1F2621"/>
                          </a:solidFill>
                          <a:latin typeface="Aptos"/>
                        </a:rPr>
                        <a:t>2025 H1</a:t>
                      </a:r>
                    </a:p>
                  </a:txBody>
                  <a:tcPr>
                    <a:solidFill>
                      <a:srgbClr val="FCFAF5"/>
                    </a:solidFill>
                  </a:tcPr>
                </a:tc>
                <a:tc>
                  <a:txBody>
                    <a:bodyPr/>
                    <a:lstStyle/>
                    <a:p>
                      <a:r>
                        <a:rPr sz="1000" b="0">
                          <a:solidFill>
                            <a:srgbClr val="1F2621"/>
                          </a:solidFill>
                          <a:latin typeface="Aptos"/>
                        </a:rPr>
                        <a:t>$5.0M</a:t>
                      </a:r>
                    </a:p>
                  </a:txBody>
                  <a:tcPr>
                    <a:solidFill>
                      <a:srgbClr val="FCFAF5"/>
                    </a:solidFill>
                  </a:tcPr>
                </a:tc>
                <a:tc>
                  <a:txBody>
                    <a:bodyPr/>
                    <a:lstStyle/>
                    <a:p>
                      <a:r>
                        <a:rPr sz="1000" b="0">
                          <a:solidFill>
                            <a:srgbClr val="1F2621"/>
                          </a:solidFill>
                          <a:latin typeface="Aptos"/>
                        </a:rPr>
                        <a:t>$8.1M</a:t>
                      </a:r>
                    </a:p>
                  </a:txBody>
                  <a:tcPr>
                    <a:solidFill>
                      <a:srgbClr val="FCFAF5"/>
                    </a:solidFill>
                  </a:tcPr>
                </a:tc>
                <a:tc>
                  <a:txBody>
                    <a:bodyPr/>
                    <a:lstStyle/>
                    <a:p>
                      <a:r>
                        <a:rPr sz="1000" b="0">
                          <a:solidFill>
                            <a:srgbClr val="1F2621"/>
                          </a:solidFill>
                          <a:latin typeface="Aptos"/>
                        </a:rPr>
                        <a:t>$7.5M</a:t>
                      </a:r>
                    </a:p>
                  </a:txBody>
                  <a:tcPr>
                    <a:solidFill>
                      <a:srgbClr val="FCFAF5"/>
                    </a:solidFill>
                  </a:tcPr>
                </a:tc>
                <a:tc>
                  <a:txBody>
                    <a:bodyPr/>
                    <a:lstStyle/>
                    <a:p>
                      <a:r>
                        <a:rPr sz="1000" b="0">
                          <a:solidFill>
                            <a:srgbClr val="1F2621"/>
                          </a:solidFill>
                          <a:latin typeface="Aptos"/>
                        </a:rPr>
                        <a:t>$3.2M</a:t>
                      </a:r>
                    </a:p>
                  </a:txBody>
                  <a:tcPr>
                    <a:solidFill>
                      <a:srgbClr val="FCFAF5"/>
                    </a:solidFill>
                  </a:tcPr>
                </a:tc>
                <a:tc>
                  <a:txBody>
                    <a:bodyPr/>
                    <a:lstStyle/>
                    <a:p>
                      <a:r>
                        <a:rPr sz="1000" b="0">
                          <a:solidFill>
                            <a:srgbClr val="1F2621"/>
                          </a:solidFill>
                          <a:latin typeface="Aptos"/>
                        </a:rPr>
                        <a:t>$4.2M</a:t>
                      </a:r>
                    </a:p>
                  </a:txBody>
                  <a:tcPr>
                    <a:solidFill>
                      <a:srgbClr val="FCFAF5"/>
                    </a:solidFill>
                  </a:tcPr>
                </a:tc>
              </a:tr>
            </a:tbl>
          </a:graphicData>
        </a:graphic>
      </p:graphicFrame>
      <p:sp>
        <p:nvSpPr>
          <p:cNvPr id="12" name="Rounded Rectangle 11"/>
          <p:cNvSpPr/>
          <p:nvPr/>
        </p:nvSpPr>
        <p:spPr>
          <a:xfrm>
            <a:off x="8759952" y="1645920"/>
            <a:ext cx="274320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34272" y="1938528"/>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62288" y="2048256"/>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2024 LEAD VS NY</a:t>
            </a:r>
          </a:p>
        </p:txBody>
      </p:sp>
      <p:sp>
        <p:nvSpPr>
          <p:cNvPr id="15" name="TextBox 14"/>
          <p:cNvSpPr txBox="1"/>
          <p:nvPr/>
        </p:nvSpPr>
        <p:spPr>
          <a:xfrm>
            <a:off x="9162288" y="2249424"/>
            <a:ext cx="193852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$2.7M</a:t>
            </a:r>
          </a:p>
        </p:txBody>
      </p:sp>
      <p:sp>
        <p:nvSpPr>
          <p:cNvPr id="16" name="Rounded Rectangle 15"/>
          <p:cNvSpPr/>
          <p:nvPr/>
        </p:nvSpPr>
        <p:spPr>
          <a:xfrm>
            <a:off x="9034272" y="2999232"/>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62288" y="3108960"/>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SEATTLE IN TOP TIER</a:t>
            </a:r>
          </a:p>
        </p:txBody>
      </p:sp>
      <p:sp>
        <p:nvSpPr>
          <p:cNvPr id="18" name="TextBox 17"/>
          <p:cNvSpPr txBox="1"/>
          <p:nvPr/>
        </p:nvSpPr>
        <p:spPr>
          <a:xfrm>
            <a:off x="9162288" y="3310128"/>
            <a:ext cx="193852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Top 5</a:t>
            </a:r>
          </a:p>
        </p:txBody>
      </p:sp>
      <p:sp>
        <p:nvSpPr>
          <p:cNvPr id="19" name="TextBox 18"/>
          <p:cNvSpPr txBox="1"/>
          <p:nvPr/>
        </p:nvSpPr>
        <p:spPr>
          <a:xfrm>
            <a:off x="9034272" y="4315968"/>
            <a:ext cx="2148840" cy="685800"/>
          </a:xfrm>
          <a:prstGeom prst="rect">
            <a:avLst/>
          </a:prstGeom>
          <a:noFill/>
        </p:spPr>
        <p:txBody>
          <a:bodyPr wrap="square" lIns="27432" rIns="27432" tIns="27432" bIns="27432" anchor="t">
            <a:spAutoFit/>
          </a:bodyPr>
          <a:lstStyle/>
          <a:p>
            <a:pPr algn="l"/>
            <a:r>
              <a:rPr sz="1300" b="0">
                <a:solidFill>
                  <a:srgbClr val="1F2621"/>
                </a:solidFill>
                <a:latin typeface="Aptos"/>
              </a:rPr>
              <a:t>Organic scale is less concentrated than conventional, which leaves more room for pilot-market selection to differ from simple size rankings.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9</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Seattle leads organic penetration in most periods</a:t>
            </a:r>
          </a:p>
        </p:txBody>
      </p:sp>
      <p:sp>
        <p:nvSpPr>
          <p:cNvPr id="9" name="Rounded Rectangle 8"/>
          <p:cNvSpPr/>
          <p:nvPr/>
        </p:nvSpPr>
        <p:spPr>
          <a:xfrm>
            <a:off x="713232" y="1700784"/>
            <a:ext cx="1078992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01952"/>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WINNER TIMELINE</a:t>
            </a:r>
          </a:p>
        </p:txBody>
      </p:sp>
      <p:sp>
        <p:nvSpPr>
          <p:cNvPr id="11" name="Rounded Rectangle 10"/>
          <p:cNvSpPr/>
          <p:nvPr/>
        </p:nvSpPr>
        <p:spPr>
          <a:xfrm>
            <a:off x="914400"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2019</a:t>
            </a:r>
          </a:p>
        </p:txBody>
      </p:sp>
      <p:sp>
        <p:nvSpPr>
          <p:cNvPr id="13" name="Rounded Rectangle 12"/>
          <p:cNvSpPr/>
          <p:nvPr/>
        </p:nvSpPr>
        <p:spPr>
          <a:xfrm>
            <a:off x="914400"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5" name="TextBox 14"/>
          <p:cNvSpPr txBox="1"/>
          <p:nvPr/>
        </p:nvSpPr>
        <p:spPr>
          <a:xfrm>
            <a:off x="914400"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11.82%</a:t>
            </a:r>
          </a:p>
        </p:txBody>
      </p:sp>
      <p:cxnSp>
        <p:nvCxnSpPr>
          <p:cNvPr id="16" name="Connector 15"/>
          <p:cNvCxnSpPr/>
          <p:nvPr/>
        </p:nvCxnSpPr>
        <p:spPr>
          <a:xfrm>
            <a:off x="2176272"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404872"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04872"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2020</a:t>
            </a:r>
          </a:p>
        </p:txBody>
      </p:sp>
      <p:sp>
        <p:nvSpPr>
          <p:cNvPr id="19" name="Rounded Rectangle 18"/>
          <p:cNvSpPr/>
          <p:nvPr/>
        </p:nvSpPr>
        <p:spPr>
          <a:xfrm>
            <a:off x="2404872"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23160"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21" name="TextBox 20"/>
          <p:cNvSpPr txBox="1"/>
          <p:nvPr/>
        </p:nvSpPr>
        <p:spPr>
          <a:xfrm>
            <a:off x="2404872"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9.86%</a:t>
            </a:r>
          </a:p>
        </p:txBody>
      </p:sp>
      <p:cxnSp>
        <p:nvCxnSpPr>
          <p:cNvPr id="22" name="Connector 21"/>
          <p:cNvCxnSpPr/>
          <p:nvPr/>
        </p:nvCxnSpPr>
        <p:spPr>
          <a:xfrm>
            <a:off x="3666744"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895344"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95344"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2021</a:t>
            </a:r>
          </a:p>
        </p:txBody>
      </p:sp>
      <p:sp>
        <p:nvSpPr>
          <p:cNvPr id="25" name="Rounded Rectangle 24"/>
          <p:cNvSpPr/>
          <p:nvPr/>
        </p:nvSpPr>
        <p:spPr>
          <a:xfrm>
            <a:off x="3895344"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13632"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27" name="TextBox 26"/>
          <p:cNvSpPr txBox="1"/>
          <p:nvPr/>
        </p:nvSpPr>
        <p:spPr>
          <a:xfrm>
            <a:off x="3895344"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10.10%</a:t>
            </a:r>
          </a:p>
        </p:txBody>
      </p:sp>
      <p:cxnSp>
        <p:nvCxnSpPr>
          <p:cNvPr id="28" name="Connector 27"/>
          <p:cNvCxnSpPr/>
          <p:nvPr/>
        </p:nvCxnSpPr>
        <p:spPr>
          <a:xfrm>
            <a:off x="5157216"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385816"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85816"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2022</a:t>
            </a:r>
          </a:p>
        </p:txBody>
      </p:sp>
      <p:sp>
        <p:nvSpPr>
          <p:cNvPr id="31" name="Rounded Rectangle 30"/>
          <p:cNvSpPr/>
          <p:nvPr/>
        </p:nvSpPr>
        <p:spPr>
          <a:xfrm>
            <a:off x="5385816" y="2852928"/>
            <a:ext cx="123444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04104"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ORLANDO</a:t>
            </a:r>
          </a:p>
        </p:txBody>
      </p:sp>
      <p:sp>
        <p:nvSpPr>
          <p:cNvPr id="33" name="TextBox 32"/>
          <p:cNvSpPr txBox="1"/>
          <p:nvPr/>
        </p:nvSpPr>
        <p:spPr>
          <a:xfrm>
            <a:off x="5385816" y="3310128"/>
            <a:ext cx="1234440" cy="164592"/>
          </a:xfrm>
          <a:prstGeom prst="rect">
            <a:avLst/>
          </a:prstGeom>
          <a:noFill/>
        </p:spPr>
        <p:txBody>
          <a:bodyPr wrap="square" lIns="27432" rIns="27432" tIns="27432" bIns="27432" anchor="t">
            <a:spAutoFit/>
          </a:bodyPr>
          <a:lstStyle/>
          <a:p>
            <a:pPr algn="ctr"/>
            <a:r>
              <a:rPr sz="1200" b="1">
                <a:solidFill>
                  <a:srgbClr val="C58A2A"/>
                </a:solidFill>
                <a:latin typeface="Aptos Display"/>
              </a:rPr>
              <a:t>12.87%</a:t>
            </a:r>
          </a:p>
        </p:txBody>
      </p:sp>
      <p:cxnSp>
        <p:nvCxnSpPr>
          <p:cNvPr id="34" name="Connector 33"/>
          <p:cNvCxnSpPr/>
          <p:nvPr/>
        </p:nvCxnSpPr>
        <p:spPr>
          <a:xfrm>
            <a:off x="6647688"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876288"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76288"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2023</a:t>
            </a:r>
          </a:p>
        </p:txBody>
      </p:sp>
      <p:sp>
        <p:nvSpPr>
          <p:cNvPr id="37" name="Rounded Rectangle 36"/>
          <p:cNvSpPr/>
          <p:nvPr/>
        </p:nvSpPr>
        <p:spPr>
          <a:xfrm>
            <a:off x="6876288"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94576"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39" name="TextBox 38"/>
          <p:cNvSpPr txBox="1"/>
          <p:nvPr/>
        </p:nvSpPr>
        <p:spPr>
          <a:xfrm>
            <a:off x="6876288"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10.40%</a:t>
            </a:r>
          </a:p>
        </p:txBody>
      </p:sp>
      <p:cxnSp>
        <p:nvCxnSpPr>
          <p:cNvPr id="40" name="Connector 39"/>
          <p:cNvCxnSpPr/>
          <p:nvPr/>
        </p:nvCxnSpPr>
        <p:spPr>
          <a:xfrm>
            <a:off x="8138160"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366759"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66759"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2024</a:t>
            </a:r>
          </a:p>
        </p:txBody>
      </p:sp>
      <p:sp>
        <p:nvSpPr>
          <p:cNvPr id="43" name="Rounded Rectangle 42"/>
          <p:cNvSpPr/>
          <p:nvPr/>
        </p:nvSpPr>
        <p:spPr>
          <a:xfrm>
            <a:off x="8366759"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85047"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45" name="TextBox 44"/>
          <p:cNvSpPr txBox="1"/>
          <p:nvPr/>
        </p:nvSpPr>
        <p:spPr>
          <a:xfrm>
            <a:off x="8366759"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11.19%</a:t>
            </a:r>
          </a:p>
        </p:txBody>
      </p:sp>
      <p:cxnSp>
        <p:nvCxnSpPr>
          <p:cNvPr id="46" name="Connector 45"/>
          <p:cNvCxnSpPr/>
          <p:nvPr/>
        </p:nvCxnSpPr>
        <p:spPr>
          <a:xfrm>
            <a:off x="9628631"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57232"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57232"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2025 H1</a:t>
            </a:r>
          </a:p>
        </p:txBody>
      </p:sp>
      <p:sp>
        <p:nvSpPr>
          <p:cNvPr id="49" name="Rounded Rectangle 48"/>
          <p:cNvSpPr/>
          <p:nvPr/>
        </p:nvSpPr>
        <p:spPr>
          <a:xfrm>
            <a:off x="9857232" y="2852928"/>
            <a:ext cx="1234440" cy="27432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875520"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CHARLOTTE</a:t>
            </a:r>
          </a:p>
        </p:txBody>
      </p:sp>
      <p:sp>
        <p:nvSpPr>
          <p:cNvPr id="51" name="TextBox 50"/>
          <p:cNvSpPr txBox="1"/>
          <p:nvPr/>
        </p:nvSpPr>
        <p:spPr>
          <a:xfrm>
            <a:off x="9857232" y="3310128"/>
            <a:ext cx="1234440" cy="164592"/>
          </a:xfrm>
          <a:prstGeom prst="rect">
            <a:avLst/>
          </a:prstGeom>
          <a:noFill/>
        </p:spPr>
        <p:txBody>
          <a:bodyPr wrap="square" lIns="27432" rIns="27432" tIns="27432" bIns="27432" anchor="t">
            <a:spAutoFit/>
          </a:bodyPr>
          <a:lstStyle/>
          <a:p>
            <a:pPr algn="ctr"/>
            <a:r>
              <a:rPr sz="1200" b="1">
                <a:solidFill>
                  <a:srgbClr val="3F728A"/>
                </a:solidFill>
                <a:latin typeface="Aptos Display"/>
              </a:rPr>
              <a:t>9.45%</a:t>
            </a:r>
          </a:p>
        </p:txBody>
      </p:sp>
      <p:sp>
        <p:nvSpPr>
          <p:cNvPr id="52" name="Rounded Rectangle 51"/>
          <p:cNvSpPr/>
          <p:nvPr/>
        </p:nvSpPr>
        <p:spPr>
          <a:xfrm>
            <a:off x="932688" y="4114800"/>
            <a:ext cx="10195560"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0704" y="4242816"/>
            <a:ext cx="3142488" cy="164592"/>
          </a:xfrm>
          <a:prstGeom prst="rect">
            <a:avLst/>
          </a:prstGeom>
          <a:noFill/>
        </p:spPr>
        <p:txBody>
          <a:bodyPr wrap="square" lIns="27432" rIns="27432" tIns="27432" bIns="27432" anchor="t">
            <a:spAutoFit/>
          </a:bodyPr>
          <a:lstStyle/>
          <a:p>
            <a:pPr algn="l"/>
            <a:r>
              <a:rPr sz="1000" b="1">
                <a:solidFill>
                  <a:srgbClr val="5F6B63"/>
                </a:solidFill>
                <a:latin typeface="Aptos"/>
              </a:rPr>
              <a:t>MOST FREQUENT LEADER</a:t>
            </a:r>
          </a:p>
        </p:txBody>
      </p:sp>
      <p:sp>
        <p:nvSpPr>
          <p:cNvPr id="54" name="TextBox 53"/>
          <p:cNvSpPr txBox="1"/>
          <p:nvPr/>
        </p:nvSpPr>
        <p:spPr>
          <a:xfrm>
            <a:off x="1060704" y="4425696"/>
            <a:ext cx="3142488" cy="310896"/>
          </a:xfrm>
          <a:prstGeom prst="rect">
            <a:avLst/>
          </a:prstGeom>
          <a:noFill/>
        </p:spPr>
        <p:txBody>
          <a:bodyPr wrap="square" lIns="27432" rIns="27432" tIns="27432" bIns="27432" anchor="t">
            <a:spAutoFit/>
          </a:bodyPr>
          <a:lstStyle/>
          <a:p>
            <a:pPr algn="l"/>
            <a:r>
              <a:rPr sz="2100" b="1">
                <a:solidFill>
                  <a:srgbClr val="355C47"/>
                </a:solidFill>
                <a:latin typeface="Aptos Display"/>
              </a:rPr>
              <a:t>Seattle</a:t>
            </a:r>
          </a:p>
        </p:txBody>
      </p:sp>
      <p:sp>
        <p:nvSpPr>
          <p:cNvPr id="55" name="TextBox 54"/>
          <p:cNvSpPr txBox="1"/>
          <p:nvPr/>
        </p:nvSpPr>
        <p:spPr>
          <a:xfrm>
            <a:off x="1060704" y="4773168"/>
            <a:ext cx="3142488" cy="109728"/>
          </a:xfrm>
          <a:prstGeom prst="rect">
            <a:avLst/>
          </a:prstGeom>
          <a:noFill/>
        </p:spPr>
        <p:txBody>
          <a:bodyPr wrap="square" lIns="27432" rIns="27432" tIns="27432" bIns="27432" anchor="t">
            <a:spAutoFit/>
          </a:bodyPr>
          <a:lstStyle/>
          <a:p>
            <a:pPr algn="l"/>
            <a:r>
              <a:rPr sz="1200" b="0">
                <a:solidFill>
                  <a:srgbClr val="1F2621"/>
                </a:solidFill>
                <a:latin typeface="Aptos"/>
              </a:rPr>
              <a:t>Wins 5 of the 7 measured periods and is the clearest indicator of organic readiness.</a:t>
            </a:r>
          </a:p>
        </p:txBody>
      </p:sp>
      <p:cxnSp>
        <p:nvCxnSpPr>
          <p:cNvPr id="56" name="Connector 55"/>
          <p:cNvCxnSpPr/>
          <p:nvPr/>
        </p:nvCxnSpPr>
        <p:spPr>
          <a:xfrm>
            <a:off x="4331208" y="4279392"/>
            <a:ext cx="0" cy="5852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459224" y="4242816"/>
            <a:ext cx="3142488" cy="164592"/>
          </a:xfrm>
          <a:prstGeom prst="rect">
            <a:avLst/>
          </a:prstGeom>
          <a:noFill/>
        </p:spPr>
        <p:txBody>
          <a:bodyPr wrap="square" lIns="27432" rIns="27432" tIns="27432" bIns="27432" anchor="t">
            <a:spAutoFit/>
          </a:bodyPr>
          <a:lstStyle/>
          <a:p>
            <a:pPr algn="l"/>
            <a:r>
              <a:rPr sz="1000" b="1">
                <a:solidFill>
                  <a:srgbClr val="5F6B63"/>
                </a:solidFill>
                <a:latin typeface="Aptos"/>
              </a:rPr>
              <a:t>BEST ONE-YEAR SHARE</a:t>
            </a:r>
          </a:p>
        </p:txBody>
      </p:sp>
      <p:sp>
        <p:nvSpPr>
          <p:cNvPr id="58" name="TextBox 57"/>
          <p:cNvSpPr txBox="1"/>
          <p:nvPr/>
        </p:nvSpPr>
        <p:spPr>
          <a:xfrm>
            <a:off x="4459224" y="4425696"/>
            <a:ext cx="3142488" cy="310896"/>
          </a:xfrm>
          <a:prstGeom prst="rect">
            <a:avLst/>
          </a:prstGeom>
          <a:noFill/>
        </p:spPr>
        <p:txBody>
          <a:bodyPr wrap="square" lIns="27432" rIns="27432" tIns="27432" bIns="27432" anchor="t">
            <a:spAutoFit/>
          </a:bodyPr>
          <a:lstStyle/>
          <a:p>
            <a:pPr algn="l"/>
            <a:r>
              <a:rPr sz="2100" b="1">
                <a:solidFill>
                  <a:srgbClr val="3F728A"/>
                </a:solidFill>
                <a:latin typeface="Aptos Display"/>
              </a:rPr>
              <a:t>Orlando 12.87%</a:t>
            </a:r>
          </a:p>
        </p:txBody>
      </p:sp>
      <p:sp>
        <p:nvSpPr>
          <p:cNvPr id="59" name="TextBox 58"/>
          <p:cNvSpPr txBox="1"/>
          <p:nvPr/>
        </p:nvSpPr>
        <p:spPr>
          <a:xfrm>
            <a:off x="4459224" y="4773168"/>
            <a:ext cx="3142488" cy="109728"/>
          </a:xfrm>
          <a:prstGeom prst="rect">
            <a:avLst/>
          </a:prstGeom>
          <a:noFill/>
        </p:spPr>
        <p:txBody>
          <a:bodyPr wrap="square" lIns="27432" rIns="27432" tIns="27432" bIns="27432" anchor="t">
            <a:spAutoFit/>
          </a:bodyPr>
          <a:lstStyle/>
          <a:p>
            <a:pPr algn="l"/>
            <a:r>
              <a:rPr sz="1200" b="0">
                <a:solidFill>
                  <a:srgbClr val="1F2621"/>
                </a:solidFill>
                <a:latin typeface="Aptos"/>
              </a:rPr>
              <a:t>Orlando peaks in 2022, but it does not sustain the same multi-period lead.</a:t>
            </a:r>
          </a:p>
        </p:txBody>
      </p:sp>
      <p:cxnSp>
        <p:nvCxnSpPr>
          <p:cNvPr id="60" name="Connector 59"/>
          <p:cNvCxnSpPr/>
          <p:nvPr/>
        </p:nvCxnSpPr>
        <p:spPr>
          <a:xfrm>
            <a:off x="7729728" y="4279392"/>
            <a:ext cx="0" cy="5852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7857744" y="4242816"/>
            <a:ext cx="3142488" cy="164592"/>
          </a:xfrm>
          <a:prstGeom prst="rect">
            <a:avLst/>
          </a:prstGeom>
          <a:noFill/>
        </p:spPr>
        <p:txBody>
          <a:bodyPr wrap="square" lIns="27432" rIns="27432" tIns="27432" bIns="27432" anchor="t">
            <a:spAutoFit/>
          </a:bodyPr>
          <a:lstStyle/>
          <a:p>
            <a:pPr algn="l"/>
            <a:r>
              <a:rPr sz="1000" b="1">
                <a:solidFill>
                  <a:srgbClr val="5F6B63"/>
                </a:solidFill>
                <a:latin typeface="Aptos"/>
              </a:rPr>
              <a:t>CURRENT H1 LEADER</a:t>
            </a:r>
          </a:p>
        </p:txBody>
      </p:sp>
      <p:sp>
        <p:nvSpPr>
          <p:cNvPr id="62" name="TextBox 61"/>
          <p:cNvSpPr txBox="1"/>
          <p:nvPr/>
        </p:nvSpPr>
        <p:spPr>
          <a:xfrm>
            <a:off x="7857744" y="4425696"/>
            <a:ext cx="3142488" cy="310896"/>
          </a:xfrm>
          <a:prstGeom prst="rect">
            <a:avLst/>
          </a:prstGeom>
          <a:noFill/>
        </p:spPr>
        <p:txBody>
          <a:bodyPr wrap="square" lIns="27432" rIns="27432" tIns="27432" bIns="27432" anchor="t">
            <a:spAutoFit/>
          </a:bodyPr>
          <a:lstStyle/>
          <a:p>
            <a:pPr algn="l"/>
            <a:r>
              <a:rPr sz="2100" b="1">
                <a:solidFill>
                  <a:srgbClr val="C58A2A"/>
                </a:solidFill>
                <a:latin typeface="Aptos Display"/>
              </a:rPr>
              <a:t>Charlotte 9.45%</a:t>
            </a:r>
          </a:p>
        </p:txBody>
      </p:sp>
      <p:sp>
        <p:nvSpPr>
          <p:cNvPr id="63" name="TextBox 62"/>
          <p:cNvSpPr txBox="1"/>
          <p:nvPr/>
        </p:nvSpPr>
        <p:spPr>
          <a:xfrm>
            <a:off x="7857744" y="4773168"/>
            <a:ext cx="3142488" cy="109728"/>
          </a:xfrm>
          <a:prstGeom prst="rect">
            <a:avLst/>
          </a:prstGeom>
          <a:noFill/>
        </p:spPr>
        <p:txBody>
          <a:bodyPr wrap="square" lIns="27432" rIns="27432" tIns="27432" bIns="27432" anchor="t">
            <a:spAutoFit/>
          </a:bodyPr>
          <a:lstStyle/>
          <a:p>
            <a:pPr algn="l"/>
            <a:r>
              <a:rPr sz="1200" b="0">
                <a:solidFill>
                  <a:srgbClr val="1F2621"/>
                </a:solidFill>
                <a:latin typeface="Aptos"/>
              </a:rPr>
              <a:t>Charlotte leads 2025 H1, showing that penetration leadership is not static.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10</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Organic share has expanded even though it remains a niche slice of the total market</a:t>
            </a:r>
          </a:p>
        </p:txBody>
      </p:sp>
      <p:sp>
        <p:nvSpPr>
          <p:cNvPr id="9" name="Rounded Rectangle 8"/>
          <p:cNvSpPr/>
          <p:nvPr/>
        </p:nvSpPr>
        <p:spPr>
          <a:xfrm>
            <a:off x="749808" y="1700784"/>
            <a:ext cx="10744200" cy="11430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28800"/>
            <a:ext cx="2430018" cy="164592"/>
          </a:xfrm>
          <a:prstGeom prst="rect">
            <a:avLst/>
          </a:prstGeom>
          <a:noFill/>
        </p:spPr>
        <p:txBody>
          <a:bodyPr wrap="square" lIns="27432" rIns="27432" tIns="27432" bIns="27432" anchor="t">
            <a:spAutoFit/>
          </a:bodyPr>
          <a:lstStyle/>
          <a:p>
            <a:pPr algn="l"/>
            <a:r>
              <a:rPr sz="1000" b="1">
                <a:solidFill>
                  <a:srgbClr val="5F6B63"/>
                </a:solidFill>
                <a:latin typeface="Aptos"/>
              </a:rPr>
              <a:t>2019 ORGANIC SHARE</a:t>
            </a:r>
          </a:p>
        </p:txBody>
      </p:sp>
      <p:sp>
        <p:nvSpPr>
          <p:cNvPr id="11" name="TextBox 10"/>
          <p:cNvSpPr txBox="1"/>
          <p:nvPr/>
        </p:nvSpPr>
        <p:spPr>
          <a:xfrm>
            <a:off x="877824" y="2011680"/>
            <a:ext cx="2430018" cy="310896"/>
          </a:xfrm>
          <a:prstGeom prst="rect">
            <a:avLst/>
          </a:prstGeom>
          <a:noFill/>
        </p:spPr>
        <p:txBody>
          <a:bodyPr wrap="square" lIns="27432" rIns="27432" tIns="27432" bIns="27432" anchor="t">
            <a:spAutoFit/>
          </a:bodyPr>
          <a:lstStyle/>
          <a:p>
            <a:pPr algn="l"/>
            <a:r>
              <a:rPr sz="2100" b="1">
                <a:solidFill>
                  <a:srgbClr val="355C47"/>
                </a:solidFill>
                <a:latin typeface="Aptos Display"/>
              </a:rPr>
              <a:t>4.15%</a:t>
            </a:r>
          </a:p>
        </p:txBody>
      </p:sp>
      <p:sp>
        <p:nvSpPr>
          <p:cNvPr id="12" name="TextBox 11"/>
          <p:cNvSpPr txBox="1"/>
          <p:nvPr/>
        </p:nvSpPr>
        <p:spPr>
          <a:xfrm>
            <a:off x="877824" y="2359152"/>
            <a:ext cx="2430018" cy="338328"/>
          </a:xfrm>
          <a:prstGeom prst="rect">
            <a:avLst/>
          </a:prstGeom>
          <a:noFill/>
        </p:spPr>
        <p:txBody>
          <a:bodyPr wrap="square" lIns="27432" rIns="27432" tIns="27432" bIns="27432" anchor="t">
            <a:spAutoFit/>
          </a:bodyPr>
          <a:lstStyle/>
          <a:p>
            <a:pPr algn="l"/>
            <a:r>
              <a:rPr sz="1200" b="0">
                <a:solidFill>
                  <a:srgbClr val="1F2621"/>
                </a:solidFill>
                <a:latin typeface="Aptos"/>
              </a:rPr>
              <a:t>Organic started from a small base inside the total Hass market.</a:t>
            </a:r>
          </a:p>
        </p:txBody>
      </p:sp>
      <p:cxnSp>
        <p:nvCxnSpPr>
          <p:cNvPr id="13" name="Connector 12"/>
          <p:cNvCxnSpPr/>
          <p:nvPr/>
        </p:nvCxnSpPr>
        <p:spPr>
          <a:xfrm>
            <a:off x="3435858" y="1865376"/>
            <a:ext cx="0" cy="8138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563874" y="1828800"/>
            <a:ext cx="2430018" cy="164592"/>
          </a:xfrm>
          <a:prstGeom prst="rect">
            <a:avLst/>
          </a:prstGeom>
          <a:noFill/>
        </p:spPr>
        <p:txBody>
          <a:bodyPr wrap="square" lIns="27432" rIns="27432" tIns="27432" bIns="27432" anchor="t">
            <a:spAutoFit/>
          </a:bodyPr>
          <a:lstStyle/>
          <a:p>
            <a:pPr algn="l"/>
            <a:r>
              <a:rPr sz="1000" b="1">
                <a:solidFill>
                  <a:srgbClr val="5F6B63"/>
                </a:solidFill>
                <a:latin typeface="Aptos"/>
              </a:rPr>
              <a:t>2024 ORGANIC SHARE</a:t>
            </a:r>
          </a:p>
        </p:txBody>
      </p:sp>
      <p:sp>
        <p:nvSpPr>
          <p:cNvPr id="15" name="TextBox 14"/>
          <p:cNvSpPr txBox="1"/>
          <p:nvPr/>
        </p:nvSpPr>
        <p:spPr>
          <a:xfrm>
            <a:off x="3563874" y="2011680"/>
            <a:ext cx="2430018" cy="310896"/>
          </a:xfrm>
          <a:prstGeom prst="rect">
            <a:avLst/>
          </a:prstGeom>
          <a:noFill/>
        </p:spPr>
        <p:txBody>
          <a:bodyPr wrap="square" lIns="27432" rIns="27432" tIns="27432" bIns="27432" anchor="t">
            <a:spAutoFit/>
          </a:bodyPr>
          <a:lstStyle/>
          <a:p>
            <a:pPr algn="l"/>
            <a:r>
              <a:rPr sz="2100" b="1">
                <a:solidFill>
                  <a:srgbClr val="3F728A"/>
                </a:solidFill>
                <a:latin typeface="Aptos Display"/>
              </a:rPr>
              <a:t>5.91%</a:t>
            </a:r>
          </a:p>
        </p:txBody>
      </p:sp>
      <p:sp>
        <p:nvSpPr>
          <p:cNvPr id="16" name="TextBox 15"/>
          <p:cNvSpPr txBox="1"/>
          <p:nvPr/>
        </p:nvSpPr>
        <p:spPr>
          <a:xfrm>
            <a:off x="3563874" y="2359152"/>
            <a:ext cx="2430018" cy="338328"/>
          </a:xfrm>
          <a:prstGeom prst="rect">
            <a:avLst/>
          </a:prstGeom>
          <a:noFill/>
        </p:spPr>
        <p:txBody>
          <a:bodyPr wrap="square" lIns="27432" rIns="27432" tIns="27432" bIns="27432" anchor="t">
            <a:spAutoFit/>
          </a:bodyPr>
          <a:lstStyle/>
          <a:p>
            <a:pPr algn="l"/>
            <a:r>
              <a:rPr sz="1200" b="0">
                <a:solidFill>
                  <a:srgbClr val="1F2621"/>
                </a:solidFill>
                <a:latin typeface="Aptos"/>
              </a:rPr>
              <a:t>The share has risen, but it is still a minority slice of total demand.</a:t>
            </a:r>
          </a:p>
        </p:txBody>
      </p:sp>
      <p:cxnSp>
        <p:nvCxnSpPr>
          <p:cNvPr id="17" name="Connector 16"/>
          <p:cNvCxnSpPr/>
          <p:nvPr/>
        </p:nvCxnSpPr>
        <p:spPr>
          <a:xfrm>
            <a:off x="6121908" y="1865376"/>
            <a:ext cx="0" cy="8138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49924" y="1828800"/>
            <a:ext cx="2430018" cy="164592"/>
          </a:xfrm>
          <a:prstGeom prst="rect">
            <a:avLst/>
          </a:prstGeom>
          <a:noFill/>
        </p:spPr>
        <p:txBody>
          <a:bodyPr wrap="square" lIns="27432" rIns="27432" tIns="27432" bIns="27432" anchor="t">
            <a:spAutoFit/>
          </a:bodyPr>
          <a:lstStyle/>
          <a:p>
            <a:pPr algn="l"/>
            <a:r>
              <a:rPr sz="1000" b="1">
                <a:solidFill>
                  <a:srgbClr val="5F6B63"/>
                </a:solidFill>
                <a:latin typeface="Aptos"/>
              </a:rPr>
              <a:t>ORGANIC VOLUME GROWTH</a:t>
            </a:r>
          </a:p>
        </p:txBody>
      </p:sp>
      <p:sp>
        <p:nvSpPr>
          <p:cNvPr id="19" name="TextBox 18"/>
          <p:cNvSpPr txBox="1"/>
          <p:nvPr/>
        </p:nvSpPr>
        <p:spPr>
          <a:xfrm>
            <a:off x="6249924" y="2011680"/>
            <a:ext cx="2430018" cy="310896"/>
          </a:xfrm>
          <a:prstGeom prst="rect">
            <a:avLst/>
          </a:prstGeom>
          <a:noFill/>
        </p:spPr>
        <p:txBody>
          <a:bodyPr wrap="square" lIns="27432" rIns="27432" tIns="27432" bIns="27432" anchor="t">
            <a:spAutoFit/>
          </a:bodyPr>
          <a:lstStyle/>
          <a:p>
            <a:pPr algn="l"/>
            <a:r>
              <a:rPr sz="2100" b="1">
                <a:solidFill>
                  <a:srgbClr val="355C47"/>
                </a:solidFill>
                <a:latin typeface="Aptos Display"/>
              </a:rPr>
              <a:t>+89.3%</a:t>
            </a:r>
          </a:p>
        </p:txBody>
      </p:sp>
      <p:sp>
        <p:nvSpPr>
          <p:cNvPr id="20" name="TextBox 19"/>
          <p:cNvSpPr txBox="1"/>
          <p:nvPr/>
        </p:nvSpPr>
        <p:spPr>
          <a:xfrm>
            <a:off x="6249924" y="2359152"/>
            <a:ext cx="2430018" cy="338328"/>
          </a:xfrm>
          <a:prstGeom prst="rect">
            <a:avLst/>
          </a:prstGeom>
          <a:noFill/>
        </p:spPr>
        <p:txBody>
          <a:bodyPr wrap="square" lIns="27432" rIns="27432" tIns="27432" bIns="27432" anchor="t">
            <a:spAutoFit/>
          </a:bodyPr>
          <a:lstStyle/>
          <a:p>
            <a:pPr algn="l"/>
            <a:r>
              <a:rPr sz="1200" b="0">
                <a:solidFill>
                  <a:srgbClr val="1F2621"/>
                </a:solidFill>
                <a:latin typeface="Aptos"/>
              </a:rPr>
              <a:t>Organic volume grew much faster than the total category from 2019 to 2024.</a:t>
            </a:r>
          </a:p>
        </p:txBody>
      </p:sp>
      <p:cxnSp>
        <p:nvCxnSpPr>
          <p:cNvPr id="21" name="Connector 20"/>
          <p:cNvCxnSpPr/>
          <p:nvPr/>
        </p:nvCxnSpPr>
        <p:spPr>
          <a:xfrm>
            <a:off x="8807958" y="1865376"/>
            <a:ext cx="0" cy="8138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935974" y="1828800"/>
            <a:ext cx="2430018" cy="164592"/>
          </a:xfrm>
          <a:prstGeom prst="rect">
            <a:avLst/>
          </a:prstGeom>
          <a:noFill/>
        </p:spPr>
        <p:txBody>
          <a:bodyPr wrap="square" lIns="27432" rIns="27432" tIns="27432" bIns="27432" anchor="t">
            <a:spAutoFit/>
          </a:bodyPr>
          <a:lstStyle/>
          <a:p>
            <a:pPr algn="l"/>
            <a:r>
              <a:rPr sz="1000" b="1">
                <a:solidFill>
                  <a:srgbClr val="5F6B63"/>
                </a:solidFill>
                <a:latin typeface="Aptos"/>
              </a:rPr>
              <a:t>TOTAL VOLUME GROWTH</a:t>
            </a:r>
          </a:p>
        </p:txBody>
      </p:sp>
      <p:sp>
        <p:nvSpPr>
          <p:cNvPr id="23" name="TextBox 22"/>
          <p:cNvSpPr txBox="1"/>
          <p:nvPr/>
        </p:nvSpPr>
        <p:spPr>
          <a:xfrm>
            <a:off x="8935974" y="2011680"/>
            <a:ext cx="2430018" cy="310896"/>
          </a:xfrm>
          <a:prstGeom prst="rect">
            <a:avLst/>
          </a:prstGeom>
          <a:noFill/>
        </p:spPr>
        <p:txBody>
          <a:bodyPr wrap="square" lIns="27432" rIns="27432" tIns="27432" bIns="27432" anchor="t">
            <a:spAutoFit/>
          </a:bodyPr>
          <a:lstStyle/>
          <a:p>
            <a:pPr algn="l"/>
            <a:r>
              <a:rPr sz="2100" b="1">
                <a:solidFill>
                  <a:srgbClr val="B5533A"/>
                </a:solidFill>
                <a:latin typeface="Aptos Display"/>
              </a:rPr>
              <a:t>+32.8%</a:t>
            </a:r>
          </a:p>
        </p:txBody>
      </p:sp>
      <p:sp>
        <p:nvSpPr>
          <p:cNvPr id="24" name="TextBox 23"/>
          <p:cNvSpPr txBox="1"/>
          <p:nvPr/>
        </p:nvSpPr>
        <p:spPr>
          <a:xfrm>
            <a:off x="8935974" y="2359152"/>
            <a:ext cx="2430018" cy="338328"/>
          </a:xfrm>
          <a:prstGeom prst="rect">
            <a:avLst/>
          </a:prstGeom>
          <a:noFill/>
        </p:spPr>
        <p:txBody>
          <a:bodyPr wrap="square" lIns="27432" rIns="27432" tIns="27432" bIns="27432" anchor="t">
            <a:spAutoFit/>
          </a:bodyPr>
          <a:lstStyle/>
          <a:p>
            <a:pPr algn="l"/>
            <a:r>
              <a:rPr sz="1200" b="0">
                <a:solidFill>
                  <a:srgbClr val="1F2621"/>
                </a:solidFill>
                <a:latin typeface="Aptos"/>
              </a:rPr>
              <a:t>The overall market also expanded, but at a much slower pace.</a:t>
            </a:r>
          </a:p>
        </p:txBody>
      </p:sp>
      <p:sp>
        <p:nvSpPr>
          <p:cNvPr id="25" name="Rounded Rectangle 24"/>
          <p:cNvSpPr/>
          <p:nvPr/>
        </p:nvSpPr>
        <p:spPr>
          <a:xfrm>
            <a:off x="749808" y="3163824"/>
            <a:ext cx="5074920" cy="25603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3438144"/>
            <a:ext cx="1645920" cy="164592"/>
          </a:xfrm>
          <a:prstGeom prst="rect">
            <a:avLst/>
          </a:prstGeom>
          <a:noFill/>
        </p:spPr>
        <p:txBody>
          <a:bodyPr wrap="square" lIns="27432" rIns="27432" tIns="27432" bIns="27432" anchor="t">
            <a:spAutoFit/>
          </a:bodyPr>
          <a:lstStyle/>
          <a:p>
            <a:pPr algn="l"/>
            <a:r>
              <a:rPr sz="1000" b="1">
                <a:solidFill>
                  <a:srgbClr val="5F6B63"/>
                </a:solidFill>
                <a:latin typeface="Aptos"/>
              </a:rPr>
              <a:t>WHAT THIS MEANS</a:t>
            </a:r>
          </a:p>
        </p:txBody>
      </p:sp>
      <p:sp>
        <p:nvSpPr>
          <p:cNvPr id="27" name="TextBox 26"/>
          <p:cNvSpPr txBox="1"/>
          <p:nvPr/>
        </p:nvSpPr>
        <p:spPr>
          <a:xfrm>
            <a:off x="987552" y="3749039"/>
            <a:ext cx="4389120" cy="146304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The category is growing fast enough to justify entry.</a:t>
            </a:r>
          </a:p>
          <a:p>
            <a:pPr algn="l">
              <a:lnSpc>
                <a:spcPct val="115000"/>
              </a:lnSpc>
            </a:pPr>
            <a:r>
              <a:rPr sz="1300">
                <a:solidFill>
                  <a:srgbClr val="1F2621"/>
                </a:solidFill>
                <a:latin typeface="Aptos"/>
              </a:rPr>
              <a:t>- But the share is still small enough that city selection matters more than national scale ambition.</a:t>
            </a:r>
          </a:p>
          <a:p>
            <a:pPr algn="l">
              <a:lnSpc>
                <a:spcPct val="115000"/>
              </a:lnSpc>
            </a:pPr>
            <a:r>
              <a:rPr sz="1300">
                <a:solidFill>
                  <a:srgbClr val="1F2621"/>
                </a:solidFill>
                <a:latin typeface="Aptos"/>
              </a:rPr>
              <a:t>- That supports a pilot rather than a broad first-year rollout.</a:t>
            </a:r>
          </a:p>
        </p:txBody>
      </p:sp>
      <p:sp>
        <p:nvSpPr>
          <p:cNvPr id="28" name="Rounded Rectangle 27"/>
          <p:cNvSpPr/>
          <p:nvPr/>
        </p:nvSpPr>
        <p:spPr>
          <a:xfrm>
            <a:off x="6126480" y="3163824"/>
            <a:ext cx="5367528" cy="25603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64224" y="3438144"/>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INTERPRETATION</a:t>
            </a:r>
          </a:p>
        </p:txBody>
      </p:sp>
      <p:sp>
        <p:nvSpPr>
          <p:cNvPr id="30" name="TextBox 29"/>
          <p:cNvSpPr txBox="1"/>
          <p:nvPr/>
        </p:nvSpPr>
        <p:spPr>
          <a:xfrm>
            <a:off x="6364224" y="3803904"/>
            <a:ext cx="4754880" cy="1234440"/>
          </a:xfrm>
          <a:prstGeom prst="rect">
            <a:avLst/>
          </a:prstGeom>
          <a:noFill/>
        </p:spPr>
        <p:txBody>
          <a:bodyPr wrap="square" lIns="27432" rIns="27432" tIns="27432" bIns="27432" anchor="t">
            <a:spAutoFit/>
          </a:bodyPr>
          <a:lstStyle/>
          <a:p>
            <a:pPr algn="l"/>
            <a:r>
              <a:rPr sz="1400" b="0">
                <a:solidFill>
                  <a:srgbClr val="1F2621"/>
                </a:solidFill>
                <a:latin typeface="Aptos"/>
              </a:rPr>
              <a:t>Organic is attractive because it is growing faster than the total Hass market. It still needs a disciplined launch because the category is not yet large enough to reward undifferentiated market entry.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11</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At the market level, higher prices generally coincide with lower volume</a:t>
            </a:r>
          </a:p>
        </p:txBody>
      </p:sp>
      <p:sp>
        <p:nvSpPr>
          <p:cNvPr id="9" name="Rounded Rectangle 8"/>
          <p:cNvSpPr/>
          <p:nvPr/>
        </p:nvSpPr>
        <p:spPr>
          <a:xfrm>
            <a:off x="749808" y="1682496"/>
            <a:ext cx="566928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901952"/>
            <a:ext cx="2194560" cy="164592"/>
          </a:xfrm>
          <a:prstGeom prst="rect">
            <a:avLst/>
          </a:prstGeom>
          <a:noFill/>
        </p:spPr>
        <p:txBody>
          <a:bodyPr wrap="square" lIns="27432" rIns="27432" tIns="27432" bIns="27432" anchor="t">
            <a:spAutoFit/>
          </a:bodyPr>
          <a:lstStyle/>
          <a:p>
            <a:pPr algn="l"/>
            <a:r>
              <a:rPr sz="1000" b="1">
                <a:solidFill>
                  <a:srgbClr val="5F6B63"/>
                </a:solidFill>
                <a:latin typeface="Aptos"/>
              </a:rPr>
              <a:t>MARKET-LEVEL RELATIONSHIP</a:t>
            </a:r>
          </a:p>
        </p:txBody>
      </p:sp>
      <p:sp>
        <p:nvSpPr>
          <p:cNvPr id="11" name="Rounded Rectangle 10"/>
          <p:cNvSpPr/>
          <p:nvPr/>
        </p:nvSpPr>
        <p:spPr>
          <a:xfrm>
            <a:off x="987552" y="2212848"/>
            <a:ext cx="1417320"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5568" y="232257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PEARSON R</a:t>
            </a:r>
          </a:p>
        </p:txBody>
      </p:sp>
      <p:sp>
        <p:nvSpPr>
          <p:cNvPr id="13" name="TextBox 12"/>
          <p:cNvSpPr txBox="1"/>
          <p:nvPr/>
        </p:nvSpPr>
        <p:spPr>
          <a:xfrm>
            <a:off x="1115568" y="2523744"/>
            <a:ext cx="1161288" cy="493776"/>
          </a:xfrm>
          <a:prstGeom prst="rect">
            <a:avLst/>
          </a:prstGeom>
          <a:noFill/>
        </p:spPr>
        <p:txBody>
          <a:bodyPr wrap="square" lIns="27432" rIns="27432" tIns="27432" bIns="27432" anchor="ctr">
            <a:spAutoFit/>
          </a:bodyPr>
          <a:lstStyle/>
          <a:p>
            <a:pPr algn="ctr"/>
            <a:r>
              <a:rPr sz="1900" b="1">
                <a:solidFill>
                  <a:srgbClr val="3F728A"/>
                </a:solidFill>
                <a:latin typeface="Aptos Display"/>
              </a:rPr>
              <a:t>-0.427</a:t>
            </a:r>
          </a:p>
        </p:txBody>
      </p:sp>
      <p:sp>
        <p:nvSpPr>
          <p:cNvPr id="14" name="Rounded Rectangle 13"/>
          <p:cNvSpPr/>
          <p:nvPr/>
        </p:nvSpPr>
        <p:spPr>
          <a:xfrm>
            <a:off x="2542032" y="2212848"/>
            <a:ext cx="1417320"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70048" y="232257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R2</a:t>
            </a:r>
          </a:p>
        </p:txBody>
      </p:sp>
      <p:sp>
        <p:nvSpPr>
          <p:cNvPr id="16" name="TextBox 15"/>
          <p:cNvSpPr txBox="1"/>
          <p:nvPr/>
        </p:nvSpPr>
        <p:spPr>
          <a:xfrm>
            <a:off x="2670048" y="2523744"/>
            <a:ext cx="1161288" cy="493776"/>
          </a:xfrm>
          <a:prstGeom prst="rect">
            <a:avLst/>
          </a:prstGeom>
          <a:noFill/>
        </p:spPr>
        <p:txBody>
          <a:bodyPr wrap="square" lIns="27432" rIns="27432" tIns="27432" bIns="27432" anchor="ctr">
            <a:spAutoFit/>
          </a:bodyPr>
          <a:lstStyle/>
          <a:p>
            <a:pPr algn="ctr"/>
            <a:r>
              <a:rPr sz="1900" b="1">
                <a:solidFill>
                  <a:srgbClr val="355C47"/>
                </a:solidFill>
                <a:latin typeface="Aptos Display"/>
              </a:rPr>
              <a:t>0.183</a:t>
            </a:r>
          </a:p>
        </p:txBody>
      </p:sp>
      <p:sp>
        <p:nvSpPr>
          <p:cNvPr id="17" name="Rounded Rectangle 16"/>
          <p:cNvSpPr/>
          <p:nvPr/>
        </p:nvSpPr>
        <p:spPr>
          <a:xfrm>
            <a:off x="4096512" y="2212848"/>
            <a:ext cx="1938528"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2322576"/>
            <a:ext cx="1682496" cy="164592"/>
          </a:xfrm>
          <a:prstGeom prst="rect">
            <a:avLst/>
          </a:prstGeom>
          <a:noFill/>
        </p:spPr>
        <p:txBody>
          <a:bodyPr wrap="square" lIns="27432" rIns="27432" tIns="27432" bIns="27432" anchor="t">
            <a:spAutoFit/>
          </a:bodyPr>
          <a:lstStyle/>
          <a:p>
            <a:pPr algn="ctr"/>
            <a:r>
              <a:rPr sz="1000" b="1">
                <a:solidFill>
                  <a:srgbClr val="5F6B63"/>
                </a:solidFill>
                <a:latin typeface="Aptos"/>
              </a:rPr>
              <a:t>ELASTICITY</a:t>
            </a:r>
          </a:p>
        </p:txBody>
      </p:sp>
      <p:sp>
        <p:nvSpPr>
          <p:cNvPr id="19" name="TextBox 18"/>
          <p:cNvSpPr txBox="1"/>
          <p:nvPr/>
        </p:nvSpPr>
        <p:spPr>
          <a:xfrm>
            <a:off x="4224528" y="2523744"/>
            <a:ext cx="1682496" cy="493776"/>
          </a:xfrm>
          <a:prstGeom prst="rect">
            <a:avLst/>
          </a:prstGeom>
          <a:noFill/>
        </p:spPr>
        <p:txBody>
          <a:bodyPr wrap="square" lIns="27432" rIns="27432" tIns="27432" bIns="27432" anchor="ctr">
            <a:spAutoFit/>
          </a:bodyPr>
          <a:lstStyle/>
          <a:p>
            <a:pPr algn="ctr"/>
            <a:r>
              <a:rPr sz="1900" b="1">
                <a:solidFill>
                  <a:srgbClr val="C58A2A"/>
                </a:solidFill>
                <a:latin typeface="Aptos Display"/>
              </a:rPr>
              <a:t>-4.96</a:t>
            </a:r>
          </a:p>
        </p:txBody>
      </p:sp>
      <p:sp>
        <p:nvSpPr>
          <p:cNvPr id="20" name="TextBox 19"/>
          <p:cNvSpPr txBox="1"/>
          <p:nvPr/>
        </p:nvSpPr>
        <p:spPr>
          <a:xfrm>
            <a:off x="987552" y="3657600"/>
            <a:ext cx="4846320" cy="141732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The overall relationship is moderately negative, not flat.</a:t>
            </a:r>
          </a:p>
          <a:p>
            <a:pPr algn="l">
              <a:lnSpc>
                <a:spcPct val="115000"/>
              </a:lnSpc>
            </a:pPr>
            <a:r>
              <a:rPr sz="1300">
                <a:solidFill>
                  <a:srgbClr val="1F2621"/>
                </a:solidFill>
                <a:latin typeface="Aptos"/>
              </a:rPr>
              <a:t>- That means higher-price markets often sell fewer units, but not in a mechanically perfect way.</a:t>
            </a:r>
          </a:p>
          <a:p>
            <a:pPr algn="l">
              <a:lnSpc>
                <a:spcPct val="115000"/>
              </a:lnSpc>
            </a:pPr>
            <a:r>
              <a:rPr sz="1300">
                <a:solidFill>
                  <a:srgbClr val="1F2621"/>
                </a:solidFill>
                <a:latin typeface="Aptos"/>
              </a:rPr>
              <a:t>- The recommendation still needs city-level nuance before turning this into a decision rule.</a:t>
            </a:r>
          </a:p>
        </p:txBody>
      </p:sp>
      <p:sp>
        <p:nvSpPr>
          <p:cNvPr id="21" name="Rounded Rectangle 20"/>
          <p:cNvSpPr/>
          <p:nvPr/>
        </p:nvSpPr>
        <p:spPr>
          <a:xfrm>
            <a:off x="6675120" y="1682496"/>
            <a:ext cx="4828032"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31152" y="190195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READ IT THIS WAY</a:t>
            </a:r>
          </a:p>
        </p:txBody>
      </p:sp>
      <p:sp>
        <p:nvSpPr>
          <p:cNvPr id="23" name="TextBox 22"/>
          <p:cNvSpPr txBox="1"/>
          <p:nvPr/>
        </p:nvSpPr>
        <p:spPr>
          <a:xfrm>
            <a:off x="6931152" y="2249424"/>
            <a:ext cx="4297680" cy="457200"/>
          </a:xfrm>
          <a:prstGeom prst="rect">
            <a:avLst/>
          </a:prstGeom>
          <a:noFill/>
        </p:spPr>
        <p:txBody>
          <a:bodyPr wrap="square" lIns="27432" rIns="27432" tIns="27432" bIns="27432" anchor="t">
            <a:spAutoFit/>
          </a:bodyPr>
          <a:lstStyle/>
          <a:p>
            <a:pPr algn="l"/>
            <a:r>
              <a:rPr sz="2000" b="1">
                <a:solidFill>
                  <a:srgbClr val="355C47"/>
                </a:solidFill>
                <a:latin typeface="Aptos Display"/>
              </a:rPr>
              <a:t>Price matters at the market level.</a:t>
            </a:r>
          </a:p>
        </p:txBody>
      </p:sp>
      <p:sp>
        <p:nvSpPr>
          <p:cNvPr id="24" name="TextBox 23"/>
          <p:cNvSpPr txBox="1"/>
          <p:nvPr/>
        </p:nvSpPr>
        <p:spPr>
          <a:xfrm>
            <a:off x="6931152" y="2834640"/>
            <a:ext cx="4251960" cy="960120"/>
          </a:xfrm>
          <a:prstGeom prst="rect">
            <a:avLst/>
          </a:prstGeom>
          <a:noFill/>
        </p:spPr>
        <p:txBody>
          <a:bodyPr wrap="square" lIns="27432" rIns="27432" tIns="27432" bIns="27432" anchor="t">
            <a:spAutoFit/>
          </a:bodyPr>
          <a:lstStyle/>
          <a:p>
            <a:pPr algn="l"/>
            <a:r>
              <a:rPr sz="1400" b="0">
                <a:solidFill>
                  <a:srgbClr val="1F2621"/>
                </a:solidFill>
                <a:latin typeface="Aptos"/>
              </a:rPr>
              <a:t>But it does not tell the whole story. Market mix, organic readiness, and local structure still explain why some cities are better pilot markets than others.</a:t>
            </a:r>
          </a:p>
        </p:txBody>
      </p:sp>
      <p:sp>
        <p:nvSpPr>
          <p:cNvPr id="25" name="TextBox 24"/>
          <p:cNvSpPr txBox="1"/>
          <p:nvPr/>
        </p:nvSpPr>
        <p:spPr>
          <a:xfrm>
            <a:off x="6931152" y="4187952"/>
            <a:ext cx="4206240" cy="457200"/>
          </a:xfrm>
          <a:prstGeom prst="rect">
            <a:avLst/>
          </a:prstGeom>
          <a:noFill/>
        </p:spPr>
        <p:txBody>
          <a:bodyPr wrap="square" lIns="27432" rIns="27432" tIns="27432" bIns="27432" anchor="t">
            <a:spAutoFit/>
          </a:bodyPr>
          <a:lstStyle/>
          <a:p>
            <a:pPr algn="l"/>
            <a:r>
              <a:rPr sz="1200" b="0">
                <a:solidFill>
                  <a:srgbClr val="5F6B63"/>
                </a:solidFill>
                <a:latin typeface="Aptos"/>
              </a:rPr>
              <a:t>This is why the deck separates scale leadership, penetration leadership, and entry-market economics instead of collapsing them into one rule.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12</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Within product type, price alone explains very little</a:t>
            </a:r>
          </a:p>
        </p:txBody>
      </p:sp>
      <p:sp>
        <p:nvSpPr>
          <p:cNvPr id="9" name="Rounded Rectangle 8"/>
          <p:cNvSpPr/>
          <p:nvPr/>
        </p:nvSpPr>
        <p:spPr>
          <a:xfrm>
            <a:off x="841248" y="1773936"/>
            <a:ext cx="5074920" cy="36118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011680"/>
            <a:ext cx="1828800" cy="201168"/>
          </a:xfrm>
          <a:prstGeom prst="rect">
            <a:avLst/>
          </a:prstGeom>
          <a:noFill/>
        </p:spPr>
        <p:txBody>
          <a:bodyPr wrap="square" lIns="27432" rIns="27432" tIns="27432" bIns="27432" anchor="t">
            <a:spAutoFit/>
          </a:bodyPr>
          <a:lstStyle/>
          <a:p>
            <a:pPr algn="l"/>
            <a:r>
              <a:rPr sz="1100" b="1">
                <a:solidFill>
                  <a:srgbClr val="5F6B63"/>
                </a:solidFill>
                <a:latin typeface="Aptos"/>
              </a:rPr>
              <a:t>CONVENTIONAL</a:t>
            </a:r>
          </a:p>
        </p:txBody>
      </p:sp>
      <p:sp>
        <p:nvSpPr>
          <p:cNvPr id="11" name="Rounded Rectangle 10"/>
          <p:cNvSpPr/>
          <p:nvPr/>
        </p:nvSpPr>
        <p:spPr>
          <a:xfrm>
            <a:off x="1078992" y="2395728"/>
            <a:ext cx="137160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2505456"/>
            <a:ext cx="1115568" cy="164592"/>
          </a:xfrm>
          <a:prstGeom prst="rect">
            <a:avLst/>
          </a:prstGeom>
          <a:noFill/>
        </p:spPr>
        <p:txBody>
          <a:bodyPr wrap="square" lIns="27432" rIns="27432" tIns="27432" bIns="27432" anchor="t">
            <a:spAutoFit/>
          </a:bodyPr>
          <a:lstStyle/>
          <a:p>
            <a:pPr algn="ctr"/>
            <a:r>
              <a:rPr sz="1000" b="1">
                <a:solidFill>
                  <a:srgbClr val="5F6B63"/>
                </a:solidFill>
                <a:latin typeface="Aptos"/>
              </a:rPr>
              <a:t>PEARSON R</a:t>
            </a:r>
          </a:p>
        </p:txBody>
      </p:sp>
      <p:sp>
        <p:nvSpPr>
          <p:cNvPr id="13" name="TextBox 12"/>
          <p:cNvSpPr txBox="1"/>
          <p:nvPr/>
        </p:nvSpPr>
        <p:spPr>
          <a:xfrm>
            <a:off x="1207008" y="2706624"/>
            <a:ext cx="111556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-0.026</a:t>
            </a:r>
          </a:p>
        </p:txBody>
      </p:sp>
      <p:sp>
        <p:nvSpPr>
          <p:cNvPr id="14" name="Rounded Rectangle 13"/>
          <p:cNvSpPr/>
          <p:nvPr/>
        </p:nvSpPr>
        <p:spPr>
          <a:xfrm>
            <a:off x="2596896" y="2395728"/>
            <a:ext cx="12801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24912" y="2505456"/>
            <a:ext cx="1024128" cy="164592"/>
          </a:xfrm>
          <a:prstGeom prst="rect">
            <a:avLst/>
          </a:prstGeom>
          <a:noFill/>
        </p:spPr>
        <p:txBody>
          <a:bodyPr wrap="square" lIns="27432" rIns="27432" tIns="27432" bIns="27432" anchor="t">
            <a:spAutoFit/>
          </a:bodyPr>
          <a:lstStyle/>
          <a:p>
            <a:pPr algn="ctr"/>
            <a:r>
              <a:rPr sz="1000" b="1">
                <a:solidFill>
                  <a:srgbClr val="5F6B63"/>
                </a:solidFill>
                <a:latin typeface="Aptos"/>
              </a:rPr>
              <a:t>R2</a:t>
            </a:r>
          </a:p>
        </p:txBody>
      </p:sp>
      <p:sp>
        <p:nvSpPr>
          <p:cNvPr id="16" name="TextBox 15"/>
          <p:cNvSpPr txBox="1"/>
          <p:nvPr/>
        </p:nvSpPr>
        <p:spPr>
          <a:xfrm>
            <a:off x="2724912" y="2706624"/>
            <a:ext cx="102412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0.001</a:t>
            </a:r>
          </a:p>
        </p:txBody>
      </p:sp>
      <p:sp>
        <p:nvSpPr>
          <p:cNvPr id="17" name="Rounded Rectangle 16"/>
          <p:cNvSpPr/>
          <p:nvPr/>
        </p:nvSpPr>
        <p:spPr>
          <a:xfrm>
            <a:off x="4005072" y="2395728"/>
            <a:ext cx="14173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33088" y="250545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ELASTICITY</a:t>
            </a:r>
          </a:p>
        </p:txBody>
      </p:sp>
      <p:sp>
        <p:nvSpPr>
          <p:cNvPr id="19" name="TextBox 18"/>
          <p:cNvSpPr txBox="1"/>
          <p:nvPr/>
        </p:nvSpPr>
        <p:spPr>
          <a:xfrm>
            <a:off x="4133088" y="2706624"/>
            <a:ext cx="116128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-0.39</a:t>
            </a:r>
          </a:p>
        </p:txBody>
      </p:sp>
      <p:sp>
        <p:nvSpPr>
          <p:cNvPr id="20" name="TextBox 19"/>
          <p:cNvSpPr txBox="1"/>
          <p:nvPr/>
        </p:nvSpPr>
        <p:spPr>
          <a:xfrm>
            <a:off x="1078992" y="3675887"/>
            <a:ext cx="4389120" cy="1097280"/>
          </a:xfrm>
          <a:prstGeom prst="rect">
            <a:avLst/>
          </a:prstGeom>
          <a:noFill/>
        </p:spPr>
        <p:txBody>
          <a:bodyPr wrap="square" lIns="27432" rIns="27432" tIns="27432" bIns="27432" anchor="t">
            <a:spAutoFit/>
          </a:bodyPr>
          <a:lstStyle/>
          <a:p>
            <a:pPr algn="l"/>
            <a:r>
              <a:rPr sz="1300" b="0">
                <a:solidFill>
                  <a:srgbClr val="1F2621"/>
                </a:solidFill>
                <a:latin typeface="Aptos"/>
              </a:rPr>
              <a:t>Inside each type, the observed relationship between price and volume is very weak. That means city mix and local market structure matter more than price alone once the product type is fixed.</a:t>
            </a:r>
          </a:p>
        </p:txBody>
      </p:sp>
      <p:sp>
        <p:nvSpPr>
          <p:cNvPr id="21" name="Rounded Rectangle 20"/>
          <p:cNvSpPr/>
          <p:nvPr/>
        </p:nvSpPr>
        <p:spPr>
          <a:xfrm>
            <a:off x="6281928" y="1773936"/>
            <a:ext cx="5074920" cy="36118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9672" y="2011680"/>
            <a:ext cx="1828800" cy="201168"/>
          </a:xfrm>
          <a:prstGeom prst="rect">
            <a:avLst/>
          </a:prstGeom>
          <a:noFill/>
        </p:spPr>
        <p:txBody>
          <a:bodyPr wrap="square" lIns="27432" rIns="27432" tIns="27432" bIns="27432" anchor="t">
            <a:spAutoFit/>
          </a:bodyPr>
          <a:lstStyle/>
          <a:p>
            <a:pPr algn="l"/>
            <a:r>
              <a:rPr sz="1100" b="1">
                <a:solidFill>
                  <a:srgbClr val="5F6B63"/>
                </a:solidFill>
                <a:latin typeface="Aptos"/>
              </a:rPr>
              <a:t>ORGANIC</a:t>
            </a:r>
          </a:p>
        </p:txBody>
      </p:sp>
      <p:sp>
        <p:nvSpPr>
          <p:cNvPr id="23" name="Rounded Rectangle 22"/>
          <p:cNvSpPr/>
          <p:nvPr/>
        </p:nvSpPr>
        <p:spPr>
          <a:xfrm>
            <a:off x="6519672" y="2395728"/>
            <a:ext cx="137160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7688" y="2505456"/>
            <a:ext cx="1115568" cy="164592"/>
          </a:xfrm>
          <a:prstGeom prst="rect">
            <a:avLst/>
          </a:prstGeom>
          <a:noFill/>
        </p:spPr>
        <p:txBody>
          <a:bodyPr wrap="square" lIns="27432" rIns="27432" tIns="27432" bIns="27432" anchor="t">
            <a:spAutoFit/>
          </a:bodyPr>
          <a:lstStyle/>
          <a:p>
            <a:pPr algn="ctr"/>
            <a:r>
              <a:rPr sz="1000" b="1">
                <a:solidFill>
                  <a:srgbClr val="5F6B63"/>
                </a:solidFill>
                <a:latin typeface="Aptos"/>
              </a:rPr>
              <a:t>PEARSON R</a:t>
            </a:r>
          </a:p>
        </p:txBody>
      </p:sp>
      <p:sp>
        <p:nvSpPr>
          <p:cNvPr id="25" name="TextBox 24"/>
          <p:cNvSpPr txBox="1"/>
          <p:nvPr/>
        </p:nvSpPr>
        <p:spPr>
          <a:xfrm>
            <a:off x="6647688" y="2706624"/>
            <a:ext cx="111556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-0.044</a:t>
            </a:r>
          </a:p>
        </p:txBody>
      </p:sp>
      <p:sp>
        <p:nvSpPr>
          <p:cNvPr id="26" name="Rounded Rectangle 25"/>
          <p:cNvSpPr/>
          <p:nvPr/>
        </p:nvSpPr>
        <p:spPr>
          <a:xfrm>
            <a:off x="8037576" y="2395728"/>
            <a:ext cx="12801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65592" y="2505456"/>
            <a:ext cx="1024128" cy="164592"/>
          </a:xfrm>
          <a:prstGeom prst="rect">
            <a:avLst/>
          </a:prstGeom>
          <a:noFill/>
        </p:spPr>
        <p:txBody>
          <a:bodyPr wrap="square" lIns="27432" rIns="27432" tIns="27432" bIns="27432" anchor="t">
            <a:spAutoFit/>
          </a:bodyPr>
          <a:lstStyle/>
          <a:p>
            <a:pPr algn="ctr"/>
            <a:r>
              <a:rPr sz="1000" b="1">
                <a:solidFill>
                  <a:srgbClr val="5F6B63"/>
                </a:solidFill>
                <a:latin typeface="Aptos"/>
              </a:rPr>
              <a:t>R2</a:t>
            </a:r>
          </a:p>
        </p:txBody>
      </p:sp>
      <p:sp>
        <p:nvSpPr>
          <p:cNvPr id="28" name="TextBox 27"/>
          <p:cNvSpPr txBox="1"/>
          <p:nvPr/>
        </p:nvSpPr>
        <p:spPr>
          <a:xfrm>
            <a:off x="8165592" y="2706624"/>
            <a:ext cx="102412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0.002</a:t>
            </a:r>
          </a:p>
        </p:txBody>
      </p:sp>
      <p:sp>
        <p:nvSpPr>
          <p:cNvPr id="29" name="Rounded Rectangle 28"/>
          <p:cNvSpPr/>
          <p:nvPr/>
        </p:nvSpPr>
        <p:spPr>
          <a:xfrm>
            <a:off x="9445752" y="2395728"/>
            <a:ext cx="14173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73768" y="250545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ELASTICITY</a:t>
            </a:r>
          </a:p>
        </p:txBody>
      </p:sp>
      <p:sp>
        <p:nvSpPr>
          <p:cNvPr id="31" name="TextBox 30"/>
          <p:cNvSpPr txBox="1"/>
          <p:nvPr/>
        </p:nvSpPr>
        <p:spPr>
          <a:xfrm>
            <a:off x="9573768" y="2706624"/>
            <a:ext cx="116128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-0.81</a:t>
            </a:r>
          </a:p>
        </p:txBody>
      </p:sp>
      <p:sp>
        <p:nvSpPr>
          <p:cNvPr id="32" name="TextBox 31"/>
          <p:cNvSpPr txBox="1"/>
          <p:nvPr/>
        </p:nvSpPr>
        <p:spPr>
          <a:xfrm>
            <a:off x="6519672" y="3675887"/>
            <a:ext cx="4389120" cy="1097280"/>
          </a:xfrm>
          <a:prstGeom prst="rect">
            <a:avLst/>
          </a:prstGeom>
          <a:noFill/>
        </p:spPr>
        <p:txBody>
          <a:bodyPr wrap="square" lIns="27432" rIns="27432" tIns="27432" bIns="27432" anchor="t">
            <a:spAutoFit/>
          </a:bodyPr>
          <a:lstStyle/>
          <a:p>
            <a:pPr algn="l"/>
            <a:r>
              <a:rPr sz="1300" b="0">
                <a:solidFill>
                  <a:srgbClr val="1F2621"/>
                </a:solidFill>
                <a:latin typeface="Aptos"/>
              </a:rPr>
              <a:t>Inside each type, the observed relationship between price and volume is very weak. That means city mix and local market structure matter more than price alone once the product type is fixed.</a:t>
            </a:r>
          </a:p>
        </p:txBody>
      </p:sp>
      <p:sp>
        <p:nvSpPr>
          <p:cNvPr id="33" name="Rounded Rectangle 32"/>
          <p:cNvSpPr/>
          <p:nvPr/>
        </p:nvSpPr>
        <p:spPr>
          <a:xfrm>
            <a:off x="987552" y="5650992"/>
            <a:ext cx="10058400" cy="5120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5815584"/>
            <a:ext cx="9692640" cy="164592"/>
          </a:xfrm>
          <a:prstGeom prst="rect">
            <a:avLst/>
          </a:prstGeom>
          <a:noFill/>
        </p:spPr>
        <p:txBody>
          <a:bodyPr wrap="square" lIns="27432" rIns="27432" tIns="27432" bIns="27432" anchor="t">
            <a:spAutoFit/>
          </a:bodyPr>
          <a:lstStyle/>
          <a:p>
            <a:pPr algn="l"/>
            <a:r>
              <a:rPr sz="1200" b="1">
                <a:solidFill>
                  <a:srgbClr val="1F2621"/>
                </a:solidFill>
                <a:latin typeface="Aptos"/>
              </a:rPr>
              <a:t>Implication: do not overclaim elasticity. The pooled relationship is useful context, but pilot selection still requires city-level economics and penetration evidence.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13</a:t>
            </a:r>
          </a:p>
        </p:txBody>
      </p:sp>
      <p:sp>
        <p:nvSpPr>
          <p:cNvPr id="8" name="Rounded Rectangle 7"/>
          <p:cNvSpPr/>
          <p:nvPr/>
        </p:nvSpPr>
        <p:spPr>
          <a:xfrm>
            <a:off x="10287000" y="256032"/>
            <a:ext cx="1234440" cy="27432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05288" y="260604"/>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CONTEXT</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Macro drivers include freight, fuel, inflation, and cross-border supply risk</a:t>
            </a:r>
          </a:p>
        </p:txBody>
      </p:sp>
      <p:sp>
        <p:nvSpPr>
          <p:cNvPr id="11" name="Rounded Rectangle 10"/>
          <p:cNvSpPr/>
          <p:nvPr/>
        </p:nvSpPr>
        <p:spPr>
          <a:xfrm>
            <a:off x="841248" y="1828800"/>
            <a:ext cx="498348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1965960"/>
            <a:ext cx="4690872" cy="219456"/>
          </a:xfrm>
          <a:prstGeom prst="rect">
            <a:avLst/>
          </a:prstGeom>
          <a:noFill/>
        </p:spPr>
        <p:txBody>
          <a:bodyPr wrap="square" lIns="27432" rIns="27432" tIns="27432" bIns="27432" anchor="t">
            <a:spAutoFit/>
          </a:bodyPr>
          <a:lstStyle/>
          <a:p>
            <a:pPr algn="l"/>
            <a:r>
              <a:rPr sz="1100" b="1">
                <a:solidFill>
                  <a:srgbClr val="5F6B63"/>
                </a:solidFill>
                <a:latin typeface="Aptos"/>
              </a:rPr>
              <a:t>DRIVER</a:t>
            </a:r>
          </a:p>
        </p:txBody>
      </p:sp>
      <p:sp>
        <p:nvSpPr>
          <p:cNvPr id="13" name="TextBox 12"/>
          <p:cNvSpPr txBox="1"/>
          <p:nvPr/>
        </p:nvSpPr>
        <p:spPr>
          <a:xfrm>
            <a:off x="987552" y="2212848"/>
            <a:ext cx="4690872" cy="502920"/>
          </a:xfrm>
          <a:prstGeom prst="rect">
            <a:avLst/>
          </a:prstGeom>
          <a:noFill/>
        </p:spPr>
        <p:txBody>
          <a:bodyPr wrap="square" lIns="27432" rIns="27432" tIns="27432" bIns="27432" anchor="t">
            <a:spAutoFit/>
          </a:bodyPr>
          <a:lstStyle/>
          <a:p>
            <a:pPr algn="l"/>
            <a:r>
              <a:rPr sz="2400" b="1">
                <a:solidFill>
                  <a:srgbClr val="B5533A"/>
                </a:solidFill>
                <a:latin typeface="Aptos Display"/>
              </a:rPr>
              <a:t>Freight + fuel</a:t>
            </a:r>
          </a:p>
        </p:txBody>
      </p:sp>
      <p:sp>
        <p:nvSpPr>
          <p:cNvPr id="14" name="TextBox 13"/>
          <p:cNvSpPr txBox="1"/>
          <p:nvPr/>
        </p:nvSpPr>
        <p:spPr>
          <a:xfrm>
            <a:off x="987552" y="2706624"/>
            <a:ext cx="4690872" cy="457200"/>
          </a:xfrm>
          <a:prstGeom prst="rect">
            <a:avLst/>
          </a:prstGeom>
          <a:noFill/>
        </p:spPr>
        <p:txBody>
          <a:bodyPr wrap="square" lIns="27432" rIns="27432" tIns="27432" bIns="27432" anchor="t">
            <a:spAutoFit/>
          </a:bodyPr>
          <a:lstStyle/>
          <a:p>
            <a:pPr algn="l"/>
            <a:r>
              <a:rPr sz="1500" b="0">
                <a:solidFill>
                  <a:srgbClr val="1F2621"/>
                </a:solidFill>
                <a:latin typeface="Aptos"/>
              </a:rPr>
              <a:t>Affects landed cost and changes the margin penalty on long-haul markets.</a:t>
            </a:r>
          </a:p>
        </p:txBody>
      </p:sp>
      <p:sp>
        <p:nvSpPr>
          <p:cNvPr id="15" name="Rounded Rectangle 14"/>
          <p:cNvSpPr/>
          <p:nvPr/>
        </p:nvSpPr>
        <p:spPr>
          <a:xfrm>
            <a:off x="6254496" y="1828800"/>
            <a:ext cx="498348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965960"/>
            <a:ext cx="4690872" cy="219456"/>
          </a:xfrm>
          <a:prstGeom prst="rect">
            <a:avLst/>
          </a:prstGeom>
          <a:noFill/>
        </p:spPr>
        <p:txBody>
          <a:bodyPr wrap="square" lIns="27432" rIns="27432" tIns="27432" bIns="27432" anchor="t">
            <a:spAutoFit/>
          </a:bodyPr>
          <a:lstStyle/>
          <a:p>
            <a:pPr algn="l"/>
            <a:r>
              <a:rPr sz="1100" b="1">
                <a:solidFill>
                  <a:srgbClr val="5F6B63"/>
                </a:solidFill>
                <a:latin typeface="Aptos"/>
              </a:rPr>
              <a:t>DRIVER</a:t>
            </a:r>
          </a:p>
        </p:txBody>
      </p:sp>
      <p:sp>
        <p:nvSpPr>
          <p:cNvPr id="17" name="TextBox 16"/>
          <p:cNvSpPr txBox="1"/>
          <p:nvPr/>
        </p:nvSpPr>
        <p:spPr>
          <a:xfrm>
            <a:off x="6400800" y="2212848"/>
            <a:ext cx="4690872" cy="502920"/>
          </a:xfrm>
          <a:prstGeom prst="rect">
            <a:avLst/>
          </a:prstGeom>
          <a:noFill/>
        </p:spPr>
        <p:txBody>
          <a:bodyPr wrap="square" lIns="27432" rIns="27432" tIns="27432" bIns="27432" anchor="t">
            <a:spAutoFit/>
          </a:bodyPr>
          <a:lstStyle/>
          <a:p>
            <a:pPr algn="l"/>
            <a:r>
              <a:rPr sz="2400" b="1">
                <a:solidFill>
                  <a:srgbClr val="3F728A"/>
                </a:solidFill>
                <a:latin typeface="Aptos Display"/>
              </a:rPr>
              <a:t>Imported supply risk</a:t>
            </a:r>
          </a:p>
        </p:txBody>
      </p:sp>
      <p:sp>
        <p:nvSpPr>
          <p:cNvPr id="18" name="TextBox 17"/>
          <p:cNvSpPr txBox="1"/>
          <p:nvPr/>
        </p:nvSpPr>
        <p:spPr>
          <a:xfrm>
            <a:off x="6400800" y="2706624"/>
            <a:ext cx="4690872" cy="457200"/>
          </a:xfrm>
          <a:prstGeom prst="rect">
            <a:avLst/>
          </a:prstGeom>
          <a:noFill/>
        </p:spPr>
        <p:txBody>
          <a:bodyPr wrap="square" lIns="27432" rIns="27432" tIns="27432" bIns="27432" anchor="t">
            <a:spAutoFit/>
          </a:bodyPr>
          <a:lstStyle/>
          <a:p>
            <a:pPr algn="l"/>
            <a:r>
              <a:rPr sz="1500" b="0">
                <a:solidFill>
                  <a:srgbClr val="1F2621"/>
                </a:solidFill>
                <a:latin typeface="Aptos"/>
              </a:rPr>
              <a:t>Mexico and cross-border flow disruptions can tighten availability and raise uncertainty.</a:t>
            </a:r>
          </a:p>
        </p:txBody>
      </p:sp>
      <p:sp>
        <p:nvSpPr>
          <p:cNvPr id="19" name="Rounded Rectangle 18"/>
          <p:cNvSpPr/>
          <p:nvPr/>
        </p:nvSpPr>
        <p:spPr>
          <a:xfrm>
            <a:off x="841248" y="3657600"/>
            <a:ext cx="498348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3794760"/>
            <a:ext cx="4690872" cy="219456"/>
          </a:xfrm>
          <a:prstGeom prst="rect">
            <a:avLst/>
          </a:prstGeom>
          <a:noFill/>
        </p:spPr>
        <p:txBody>
          <a:bodyPr wrap="square" lIns="27432" rIns="27432" tIns="27432" bIns="27432" anchor="t">
            <a:spAutoFit/>
          </a:bodyPr>
          <a:lstStyle/>
          <a:p>
            <a:pPr algn="l"/>
            <a:r>
              <a:rPr sz="1100" b="1">
                <a:solidFill>
                  <a:srgbClr val="5F6B63"/>
                </a:solidFill>
                <a:latin typeface="Aptos"/>
              </a:rPr>
              <a:t>DRIVER</a:t>
            </a:r>
          </a:p>
        </p:txBody>
      </p:sp>
      <p:sp>
        <p:nvSpPr>
          <p:cNvPr id="21" name="TextBox 20"/>
          <p:cNvSpPr txBox="1"/>
          <p:nvPr/>
        </p:nvSpPr>
        <p:spPr>
          <a:xfrm>
            <a:off x="987552" y="4041648"/>
            <a:ext cx="4690872" cy="502920"/>
          </a:xfrm>
          <a:prstGeom prst="rect">
            <a:avLst/>
          </a:prstGeom>
          <a:noFill/>
        </p:spPr>
        <p:txBody>
          <a:bodyPr wrap="square" lIns="27432" rIns="27432" tIns="27432" bIns="27432" anchor="t">
            <a:spAutoFit/>
          </a:bodyPr>
          <a:lstStyle/>
          <a:p>
            <a:pPr algn="l"/>
            <a:r>
              <a:rPr sz="2400" b="1">
                <a:solidFill>
                  <a:srgbClr val="889A83"/>
                </a:solidFill>
                <a:latin typeface="Aptos Display"/>
              </a:rPr>
              <a:t>Labor + inflation</a:t>
            </a:r>
          </a:p>
        </p:txBody>
      </p:sp>
      <p:sp>
        <p:nvSpPr>
          <p:cNvPr id="22" name="TextBox 21"/>
          <p:cNvSpPr txBox="1"/>
          <p:nvPr/>
        </p:nvSpPr>
        <p:spPr>
          <a:xfrm>
            <a:off x="987552" y="4535424"/>
            <a:ext cx="4690872" cy="457200"/>
          </a:xfrm>
          <a:prstGeom prst="rect">
            <a:avLst/>
          </a:prstGeom>
          <a:noFill/>
        </p:spPr>
        <p:txBody>
          <a:bodyPr wrap="square" lIns="27432" rIns="27432" tIns="27432" bIns="27432" anchor="t">
            <a:spAutoFit/>
          </a:bodyPr>
          <a:lstStyle/>
          <a:p>
            <a:pPr algn="l"/>
            <a:r>
              <a:rPr sz="1500" b="0">
                <a:solidFill>
                  <a:srgbClr val="1F2621"/>
                </a:solidFill>
                <a:latin typeface="Aptos"/>
              </a:rPr>
              <a:t>Raises operating pressure throughout sourcing, distribution, and retail execution.</a:t>
            </a:r>
          </a:p>
        </p:txBody>
      </p:sp>
      <p:sp>
        <p:nvSpPr>
          <p:cNvPr id="23" name="Rounded Rectangle 22"/>
          <p:cNvSpPr/>
          <p:nvPr/>
        </p:nvSpPr>
        <p:spPr>
          <a:xfrm>
            <a:off x="6254496" y="3657600"/>
            <a:ext cx="498348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794760"/>
            <a:ext cx="4690872" cy="219456"/>
          </a:xfrm>
          <a:prstGeom prst="rect">
            <a:avLst/>
          </a:prstGeom>
          <a:noFill/>
        </p:spPr>
        <p:txBody>
          <a:bodyPr wrap="square" lIns="27432" rIns="27432" tIns="27432" bIns="27432" anchor="t">
            <a:spAutoFit/>
          </a:bodyPr>
          <a:lstStyle/>
          <a:p>
            <a:pPr algn="l"/>
            <a:r>
              <a:rPr sz="1100" b="1">
                <a:solidFill>
                  <a:srgbClr val="5F6B63"/>
                </a:solidFill>
                <a:latin typeface="Aptos"/>
              </a:rPr>
              <a:t>DRIVER</a:t>
            </a:r>
          </a:p>
        </p:txBody>
      </p:sp>
      <p:sp>
        <p:nvSpPr>
          <p:cNvPr id="25" name="TextBox 24"/>
          <p:cNvSpPr txBox="1"/>
          <p:nvPr/>
        </p:nvSpPr>
        <p:spPr>
          <a:xfrm>
            <a:off x="6400800" y="4041648"/>
            <a:ext cx="4690872" cy="502920"/>
          </a:xfrm>
          <a:prstGeom prst="rect">
            <a:avLst/>
          </a:prstGeom>
          <a:noFill/>
        </p:spPr>
        <p:txBody>
          <a:bodyPr wrap="square" lIns="27432" rIns="27432" tIns="27432" bIns="27432" anchor="t">
            <a:spAutoFit/>
          </a:bodyPr>
          <a:lstStyle/>
          <a:p>
            <a:pPr algn="l"/>
            <a:r>
              <a:rPr sz="2400" b="1">
                <a:solidFill>
                  <a:srgbClr val="C58A2A"/>
                </a:solidFill>
                <a:latin typeface="Aptos Display"/>
              </a:rPr>
              <a:t>Seasonality + promotions</a:t>
            </a:r>
          </a:p>
        </p:txBody>
      </p:sp>
      <p:sp>
        <p:nvSpPr>
          <p:cNvPr id="26" name="TextBox 25"/>
          <p:cNvSpPr txBox="1"/>
          <p:nvPr/>
        </p:nvSpPr>
        <p:spPr>
          <a:xfrm>
            <a:off x="6400800" y="4535424"/>
            <a:ext cx="4690872" cy="457200"/>
          </a:xfrm>
          <a:prstGeom prst="rect">
            <a:avLst/>
          </a:prstGeom>
          <a:noFill/>
        </p:spPr>
        <p:txBody>
          <a:bodyPr wrap="square" lIns="27432" rIns="27432" tIns="27432" bIns="27432" anchor="t">
            <a:spAutoFit/>
          </a:bodyPr>
          <a:lstStyle/>
          <a:p>
            <a:pPr algn="l"/>
            <a:r>
              <a:rPr sz="1500" b="0">
                <a:solidFill>
                  <a:srgbClr val="1F2621"/>
                </a:solidFill>
                <a:latin typeface="Aptos"/>
              </a:rPr>
              <a:t>Changes when the market wants volume and when it supports price.</a:t>
            </a:r>
          </a:p>
        </p:txBody>
      </p:sp>
      <p:sp>
        <p:nvSpPr>
          <p:cNvPr id="27" name="Rounded Rectangle 26"/>
          <p:cNvSpPr/>
          <p:nvPr/>
        </p:nvSpPr>
        <p:spPr>
          <a:xfrm>
            <a:off x="987552" y="5650992"/>
            <a:ext cx="10058400" cy="5120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88720" y="5815584"/>
            <a:ext cx="9692640" cy="164592"/>
          </a:xfrm>
          <a:prstGeom prst="rect">
            <a:avLst/>
          </a:prstGeom>
          <a:noFill/>
        </p:spPr>
        <p:txBody>
          <a:bodyPr wrap="square" lIns="27432" rIns="27432" tIns="27432" bIns="27432" anchor="t">
            <a:spAutoFit/>
          </a:bodyPr>
          <a:lstStyle/>
          <a:p>
            <a:pPr algn="l"/>
            <a:r>
              <a:rPr sz="1200" b="1">
                <a:solidFill>
                  <a:srgbClr val="1F2621"/>
                </a:solidFill>
                <a:latin typeface="Aptos"/>
              </a:rPr>
              <a:t>These are context drivers, not modeled outputs. They explain why a selective pilot with freight resilience and seasonal discipline is safer than a broad first-year rollout.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14</a:t>
            </a:r>
          </a:p>
        </p:txBody>
      </p:sp>
      <p:sp>
        <p:nvSpPr>
          <p:cNvPr id="8" name="Rounded Rectangle 7"/>
          <p:cNvSpPr/>
          <p:nvPr/>
        </p:nvSpPr>
        <p:spPr>
          <a:xfrm>
            <a:off x="10287000" y="256032"/>
            <a:ext cx="1234440" cy="27432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05288" y="260604"/>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CONTEXT</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Micro drivers explain why Los Angeles sells, Seattle penetrates, and the Pacific Northwest prices higher</a:t>
            </a:r>
          </a:p>
        </p:txBody>
      </p:sp>
      <p:sp>
        <p:nvSpPr>
          <p:cNvPr id="11" name="Rounded Rectangle 10"/>
          <p:cNvSpPr/>
          <p:nvPr/>
        </p:nvSpPr>
        <p:spPr>
          <a:xfrm>
            <a:off x="749808" y="1737360"/>
            <a:ext cx="10744200" cy="422452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1956816"/>
            <a:ext cx="2560320" cy="164592"/>
          </a:xfrm>
          <a:prstGeom prst="rect">
            <a:avLst/>
          </a:prstGeom>
          <a:noFill/>
        </p:spPr>
        <p:txBody>
          <a:bodyPr wrap="square" lIns="27432" rIns="27432" tIns="27432" bIns="27432" anchor="t">
            <a:spAutoFit/>
          </a:bodyPr>
          <a:lstStyle/>
          <a:p>
            <a:pPr algn="l"/>
            <a:r>
              <a:rPr sz="1000" b="1">
                <a:solidFill>
                  <a:srgbClr val="5F6B63"/>
                </a:solidFill>
                <a:latin typeface="Aptos"/>
              </a:rPr>
              <a:t>CITY EVIDENCE MATRIX</a:t>
            </a:r>
          </a:p>
        </p:txBody>
      </p:sp>
      <p:graphicFrame>
        <p:nvGraphicFramePr>
          <p:cNvPr id="13" name="Table 12"/>
          <p:cNvGraphicFramePr>
            <a:graphicFrameLocks noGrp="1"/>
          </p:cNvGraphicFramePr>
          <p:nvPr/>
        </p:nvGraphicFramePr>
        <p:xfrm>
          <a:off x="932688" y="2286000"/>
          <a:ext cx="9646920" cy="2011680"/>
        </p:xfrm>
        <a:graphic>
          <a:graphicData uri="http://schemas.openxmlformats.org/drawingml/2006/table">
            <a:tbl>
              <a:tblPr firstRow="1" bandRow="1">
                <a:tableStyleId>{5C22544A-7EE6-4342-B048-85BDC9FD1C3A}</a:tableStyleId>
              </a:tblPr>
              <a:tblGrid>
                <a:gridCol w="1371600"/>
                <a:gridCol w="2011680"/>
                <a:gridCol w="1508760"/>
                <a:gridCol w="1097280"/>
                <a:gridCol w="3657600"/>
              </a:tblGrid>
              <a:tr h="502920">
                <a:tc>
                  <a:txBody>
                    <a:bodyPr/>
                    <a:lstStyle/>
                    <a:p>
                      <a:r>
                        <a:rPr sz="1100" b="0">
                          <a:solidFill>
                            <a:srgbClr val="1F2621"/>
                          </a:solidFill>
                          <a:latin typeface="Aptos"/>
                        </a:rPr>
                        <a:t>Market</a:t>
                      </a:r>
                    </a:p>
                  </a:txBody>
                  <a:tcPr>
                    <a:solidFill>
                      <a:srgbClr val="355C47"/>
                    </a:solidFill>
                  </a:tcPr>
                </a:tc>
                <a:tc>
                  <a:txBody>
                    <a:bodyPr/>
                    <a:lstStyle/>
                    <a:p>
                      <a:r>
                        <a:rPr sz="1100" b="0">
                          <a:solidFill>
                            <a:srgbClr val="1F2621"/>
                          </a:solidFill>
                          <a:latin typeface="Aptos"/>
                        </a:rPr>
                        <a:t>What it wins</a:t>
                      </a:r>
                    </a:p>
                  </a:txBody>
                  <a:tcPr>
                    <a:solidFill>
                      <a:srgbClr val="355C47"/>
                    </a:solidFill>
                  </a:tcPr>
                </a:tc>
                <a:tc>
                  <a:txBody>
                    <a:bodyPr/>
                    <a:lstStyle/>
                    <a:p>
                      <a:r>
                        <a:rPr sz="1100" b="0">
                          <a:solidFill>
                            <a:srgbClr val="1F2621"/>
                          </a:solidFill>
                          <a:latin typeface="Aptos"/>
                        </a:rPr>
                        <a:t>2024 organic share</a:t>
                      </a:r>
                    </a:p>
                  </a:txBody>
                  <a:tcPr>
                    <a:solidFill>
                      <a:srgbClr val="355C47"/>
                    </a:solidFill>
                  </a:tcPr>
                </a:tc>
                <a:tc>
                  <a:txBody>
                    <a:bodyPr/>
                    <a:lstStyle/>
                    <a:p>
                      <a:r>
                        <a:rPr sz="1100" b="0">
                          <a:solidFill>
                            <a:srgbClr val="1F2621"/>
                          </a:solidFill>
                          <a:latin typeface="Aptos"/>
                        </a:rPr>
                        <a:t>June price</a:t>
                      </a:r>
                    </a:p>
                  </a:txBody>
                  <a:tcPr>
                    <a:solidFill>
                      <a:srgbClr val="355C47"/>
                    </a:solidFill>
                  </a:tcPr>
                </a:tc>
                <a:tc>
                  <a:txBody>
                    <a:bodyPr/>
                    <a:lstStyle/>
                    <a:p>
                      <a:r>
                        <a:rPr sz="1100" b="0">
                          <a:solidFill>
                            <a:srgbClr val="1F2621"/>
                          </a:solidFill>
                          <a:latin typeface="Aptos"/>
                        </a:rPr>
                        <a:t>Why it matters</a:t>
                      </a:r>
                    </a:p>
                  </a:txBody>
                  <a:tcPr>
                    <a:solidFill>
                      <a:srgbClr val="355C47"/>
                    </a:solidFill>
                  </a:tcPr>
                </a:tc>
              </a:tr>
              <a:tr h="502920">
                <a:tc>
                  <a:txBody>
                    <a:bodyPr/>
                    <a:lstStyle/>
                    <a:p>
                      <a:r>
                        <a:rPr sz="1100" b="0">
                          <a:solidFill>
                            <a:srgbClr val="1F2621"/>
                          </a:solidFill>
                          <a:latin typeface="Aptos"/>
                        </a:rPr>
                        <a:t>Los Angeles</a:t>
                      </a:r>
                    </a:p>
                  </a:txBody>
                  <a:tcPr>
                    <a:solidFill>
                      <a:srgbClr val="FCFAF5"/>
                    </a:solidFill>
                  </a:tcPr>
                </a:tc>
                <a:tc>
                  <a:txBody>
                    <a:bodyPr/>
                    <a:lstStyle/>
                    <a:p>
                      <a:r>
                        <a:rPr sz="1100" b="0">
                          <a:solidFill>
                            <a:srgbClr val="1F2621"/>
                          </a:solidFill>
                          <a:latin typeface="Aptos"/>
                        </a:rPr>
                        <a:t>Largest sales base</a:t>
                      </a:r>
                    </a:p>
                  </a:txBody>
                  <a:tcPr>
                    <a:solidFill>
                      <a:srgbClr val="FCFAF5"/>
                    </a:solidFill>
                  </a:tcPr>
                </a:tc>
                <a:tc>
                  <a:txBody>
                    <a:bodyPr/>
                    <a:lstStyle/>
                    <a:p>
                      <a:r>
                        <a:rPr sz="1100" b="0">
                          <a:solidFill>
                            <a:srgbClr val="1F2621"/>
                          </a:solidFill>
                          <a:latin typeface="Aptos"/>
                        </a:rPr>
                        <a:t>4.9%</a:t>
                      </a:r>
                    </a:p>
                  </a:txBody>
                  <a:tcPr>
                    <a:solidFill>
                      <a:srgbClr val="FCFAF5"/>
                    </a:solidFill>
                  </a:tcPr>
                </a:tc>
                <a:tc>
                  <a:txBody>
                    <a:bodyPr/>
                    <a:lstStyle/>
                    <a:p>
                      <a:r>
                        <a:rPr sz="1100" b="0">
                          <a:solidFill>
                            <a:srgbClr val="1F2621"/>
                          </a:solidFill>
                          <a:latin typeface="Aptos"/>
                        </a:rPr>
                        <a:t>$1.87</a:t>
                      </a:r>
                    </a:p>
                  </a:txBody>
                  <a:tcPr>
                    <a:solidFill>
                      <a:srgbClr val="FCFAF5"/>
                    </a:solidFill>
                  </a:tcPr>
                </a:tc>
                <a:tc>
                  <a:txBody>
                    <a:bodyPr/>
                    <a:lstStyle/>
                    <a:p>
                      <a:r>
                        <a:rPr sz="1100" b="0">
                          <a:solidFill>
                            <a:srgbClr val="1F2621"/>
                          </a:solidFill>
                          <a:latin typeface="Aptos"/>
                        </a:rPr>
                        <a:t>Great scale, weaker pilot economics</a:t>
                      </a:r>
                    </a:p>
                  </a:txBody>
                  <a:tcPr>
                    <a:solidFill>
                      <a:srgbClr val="FCFAF5"/>
                    </a:solidFill>
                  </a:tcPr>
                </a:tc>
              </a:tr>
              <a:tr h="502920">
                <a:tc>
                  <a:txBody>
                    <a:bodyPr/>
                    <a:lstStyle/>
                    <a:p>
                      <a:r>
                        <a:rPr sz="1100" b="0">
                          <a:solidFill>
                            <a:srgbClr val="1F2621"/>
                          </a:solidFill>
                          <a:latin typeface="Aptos"/>
                        </a:rPr>
                        <a:t>Seattle</a:t>
                      </a:r>
                    </a:p>
                  </a:txBody>
                  <a:tcPr>
                    <a:solidFill>
                      <a:srgbClr val="F7F3EC"/>
                    </a:solidFill>
                  </a:tcPr>
                </a:tc>
                <a:tc>
                  <a:txBody>
                    <a:bodyPr/>
                    <a:lstStyle/>
                    <a:p>
                      <a:r>
                        <a:rPr sz="1100" b="0">
                          <a:solidFill>
                            <a:srgbClr val="1F2621"/>
                          </a:solidFill>
                          <a:latin typeface="Aptos"/>
                        </a:rPr>
                        <a:t>Strong organic leader</a:t>
                      </a:r>
                    </a:p>
                  </a:txBody>
                  <a:tcPr>
                    <a:solidFill>
                      <a:srgbClr val="F7F3EC"/>
                    </a:solidFill>
                  </a:tcPr>
                </a:tc>
                <a:tc>
                  <a:txBody>
                    <a:bodyPr/>
                    <a:lstStyle/>
                    <a:p>
                      <a:r>
                        <a:rPr sz="1100" b="0">
                          <a:solidFill>
                            <a:srgbClr val="1F2621"/>
                          </a:solidFill>
                          <a:latin typeface="Aptos"/>
                        </a:rPr>
                        <a:t>11.2%</a:t>
                      </a:r>
                    </a:p>
                  </a:txBody>
                  <a:tcPr>
                    <a:solidFill>
                      <a:srgbClr val="F7F3EC"/>
                    </a:solidFill>
                  </a:tcPr>
                </a:tc>
                <a:tc>
                  <a:txBody>
                    <a:bodyPr/>
                    <a:lstStyle/>
                    <a:p>
                      <a:r>
                        <a:rPr sz="1100" b="0">
                          <a:solidFill>
                            <a:srgbClr val="1F2621"/>
                          </a:solidFill>
                          <a:latin typeface="Aptos"/>
                        </a:rPr>
                        <a:t>$2.66</a:t>
                      </a:r>
                    </a:p>
                  </a:txBody>
                  <a:tcPr>
                    <a:solidFill>
                      <a:srgbClr val="F7F3EC"/>
                    </a:solidFill>
                  </a:tcPr>
                </a:tc>
                <a:tc>
                  <a:txBody>
                    <a:bodyPr/>
                    <a:lstStyle/>
                    <a:p>
                      <a:r>
                        <a:rPr sz="1100" b="0">
                          <a:solidFill>
                            <a:srgbClr val="1F2621"/>
                          </a:solidFill>
                          <a:latin typeface="Aptos"/>
                        </a:rPr>
                        <a:t>Best mix of readiness and pricing</a:t>
                      </a:r>
                    </a:p>
                  </a:txBody>
                  <a:tcPr>
                    <a:solidFill>
                      <a:srgbClr val="F7F3EC"/>
                    </a:solidFill>
                  </a:tcPr>
                </a:tc>
              </a:tr>
              <a:tr h="502920">
                <a:tc>
                  <a:txBody>
                    <a:bodyPr/>
                    <a:lstStyle/>
                    <a:p>
                      <a:r>
                        <a:rPr sz="1100" b="0">
                          <a:solidFill>
                            <a:srgbClr val="1F2621"/>
                          </a:solidFill>
                          <a:latin typeface="Aptos"/>
                        </a:rPr>
                        <a:t>Selected 5 avg</a:t>
                      </a:r>
                    </a:p>
                  </a:txBody>
                  <a:tcPr>
                    <a:solidFill>
                      <a:srgbClr val="FCFAF5"/>
                    </a:solidFill>
                  </a:tcPr>
                </a:tc>
                <a:tc>
                  <a:txBody>
                    <a:bodyPr/>
                    <a:lstStyle/>
                    <a:p>
                      <a:r>
                        <a:rPr sz="1100" b="0">
                          <a:solidFill>
                            <a:srgbClr val="1F2621"/>
                          </a:solidFill>
                          <a:latin typeface="Aptos"/>
                        </a:rPr>
                        <a:t>Pilot set</a:t>
                      </a:r>
                    </a:p>
                  </a:txBody>
                  <a:tcPr>
                    <a:solidFill>
                      <a:srgbClr val="FCFAF5"/>
                    </a:solidFill>
                  </a:tcPr>
                </a:tc>
                <a:tc>
                  <a:txBody>
                    <a:bodyPr/>
                    <a:lstStyle/>
                    <a:p>
                      <a:r>
                        <a:rPr sz="1100" b="0">
                          <a:solidFill>
                            <a:srgbClr val="1F2621"/>
                          </a:solidFill>
                          <a:latin typeface="Aptos"/>
                        </a:rPr>
                        <a:t>6.6%</a:t>
                      </a:r>
                    </a:p>
                  </a:txBody>
                  <a:tcPr>
                    <a:solidFill>
                      <a:srgbClr val="FCFAF5"/>
                    </a:solidFill>
                  </a:tcPr>
                </a:tc>
                <a:tc>
                  <a:txBody>
                    <a:bodyPr/>
                    <a:lstStyle/>
                    <a:p>
                      <a:r>
                        <a:rPr sz="1100" b="0">
                          <a:solidFill>
                            <a:srgbClr val="1F2621"/>
                          </a:solidFill>
                          <a:latin typeface="Aptos"/>
                        </a:rPr>
                        <a:t>$2.45</a:t>
                      </a:r>
                    </a:p>
                  </a:txBody>
                  <a:tcPr>
                    <a:solidFill>
                      <a:srgbClr val="FCFAF5"/>
                    </a:solidFill>
                  </a:tcPr>
                </a:tc>
                <a:tc>
                  <a:txBody>
                    <a:bodyPr/>
                    <a:lstStyle/>
                    <a:p>
                      <a:r>
                        <a:rPr sz="1100" b="0">
                          <a:solidFill>
                            <a:srgbClr val="1F2621"/>
                          </a:solidFill>
                          <a:latin typeface="Aptos"/>
                        </a:rPr>
                        <a:t>Best overall entry screen</a:t>
                      </a:r>
                    </a:p>
                  </a:txBody>
                  <a:tcPr>
                    <a:solidFill>
                      <a:srgbClr val="FCFAF5"/>
                    </a:solidFill>
                  </a:tcPr>
                </a:tc>
              </a:tr>
            </a:tbl>
          </a:graphicData>
        </a:graphic>
      </p:graphicFrame>
      <p:sp>
        <p:nvSpPr>
          <p:cNvPr id="14" name="Rounded Rectangle 13"/>
          <p:cNvSpPr/>
          <p:nvPr/>
        </p:nvSpPr>
        <p:spPr>
          <a:xfrm>
            <a:off x="932688" y="4645152"/>
            <a:ext cx="10058400" cy="822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4736592"/>
            <a:ext cx="3096768" cy="128016"/>
          </a:xfrm>
          <a:prstGeom prst="rect">
            <a:avLst/>
          </a:prstGeom>
          <a:noFill/>
        </p:spPr>
        <p:txBody>
          <a:bodyPr wrap="square" lIns="27432" rIns="27432" tIns="27432" bIns="27432" anchor="t">
            <a:spAutoFit/>
          </a:bodyPr>
          <a:lstStyle/>
          <a:p>
            <a:pPr algn="l"/>
            <a:r>
              <a:rPr sz="1000" b="1">
                <a:solidFill>
                  <a:srgbClr val="5F6B63"/>
                </a:solidFill>
                <a:latin typeface="Aptos"/>
              </a:rPr>
              <a:t>LOS ANGELES</a:t>
            </a:r>
          </a:p>
        </p:txBody>
      </p:sp>
      <p:sp>
        <p:nvSpPr>
          <p:cNvPr id="16" name="TextBox 15"/>
          <p:cNvSpPr txBox="1"/>
          <p:nvPr/>
        </p:nvSpPr>
        <p:spPr>
          <a:xfrm>
            <a:off x="1060704" y="4882896"/>
            <a:ext cx="3096768" cy="219456"/>
          </a:xfrm>
          <a:prstGeom prst="rect">
            <a:avLst/>
          </a:prstGeom>
          <a:noFill/>
        </p:spPr>
        <p:txBody>
          <a:bodyPr wrap="square" lIns="27432" rIns="27432" tIns="27432" bIns="27432" anchor="t">
            <a:spAutoFit/>
          </a:bodyPr>
          <a:lstStyle/>
          <a:p>
            <a:pPr algn="l"/>
            <a:r>
              <a:rPr sz="1700" b="1">
                <a:solidFill>
                  <a:srgbClr val="355C47"/>
                </a:solidFill>
                <a:latin typeface="Aptos Display"/>
              </a:rPr>
              <a:t>Scale</a:t>
            </a:r>
          </a:p>
        </p:txBody>
      </p:sp>
      <p:sp>
        <p:nvSpPr>
          <p:cNvPr id="17" name="TextBox 16"/>
          <p:cNvSpPr txBox="1"/>
          <p:nvPr/>
        </p:nvSpPr>
        <p:spPr>
          <a:xfrm>
            <a:off x="1060704" y="5157216"/>
            <a:ext cx="3096768" cy="237744"/>
          </a:xfrm>
          <a:prstGeom prst="rect">
            <a:avLst/>
          </a:prstGeom>
          <a:noFill/>
        </p:spPr>
        <p:txBody>
          <a:bodyPr wrap="square" lIns="27432" rIns="27432" tIns="27432" bIns="27432" anchor="t">
            <a:spAutoFit/>
          </a:bodyPr>
          <a:lstStyle/>
          <a:p>
            <a:pPr algn="l"/>
            <a:r>
              <a:rPr sz="1000" b="0">
                <a:solidFill>
                  <a:srgbClr val="1F2621"/>
                </a:solidFill>
                <a:latin typeface="Aptos"/>
              </a:rPr>
              <a:t>Shows where baseline demand is largest.</a:t>
            </a:r>
          </a:p>
        </p:txBody>
      </p:sp>
      <p:cxnSp>
        <p:nvCxnSpPr>
          <p:cNvPr id="18" name="Connector 17"/>
          <p:cNvCxnSpPr/>
          <p:nvPr/>
        </p:nvCxnSpPr>
        <p:spPr>
          <a:xfrm>
            <a:off x="4285488" y="4809744"/>
            <a:ext cx="0" cy="49377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13504" y="4736592"/>
            <a:ext cx="3096768" cy="128016"/>
          </a:xfrm>
          <a:prstGeom prst="rect">
            <a:avLst/>
          </a:prstGeom>
          <a:noFill/>
        </p:spPr>
        <p:txBody>
          <a:bodyPr wrap="square" lIns="27432" rIns="27432" tIns="27432" bIns="27432" anchor="t">
            <a:spAutoFit/>
          </a:bodyPr>
          <a:lstStyle/>
          <a:p>
            <a:pPr algn="l"/>
            <a:r>
              <a:rPr sz="1000" b="1">
                <a:solidFill>
                  <a:srgbClr val="5F6B63"/>
                </a:solidFill>
                <a:latin typeface="Aptos"/>
              </a:rPr>
              <a:t>SEATTLE</a:t>
            </a:r>
          </a:p>
        </p:txBody>
      </p:sp>
      <p:sp>
        <p:nvSpPr>
          <p:cNvPr id="20" name="TextBox 19"/>
          <p:cNvSpPr txBox="1"/>
          <p:nvPr/>
        </p:nvSpPr>
        <p:spPr>
          <a:xfrm>
            <a:off x="4413504" y="4882896"/>
            <a:ext cx="3096768" cy="219456"/>
          </a:xfrm>
          <a:prstGeom prst="rect">
            <a:avLst/>
          </a:prstGeom>
          <a:noFill/>
        </p:spPr>
        <p:txBody>
          <a:bodyPr wrap="square" lIns="27432" rIns="27432" tIns="27432" bIns="27432" anchor="t">
            <a:spAutoFit/>
          </a:bodyPr>
          <a:lstStyle/>
          <a:p>
            <a:pPr algn="l"/>
            <a:r>
              <a:rPr sz="1700" b="1">
                <a:solidFill>
                  <a:srgbClr val="3F728A"/>
                </a:solidFill>
                <a:latin typeface="Aptos Display"/>
              </a:rPr>
              <a:t>Penetration</a:t>
            </a:r>
          </a:p>
        </p:txBody>
      </p:sp>
      <p:sp>
        <p:nvSpPr>
          <p:cNvPr id="21" name="TextBox 20"/>
          <p:cNvSpPr txBox="1"/>
          <p:nvPr/>
        </p:nvSpPr>
        <p:spPr>
          <a:xfrm>
            <a:off x="4413504" y="5157216"/>
            <a:ext cx="3096768" cy="237744"/>
          </a:xfrm>
          <a:prstGeom prst="rect">
            <a:avLst/>
          </a:prstGeom>
          <a:noFill/>
        </p:spPr>
        <p:txBody>
          <a:bodyPr wrap="square" lIns="27432" rIns="27432" tIns="27432" bIns="27432" anchor="t">
            <a:spAutoFit/>
          </a:bodyPr>
          <a:lstStyle/>
          <a:p>
            <a:pPr algn="l"/>
            <a:r>
              <a:rPr sz="1000" b="0">
                <a:solidFill>
                  <a:srgbClr val="1F2621"/>
                </a:solidFill>
                <a:latin typeface="Aptos"/>
              </a:rPr>
              <a:t>Shows where organic adoption is strongest.</a:t>
            </a:r>
          </a:p>
        </p:txBody>
      </p:sp>
      <p:cxnSp>
        <p:nvCxnSpPr>
          <p:cNvPr id="22" name="Connector 21"/>
          <p:cNvCxnSpPr/>
          <p:nvPr/>
        </p:nvCxnSpPr>
        <p:spPr>
          <a:xfrm>
            <a:off x="7638288" y="4809744"/>
            <a:ext cx="0" cy="49377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66304" y="4736592"/>
            <a:ext cx="3096768" cy="128016"/>
          </a:xfrm>
          <a:prstGeom prst="rect">
            <a:avLst/>
          </a:prstGeom>
          <a:noFill/>
        </p:spPr>
        <p:txBody>
          <a:bodyPr wrap="square" lIns="27432" rIns="27432" tIns="27432" bIns="27432" anchor="t">
            <a:spAutoFit/>
          </a:bodyPr>
          <a:lstStyle/>
          <a:p>
            <a:pPr algn="l"/>
            <a:r>
              <a:rPr sz="1000" b="1">
                <a:solidFill>
                  <a:srgbClr val="5F6B63"/>
                </a:solidFill>
                <a:latin typeface="Aptos"/>
              </a:rPr>
              <a:t>PACIFIC NW + SAN DIEGO</a:t>
            </a:r>
          </a:p>
        </p:txBody>
      </p:sp>
      <p:sp>
        <p:nvSpPr>
          <p:cNvPr id="24" name="TextBox 23"/>
          <p:cNvSpPr txBox="1"/>
          <p:nvPr/>
        </p:nvSpPr>
        <p:spPr>
          <a:xfrm>
            <a:off x="7766304" y="4882896"/>
            <a:ext cx="3096768" cy="219456"/>
          </a:xfrm>
          <a:prstGeom prst="rect">
            <a:avLst/>
          </a:prstGeom>
          <a:noFill/>
        </p:spPr>
        <p:txBody>
          <a:bodyPr wrap="square" lIns="27432" rIns="27432" tIns="27432" bIns="27432" anchor="t">
            <a:spAutoFit/>
          </a:bodyPr>
          <a:lstStyle/>
          <a:p>
            <a:pPr algn="l"/>
            <a:r>
              <a:rPr sz="1700" b="1">
                <a:solidFill>
                  <a:srgbClr val="355C47"/>
                </a:solidFill>
                <a:latin typeface="Aptos Display"/>
              </a:rPr>
              <a:t>Price support</a:t>
            </a:r>
          </a:p>
        </p:txBody>
      </p:sp>
      <p:sp>
        <p:nvSpPr>
          <p:cNvPr id="25" name="TextBox 24"/>
          <p:cNvSpPr txBox="1"/>
          <p:nvPr/>
        </p:nvSpPr>
        <p:spPr>
          <a:xfrm>
            <a:off x="7766304" y="5157216"/>
            <a:ext cx="3096768" cy="237744"/>
          </a:xfrm>
          <a:prstGeom prst="rect">
            <a:avLst/>
          </a:prstGeom>
          <a:noFill/>
        </p:spPr>
        <p:txBody>
          <a:bodyPr wrap="square" lIns="27432" rIns="27432" tIns="27432" bIns="27432" anchor="t">
            <a:spAutoFit/>
          </a:bodyPr>
          <a:lstStyle/>
          <a:p>
            <a:pPr algn="l"/>
            <a:r>
              <a:rPr sz="1000" b="0">
                <a:solidFill>
                  <a:srgbClr val="1F2621"/>
                </a:solidFill>
                <a:latin typeface="Aptos"/>
              </a:rPr>
              <a:t>Shows where the pilot can monetize organic units best.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best entry markets need price power, organic readiness, and manageable miles</a:t>
            </a:r>
          </a:p>
        </p:txBody>
      </p:sp>
      <p:sp>
        <p:nvSpPr>
          <p:cNvPr id="9" name="Rounded Rectangle 8"/>
          <p:cNvSpPr/>
          <p:nvPr/>
        </p:nvSpPr>
        <p:spPr>
          <a:xfrm>
            <a:off x="713232" y="1700784"/>
            <a:ext cx="7818120" cy="426110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01952"/>
            <a:ext cx="2560320" cy="164592"/>
          </a:xfrm>
          <a:prstGeom prst="rect">
            <a:avLst/>
          </a:prstGeom>
          <a:noFill/>
        </p:spPr>
        <p:txBody>
          <a:bodyPr wrap="square" lIns="27432" rIns="27432" tIns="27432" bIns="27432" anchor="t">
            <a:spAutoFit/>
          </a:bodyPr>
          <a:lstStyle/>
          <a:p>
            <a:pPr algn="l"/>
            <a:r>
              <a:rPr sz="1000" b="1">
                <a:solidFill>
                  <a:srgbClr val="5F6B63"/>
                </a:solidFill>
                <a:latin typeface="Aptos"/>
              </a:rPr>
              <a:t>ENTRY SCREEN LEADERBOARD</a:t>
            </a:r>
          </a:p>
        </p:txBody>
      </p:sp>
      <p:graphicFrame>
        <p:nvGraphicFramePr>
          <p:cNvPr id="11" name="Table 10"/>
          <p:cNvGraphicFramePr>
            <a:graphicFrameLocks noGrp="1"/>
          </p:cNvGraphicFramePr>
          <p:nvPr/>
        </p:nvGraphicFramePr>
        <p:xfrm>
          <a:off x="914400" y="2212848"/>
          <a:ext cx="6400800" cy="3474720"/>
        </p:xfrm>
        <a:graphic>
          <a:graphicData uri="http://schemas.openxmlformats.org/drawingml/2006/table">
            <a:tbl>
              <a:tblPr firstRow="1" bandRow="1">
                <a:tableStyleId>{5C22544A-7EE6-4342-B048-85BDC9FD1C3A}</a:tableStyleId>
              </a:tblPr>
              <a:tblGrid>
                <a:gridCol w="1371600"/>
                <a:gridCol w="914400"/>
                <a:gridCol w="1188720"/>
                <a:gridCol w="914400"/>
                <a:gridCol w="1143000"/>
                <a:gridCol w="868680"/>
              </a:tblGrid>
              <a:tr h="386080">
                <a:tc>
                  <a:txBody>
                    <a:bodyPr/>
                    <a:lstStyle/>
                    <a:p>
                      <a:r>
                        <a:rPr sz="1000" b="0">
                          <a:solidFill>
                            <a:srgbClr val="1F2621"/>
                          </a:solidFill>
                          <a:latin typeface="Aptos"/>
                        </a:rPr>
                        <a:t>City</a:t>
                      </a:r>
                    </a:p>
                  </a:txBody>
                  <a:tcPr>
                    <a:solidFill>
                      <a:srgbClr val="355C47"/>
                    </a:solidFill>
                  </a:tcPr>
                </a:tc>
                <a:tc>
                  <a:txBody>
                    <a:bodyPr/>
                    <a:lstStyle/>
                    <a:p>
                      <a:r>
                        <a:rPr sz="1000" b="0">
                          <a:solidFill>
                            <a:srgbClr val="1F2621"/>
                          </a:solidFill>
                          <a:latin typeface="Aptos"/>
                        </a:rPr>
                        <a:t>Price</a:t>
                      </a:r>
                    </a:p>
                  </a:txBody>
                  <a:tcPr>
                    <a:solidFill>
                      <a:srgbClr val="355C47"/>
                    </a:solidFill>
                  </a:tcPr>
                </a:tc>
                <a:tc>
                  <a:txBody>
                    <a:bodyPr/>
                    <a:lstStyle/>
                    <a:p>
                      <a:r>
                        <a:rPr sz="1000" b="0">
                          <a:solidFill>
                            <a:srgbClr val="1F2621"/>
                          </a:solidFill>
                          <a:latin typeface="Aptos"/>
                        </a:rPr>
                        <a:t>Organic share</a:t>
                      </a:r>
                    </a:p>
                  </a:txBody>
                  <a:tcPr>
                    <a:solidFill>
                      <a:srgbClr val="355C47"/>
                    </a:solidFill>
                  </a:tcPr>
                </a:tc>
                <a:tc>
                  <a:txBody>
                    <a:bodyPr/>
                    <a:lstStyle/>
                    <a:p>
                      <a:r>
                        <a:rPr sz="1000" b="0">
                          <a:solidFill>
                            <a:srgbClr val="1F2621"/>
                          </a:solidFill>
                          <a:latin typeface="Aptos"/>
                        </a:rPr>
                        <a:t>Miles</a:t>
                      </a:r>
                    </a:p>
                  </a:txBody>
                  <a:tcPr>
                    <a:solidFill>
                      <a:srgbClr val="355C47"/>
                    </a:solidFill>
                  </a:tcPr>
                </a:tc>
                <a:tc>
                  <a:txBody>
                    <a:bodyPr/>
                    <a:lstStyle/>
                    <a:p>
                      <a:r>
                        <a:rPr sz="1000" b="0">
                          <a:solidFill>
                            <a:srgbClr val="1F2621"/>
                          </a:solidFill>
                          <a:latin typeface="Aptos"/>
                        </a:rPr>
                        <a:t>Profit</a:t>
                      </a:r>
                    </a:p>
                  </a:txBody>
                  <a:tcPr>
                    <a:solidFill>
                      <a:srgbClr val="355C47"/>
                    </a:solidFill>
                  </a:tcPr>
                </a:tc>
                <a:tc>
                  <a:txBody>
                    <a:bodyPr/>
                    <a:lstStyle/>
                    <a:p>
                      <a:r>
                        <a:rPr sz="1000" b="0">
                          <a:solidFill>
                            <a:srgbClr val="1F2621"/>
                          </a:solidFill>
                          <a:latin typeface="Aptos"/>
                        </a:rPr>
                        <a:t>Pilot</a:t>
                      </a:r>
                    </a:p>
                  </a:txBody>
                  <a:tcPr>
                    <a:solidFill>
                      <a:srgbClr val="355C47"/>
                    </a:solidFill>
                  </a:tcPr>
                </a:tc>
              </a:tr>
              <a:tr h="386080">
                <a:tc>
                  <a:txBody>
                    <a:bodyPr/>
                    <a:lstStyle/>
                    <a:p>
                      <a:r>
                        <a:rPr sz="1000" b="0">
                          <a:solidFill>
                            <a:srgbClr val="1F2621"/>
                          </a:solidFill>
                          <a:latin typeface="Aptos"/>
                        </a:rPr>
                        <a:t>Seattle</a:t>
                      </a:r>
                    </a:p>
                  </a:txBody>
                  <a:tcPr>
                    <a:solidFill>
                      <a:srgbClr val="FCFAF5"/>
                    </a:solidFill>
                  </a:tcPr>
                </a:tc>
                <a:tc>
                  <a:txBody>
                    <a:bodyPr/>
                    <a:lstStyle/>
                    <a:p>
                      <a:r>
                        <a:rPr sz="1000" b="0">
                          <a:solidFill>
                            <a:srgbClr val="1F2621"/>
                          </a:solidFill>
                          <a:latin typeface="Aptos"/>
                        </a:rPr>
                        <a:t>$2.66</a:t>
                      </a:r>
                    </a:p>
                  </a:txBody>
                  <a:tcPr>
                    <a:solidFill>
                      <a:srgbClr val="FCFAF5"/>
                    </a:solidFill>
                  </a:tcPr>
                </a:tc>
                <a:tc>
                  <a:txBody>
                    <a:bodyPr/>
                    <a:lstStyle/>
                    <a:p>
                      <a:r>
                        <a:rPr sz="1000" b="0">
                          <a:solidFill>
                            <a:srgbClr val="1F2621"/>
                          </a:solidFill>
                          <a:latin typeface="Aptos"/>
                        </a:rPr>
                        <a:t>11.2%</a:t>
                      </a:r>
                    </a:p>
                  </a:txBody>
                  <a:tcPr>
                    <a:solidFill>
                      <a:srgbClr val="FCFAF5"/>
                    </a:solidFill>
                  </a:tcPr>
                </a:tc>
                <a:tc>
                  <a:txBody>
                    <a:bodyPr/>
                    <a:lstStyle/>
                    <a:p>
                      <a:r>
                        <a:rPr sz="1000" b="0">
                          <a:solidFill>
                            <a:srgbClr val="1F2621"/>
                          </a:solidFill>
                          <a:latin typeface="Aptos"/>
                        </a:rPr>
                        <a:t>1,029</a:t>
                      </a:r>
                    </a:p>
                  </a:txBody>
                  <a:tcPr>
                    <a:solidFill>
                      <a:srgbClr val="FCFAF5"/>
                    </a:solidFill>
                  </a:tcPr>
                </a:tc>
                <a:tc>
                  <a:txBody>
                    <a:bodyPr/>
                    <a:lstStyle/>
                    <a:p>
                      <a:r>
                        <a:rPr sz="1000" b="0">
                          <a:solidFill>
                            <a:srgbClr val="1F2621"/>
                          </a:solidFill>
                          <a:latin typeface="Aptos"/>
                        </a:rPr>
                        <a:t>$15,266</a:t>
                      </a:r>
                    </a:p>
                  </a:txBody>
                  <a:tcPr>
                    <a:solidFill>
                      <a:srgbClr val="FCFAF5"/>
                    </a:solidFill>
                  </a:tcPr>
                </a:tc>
                <a:tc>
                  <a:txBody>
                    <a:bodyPr/>
                    <a:lstStyle/>
                    <a:p>
                      <a:r>
                        <a:rPr sz="1000" b="0">
                          <a:solidFill>
                            <a:srgbClr val="1F2621"/>
                          </a:solidFill>
                          <a:latin typeface="Aptos"/>
                        </a:rPr>
                        <a:t>Selected</a:t>
                      </a:r>
                    </a:p>
                  </a:txBody>
                  <a:tcPr>
                    <a:solidFill>
                      <a:srgbClr val="FCFAF5"/>
                    </a:solidFill>
                  </a:tcPr>
                </a:tc>
              </a:tr>
              <a:tr h="386080">
                <a:tc>
                  <a:txBody>
                    <a:bodyPr/>
                    <a:lstStyle/>
                    <a:p>
                      <a:r>
                        <a:rPr sz="1000" b="0">
                          <a:solidFill>
                            <a:srgbClr val="1F2621"/>
                          </a:solidFill>
                          <a:latin typeface="Aptos"/>
                        </a:rPr>
                        <a:t>Boise</a:t>
                      </a:r>
                    </a:p>
                  </a:txBody>
                  <a:tcPr>
                    <a:solidFill>
                      <a:srgbClr val="F7F3EC"/>
                    </a:solidFill>
                  </a:tcPr>
                </a:tc>
                <a:tc>
                  <a:txBody>
                    <a:bodyPr/>
                    <a:lstStyle/>
                    <a:p>
                      <a:r>
                        <a:rPr sz="1000" b="0">
                          <a:solidFill>
                            <a:srgbClr val="1F2621"/>
                          </a:solidFill>
                          <a:latin typeface="Aptos"/>
                        </a:rPr>
                        <a:t>$2.59</a:t>
                      </a:r>
                    </a:p>
                  </a:txBody>
                  <a:tcPr>
                    <a:solidFill>
                      <a:srgbClr val="F7F3EC"/>
                    </a:solidFill>
                  </a:tcPr>
                </a:tc>
                <a:tc>
                  <a:txBody>
                    <a:bodyPr/>
                    <a:lstStyle/>
                    <a:p>
                      <a:r>
                        <a:rPr sz="1000" b="0">
                          <a:solidFill>
                            <a:srgbClr val="1F2621"/>
                          </a:solidFill>
                          <a:latin typeface="Aptos"/>
                        </a:rPr>
                        <a:t>5.4%</a:t>
                      </a:r>
                    </a:p>
                  </a:txBody>
                  <a:tcPr>
                    <a:solidFill>
                      <a:srgbClr val="F7F3EC"/>
                    </a:solidFill>
                  </a:tcPr>
                </a:tc>
                <a:tc>
                  <a:txBody>
                    <a:bodyPr/>
                    <a:lstStyle/>
                    <a:p>
                      <a:r>
                        <a:rPr sz="1000" b="0">
                          <a:solidFill>
                            <a:srgbClr val="1F2621"/>
                          </a:solidFill>
                          <a:latin typeface="Aptos"/>
                        </a:rPr>
                        <a:t>827</a:t>
                      </a:r>
                    </a:p>
                  </a:txBody>
                  <a:tcPr>
                    <a:solidFill>
                      <a:srgbClr val="F7F3EC"/>
                    </a:solidFill>
                  </a:tcPr>
                </a:tc>
                <a:tc>
                  <a:txBody>
                    <a:bodyPr/>
                    <a:lstStyle/>
                    <a:p>
                      <a:r>
                        <a:rPr sz="1000" b="0">
                          <a:solidFill>
                            <a:srgbClr val="1F2621"/>
                          </a:solidFill>
                          <a:latin typeface="Aptos"/>
                        </a:rPr>
                        <a:t>$14,838</a:t>
                      </a:r>
                    </a:p>
                  </a:txBody>
                  <a:tcPr>
                    <a:solidFill>
                      <a:srgbClr val="F7F3EC"/>
                    </a:solidFill>
                  </a:tcPr>
                </a:tc>
                <a:tc>
                  <a:txBody>
                    <a:bodyPr/>
                    <a:lstStyle/>
                    <a:p>
                      <a:r>
                        <a:rPr sz="1000" b="0">
                          <a:solidFill>
                            <a:srgbClr val="1F2621"/>
                          </a:solidFill>
                          <a:latin typeface="Aptos"/>
                        </a:rPr>
                        <a:t>Selected</a:t>
                      </a:r>
                    </a:p>
                  </a:txBody>
                  <a:tcPr>
                    <a:solidFill>
                      <a:srgbClr val="F7F3EC"/>
                    </a:solidFill>
                  </a:tcPr>
                </a:tc>
              </a:tr>
              <a:tr h="386080">
                <a:tc>
                  <a:txBody>
                    <a:bodyPr/>
                    <a:lstStyle/>
                    <a:p>
                      <a:r>
                        <a:rPr sz="1000" b="0">
                          <a:solidFill>
                            <a:srgbClr val="1F2621"/>
                          </a:solidFill>
                          <a:latin typeface="Aptos"/>
                        </a:rPr>
                        <a:t>Portland</a:t>
                      </a:r>
                    </a:p>
                  </a:txBody>
                  <a:tcPr>
                    <a:solidFill>
                      <a:srgbClr val="FCFAF5"/>
                    </a:solidFill>
                  </a:tcPr>
                </a:tc>
                <a:tc>
                  <a:txBody>
                    <a:bodyPr/>
                    <a:lstStyle/>
                    <a:p>
                      <a:r>
                        <a:rPr sz="1000" b="0">
                          <a:solidFill>
                            <a:srgbClr val="1F2621"/>
                          </a:solidFill>
                          <a:latin typeface="Aptos"/>
                        </a:rPr>
                        <a:t>$2.54</a:t>
                      </a:r>
                    </a:p>
                  </a:txBody>
                  <a:tcPr>
                    <a:solidFill>
                      <a:srgbClr val="FCFAF5"/>
                    </a:solidFill>
                  </a:tcPr>
                </a:tc>
                <a:tc>
                  <a:txBody>
                    <a:bodyPr/>
                    <a:lstStyle/>
                    <a:p>
                      <a:r>
                        <a:rPr sz="1000" b="0">
                          <a:solidFill>
                            <a:srgbClr val="1F2621"/>
                          </a:solidFill>
                          <a:latin typeface="Aptos"/>
                        </a:rPr>
                        <a:t>5.9%</a:t>
                      </a:r>
                    </a:p>
                  </a:txBody>
                  <a:tcPr>
                    <a:solidFill>
                      <a:srgbClr val="FCFAF5"/>
                    </a:solidFill>
                  </a:tcPr>
                </a:tc>
                <a:tc>
                  <a:txBody>
                    <a:bodyPr/>
                    <a:lstStyle/>
                    <a:p>
                      <a:r>
                        <a:rPr sz="1000" b="0">
                          <a:solidFill>
                            <a:srgbClr val="1F2621"/>
                          </a:solidFill>
                          <a:latin typeface="Aptos"/>
                        </a:rPr>
                        <a:t>855</a:t>
                      </a:r>
                    </a:p>
                  </a:txBody>
                  <a:tcPr>
                    <a:solidFill>
                      <a:srgbClr val="FCFAF5"/>
                    </a:solidFill>
                  </a:tcPr>
                </a:tc>
                <a:tc>
                  <a:txBody>
                    <a:bodyPr/>
                    <a:lstStyle/>
                    <a:p>
                      <a:r>
                        <a:rPr sz="1000" b="0">
                          <a:solidFill>
                            <a:srgbClr val="1F2621"/>
                          </a:solidFill>
                          <a:latin typeface="Aptos"/>
                        </a:rPr>
                        <a:t>$14,408</a:t>
                      </a:r>
                    </a:p>
                  </a:txBody>
                  <a:tcPr>
                    <a:solidFill>
                      <a:srgbClr val="FCFAF5"/>
                    </a:solidFill>
                  </a:tcPr>
                </a:tc>
                <a:tc>
                  <a:txBody>
                    <a:bodyPr/>
                    <a:lstStyle/>
                    <a:p>
                      <a:r>
                        <a:rPr sz="1000" b="0">
                          <a:solidFill>
                            <a:srgbClr val="1F2621"/>
                          </a:solidFill>
                          <a:latin typeface="Aptos"/>
                        </a:rPr>
                        <a:t>Selected</a:t>
                      </a:r>
                    </a:p>
                  </a:txBody>
                  <a:tcPr>
                    <a:solidFill>
                      <a:srgbClr val="FCFAF5"/>
                    </a:solidFill>
                  </a:tcPr>
                </a:tc>
              </a:tr>
              <a:tr h="386080">
                <a:tc>
                  <a:txBody>
                    <a:bodyPr/>
                    <a:lstStyle/>
                    <a:p>
                      <a:r>
                        <a:rPr sz="1000" b="0">
                          <a:solidFill>
                            <a:srgbClr val="1F2621"/>
                          </a:solidFill>
                          <a:latin typeface="Aptos"/>
                        </a:rPr>
                        <a:t>Spokane</a:t>
                      </a:r>
                    </a:p>
                  </a:txBody>
                  <a:tcPr>
                    <a:solidFill>
                      <a:srgbClr val="F7F3EC"/>
                    </a:solidFill>
                  </a:tcPr>
                </a:tc>
                <a:tc>
                  <a:txBody>
                    <a:bodyPr/>
                    <a:lstStyle/>
                    <a:p>
                      <a:r>
                        <a:rPr sz="1000" b="0">
                          <a:solidFill>
                            <a:srgbClr val="1F2621"/>
                          </a:solidFill>
                          <a:latin typeface="Aptos"/>
                        </a:rPr>
                        <a:t>$2.38</a:t>
                      </a:r>
                    </a:p>
                  </a:txBody>
                  <a:tcPr>
                    <a:solidFill>
                      <a:srgbClr val="F7F3EC"/>
                    </a:solidFill>
                  </a:tcPr>
                </a:tc>
                <a:tc>
                  <a:txBody>
                    <a:bodyPr/>
                    <a:lstStyle/>
                    <a:p>
                      <a:r>
                        <a:rPr sz="1000" b="0">
                          <a:solidFill>
                            <a:srgbClr val="1F2621"/>
                          </a:solidFill>
                          <a:latin typeface="Aptos"/>
                        </a:rPr>
                        <a:t>6.1%</a:t>
                      </a:r>
                    </a:p>
                  </a:txBody>
                  <a:tcPr>
                    <a:solidFill>
                      <a:srgbClr val="F7F3EC"/>
                    </a:solidFill>
                  </a:tcPr>
                </a:tc>
                <a:tc>
                  <a:txBody>
                    <a:bodyPr/>
                    <a:lstStyle/>
                    <a:p>
                      <a:r>
                        <a:rPr sz="1000" b="0">
                          <a:solidFill>
                            <a:srgbClr val="1F2621"/>
                          </a:solidFill>
                          <a:latin typeface="Aptos"/>
                        </a:rPr>
                        <a:t>1,097</a:t>
                      </a:r>
                    </a:p>
                  </a:txBody>
                  <a:tcPr>
                    <a:solidFill>
                      <a:srgbClr val="F7F3EC"/>
                    </a:solidFill>
                  </a:tcPr>
                </a:tc>
                <a:tc>
                  <a:txBody>
                    <a:bodyPr/>
                    <a:lstStyle/>
                    <a:p>
                      <a:r>
                        <a:rPr sz="1000" b="0">
                          <a:solidFill>
                            <a:srgbClr val="1F2621"/>
                          </a:solidFill>
                          <a:latin typeface="Aptos"/>
                        </a:rPr>
                        <a:t>$12,992</a:t>
                      </a:r>
                    </a:p>
                  </a:txBody>
                  <a:tcPr>
                    <a:solidFill>
                      <a:srgbClr val="F7F3EC"/>
                    </a:solidFill>
                  </a:tcPr>
                </a:tc>
                <a:tc>
                  <a:txBody>
                    <a:bodyPr/>
                    <a:lstStyle/>
                    <a:p>
                      <a:r>
                        <a:rPr sz="1000" b="0">
                          <a:solidFill>
                            <a:srgbClr val="1F2621"/>
                          </a:solidFill>
                          <a:latin typeface="Aptos"/>
                        </a:rPr>
                        <a:t>Selected</a:t>
                      </a:r>
                    </a:p>
                  </a:txBody>
                  <a:tcPr>
                    <a:solidFill>
                      <a:srgbClr val="F7F3EC"/>
                    </a:solidFill>
                  </a:tcPr>
                </a:tc>
              </a:tr>
              <a:tr h="386080">
                <a:tc>
                  <a:txBody>
                    <a:bodyPr/>
                    <a:lstStyle/>
                    <a:p>
                      <a:r>
                        <a:rPr sz="1000" b="0">
                          <a:solidFill>
                            <a:srgbClr val="1F2621"/>
                          </a:solidFill>
                          <a:latin typeface="Aptos"/>
                        </a:rPr>
                        <a:t>San Diego</a:t>
                      </a:r>
                    </a:p>
                  </a:txBody>
                  <a:tcPr>
                    <a:solidFill>
                      <a:srgbClr val="FCFAF5"/>
                    </a:solidFill>
                  </a:tcPr>
                </a:tc>
                <a:tc>
                  <a:txBody>
                    <a:bodyPr/>
                    <a:lstStyle/>
                    <a:p>
                      <a:r>
                        <a:rPr sz="1000" b="0">
                          <a:solidFill>
                            <a:srgbClr val="1F2621"/>
                          </a:solidFill>
                          <a:latin typeface="Aptos"/>
                        </a:rPr>
                        <a:t>$2.09</a:t>
                      </a:r>
                    </a:p>
                  </a:txBody>
                  <a:tcPr>
                    <a:solidFill>
                      <a:srgbClr val="FCFAF5"/>
                    </a:solidFill>
                  </a:tcPr>
                </a:tc>
                <a:tc>
                  <a:txBody>
                    <a:bodyPr/>
                    <a:lstStyle/>
                    <a:p>
                      <a:r>
                        <a:rPr sz="1000" b="0">
                          <a:solidFill>
                            <a:srgbClr val="1F2621"/>
                          </a:solidFill>
                          <a:latin typeface="Aptos"/>
                        </a:rPr>
                        <a:t>4.3%</a:t>
                      </a:r>
                    </a:p>
                  </a:txBody>
                  <a:tcPr>
                    <a:solidFill>
                      <a:srgbClr val="FCFAF5"/>
                    </a:solidFill>
                  </a:tcPr>
                </a:tc>
                <a:tc>
                  <a:txBody>
                    <a:bodyPr/>
                    <a:lstStyle/>
                    <a:p>
                      <a:r>
                        <a:rPr sz="1000" b="0">
                          <a:solidFill>
                            <a:srgbClr val="1F2621"/>
                          </a:solidFill>
                          <a:latin typeface="Aptos"/>
                        </a:rPr>
                        <a:t>253</a:t>
                      </a:r>
                    </a:p>
                  </a:txBody>
                  <a:tcPr>
                    <a:solidFill>
                      <a:srgbClr val="FCFAF5"/>
                    </a:solidFill>
                  </a:tcPr>
                </a:tc>
                <a:tc>
                  <a:txBody>
                    <a:bodyPr/>
                    <a:lstStyle/>
                    <a:p>
                      <a:r>
                        <a:rPr sz="1000" b="0">
                          <a:solidFill>
                            <a:srgbClr val="1F2621"/>
                          </a:solidFill>
                          <a:latin typeface="Aptos"/>
                        </a:rPr>
                        <a:t>$11,126</a:t>
                      </a:r>
                    </a:p>
                  </a:txBody>
                  <a:tcPr>
                    <a:solidFill>
                      <a:srgbClr val="FCFAF5"/>
                    </a:solidFill>
                  </a:tcPr>
                </a:tc>
                <a:tc>
                  <a:txBody>
                    <a:bodyPr/>
                    <a:lstStyle/>
                    <a:p>
                      <a:r>
                        <a:rPr sz="1000" b="0">
                          <a:solidFill>
                            <a:srgbClr val="1F2621"/>
                          </a:solidFill>
                          <a:latin typeface="Aptos"/>
                        </a:rPr>
                        <a:t>Selected</a:t>
                      </a:r>
                    </a:p>
                  </a:txBody>
                  <a:tcPr>
                    <a:solidFill>
                      <a:srgbClr val="FCFAF5"/>
                    </a:solidFill>
                  </a:tcPr>
                </a:tc>
              </a:tr>
              <a:tr h="386080">
                <a:tc>
                  <a:txBody>
                    <a:bodyPr/>
                    <a:lstStyle/>
                    <a:p>
                      <a:r>
                        <a:rPr sz="1000" b="0">
                          <a:solidFill>
                            <a:srgbClr val="1F2621"/>
                          </a:solidFill>
                          <a:latin typeface="Aptos"/>
                        </a:rPr>
                        <a:t>San Francisco</a:t>
                      </a:r>
                    </a:p>
                  </a:txBody>
                  <a:tcPr>
                    <a:solidFill>
                      <a:srgbClr val="F7F3EC"/>
                    </a:solidFill>
                  </a:tcPr>
                </a:tc>
                <a:tc>
                  <a:txBody>
                    <a:bodyPr/>
                    <a:lstStyle/>
                    <a:p>
                      <a:r>
                        <a:rPr sz="1000" b="0">
                          <a:solidFill>
                            <a:srgbClr val="1F2621"/>
                          </a:solidFill>
                          <a:latin typeface="Aptos"/>
                        </a:rPr>
                        <a:t>$1.97</a:t>
                      </a:r>
                    </a:p>
                  </a:txBody>
                  <a:tcPr>
                    <a:solidFill>
                      <a:srgbClr val="F7F3EC"/>
                    </a:solidFill>
                  </a:tcPr>
                </a:tc>
                <a:tc>
                  <a:txBody>
                    <a:bodyPr/>
                    <a:lstStyle/>
                    <a:p>
                      <a:r>
                        <a:rPr sz="1000" b="0">
                          <a:solidFill>
                            <a:srgbClr val="1F2621"/>
                          </a:solidFill>
                          <a:latin typeface="Aptos"/>
                        </a:rPr>
                        <a:t>7.0%</a:t>
                      </a:r>
                    </a:p>
                  </a:txBody>
                  <a:tcPr>
                    <a:solidFill>
                      <a:srgbClr val="F7F3EC"/>
                    </a:solidFill>
                  </a:tcPr>
                </a:tc>
                <a:tc>
                  <a:txBody>
                    <a:bodyPr/>
                    <a:lstStyle/>
                    <a:p>
                      <a:r>
                        <a:rPr sz="1000" b="0">
                          <a:solidFill>
                            <a:srgbClr val="1F2621"/>
                          </a:solidFill>
                          <a:latin typeface="Aptos"/>
                        </a:rPr>
                        <a:t>283</a:t>
                      </a:r>
                    </a:p>
                  </a:txBody>
                  <a:tcPr>
                    <a:solidFill>
                      <a:srgbClr val="F7F3EC"/>
                    </a:solidFill>
                  </a:tcPr>
                </a:tc>
                <a:tc>
                  <a:txBody>
                    <a:bodyPr/>
                    <a:lstStyle/>
                    <a:p>
                      <a:r>
                        <a:rPr sz="1000" b="0">
                          <a:solidFill>
                            <a:srgbClr val="1F2621"/>
                          </a:solidFill>
                          <a:latin typeface="Aptos"/>
                        </a:rPr>
                        <a:t>$10,118</a:t>
                      </a:r>
                    </a:p>
                  </a:txBody>
                  <a:tcPr>
                    <a:solidFill>
                      <a:srgbClr val="F7F3EC"/>
                    </a:solidFill>
                  </a:tcPr>
                </a:tc>
                <a:tc>
                  <a:txBody>
                    <a:bodyPr/>
                    <a:lstStyle/>
                    <a:p>
                      <a:r>
                        <a:rPr sz="1000" b="0">
                          <a:solidFill>
                            <a:srgbClr val="1F2621"/>
                          </a:solidFill>
                          <a:latin typeface="Aptos"/>
                        </a:rPr>
                        <a:t>Not selected</a:t>
                      </a:r>
                    </a:p>
                  </a:txBody>
                  <a:tcPr>
                    <a:solidFill>
                      <a:srgbClr val="F7F3EC"/>
                    </a:solidFill>
                  </a:tcPr>
                </a:tc>
              </a:tr>
              <a:tr h="386080">
                <a:tc>
                  <a:txBody>
                    <a:bodyPr/>
                    <a:lstStyle/>
                    <a:p>
                      <a:r>
                        <a:rPr sz="1000" b="0">
                          <a:solidFill>
                            <a:srgbClr val="1F2621"/>
                          </a:solidFill>
                          <a:latin typeface="Aptos"/>
                        </a:rPr>
                        <a:t>Sacramento</a:t>
                      </a:r>
                    </a:p>
                  </a:txBody>
                  <a:tcPr>
                    <a:solidFill>
                      <a:srgbClr val="FCFAF5"/>
                    </a:solidFill>
                  </a:tcPr>
                </a:tc>
                <a:tc>
                  <a:txBody>
                    <a:bodyPr/>
                    <a:lstStyle/>
                    <a:p>
                      <a:r>
                        <a:rPr sz="1000" b="0">
                          <a:solidFill>
                            <a:srgbClr val="1F2621"/>
                          </a:solidFill>
                          <a:latin typeface="Aptos"/>
                        </a:rPr>
                        <a:t>$1.90</a:t>
                      </a:r>
                    </a:p>
                  </a:txBody>
                  <a:tcPr>
                    <a:solidFill>
                      <a:srgbClr val="FCFAF5"/>
                    </a:solidFill>
                  </a:tcPr>
                </a:tc>
                <a:tc>
                  <a:txBody>
                    <a:bodyPr/>
                    <a:lstStyle/>
                    <a:p>
                      <a:r>
                        <a:rPr sz="1000" b="0">
                          <a:solidFill>
                            <a:srgbClr val="1F2621"/>
                          </a:solidFill>
                          <a:latin typeface="Aptos"/>
                        </a:rPr>
                        <a:t>3.7%</a:t>
                      </a:r>
                    </a:p>
                  </a:txBody>
                  <a:tcPr>
                    <a:solidFill>
                      <a:srgbClr val="FCFAF5"/>
                    </a:solidFill>
                  </a:tcPr>
                </a:tc>
                <a:tc>
                  <a:txBody>
                    <a:bodyPr/>
                    <a:lstStyle/>
                    <a:p>
                      <a:r>
                        <a:rPr sz="1000" b="0">
                          <a:solidFill>
                            <a:srgbClr val="1F2621"/>
                          </a:solidFill>
                          <a:latin typeface="Aptos"/>
                        </a:rPr>
                        <a:t>277</a:t>
                      </a:r>
                    </a:p>
                  </a:txBody>
                  <a:tcPr>
                    <a:solidFill>
                      <a:srgbClr val="FCFAF5"/>
                    </a:solidFill>
                  </a:tcPr>
                </a:tc>
                <a:tc>
                  <a:txBody>
                    <a:bodyPr/>
                    <a:lstStyle/>
                    <a:p>
                      <a:r>
                        <a:rPr sz="1000" b="0">
                          <a:solidFill>
                            <a:srgbClr val="1F2621"/>
                          </a:solidFill>
                          <a:latin typeface="Aptos"/>
                        </a:rPr>
                        <a:t>$9,578</a:t>
                      </a:r>
                    </a:p>
                  </a:txBody>
                  <a:tcPr>
                    <a:solidFill>
                      <a:srgbClr val="FCFAF5"/>
                    </a:solidFill>
                  </a:tcPr>
                </a:tc>
                <a:tc>
                  <a:txBody>
                    <a:bodyPr/>
                    <a:lstStyle/>
                    <a:p>
                      <a:r>
                        <a:rPr sz="1000" b="0">
                          <a:solidFill>
                            <a:srgbClr val="1F2621"/>
                          </a:solidFill>
                          <a:latin typeface="Aptos"/>
                        </a:rPr>
                        <a:t>Not selected</a:t>
                      </a:r>
                    </a:p>
                  </a:txBody>
                  <a:tcPr>
                    <a:solidFill>
                      <a:srgbClr val="FCFAF5"/>
                    </a:solidFill>
                  </a:tcPr>
                </a:tc>
              </a:tr>
              <a:tr h="386080">
                <a:tc>
                  <a:txBody>
                    <a:bodyPr/>
                    <a:lstStyle/>
                    <a:p>
                      <a:r>
                        <a:rPr sz="1000" b="0">
                          <a:solidFill>
                            <a:srgbClr val="1F2621"/>
                          </a:solidFill>
                          <a:latin typeface="Aptos"/>
                        </a:rPr>
                        <a:t>Los Angeles</a:t>
                      </a:r>
                    </a:p>
                  </a:txBody>
                  <a:tcPr>
                    <a:solidFill>
                      <a:srgbClr val="F7F3EC"/>
                    </a:solidFill>
                  </a:tcPr>
                </a:tc>
                <a:tc>
                  <a:txBody>
                    <a:bodyPr/>
                    <a:lstStyle/>
                    <a:p>
                      <a:r>
                        <a:rPr sz="1000" b="0">
                          <a:solidFill>
                            <a:srgbClr val="1F2621"/>
                          </a:solidFill>
                          <a:latin typeface="Aptos"/>
                        </a:rPr>
                        <a:t>$1.87</a:t>
                      </a:r>
                    </a:p>
                  </a:txBody>
                  <a:tcPr>
                    <a:solidFill>
                      <a:srgbClr val="F7F3EC"/>
                    </a:solidFill>
                  </a:tcPr>
                </a:tc>
                <a:tc>
                  <a:txBody>
                    <a:bodyPr/>
                    <a:lstStyle/>
                    <a:p>
                      <a:r>
                        <a:rPr sz="1000" b="0">
                          <a:solidFill>
                            <a:srgbClr val="1F2621"/>
                          </a:solidFill>
                          <a:latin typeface="Aptos"/>
                        </a:rPr>
                        <a:t>4.9%</a:t>
                      </a:r>
                    </a:p>
                  </a:txBody>
                  <a:tcPr>
                    <a:solidFill>
                      <a:srgbClr val="F7F3EC"/>
                    </a:solidFill>
                  </a:tcPr>
                </a:tc>
                <a:tc>
                  <a:txBody>
                    <a:bodyPr/>
                    <a:lstStyle/>
                    <a:p>
                      <a:r>
                        <a:rPr sz="1000" b="0">
                          <a:solidFill>
                            <a:srgbClr val="1F2621"/>
                          </a:solidFill>
                          <a:latin typeface="Aptos"/>
                        </a:rPr>
                        <a:t>111</a:t>
                      </a:r>
                    </a:p>
                  </a:txBody>
                  <a:tcPr>
                    <a:solidFill>
                      <a:srgbClr val="F7F3EC"/>
                    </a:solidFill>
                  </a:tcPr>
                </a:tc>
                <a:tc>
                  <a:txBody>
                    <a:bodyPr/>
                    <a:lstStyle/>
                    <a:p>
                      <a:r>
                        <a:rPr sz="1000" b="0">
                          <a:solidFill>
                            <a:srgbClr val="1F2621"/>
                          </a:solidFill>
                          <a:latin typeface="Aptos"/>
                        </a:rPr>
                        <a:t>$9,404</a:t>
                      </a:r>
                    </a:p>
                  </a:txBody>
                  <a:tcPr>
                    <a:solidFill>
                      <a:srgbClr val="F7F3EC"/>
                    </a:solidFill>
                  </a:tcPr>
                </a:tc>
                <a:tc>
                  <a:txBody>
                    <a:bodyPr/>
                    <a:lstStyle/>
                    <a:p>
                      <a:r>
                        <a:rPr sz="1000" b="0">
                          <a:solidFill>
                            <a:srgbClr val="1F2621"/>
                          </a:solidFill>
                          <a:latin typeface="Aptos"/>
                        </a:rPr>
                        <a:t>Not selected</a:t>
                      </a:r>
                    </a:p>
                  </a:txBody>
                  <a:tcPr>
                    <a:solidFill>
                      <a:srgbClr val="F7F3EC"/>
                    </a:solidFill>
                  </a:tcPr>
                </a:tc>
              </a:tr>
            </a:tbl>
          </a:graphicData>
        </a:graphic>
      </p:graphicFrame>
      <p:sp>
        <p:nvSpPr>
          <p:cNvPr id="12" name="Rounded Rectangle 11"/>
          <p:cNvSpPr/>
          <p:nvPr/>
        </p:nvSpPr>
        <p:spPr>
          <a:xfrm>
            <a:off x="8759952" y="1700784"/>
            <a:ext cx="2761488" cy="426110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5984" y="1993392"/>
            <a:ext cx="2240280" cy="17373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Price power filters out large but lower-value markets.</a:t>
            </a:r>
          </a:p>
          <a:p>
            <a:pPr algn="l">
              <a:lnSpc>
                <a:spcPct val="115000"/>
              </a:lnSpc>
            </a:pPr>
            <a:r>
              <a:rPr sz="1300">
                <a:solidFill>
                  <a:srgbClr val="1F2621"/>
                </a:solidFill>
                <a:latin typeface="Aptos"/>
              </a:rPr>
              <a:t>- Organic readiness helps separate premium-fit cities from simple scale leaders.</a:t>
            </a:r>
          </a:p>
          <a:p>
            <a:pPr algn="l">
              <a:lnSpc>
                <a:spcPct val="115000"/>
              </a:lnSpc>
            </a:pPr>
            <a:r>
              <a:rPr sz="1300">
                <a:solidFill>
                  <a:srgbClr val="1F2621"/>
                </a:solidFill>
                <a:latin typeface="Aptos"/>
              </a:rPr>
              <a:t>- Miles still matter, but they do not overturn a strong local price advantage.</a:t>
            </a:r>
          </a:p>
        </p:txBody>
      </p:sp>
      <p:sp>
        <p:nvSpPr>
          <p:cNvPr id="14" name="Rounded Rectangle 13"/>
          <p:cNvSpPr/>
          <p:nvPr/>
        </p:nvSpPr>
        <p:spPr>
          <a:xfrm>
            <a:off x="9015984" y="4224528"/>
            <a:ext cx="215798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4334256"/>
            <a:ext cx="1901952" cy="164592"/>
          </a:xfrm>
          <a:prstGeom prst="rect">
            <a:avLst/>
          </a:prstGeom>
          <a:noFill/>
        </p:spPr>
        <p:txBody>
          <a:bodyPr wrap="square" lIns="27432" rIns="27432" tIns="27432" bIns="27432" anchor="t">
            <a:spAutoFit/>
          </a:bodyPr>
          <a:lstStyle/>
          <a:p>
            <a:pPr algn="ctr"/>
            <a:r>
              <a:rPr sz="1000" b="1">
                <a:solidFill>
                  <a:srgbClr val="5F6B63"/>
                </a:solidFill>
                <a:latin typeface="Aptos"/>
              </a:rPr>
              <a:t>BRIDGE TO RECOMMENDATION</a:t>
            </a:r>
          </a:p>
        </p:txBody>
      </p:sp>
      <p:sp>
        <p:nvSpPr>
          <p:cNvPr id="16" name="TextBox 15"/>
          <p:cNvSpPr txBox="1"/>
          <p:nvPr/>
        </p:nvSpPr>
        <p:spPr>
          <a:xfrm>
            <a:off x="9144000" y="4535424"/>
            <a:ext cx="1901952"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Best pilot set = top 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16</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profit model is simple, transparent, and easy to audit</a:t>
            </a:r>
          </a:p>
        </p:txBody>
      </p:sp>
      <p:sp>
        <p:nvSpPr>
          <p:cNvPr id="9" name="Rounded Rectangle 8"/>
          <p:cNvSpPr/>
          <p:nvPr/>
        </p:nvSpPr>
        <p:spPr>
          <a:xfrm>
            <a:off x="749808" y="1682496"/>
            <a:ext cx="640080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01952"/>
            <a:ext cx="2103120" cy="164592"/>
          </a:xfrm>
          <a:prstGeom prst="rect">
            <a:avLst/>
          </a:prstGeom>
          <a:noFill/>
        </p:spPr>
        <p:txBody>
          <a:bodyPr wrap="square" lIns="27432" rIns="27432" tIns="27432" bIns="27432" anchor="t">
            <a:spAutoFit/>
          </a:bodyPr>
          <a:lstStyle/>
          <a:p>
            <a:pPr algn="l"/>
            <a:r>
              <a:rPr sz="1000" b="1">
                <a:solidFill>
                  <a:srgbClr val="5F6B63"/>
                </a:solidFill>
                <a:latin typeface="Aptos"/>
              </a:rPr>
              <a:t>AVERAGE UNIT ECONOMICS</a:t>
            </a:r>
          </a:p>
        </p:txBody>
      </p:sp>
      <p:sp>
        <p:nvSpPr>
          <p:cNvPr id="11" name="Rounded Rectangle 10"/>
          <p:cNvSpPr/>
          <p:nvPr/>
        </p:nvSpPr>
        <p:spPr>
          <a:xfrm>
            <a:off x="1143000" y="2926080"/>
            <a:ext cx="4389120" cy="384048"/>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670048"/>
            <a:ext cx="1371600" cy="164592"/>
          </a:xfrm>
          <a:prstGeom prst="rect">
            <a:avLst/>
          </a:prstGeom>
          <a:noFill/>
        </p:spPr>
        <p:txBody>
          <a:bodyPr wrap="square" lIns="27432" rIns="27432" tIns="27432" bIns="27432" anchor="t">
            <a:spAutoFit/>
          </a:bodyPr>
          <a:lstStyle/>
          <a:p>
            <a:pPr algn="l"/>
            <a:r>
              <a:rPr sz="1000" b="1">
                <a:solidFill>
                  <a:srgbClr val="5F6B63"/>
                </a:solidFill>
                <a:latin typeface="Aptos"/>
              </a:rPr>
              <a:t>REVENUE</a:t>
            </a:r>
          </a:p>
        </p:txBody>
      </p:sp>
      <p:sp>
        <p:nvSpPr>
          <p:cNvPr id="13" name="TextBox 12"/>
          <p:cNvSpPr txBox="1"/>
          <p:nvPr/>
        </p:nvSpPr>
        <p:spPr>
          <a:xfrm>
            <a:off x="1051560" y="3364992"/>
            <a:ext cx="1280160" cy="164592"/>
          </a:xfrm>
          <a:prstGeom prst="rect">
            <a:avLst/>
          </a:prstGeom>
          <a:noFill/>
        </p:spPr>
        <p:txBody>
          <a:bodyPr wrap="square" lIns="27432" rIns="27432" tIns="27432" bIns="27432" anchor="t">
            <a:spAutoFit/>
          </a:bodyPr>
          <a:lstStyle/>
          <a:p>
            <a:pPr algn="l"/>
            <a:r>
              <a:rPr sz="1100" b="1">
                <a:solidFill>
                  <a:srgbClr val="355C47"/>
                </a:solidFill>
                <a:latin typeface="Aptos"/>
              </a:rPr>
              <a:t>$19.6k</a:t>
            </a:r>
          </a:p>
        </p:txBody>
      </p:sp>
      <p:cxnSp>
        <p:nvCxnSpPr>
          <p:cNvPr id="14" name="Connector 13"/>
          <p:cNvCxnSpPr/>
          <p:nvPr/>
        </p:nvCxnSpPr>
        <p:spPr>
          <a:xfrm>
            <a:off x="5532120" y="3118104"/>
            <a:ext cx="27432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912161" y="2926080"/>
            <a:ext cx="894279" cy="384048"/>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0" y="2670048"/>
            <a:ext cx="1371600" cy="164592"/>
          </a:xfrm>
          <a:prstGeom prst="rect">
            <a:avLst/>
          </a:prstGeom>
          <a:noFill/>
        </p:spPr>
        <p:txBody>
          <a:bodyPr wrap="square" lIns="27432" rIns="27432" tIns="27432" bIns="27432" anchor="t">
            <a:spAutoFit/>
          </a:bodyPr>
          <a:lstStyle/>
          <a:p>
            <a:pPr algn="l"/>
            <a:r>
              <a:rPr sz="1000" b="1">
                <a:solidFill>
                  <a:srgbClr val="5F6B63"/>
                </a:solidFill>
                <a:latin typeface="Aptos"/>
              </a:rPr>
              <a:t>ACQUISITION</a:t>
            </a:r>
          </a:p>
        </p:txBody>
      </p:sp>
      <p:sp>
        <p:nvSpPr>
          <p:cNvPr id="17" name="TextBox 16"/>
          <p:cNvSpPr txBox="1"/>
          <p:nvPr/>
        </p:nvSpPr>
        <p:spPr>
          <a:xfrm>
            <a:off x="5715000" y="3364992"/>
            <a:ext cx="1280160" cy="164592"/>
          </a:xfrm>
          <a:prstGeom prst="rect">
            <a:avLst/>
          </a:prstGeom>
          <a:noFill/>
        </p:spPr>
        <p:txBody>
          <a:bodyPr wrap="square" lIns="27432" rIns="27432" tIns="27432" bIns="27432" anchor="t">
            <a:spAutoFit/>
          </a:bodyPr>
          <a:lstStyle/>
          <a:p>
            <a:pPr algn="l"/>
            <a:r>
              <a:rPr sz="1100" b="1">
                <a:solidFill>
                  <a:srgbClr val="B5533A"/>
                </a:solidFill>
                <a:latin typeface="Aptos"/>
              </a:rPr>
              <a:t>$-4.0k</a:t>
            </a:r>
          </a:p>
        </p:txBody>
      </p:sp>
      <p:cxnSp>
        <p:nvCxnSpPr>
          <p:cNvPr id="18" name="Connector 17"/>
          <p:cNvCxnSpPr/>
          <p:nvPr/>
        </p:nvCxnSpPr>
        <p:spPr>
          <a:xfrm>
            <a:off x="4912161" y="3118104"/>
            <a:ext cx="27432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760335" y="2926080"/>
            <a:ext cx="426146" cy="384048"/>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9321" y="2670048"/>
            <a:ext cx="1371600" cy="164592"/>
          </a:xfrm>
          <a:prstGeom prst="rect">
            <a:avLst/>
          </a:prstGeom>
          <a:noFill/>
        </p:spPr>
        <p:txBody>
          <a:bodyPr wrap="square" lIns="27432" rIns="27432" tIns="27432" bIns="27432" anchor="t">
            <a:spAutoFit/>
          </a:bodyPr>
          <a:lstStyle/>
          <a:p>
            <a:pPr algn="l"/>
            <a:r>
              <a:rPr sz="1000" b="1">
                <a:solidFill>
                  <a:srgbClr val="5F6B63"/>
                </a:solidFill>
                <a:latin typeface="Aptos"/>
              </a:rPr>
              <a:t>SHIPPING</a:t>
            </a:r>
          </a:p>
        </p:txBody>
      </p:sp>
      <p:sp>
        <p:nvSpPr>
          <p:cNvPr id="21" name="TextBox 20"/>
          <p:cNvSpPr txBox="1"/>
          <p:nvPr/>
        </p:nvSpPr>
        <p:spPr>
          <a:xfrm>
            <a:off x="5095041" y="3364992"/>
            <a:ext cx="1280160" cy="164592"/>
          </a:xfrm>
          <a:prstGeom prst="rect">
            <a:avLst/>
          </a:prstGeom>
          <a:noFill/>
        </p:spPr>
        <p:txBody>
          <a:bodyPr wrap="square" lIns="27432" rIns="27432" tIns="27432" bIns="27432" anchor="t">
            <a:spAutoFit/>
          </a:bodyPr>
          <a:lstStyle/>
          <a:p>
            <a:pPr algn="l"/>
            <a:r>
              <a:rPr sz="1100" b="1">
                <a:solidFill>
                  <a:srgbClr val="3F728A"/>
                </a:solidFill>
                <a:latin typeface="Aptos"/>
              </a:rPr>
              <a:t>$-1.9k</a:t>
            </a:r>
          </a:p>
        </p:txBody>
      </p:sp>
      <p:cxnSp>
        <p:nvCxnSpPr>
          <p:cNvPr id="22" name="Connector 21"/>
          <p:cNvCxnSpPr/>
          <p:nvPr/>
        </p:nvCxnSpPr>
        <p:spPr>
          <a:xfrm>
            <a:off x="4760335" y="3118104"/>
            <a:ext cx="27432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34655" y="2926080"/>
            <a:ext cx="3068695" cy="384048"/>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7495" y="2670048"/>
            <a:ext cx="1371600" cy="164592"/>
          </a:xfrm>
          <a:prstGeom prst="rect">
            <a:avLst/>
          </a:prstGeom>
          <a:noFill/>
        </p:spPr>
        <p:txBody>
          <a:bodyPr wrap="square" lIns="27432" rIns="27432" tIns="27432" bIns="27432" anchor="t">
            <a:spAutoFit/>
          </a:bodyPr>
          <a:lstStyle/>
          <a:p>
            <a:pPr algn="l"/>
            <a:r>
              <a:rPr sz="1000" b="1">
                <a:solidFill>
                  <a:srgbClr val="5F6B63"/>
                </a:solidFill>
                <a:latin typeface="Aptos"/>
              </a:rPr>
              <a:t>PROFIT</a:t>
            </a:r>
          </a:p>
        </p:txBody>
      </p:sp>
      <p:sp>
        <p:nvSpPr>
          <p:cNvPr id="25" name="TextBox 24"/>
          <p:cNvSpPr txBox="1"/>
          <p:nvPr/>
        </p:nvSpPr>
        <p:spPr>
          <a:xfrm>
            <a:off x="4943215" y="3364992"/>
            <a:ext cx="1280160" cy="164592"/>
          </a:xfrm>
          <a:prstGeom prst="rect">
            <a:avLst/>
          </a:prstGeom>
          <a:noFill/>
        </p:spPr>
        <p:txBody>
          <a:bodyPr wrap="square" lIns="27432" rIns="27432" tIns="27432" bIns="27432" anchor="t">
            <a:spAutoFit/>
          </a:bodyPr>
          <a:lstStyle/>
          <a:p>
            <a:pPr algn="l"/>
            <a:r>
              <a:rPr sz="1100" b="1">
                <a:solidFill>
                  <a:srgbClr val="C58A2A"/>
                </a:solidFill>
                <a:latin typeface="Aptos"/>
              </a:rPr>
              <a:t>$13.7k</a:t>
            </a:r>
          </a:p>
        </p:txBody>
      </p:sp>
      <p:sp>
        <p:nvSpPr>
          <p:cNvPr id="26" name="TextBox 25"/>
          <p:cNvSpPr txBox="1"/>
          <p:nvPr/>
        </p:nvSpPr>
        <p:spPr>
          <a:xfrm>
            <a:off x="969264" y="4187952"/>
            <a:ext cx="5669280" cy="566928"/>
          </a:xfrm>
          <a:prstGeom prst="rect">
            <a:avLst/>
          </a:prstGeom>
          <a:noFill/>
        </p:spPr>
        <p:txBody>
          <a:bodyPr wrap="square" lIns="27432" rIns="27432" tIns="27432" bIns="27432" anchor="t">
            <a:spAutoFit/>
          </a:bodyPr>
          <a:lstStyle/>
          <a:p>
            <a:pPr algn="l"/>
            <a:r>
              <a:rPr sz="1400" b="0">
                <a:solidFill>
                  <a:srgbClr val="1F2621"/>
                </a:solidFill>
                <a:latin typeface="Aptos"/>
              </a:rPr>
              <a:t>Each city is scored using the same 20,000-unit assumption: planned wholesale revenue minus acquisition cost and the freight formula. The simplicity is a feature because judges can audit the math quickly.</a:t>
            </a:r>
          </a:p>
        </p:txBody>
      </p:sp>
      <p:sp>
        <p:nvSpPr>
          <p:cNvPr id="27" name="Rounded Rectangle 26"/>
          <p:cNvSpPr/>
          <p:nvPr/>
        </p:nvSpPr>
        <p:spPr>
          <a:xfrm>
            <a:off x="7424927" y="1682496"/>
            <a:ext cx="4078224"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662672" y="1956816"/>
            <a:ext cx="3566160" cy="2084831"/>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90688" y="2084832"/>
            <a:ext cx="932688" cy="164592"/>
          </a:xfrm>
          <a:prstGeom prst="rect">
            <a:avLst/>
          </a:prstGeom>
          <a:noFill/>
        </p:spPr>
        <p:txBody>
          <a:bodyPr wrap="square" lIns="27432" rIns="27432" tIns="27432" bIns="27432" anchor="t">
            <a:spAutoFit/>
          </a:bodyPr>
          <a:lstStyle/>
          <a:p>
            <a:pPr algn="l"/>
            <a:r>
              <a:rPr sz="1000" b="1">
                <a:solidFill>
                  <a:srgbClr val="5F6B63"/>
                </a:solidFill>
                <a:latin typeface="Aptos"/>
              </a:rPr>
              <a:t>UNITS</a:t>
            </a:r>
          </a:p>
        </p:txBody>
      </p:sp>
      <p:sp>
        <p:nvSpPr>
          <p:cNvPr id="30" name="TextBox 29"/>
          <p:cNvSpPr txBox="1"/>
          <p:nvPr/>
        </p:nvSpPr>
        <p:spPr>
          <a:xfrm>
            <a:off x="7790688" y="2267712"/>
            <a:ext cx="932688" cy="310896"/>
          </a:xfrm>
          <a:prstGeom prst="rect">
            <a:avLst/>
          </a:prstGeom>
          <a:noFill/>
        </p:spPr>
        <p:txBody>
          <a:bodyPr wrap="square" lIns="27432" rIns="27432" tIns="27432" bIns="27432" anchor="t">
            <a:spAutoFit/>
          </a:bodyPr>
          <a:lstStyle/>
          <a:p>
            <a:pPr algn="l"/>
            <a:r>
              <a:rPr sz="2100" b="1">
                <a:solidFill>
                  <a:srgbClr val="355C47"/>
                </a:solidFill>
                <a:latin typeface="Aptos Display"/>
              </a:rPr>
              <a:t>20,000</a:t>
            </a:r>
          </a:p>
        </p:txBody>
      </p:sp>
      <p:sp>
        <p:nvSpPr>
          <p:cNvPr id="31" name="TextBox 30"/>
          <p:cNvSpPr txBox="1"/>
          <p:nvPr/>
        </p:nvSpPr>
        <p:spPr>
          <a:xfrm>
            <a:off x="7790688" y="2615184"/>
            <a:ext cx="932688" cy="1280159"/>
          </a:xfrm>
          <a:prstGeom prst="rect">
            <a:avLst/>
          </a:prstGeom>
          <a:noFill/>
        </p:spPr>
        <p:txBody>
          <a:bodyPr wrap="square" lIns="27432" rIns="27432" tIns="27432" bIns="27432" anchor="t">
            <a:spAutoFit/>
          </a:bodyPr>
          <a:lstStyle/>
          <a:p>
            <a:pPr algn="l"/>
            <a:r>
              <a:rPr sz="1200" b="0">
                <a:solidFill>
                  <a:srgbClr val="1F2621"/>
                </a:solidFill>
                <a:latin typeface="Aptos"/>
              </a:rPr>
              <a:t>Comparable scorecard for each city.</a:t>
            </a:r>
          </a:p>
        </p:txBody>
      </p:sp>
      <p:cxnSp>
        <p:nvCxnSpPr>
          <p:cNvPr id="32" name="Connector 31"/>
          <p:cNvCxnSpPr/>
          <p:nvPr/>
        </p:nvCxnSpPr>
        <p:spPr>
          <a:xfrm>
            <a:off x="8851392" y="2121408"/>
            <a:ext cx="0" cy="1755647"/>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979408" y="2084832"/>
            <a:ext cx="932688" cy="164592"/>
          </a:xfrm>
          <a:prstGeom prst="rect">
            <a:avLst/>
          </a:prstGeom>
          <a:noFill/>
        </p:spPr>
        <p:txBody>
          <a:bodyPr wrap="square" lIns="27432" rIns="27432" tIns="27432" bIns="27432" anchor="t">
            <a:spAutoFit/>
          </a:bodyPr>
          <a:lstStyle/>
          <a:p>
            <a:pPr algn="l"/>
            <a:r>
              <a:rPr sz="1000" b="1">
                <a:solidFill>
                  <a:srgbClr val="5F6B63"/>
                </a:solidFill>
                <a:latin typeface="Aptos"/>
              </a:rPr>
              <a:t>WHOLESALE PRICE</a:t>
            </a:r>
          </a:p>
        </p:txBody>
      </p:sp>
      <p:sp>
        <p:nvSpPr>
          <p:cNvPr id="34" name="TextBox 33"/>
          <p:cNvSpPr txBox="1"/>
          <p:nvPr/>
        </p:nvSpPr>
        <p:spPr>
          <a:xfrm>
            <a:off x="8979408" y="2267712"/>
            <a:ext cx="932688" cy="310896"/>
          </a:xfrm>
          <a:prstGeom prst="rect">
            <a:avLst/>
          </a:prstGeom>
          <a:noFill/>
        </p:spPr>
        <p:txBody>
          <a:bodyPr wrap="square" lIns="27432" rIns="27432" tIns="27432" bIns="27432" anchor="t">
            <a:spAutoFit/>
          </a:bodyPr>
          <a:lstStyle/>
          <a:p>
            <a:pPr algn="l"/>
            <a:r>
              <a:rPr sz="2100" b="1">
                <a:solidFill>
                  <a:srgbClr val="355C47"/>
                </a:solidFill>
                <a:latin typeface="Aptos Display"/>
              </a:rPr>
              <a:t>40% of retail</a:t>
            </a:r>
          </a:p>
        </p:txBody>
      </p:sp>
      <p:sp>
        <p:nvSpPr>
          <p:cNvPr id="35" name="TextBox 34"/>
          <p:cNvSpPr txBox="1"/>
          <p:nvPr/>
        </p:nvSpPr>
        <p:spPr>
          <a:xfrm>
            <a:off x="8979408" y="2615184"/>
            <a:ext cx="932688" cy="1280159"/>
          </a:xfrm>
          <a:prstGeom prst="rect">
            <a:avLst/>
          </a:prstGeom>
          <a:noFill/>
        </p:spPr>
        <p:txBody>
          <a:bodyPr wrap="square" lIns="27432" rIns="27432" tIns="27432" bIns="27432" anchor="t">
            <a:spAutoFit/>
          </a:bodyPr>
          <a:lstStyle/>
          <a:p>
            <a:pPr algn="l"/>
            <a:r>
              <a:rPr sz="1200" b="0">
                <a:solidFill>
                  <a:srgbClr val="1F2621"/>
                </a:solidFill>
                <a:latin typeface="Aptos"/>
              </a:rPr>
              <a:t>Revenue proxy used consistently across markets.</a:t>
            </a:r>
          </a:p>
        </p:txBody>
      </p:sp>
      <p:cxnSp>
        <p:nvCxnSpPr>
          <p:cNvPr id="36" name="Connector 35"/>
          <p:cNvCxnSpPr/>
          <p:nvPr/>
        </p:nvCxnSpPr>
        <p:spPr>
          <a:xfrm>
            <a:off x="10040112" y="2121408"/>
            <a:ext cx="0" cy="1755647"/>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0168128" y="2084832"/>
            <a:ext cx="932688" cy="164592"/>
          </a:xfrm>
          <a:prstGeom prst="rect">
            <a:avLst/>
          </a:prstGeom>
          <a:noFill/>
        </p:spPr>
        <p:txBody>
          <a:bodyPr wrap="square" lIns="27432" rIns="27432" tIns="27432" bIns="27432" anchor="t">
            <a:spAutoFit/>
          </a:bodyPr>
          <a:lstStyle/>
          <a:p>
            <a:pPr algn="l"/>
            <a:r>
              <a:rPr sz="1000" b="1">
                <a:solidFill>
                  <a:srgbClr val="5F6B63"/>
                </a:solidFill>
                <a:latin typeface="Aptos"/>
              </a:rPr>
              <a:t>FREIGHT</a:t>
            </a:r>
          </a:p>
        </p:txBody>
      </p:sp>
      <p:sp>
        <p:nvSpPr>
          <p:cNvPr id="38" name="TextBox 37"/>
          <p:cNvSpPr txBox="1"/>
          <p:nvPr/>
        </p:nvSpPr>
        <p:spPr>
          <a:xfrm>
            <a:off x="10168128" y="2267712"/>
            <a:ext cx="932688" cy="310896"/>
          </a:xfrm>
          <a:prstGeom prst="rect">
            <a:avLst/>
          </a:prstGeom>
          <a:noFill/>
        </p:spPr>
        <p:txBody>
          <a:bodyPr wrap="square" lIns="27432" rIns="27432" tIns="27432" bIns="27432" anchor="t">
            <a:spAutoFit/>
          </a:bodyPr>
          <a:lstStyle/>
          <a:p>
            <a:pPr algn="l"/>
            <a:r>
              <a:rPr sz="2100" b="1">
                <a:solidFill>
                  <a:srgbClr val="C58A2A"/>
                </a:solidFill>
                <a:latin typeface="Aptos Display"/>
              </a:rPr>
              <a:t>$1,500 + $50 / 100 miles</a:t>
            </a:r>
          </a:p>
        </p:txBody>
      </p:sp>
      <p:sp>
        <p:nvSpPr>
          <p:cNvPr id="39" name="TextBox 38"/>
          <p:cNvSpPr txBox="1"/>
          <p:nvPr/>
        </p:nvSpPr>
        <p:spPr>
          <a:xfrm>
            <a:off x="10168128" y="2615184"/>
            <a:ext cx="932688" cy="1280159"/>
          </a:xfrm>
          <a:prstGeom prst="rect">
            <a:avLst/>
          </a:prstGeom>
          <a:noFill/>
        </p:spPr>
        <p:txBody>
          <a:bodyPr wrap="square" lIns="27432" rIns="27432" tIns="27432" bIns="27432" anchor="t">
            <a:spAutoFit/>
          </a:bodyPr>
          <a:lstStyle/>
          <a:p>
            <a:pPr algn="l"/>
            <a:r>
              <a:rPr sz="1200" b="0">
                <a:solidFill>
                  <a:srgbClr val="1F2621"/>
                </a:solidFill>
                <a:latin typeface="Aptos"/>
              </a:rPr>
              <a:t>Makes distance visible without overcomplicating the model.</a:t>
            </a:r>
          </a:p>
        </p:txBody>
      </p:sp>
      <p:sp>
        <p:nvSpPr>
          <p:cNvPr id="40" name="TextBox 39"/>
          <p:cNvSpPr txBox="1"/>
          <p:nvPr/>
        </p:nvSpPr>
        <p:spPr>
          <a:xfrm>
            <a:off x="7680960" y="4480560"/>
            <a:ext cx="3474720" cy="475488"/>
          </a:xfrm>
          <a:prstGeom prst="rect">
            <a:avLst/>
          </a:prstGeom>
          <a:noFill/>
        </p:spPr>
        <p:txBody>
          <a:bodyPr wrap="square" lIns="27432" rIns="27432" tIns="27432" bIns="27432" anchor="t">
            <a:spAutoFit/>
          </a:bodyPr>
          <a:lstStyle/>
          <a:p>
            <a:pPr algn="l"/>
            <a:r>
              <a:rPr sz="1300" b="0">
                <a:solidFill>
                  <a:srgbClr val="1F2621"/>
                </a:solidFill>
                <a:latin typeface="Aptos"/>
              </a:rPr>
              <a:t>This is not a full allocation model yet. It is a transparent city-selection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June retail prices point to the Pacific Northwest as the premium opportunity</a:t>
            </a:r>
          </a:p>
        </p:txBody>
      </p:sp>
      <p:sp>
        <p:nvSpPr>
          <p:cNvPr id="9" name="Rounded Rectangle 8"/>
          <p:cNvSpPr/>
          <p:nvPr/>
        </p:nvSpPr>
        <p:spPr>
          <a:xfrm>
            <a:off x="749808" y="1682496"/>
            <a:ext cx="685800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847088"/>
            <a:ext cx="6217920" cy="146304"/>
          </a:xfrm>
          <a:prstGeom prst="rect">
            <a:avLst/>
          </a:prstGeom>
          <a:noFill/>
        </p:spPr>
        <p:txBody>
          <a:bodyPr wrap="square" lIns="27432" rIns="27432" tIns="27432" bIns="27432" anchor="t">
            <a:spAutoFit/>
          </a:bodyPr>
          <a:lstStyle/>
          <a:p>
            <a:pPr algn="l"/>
            <a:r>
              <a:rPr sz="1000" b="1">
                <a:solidFill>
                  <a:srgbClr val="5F6B63"/>
                </a:solidFill>
                <a:latin typeface="Aptos"/>
              </a:rPr>
              <a:t>TOP JUNE 2025 ORGANIC RETAIL PRICES</a:t>
            </a:r>
          </a:p>
        </p:txBody>
      </p:sp>
      <p:sp>
        <p:nvSpPr>
          <p:cNvPr id="11" name="TextBox 10"/>
          <p:cNvSpPr txBox="1"/>
          <p:nvPr/>
        </p:nvSpPr>
        <p:spPr>
          <a:xfrm>
            <a:off x="987552" y="2084832"/>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651760" y="2093976"/>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651760" y="2093976"/>
            <a:ext cx="3474720"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1072" y="2048256"/>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$2.66</a:t>
            </a:r>
          </a:p>
        </p:txBody>
      </p:sp>
      <p:sp>
        <p:nvSpPr>
          <p:cNvPr id="15" name="TextBox 14"/>
          <p:cNvSpPr txBox="1"/>
          <p:nvPr/>
        </p:nvSpPr>
        <p:spPr>
          <a:xfrm>
            <a:off x="987552" y="2432304"/>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6" name="Rounded Rectangle 15"/>
          <p:cNvSpPr/>
          <p:nvPr/>
        </p:nvSpPr>
        <p:spPr>
          <a:xfrm>
            <a:off x="2651760" y="2441448"/>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651760" y="2441448"/>
            <a:ext cx="3388505"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2395728"/>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$2.59</a:t>
            </a:r>
          </a:p>
        </p:txBody>
      </p:sp>
      <p:sp>
        <p:nvSpPr>
          <p:cNvPr id="19" name="TextBox 18"/>
          <p:cNvSpPr txBox="1"/>
          <p:nvPr/>
        </p:nvSpPr>
        <p:spPr>
          <a:xfrm>
            <a:off x="987552" y="2779776"/>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0" name="Rounded Rectangle 19"/>
          <p:cNvSpPr/>
          <p:nvPr/>
        </p:nvSpPr>
        <p:spPr>
          <a:xfrm>
            <a:off x="2651760" y="2788920"/>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651760" y="2788920"/>
            <a:ext cx="3320578"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91072" y="2743200"/>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$2.54</a:t>
            </a:r>
          </a:p>
        </p:txBody>
      </p:sp>
      <p:sp>
        <p:nvSpPr>
          <p:cNvPr id="23" name="TextBox 22"/>
          <p:cNvSpPr txBox="1"/>
          <p:nvPr/>
        </p:nvSpPr>
        <p:spPr>
          <a:xfrm>
            <a:off x="987552" y="3127248"/>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24" name="Rounded Rectangle 23"/>
          <p:cNvSpPr/>
          <p:nvPr/>
        </p:nvSpPr>
        <p:spPr>
          <a:xfrm>
            <a:off x="2651760" y="3136392"/>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651760" y="3136392"/>
            <a:ext cx="3108960"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1072" y="3090672"/>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$2.38</a:t>
            </a:r>
          </a:p>
        </p:txBody>
      </p:sp>
      <p:sp>
        <p:nvSpPr>
          <p:cNvPr id="27" name="TextBox 26"/>
          <p:cNvSpPr txBox="1"/>
          <p:nvPr/>
        </p:nvSpPr>
        <p:spPr>
          <a:xfrm>
            <a:off x="987552" y="3474720"/>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28" name="Rounded Rectangle 27"/>
          <p:cNvSpPr/>
          <p:nvPr/>
        </p:nvSpPr>
        <p:spPr>
          <a:xfrm>
            <a:off x="2651760" y="3483864"/>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651760" y="3483864"/>
            <a:ext cx="2735362"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91072" y="3438144"/>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$2.09</a:t>
            </a:r>
          </a:p>
        </p:txBody>
      </p:sp>
      <p:sp>
        <p:nvSpPr>
          <p:cNvPr id="31" name="TextBox 30"/>
          <p:cNvSpPr txBox="1"/>
          <p:nvPr/>
        </p:nvSpPr>
        <p:spPr>
          <a:xfrm>
            <a:off x="987552" y="3822192"/>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San Francisco</a:t>
            </a:r>
          </a:p>
        </p:txBody>
      </p:sp>
      <p:sp>
        <p:nvSpPr>
          <p:cNvPr id="32" name="Rounded Rectangle 31"/>
          <p:cNvSpPr/>
          <p:nvPr/>
        </p:nvSpPr>
        <p:spPr>
          <a:xfrm>
            <a:off x="2651760" y="3831336"/>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651760" y="3831336"/>
            <a:ext cx="2573383"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3785616"/>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$1.97</a:t>
            </a:r>
          </a:p>
        </p:txBody>
      </p:sp>
      <p:sp>
        <p:nvSpPr>
          <p:cNvPr id="35" name="TextBox 34"/>
          <p:cNvSpPr txBox="1"/>
          <p:nvPr/>
        </p:nvSpPr>
        <p:spPr>
          <a:xfrm>
            <a:off x="987552" y="4169664"/>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CincinnatiDayton</a:t>
            </a:r>
          </a:p>
        </p:txBody>
      </p:sp>
      <p:sp>
        <p:nvSpPr>
          <p:cNvPr id="36" name="Rounded Rectangle 35"/>
          <p:cNvSpPr/>
          <p:nvPr/>
        </p:nvSpPr>
        <p:spPr>
          <a:xfrm>
            <a:off x="2651760" y="4178808"/>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651760" y="4178808"/>
            <a:ext cx="2510681"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4133088"/>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$1.92</a:t>
            </a:r>
          </a:p>
        </p:txBody>
      </p:sp>
      <p:sp>
        <p:nvSpPr>
          <p:cNvPr id="39" name="TextBox 38"/>
          <p:cNvSpPr txBox="1"/>
          <p:nvPr/>
        </p:nvSpPr>
        <p:spPr>
          <a:xfrm>
            <a:off x="987552" y="4517136"/>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Sacramento</a:t>
            </a:r>
          </a:p>
        </p:txBody>
      </p:sp>
      <p:sp>
        <p:nvSpPr>
          <p:cNvPr id="40" name="Rounded Rectangle 39"/>
          <p:cNvSpPr/>
          <p:nvPr/>
        </p:nvSpPr>
        <p:spPr>
          <a:xfrm>
            <a:off x="2651760" y="4526280"/>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651760" y="4526280"/>
            <a:ext cx="2484555"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91072" y="4480560"/>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$1.90</a:t>
            </a:r>
          </a:p>
        </p:txBody>
      </p:sp>
      <p:sp>
        <p:nvSpPr>
          <p:cNvPr id="43" name="TextBox 42"/>
          <p:cNvSpPr txBox="1"/>
          <p:nvPr/>
        </p:nvSpPr>
        <p:spPr>
          <a:xfrm>
            <a:off x="987552" y="4864608"/>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Los Angeles</a:t>
            </a:r>
          </a:p>
        </p:txBody>
      </p:sp>
      <p:sp>
        <p:nvSpPr>
          <p:cNvPr id="44" name="Rounded Rectangle 43"/>
          <p:cNvSpPr/>
          <p:nvPr/>
        </p:nvSpPr>
        <p:spPr>
          <a:xfrm>
            <a:off x="2651760" y="4873752"/>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2651760" y="4873752"/>
            <a:ext cx="2442754"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91072" y="4828032"/>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$1.87</a:t>
            </a:r>
          </a:p>
        </p:txBody>
      </p:sp>
      <p:sp>
        <p:nvSpPr>
          <p:cNvPr id="47" name="TextBox 46"/>
          <p:cNvSpPr txBox="1"/>
          <p:nvPr/>
        </p:nvSpPr>
        <p:spPr>
          <a:xfrm>
            <a:off x="987552" y="5212080"/>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Atlanta</a:t>
            </a:r>
          </a:p>
        </p:txBody>
      </p:sp>
      <p:sp>
        <p:nvSpPr>
          <p:cNvPr id="48" name="Rounded Rectangle 47"/>
          <p:cNvSpPr/>
          <p:nvPr/>
        </p:nvSpPr>
        <p:spPr>
          <a:xfrm>
            <a:off x="2651760" y="5221224"/>
            <a:ext cx="34747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651760" y="5221224"/>
            <a:ext cx="2380053"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91072" y="5175504"/>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$1.82</a:t>
            </a:r>
          </a:p>
        </p:txBody>
      </p:sp>
      <p:sp>
        <p:nvSpPr>
          <p:cNvPr id="51" name="Rounded Rectangle 50"/>
          <p:cNvSpPr/>
          <p:nvPr/>
        </p:nvSpPr>
        <p:spPr>
          <a:xfrm>
            <a:off x="7827264" y="1682496"/>
            <a:ext cx="3675887"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8083296" y="1956816"/>
            <a:ext cx="1591056"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11312" y="2066544"/>
            <a:ext cx="1335024" cy="164592"/>
          </a:xfrm>
          <a:prstGeom prst="rect">
            <a:avLst/>
          </a:prstGeom>
          <a:noFill/>
        </p:spPr>
        <p:txBody>
          <a:bodyPr wrap="square" lIns="27432" rIns="27432" tIns="27432" bIns="27432" anchor="t">
            <a:spAutoFit/>
          </a:bodyPr>
          <a:lstStyle/>
          <a:p>
            <a:pPr algn="ctr"/>
            <a:r>
              <a:rPr sz="1000" b="1">
                <a:solidFill>
                  <a:srgbClr val="5F6B63"/>
                </a:solidFill>
                <a:latin typeface="Aptos"/>
              </a:rPr>
              <a:t>SELECTED CITIES IN TOP 5</a:t>
            </a:r>
          </a:p>
        </p:txBody>
      </p:sp>
      <p:sp>
        <p:nvSpPr>
          <p:cNvPr id="54" name="TextBox 53"/>
          <p:cNvSpPr txBox="1"/>
          <p:nvPr/>
        </p:nvSpPr>
        <p:spPr>
          <a:xfrm>
            <a:off x="8211312" y="2267712"/>
            <a:ext cx="1335024"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5/5</a:t>
            </a:r>
          </a:p>
        </p:txBody>
      </p:sp>
      <p:sp>
        <p:nvSpPr>
          <p:cNvPr id="55" name="Rounded Rectangle 54"/>
          <p:cNvSpPr/>
          <p:nvPr/>
        </p:nvSpPr>
        <p:spPr>
          <a:xfrm>
            <a:off x="9802368" y="1956816"/>
            <a:ext cx="142646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30384" y="2066544"/>
            <a:ext cx="1170432" cy="164592"/>
          </a:xfrm>
          <a:prstGeom prst="rect">
            <a:avLst/>
          </a:prstGeom>
          <a:noFill/>
        </p:spPr>
        <p:txBody>
          <a:bodyPr wrap="square" lIns="27432" rIns="27432" tIns="27432" bIns="27432" anchor="t">
            <a:spAutoFit/>
          </a:bodyPr>
          <a:lstStyle/>
          <a:p>
            <a:pPr algn="ctr"/>
            <a:r>
              <a:rPr sz="1000" b="1">
                <a:solidFill>
                  <a:srgbClr val="5F6B63"/>
                </a:solidFill>
                <a:latin typeface="Aptos"/>
              </a:rPr>
              <a:t>TOP PRICE</a:t>
            </a:r>
          </a:p>
        </p:txBody>
      </p:sp>
      <p:sp>
        <p:nvSpPr>
          <p:cNvPr id="57" name="TextBox 56"/>
          <p:cNvSpPr txBox="1"/>
          <p:nvPr/>
        </p:nvSpPr>
        <p:spPr>
          <a:xfrm>
            <a:off x="9930384" y="2267712"/>
            <a:ext cx="1170432"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$2.66</a:t>
            </a:r>
          </a:p>
        </p:txBody>
      </p:sp>
      <p:sp>
        <p:nvSpPr>
          <p:cNvPr id="58" name="TextBox 57"/>
          <p:cNvSpPr txBox="1"/>
          <p:nvPr/>
        </p:nvSpPr>
        <p:spPr>
          <a:xfrm>
            <a:off x="8083296" y="3145536"/>
            <a:ext cx="2926080" cy="15544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The selected five cities are also the five highest-price June organic markets.</a:t>
            </a:r>
          </a:p>
          <a:p>
            <a:pPr algn="l">
              <a:lnSpc>
                <a:spcPct val="115000"/>
              </a:lnSpc>
            </a:pPr>
            <a:r>
              <a:rPr sz="1300">
                <a:solidFill>
                  <a:srgbClr val="1F2621"/>
                </a:solidFill>
                <a:latin typeface="Aptos"/>
              </a:rPr>
              <a:t>- That is why price support keeps overpowering freight changes later in the analysis.</a:t>
            </a:r>
          </a:p>
          <a:p>
            <a:pPr algn="l">
              <a:lnSpc>
                <a:spcPct val="115000"/>
              </a:lnSpc>
            </a:pPr>
            <a:r>
              <a:rPr sz="1300">
                <a:solidFill>
                  <a:srgbClr val="1F2621"/>
                </a:solidFill>
                <a:latin typeface="Aptos"/>
              </a:rPr>
              <a:t>- Price is the strongest revenue-side reason the pilot set wins.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18</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Base-case profitability produces a clear top-five cut line</a:t>
            </a:r>
          </a:p>
        </p:txBody>
      </p:sp>
      <p:sp>
        <p:nvSpPr>
          <p:cNvPr id="9" name="Rounded Rectangle 8"/>
          <p:cNvSpPr/>
          <p:nvPr/>
        </p:nvSpPr>
        <p:spPr>
          <a:xfrm>
            <a:off x="713232" y="1572768"/>
            <a:ext cx="6583680" cy="44074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792224"/>
            <a:ext cx="5989320" cy="146304"/>
          </a:xfrm>
          <a:prstGeom prst="rect">
            <a:avLst/>
          </a:prstGeom>
          <a:noFill/>
        </p:spPr>
        <p:txBody>
          <a:bodyPr wrap="square" lIns="27432" rIns="27432" tIns="27432" bIns="27432" anchor="t">
            <a:spAutoFit/>
          </a:bodyPr>
          <a:lstStyle/>
          <a:p>
            <a:pPr algn="l"/>
            <a:r>
              <a:rPr sz="1000" b="1">
                <a:solidFill>
                  <a:srgbClr val="5F6B63"/>
                </a:solidFill>
                <a:latin typeface="Aptos"/>
              </a:rPr>
              <a:t>TOP 10 CITY PROFIT RANKING</a:t>
            </a:r>
          </a:p>
        </p:txBody>
      </p:sp>
      <p:sp>
        <p:nvSpPr>
          <p:cNvPr id="11" name="TextBox 10"/>
          <p:cNvSpPr txBox="1"/>
          <p:nvPr/>
        </p:nvSpPr>
        <p:spPr>
          <a:xfrm>
            <a:off x="932688" y="2029968"/>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596896" y="2039112"/>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596896" y="2039112"/>
            <a:ext cx="3246120"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07608" y="1993392"/>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$15,266</a:t>
            </a:r>
          </a:p>
        </p:txBody>
      </p:sp>
      <p:sp>
        <p:nvSpPr>
          <p:cNvPr id="15" name="TextBox 14"/>
          <p:cNvSpPr txBox="1"/>
          <p:nvPr/>
        </p:nvSpPr>
        <p:spPr>
          <a:xfrm>
            <a:off x="932688" y="2368296"/>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6" name="Rounded Rectangle 15"/>
          <p:cNvSpPr/>
          <p:nvPr/>
        </p:nvSpPr>
        <p:spPr>
          <a:xfrm>
            <a:off x="2596896" y="2377440"/>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596896" y="2377440"/>
            <a:ext cx="3155321"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07608" y="2331720"/>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$14,838</a:t>
            </a:r>
          </a:p>
        </p:txBody>
      </p:sp>
      <p:sp>
        <p:nvSpPr>
          <p:cNvPr id="19" name="TextBox 18"/>
          <p:cNvSpPr txBox="1"/>
          <p:nvPr/>
        </p:nvSpPr>
        <p:spPr>
          <a:xfrm>
            <a:off x="932688" y="2706624"/>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0" name="Rounded Rectangle 19"/>
          <p:cNvSpPr/>
          <p:nvPr/>
        </p:nvSpPr>
        <p:spPr>
          <a:xfrm>
            <a:off x="2596896" y="2715768"/>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596896" y="2715768"/>
            <a:ext cx="3063884"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07608" y="2670048"/>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$14,408</a:t>
            </a:r>
          </a:p>
        </p:txBody>
      </p:sp>
      <p:sp>
        <p:nvSpPr>
          <p:cNvPr id="23" name="TextBox 22"/>
          <p:cNvSpPr txBox="1"/>
          <p:nvPr/>
        </p:nvSpPr>
        <p:spPr>
          <a:xfrm>
            <a:off x="932688" y="3044952"/>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24" name="Rounded Rectangle 23"/>
          <p:cNvSpPr/>
          <p:nvPr/>
        </p:nvSpPr>
        <p:spPr>
          <a:xfrm>
            <a:off x="2596896" y="3054096"/>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596896" y="3054096"/>
            <a:ext cx="2762567"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07608" y="3008376"/>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$12,992</a:t>
            </a:r>
          </a:p>
        </p:txBody>
      </p:sp>
      <p:sp>
        <p:nvSpPr>
          <p:cNvPr id="27" name="TextBox 26"/>
          <p:cNvSpPr txBox="1"/>
          <p:nvPr/>
        </p:nvSpPr>
        <p:spPr>
          <a:xfrm>
            <a:off x="932688" y="3383280"/>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28" name="Rounded Rectangle 27"/>
          <p:cNvSpPr/>
          <p:nvPr/>
        </p:nvSpPr>
        <p:spPr>
          <a:xfrm>
            <a:off x="2596896" y="3392424"/>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596896" y="3392424"/>
            <a:ext cx="2365773"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07608" y="3346704"/>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$11,126</a:t>
            </a:r>
          </a:p>
        </p:txBody>
      </p:sp>
      <p:sp>
        <p:nvSpPr>
          <p:cNvPr id="31" name="TextBox 30"/>
          <p:cNvSpPr txBox="1"/>
          <p:nvPr/>
        </p:nvSpPr>
        <p:spPr>
          <a:xfrm>
            <a:off x="932688" y="3721608"/>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San Francisco</a:t>
            </a:r>
          </a:p>
        </p:txBody>
      </p:sp>
      <p:sp>
        <p:nvSpPr>
          <p:cNvPr id="32" name="Rounded Rectangle 31"/>
          <p:cNvSpPr/>
          <p:nvPr/>
        </p:nvSpPr>
        <p:spPr>
          <a:xfrm>
            <a:off x="2596896" y="3730752"/>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596896" y="3730752"/>
            <a:ext cx="2151640"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07608" y="3685032"/>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$10,118</a:t>
            </a:r>
          </a:p>
        </p:txBody>
      </p:sp>
      <p:sp>
        <p:nvSpPr>
          <p:cNvPr id="35" name="TextBox 34"/>
          <p:cNvSpPr txBox="1"/>
          <p:nvPr/>
        </p:nvSpPr>
        <p:spPr>
          <a:xfrm>
            <a:off x="932688" y="4059936"/>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Sacramento</a:t>
            </a:r>
          </a:p>
        </p:txBody>
      </p:sp>
      <p:sp>
        <p:nvSpPr>
          <p:cNvPr id="36" name="Rounded Rectangle 35"/>
          <p:cNvSpPr/>
          <p:nvPr/>
        </p:nvSpPr>
        <p:spPr>
          <a:xfrm>
            <a:off x="2596896" y="4069080"/>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596896" y="4069080"/>
            <a:ext cx="2036600"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07608" y="4023360"/>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$9,578</a:t>
            </a:r>
          </a:p>
        </p:txBody>
      </p:sp>
      <p:sp>
        <p:nvSpPr>
          <p:cNvPr id="39" name="TextBox 38"/>
          <p:cNvSpPr txBox="1"/>
          <p:nvPr/>
        </p:nvSpPr>
        <p:spPr>
          <a:xfrm>
            <a:off x="932688" y="4398264"/>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Los Angeles</a:t>
            </a:r>
          </a:p>
        </p:txBody>
      </p:sp>
      <p:sp>
        <p:nvSpPr>
          <p:cNvPr id="40" name="Rounded Rectangle 39"/>
          <p:cNvSpPr/>
          <p:nvPr/>
        </p:nvSpPr>
        <p:spPr>
          <a:xfrm>
            <a:off x="2596896" y="4407408"/>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596896" y="4407408"/>
            <a:ext cx="1999812"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07608" y="4361688"/>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$9,404</a:t>
            </a:r>
          </a:p>
        </p:txBody>
      </p:sp>
      <p:sp>
        <p:nvSpPr>
          <p:cNvPr id="43" name="TextBox 42"/>
          <p:cNvSpPr txBox="1"/>
          <p:nvPr/>
        </p:nvSpPr>
        <p:spPr>
          <a:xfrm>
            <a:off x="932688" y="4736592"/>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CincinnatiDayton</a:t>
            </a:r>
          </a:p>
        </p:txBody>
      </p:sp>
      <p:sp>
        <p:nvSpPr>
          <p:cNvPr id="44" name="Rounded Rectangle 43"/>
          <p:cNvSpPr/>
          <p:nvPr/>
        </p:nvSpPr>
        <p:spPr>
          <a:xfrm>
            <a:off x="2596896" y="4745736"/>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2596896" y="4745736"/>
            <a:ext cx="1867229"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007608" y="4700016"/>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$8,781</a:t>
            </a:r>
          </a:p>
        </p:txBody>
      </p:sp>
      <p:sp>
        <p:nvSpPr>
          <p:cNvPr id="47" name="TextBox 46"/>
          <p:cNvSpPr txBox="1"/>
          <p:nvPr/>
        </p:nvSpPr>
        <p:spPr>
          <a:xfrm>
            <a:off x="932688" y="5074920"/>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Las Vegas</a:t>
            </a:r>
          </a:p>
        </p:txBody>
      </p:sp>
      <p:sp>
        <p:nvSpPr>
          <p:cNvPr id="48" name="Rounded Rectangle 47"/>
          <p:cNvSpPr/>
          <p:nvPr/>
        </p:nvSpPr>
        <p:spPr>
          <a:xfrm>
            <a:off x="2596896" y="5084064"/>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596896" y="5084064"/>
            <a:ext cx="1746447"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07608" y="5038344"/>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$8,213</a:t>
            </a:r>
          </a:p>
        </p:txBody>
      </p:sp>
      <p:sp>
        <p:nvSpPr>
          <p:cNvPr id="51" name="Rounded Rectangle 50"/>
          <p:cNvSpPr/>
          <p:nvPr/>
        </p:nvSpPr>
        <p:spPr>
          <a:xfrm>
            <a:off x="7571231" y="1572768"/>
            <a:ext cx="3931920" cy="44074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27264" y="1828800"/>
            <a:ext cx="2560320" cy="164592"/>
          </a:xfrm>
          <a:prstGeom prst="rect">
            <a:avLst/>
          </a:prstGeom>
          <a:noFill/>
        </p:spPr>
        <p:txBody>
          <a:bodyPr wrap="square" lIns="27432" rIns="27432" tIns="27432" bIns="27432" anchor="t">
            <a:spAutoFit/>
          </a:bodyPr>
          <a:lstStyle/>
          <a:p>
            <a:pPr algn="l"/>
            <a:r>
              <a:rPr sz="1000" b="1">
                <a:solidFill>
                  <a:srgbClr val="5F6B63"/>
                </a:solidFill>
                <a:latin typeface="Aptos"/>
              </a:rPr>
              <a:t>WHY THE CUT LINE IS DEFENSIBLE</a:t>
            </a:r>
          </a:p>
        </p:txBody>
      </p:sp>
      <p:sp>
        <p:nvSpPr>
          <p:cNvPr id="53" name="Rounded Rectangle 52"/>
          <p:cNvSpPr/>
          <p:nvPr/>
        </p:nvSpPr>
        <p:spPr>
          <a:xfrm>
            <a:off x="7827264" y="2139696"/>
            <a:ext cx="1737360"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955280" y="2249424"/>
            <a:ext cx="1481328" cy="164592"/>
          </a:xfrm>
          <a:prstGeom prst="rect">
            <a:avLst/>
          </a:prstGeom>
          <a:noFill/>
        </p:spPr>
        <p:txBody>
          <a:bodyPr wrap="square" lIns="27432" rIns="27432" tIns="27432" bIns="27432" anchor="t">
            <a:spAutoFit/>
          </a:bodyPr>
          <a:lstStyle/>
          <a:p>
            <a:pPr algn="l"/>
            <a:r>
              <a:rPr sz="1000" b="1">
                <a:solidFill>
                  <a:srgbClr val="5F6B63"/>
                </a:solidFill>
                <a:latin typeface="Aptos"/>
              </a:rPr>
              <a:t>TOP-5 AVG</a:t>
            </a:r>
          </a:p>
        </p:txBody>
      </p:sp>
      <p:sp>
        <p:nvSpPr>
          <p:cNvPr id="55" name="TextBox 54"/>
          <p:cNvSpPr txBox="1"/>
          <p:nvPr/>
        </p:nvSpPr>
        <p:spPr>
          <a:xfrm>
            <a:off x="7955280" y="2450592"/>
            <a:ext cx="1481328" cy="493776"/>
          </a:xfrm>
          <a:prstGeom prst="rect">
            <a:avLst/>
          </a:prstGeom>
          <a:noFill/>
        </p:spPr>
        <p:txBody>
          <a:bodyPr wrap="square" lIns="27432" rIns="27432" tIns="27432" bIns="27432" anchor="ctr">
            <a:spAutoFit/>
          </a:bodyPr>
          <a:lstStyle/>
          <a:p>
            <a:pPr algn="l"/>
            <a:r>
              <a:rPr sz="1900" b="1">
                <a:solidFill>
                  <a:srgbClr val="355C47"/>
                </a:solidFill>
                <a:latin typeface="Aptos Display"/>
              </a:rPr>
              <a:t>$13.7k</a:t>
            </a:r>
          </a:p>
        </p:txBody>
      </p:sp>
      <p:sp>
        <p:nvSpPr>
          <p:cNvPr id="56" name="Rounded Rectangle 55"/>
          <p:cNvSpPr/>
          <p:nvPr/>
        </p:nvSpPr>
        <p:spPr>
          <a:xfrm>
            <a:off x="9656064" y="2139696"/>
            <a:ext cx="1572768"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784080" y="2249424"/>
            <a:ext cx="1316736" cy="164592"/>
          </a:xfrm>
          <a:prstGeom prst="rect">
            <a:avLst/>
          </a:prstGeom>
          <a:noFill/>
        </p:spPr>
        <p:txBody>
          <a:bodyPr wrap="square" lIns="27432" rIns="27432" tIns="27432" bIns="27432" anchor="t">
            <a:spAutoFit/>
          </a:bodyPr>
          <a:lstStyle/>
          <a:p>
            <a:pPr algn="l"/>
            <a:r>
              <a:rPr sz="1000" b="1">
                <a:solidFill>
                  <a:srgbClr val="5F6B63"/>
                </a:solidFill>
                <a:latin typeface="Aptos"/>
              </a:rPr>
              <a:t>NEXT-5 AVG</a:t>
            </a:r>
          </a:p>
        </p:txBody>
      </p:sp>
      <p:sp>
        <p:nvSpPr>
          <p:cNvPr id="58" name="TextBox 57"/>
          <p:cNvSpPr txBox="1"/>
          <p:nvPr/>
        </p:nvSpPr>
        <p:spPr>
          <a:xfrm>
            <a:off x="9784080" y="2450592"/>
            <a:ext cx="1316736" cy="493776"/>
          </a:xfrm>
          <a:prstGeom prst="rect">
            <a:avLst/>
          </a:prstGeom>
          <a:noFill/>
        </p:spPr>
        <p:txBody>
          <a:bodyPr wrap="square" lIns="27432" rIns="27432" tIns="27432" bIns="27432" anchor="ctr">
            <a:spAutoFit/>
          </a:bodyPr>
          <a:lstStyle/>
          <a:p>
            <a:pPr algn="l"/>
            <a:r>
              <a:rPr sz="1900" b="1">
                <a:solidFill>
                  <a:srgbClr val="3F728A"/>
                </a:solidFill>
                <a:latin typeface="Aptos Display"/>
              </a:rPr>
              <a:t>$9.2k</a:t>
            </a:r>
          </a:p>
        </p:txBody>
      </p:sp>
      <p:sp>
        <p:nvSpPr>
          <p:cNvPr id="59" name="Rounded Rectangle 58"/>
          <p:cNvSpPr/>
          <p:nvPr/>
        </p:nvSpPr>
        <p:spPr>
          <a:xfrm>
            <a:off x="7827264" y="3218688"/>
            <a:ext cx="340156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955280" y="3328416"/>
            <a:ext cx="3145536" cy="164592"/>
          </a:xfrm>
          <a:prstGeom prst="rect">
            <a:avLst/>
          </a:prstGeom>
          <a:noFill/>
        </p:spPr>
        <p:txBody>
          <a:bodyPr wrap="square" lIns="27432" rIns="27432" tIns="27432" bIns="27432" anchor="t">
            <a:spAutoFit/>
          </a:bodyPr>
          <a:lstStyle/>
          <a:p>
            <a:pPr algn="l"/>
            <a:r>
              <a:rPr sz="1000" b="1">
                <a:solidFill>
                  <a:srgbClr val="5F6B63"/>
                </a:solidFill>
                <a:latin typeface="Aptos"/>
              </a:rPr>
              <a:t>RANK-5 VS RANK-6 GAP</a:t>
            </a:r>
          </a:p>
        </p:txBody>
      </p:sp>
      <p:sp>
        <p:nvSpPr>
          <p:cNvPr id="61" name="TextBox 60"/>
          <p:cNvSpPr txBox="1"/>
          <p:nvPr/>
        </p:nvSpPr>
        <p:spPr>
          <a:xfrm>
            <a:off x="7955280" y="3529584"/>
            <a:ext cx="3145536" cy="457200"/>
          </a:xfrm>
          <a:prstGeom prst="rect">
            <a:avLst/>
          </a:prstGeom>
          <a:noFill/>
        </p:spPr>
        <p:txBody>
          <a:bodyPr wrap="square" lIns="27432" rIns="27432" tIns="27432" bIns="27432" anchor="ctr">
            <a:spAutoFit/>
          </a:bodyPr>
          <a:lstStyle/>
          <a:p>
            <a:pPr algn="l"/>
            <a:r>
              <a:rPr sz="1900" b="1">
                <a:solidFill>
                  <a:srgbClr val="C58A2A"/>
                </a:solidFill>
                <a:latin typeface="Aptos Display"/>
              </a:rPr>
              <a:t>$1k</a:t>
            </a:r>
          </a:p>
        </p:txBody>
      </p:sp>
      <p:sp>
        <p:nvSpPr>
          <p:cNvPr id="62" name="TextBox 61"/>
          <p:cNvSpPr txBox="1"/>
          <p:nvPr/>
        </p:nvSpPr>
        <p:spPr>
          <a:xfrm>
            <a:off x="7827264" y="4315968"/>
            <a:ext cx="3108960" cy="123444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The top five form a distinct profit tier rather than a noisy tie.</a:t>
            </a:r>
          </a:p>
          <a:p>
            <a:pPr algn="l">
              <a:lnSpc>
                <a:spcPct val="115000"/>
              </a:lnSpc>
            </a:pPr>
            <a:r>
              <a:rPr sz="1300">
                <a:solidFill>
                  <a:srgbClr val="1F2621"/>
                </a:solidFill>
                <a:latin typeface="Aptos"/>
              </a:rPr>
              <a:t>- All five are premium-price markets, not simply the nearest destinations.</a:t>
            </a:r>
          </a:p>
          <a:p>
            <a:pPr algn="l">
              <a:lnSpc>
                <a:spcPct val="115000"/>
              </a:lnSpc>
            </a:pPr>
            <a:r>
              <a:rPr sz="1300">
                <a:solidFill>
                  <a:srgbClr val="1F2621"/>
                </a:solidFill>
                <a:latin typeface="Aptos"/>
              </a:rPr>
              <a:t>- That makes the selection more robust to small assumption error.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19</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Seattle, Boise, Portland, Spokane, and San Diego maximize base-case profitability</a:t>
            </a:r>
          </a:p>
        </p:txBody>
      </p:sp>
      <p:sp>
        <p:nvSpPr>
          <p:cNvPr id="9" name="Rounded Rectangle 8"/>
          <p:cNvSpPr/>
          <p:nvPr/>
        </p:nvSpPr>
        <p:spPr>
          <a:xfrm>
            <a:off x="749808" y="1572768"/>
            <a:ext cx="141732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577340"/>
            <a:ext cx="138074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1" name="Rounded Rectangle 10"/>
          <p:cNvSpPr/>
          <p:nvPr/>
        </p:nvSpPr>
        <p:spPr>
          <a:xfrm>
            <a:off x="2916936" y="1572768"/>
            <a:ext cx="141732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35224" y="1577340"/>
            <a:ext cx="1380744" cy="219456"/>
          </a:xfrm>
          <a:prstGeom prst="rect">
            <a:avLst/>
          </a:prstGeom>
          <a:noFill/>
        </p:spPr>
        <p:txBody>
          <a:bodyPr wrap="square" lIns="27432" rIns="27432" tIns="27432" bIns="27432" anchor="ctr">
            <a:spAutoFit/>
          </a:bodyPr>
          <a:lstStyle/>
          <a:p>
            <a:pPr algn="ctr"/>
            <a:r>
              <a:rPr sz="1100" b="1">
                <a:solidFill>
                  <a:srgbClr val="FCFAF5"/>
                </a:solidFill>
                <a:latin typeface="Aptos"/>
              </a:rPr>
              <a:t>BOISE</a:t>
            </a:r>
          </a:p>
        </p:txBody>
      </p:sp>
      <p:sp>
        <p:nvSpPr>
          <p:cNvPr id="13" name="Rounded Rectangle 12"/>
          <p:cNvSpPr/>
          <p:nvPr/>
        </p:nvSpPr>
        <p:spPr>
          <a:xfrm>
            <a:off x="5084064" y="1572768"/>
            <a:ext cx="141732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577340"/>
            <a:ext cx="1380744" cy="219456"/>
          </a:xfrm>
          <a:prstGeom prst="rect">
            <a:avLst/>
          </a:prstGeom>
          <a:noFill/>
        </p:spPr>
        <p:txBody>
          <a:bodyPr wrap="square" lIns="27432" rIns="27432" tIns="27432" bIns="27432" anchor="ctr">
            <a:spAutoFit/>
          </a:bodyPr>
          <a:lstStyle/>
          <a:p>
            <a:pPr algn="ctr"/>
            <a:r>
              <a:rPr sz="1100" b="1">
                <a:solidFill>
                  <a:srgbClr val="FCFAF5"/>
                </a:solidFill>
                <a:latin typeface="Aptos"/>
              </a:rPr>
              <a:t>PORTLAND</a:t>
            </a:r>
          </a:p>
        </p:txBody>
      </p:sp>
      <p:sp>
        <p:nvSpPr>
          <p:cNvPr id="15" name="Rounded Rectangle 14"/>
          <p:cNvSpPr/>
          <p:nvPr/>
        </p:nvSpPr>
        <p:spPr>
          <a:xfrm>
            <a:off x="7251192" y="1572768"/>
            <a:ext cx="141732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9480" y="1577340"/>
            <a:ext cx="1380744" cy="219456"/>
          </a:xfrm>
          <a:prstGeom prst="rect">
            <a:avLst/>
          </a:prstGeom>
          <a:noFill/>
        </p:spPr>
        <p:txBody>
          <a:bodyPr wrap="square" lIns="27432" rIns="27432" tIns="27432" bIns="27432" anchor="ctr">
            <a:spAutoFit/>
          </a:bodyPr>
          <a:lstStyle/>
          <a:p>
            <a:pPr algn="ctr"/>
            <a:r>
              <a:rPr sz="1100" b="1">
                <a:solidFill>
                  <a:srgbClr val="FCFAF5"/>
                </a:solidFill>
                <a:latin typeface="Aptos"/>
              </a:rPr>
              <a:t>SPOKANE</a:t>
            </a:r>
          </a:p>
        </p:txBody>
      </p:sp>
      <p:sp>
        <p:nvSpPr>
          <p:cNvPr id="17" name="Rounded Rectangle 16"/>
          <p:cNvSpPr/>
          <p:nvPr/>
        </p:nvSpPr>
        <p:spPr>
          <a:xfrm>
            <a:off x="9418320" y="1572768"/>
            <a:ext cx="16916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36608" y="1577340"/>
            <a:ext cx="1655064" cy="219456"/>
          </a:xfrm>
          <a:prstGeom prst="rect">
            <a:avLst/>
          </a:prstGeom>
          <a:noFill/>
        </p:spPr>
        <p:txBody>
          <a:bodyPr wrap="square" lIns="27432" rIns="27432" tIns="27432" bIns="27432" anchor="ctr">
            <a:spAutoFit/>
          </a:bodyPr>
          <a:lstStyle/>
          <a:p>
            <a:pPr algn="ctr"/>
            <a:r>
              <a:rPr sz="1100" b="1">
                <a:solidFill>
                  <a:srgbClr val="FCFAF5"/>
                </a:solidFill>
                <a:latin typeface="Aptos"/>
              </a:rPr>
              <a:t>SAN DIEGO</a:t>
            </a:r>
          </a:p>
        </p:txBody>
      </p:sp>
      <p:sp>
        <p:nvSpPr>
          <p:cNvPr id="19" name="Rounded Rectangle 18"/>
          <p:cNvSpPr/>
          <p:nvPr/>
        </p:nvSpPr>
        <p:spPr>
          <a:xfrm>
            <a:off x="713232" y="1975104"/>
            <a:ext cx="6903720" cy="3950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2194560"/>
            <a:ext cx="2103120" cy="164592"/>
          </a:xfrm>
          <a:prstGeom prst="rect">
            <a:avLst/>
          </a:prstGeom>
          <a:noFill/>
        </p:spPr>
        <p:txBody>
          <a:bodyPr wrap="square" lIns="27432" rIns="27432" tIns="27432" bIns="27432" anchor="t">
            <a:spAutoFit/>
          </a:bodyPr>
          <a:lstStyle/>
          <a:p>
            <a:pPr algn="l"/>
            <a:r>
              <a:rPr sz="1000" b="1">
                <a:solidFill>
                  <a:srgbClr val="5F6B63"/>
                </a:solidFill>
                <a:latin typeface="Aptos"/>
              </a:rPr>
              <a:t>SELECTED CITY SCORECARD</a:t>
            </a:r>
          </a:p>
        </p:txBody>
      </p:sp>
      <p:graphicFrame>
        <p:nvGraphicFramePr>
          <p:cNvPr id="21" name="Table 20"/>
          <p:cNvGraphicFramePr>
            <a:graphicFrameLocks noGrp="1"/>
          </p:cNvGraphicFramePr>
          <p:nvPr/>
        </p:nvGraphicFramePr>
        <p:xfrm>
          <a:off x="914400" y="2487168"/>
          <a:ext cx="6217920" cy="2523744"/>
        </p:xfrm>
        <a:graphic>
          <a:graphicData uri="http://schemas.openxmlformats.org/drawingml/2006/table">
            <a:tbl>
              <a:tblPr firstRow="1" bandRow="1">
                <a:tableStyleId>{5C22544A-7EE6-4342-B048-85BDC9FD1C3A}</a:tableStyleId>
              </a:tblPr>
              <a:tblGrid>
                <a:gridCol w="2011680"/>
                <a:gridCol w="1005840"/>
                <a:gridCol w="1051560"/>
                <a:gridCol w="1234440"/>
                <a:gridCol w="914400"/>
              </a:tblGrid>
              <a:tr h="420624">
                <a:tc>
                  <a:txBody>
                    <a:bodyPr/>
                    <a:lstStyle/>
                    <a:p>
                      <a:r>
                        <a:rPr sz="1100" b="0">
                          <a:solidFill>
                            <a:srgbClr val="1F2621"/>
                          </a:solidFill>
                          <a:latin typeface="Aptos"/>
                        </a:rPr>
                        <a:t>City</a:t>
                      </a:r>
                    </a:p>
                  </a:txBody>
                  <a:tcPr>
                    <a:solidFill>
                      <a:srgbClr val="355C47"/>
                    </a:solidFill>
                  </a:tcPr>
                </a:tc>
                <a:tc>
                  <a:txBody>
                    <a:bodyPr/>
                    <a:lstStyle/>
                    <a:p>
                      <a:r>
                        <a:rPr sz="1100" b="0">
                          <a:solidFill>
                            <a:srgbClr val="1F2621"/>
                          </a:solidFill>
                          <a:latin typeface="Aptos"/>
                        </a:rPr>
                        <a:t>Miles</a:t>
                      </a:r>
                    </a:p>
                  </a:txBody>
                  <a:tcPr>
                    <a:solidFill>
                      <a:srgbClr val="355C47"/>
                    </a:solidFill>
                  </a:tcPr>
                </a:tc>
                <a:tc>
                  <a:txBody>
                    <a:bodyPr/>
                    <a:lstStyle/>
                    <a:p>
                      <a:r>
                        <a:rPr sz="1100" b="0">
                          <a:solidFill>
                            <a:srgbClr val="1F2621"/>
                          </a:solidFill>
                          <a:latin typeface="Aptos"/>
                        </a:rPr>
                        <a:t>Price</a:t>
                      </a:r>
                    </a:p>
                  </a:txBody>
                  <a:tcPr>
                    <a:solidFill>
                      <a:srgbClr val="355C47"/>
                    </a:solidFill>
                  </a:tcPr>
                </a:tc>
                <a:tc>
                  <a:txBody>
                    <a:bodyPr/>
                    <a:lstStyle/>
                    <a:p>
                      <a:r>
                        <a:rPr sz="1100" b="0">
                          <a:solidFill>
                            <a:srgbClr val="1F2621"/>
                          </a:solidFill>
                          <a:latin typeface="Aptos"/>
                        </a:rPr>
                        <a:t>Profit</a:t>
                      </a:r>
                    </a:p>
                  </a:txBody>
                  <a:tcPr>
                    <a:solidFill>
                      <a:srgbClr val="355C47"/>
                    </a:solidFill>
                  </a:tcPr>
                </a:tc>
                <a:tc>
                  <a:txBody>
                    <a:bodyPr/>
                    <a:lstStyle/>
                    <a:p>
                      <a:r>
                        <a:rPr sz="1100" b="0">
                          <a:solidFill>
                            <a:srgbClr val="1F2621"/>
                          </a:solidFill>
                          <a:latin typeface="Aptos"/>
                        </a:rPr>
                        <a:t>Margin</a:t>
                      </a:r>
                    </a:p>
                  </a:txBody>
                  <a:tcPr>
                    <a:solidFill>
                      <a:srgbClr val="355C47"/>
                    </a:solidFill>
                  </a:tcPr>
                </a:tc>
              </a:tr>
              <a:tr h="420624">
                <a:tc>
                  <a:txBody>
                    <a:bodyPr/>
                    <a:lstStyle/>
                    <a:p>
                      <a:r>
                        <a:rPr sz="1100" b="0">
                          <a:solidFill>
                            <a:srgbClr val="1F2621"/>
                          </a:solidFill>
                          <a:latin typeface="Aptos"/>
                        </a:rPr>
                        <a:t>Seattle, WA</a:t>
                      </a:r>
                    </a:p>
                  </a:txBody>
                  <a:tcPr>
                    <a:solidFill>
                      <a:srgbClr val="FCFAF5"/>
                    </a:solidFill>
                  </a:tcPr>
                </a:tc>
                <a:tc>
                  <a:txBody>
                    <a:bodyPr/>
                    <a:lstStyle/>
                    <a:p>
                      <a:r>
                        <a:rPr sz="1100" b="0">
                          <a:solidFill>
                            <a:srgbClr val="1F2621"/>
                          </a:solidFill>
                          <a:latin typeface="Aptos"/>
                        </a:rPr>
                        <a:t>1,029</a:t>
                      </a:r>
                    </a:p>
                  </a:txBody>
                  <a:tcPr>
                    <a:solidFill>
                      <a:srgbClr val="FCFAF5"/>
                    </a:solidFill>
                  </a:tcPr>
                </a:tc>
                <a:tc>
                  <a:txBody>
                    <a:bodyPr/>
                    <a:lstStyle/>
                    <a:p>
                      <a:r>
                        <a:rPr sz="1100" b="0">
                          <a:solidFill>
                            <a:srgbClr val="1F2621"/>
                          </a:solidFill>
                          <a:latin typeface="Aptos"/>
                        </a:rPr>
                        <a:t>$2.66</a:t>
                      </a:r>
                    </a:p>
                  </a:txBody>
                  <a:tcPr>
                    <a:solidFill>
                      <a:srgbClr val="FCFAF5"/>
                    </a:solidFill>
                  </a:tcPr>
                </a:tc>
                <a:tc>
                  <a:txBody>
                    <a:bodyPr/>
                    <a:lstStyle/>
                    <a:p>
                      <a:r>
                        <a:rPr sz="1100" b="0">
                          <a:solidFill>
                            <a:srgbClr val="1F2621"/>
                          </a:solidFill>
                          <a:latin typeface="Aptos"/>
                        </a:rPr>
                        <a:t>$15,266</a:t>
                      </a:r>
                    </a:p>
                  </a:txBody>
                  <a:tcPr>
                    <a:solidFill>
                      <a:srgbClr val="FCFAF5"/>
                    </a:solidFill>
                  </a:tcPr>
                </a:tc>
                <a:tc>
                  <a:txBody>
                    <a:bodyPr/>
                    <a:lstStyle/>
                    <a:p>
                      <a:r>
                        <a:rPr sz="1100" b="0">
                          <a:solidFill>
                            <a:srgbClr val="1F2621"/>
                          </a:solidFill>
                          <a:latin typeface="Aptos"/>
                        </a:rPr>
                        <a:t>71.7%</a:t>
                      </a:r>
                    </a:p>
                  </a:txBody>
                  <a:tcPr>
                    <a:solidFill>
                      <a:srgbClr val="FCFAF5"/>
                    </a:solidFill>
                  </a:tcPr>
                </a:tc>
              </a:tr>
              <a:tr h="420624">
                <a:tc>
                  <a:txBody>
                    <a:bodyPr/>
                    <a:lstStyle/>
                    <a:p>
                      <a:r>
                        <a:rPr sz="1100" b="0">
                          <a:solidFill>
                            <a:srgbClr val="1F2621"/>
                          </a:solidFill>
                          <a:latin typeface="Aptos"/>
                        </a:rPr>
                        <a:t>Boise, ID</a:t>
                      </a:r>
                    </a:p>
                  </a:txBody>
                  <a:tcPr>
                    <a:solidFill>
                      <a:srgbClr val="F7F3EC"/>
                    </a:solidFill>
                  </a:tcPr>
                </a:tc>
                <a:tc>
                  <a:txBody>
                    <a:bodyPr/>
                    <a:lstStyle/>
                    <a:p>
                      <a:r>
                        <a:rPr sz="1100" b="0">
                          <a:solidFill>
                            <a:srgbClr val="1F2621"/>
                          </a:solidFill>
                          <a:latin typeface="Aptos"/>
                        </a:rPr>
                        <a:t>827</a:t>
                      </a:r>
                    </a:p>
                  </a:txBody>
                  <a:tcPr>
                    <a:solidFill>
                      <a:srgbClr val="F7F3EC"/>
                    </a:solidFill>
                  </a:tcPr>
                </a:tc>
                <a:tc>
                  <a:txBody>
                    <a:bodyPr/>
                    <a:lstStyle/>
                    <a:p>
                      <a:r>
                        <a:rPr sz="1100" b="0">
                          <a:solidFill>
                            <a:srgbClr val="1F2621"/>
                          </a:solidFill>
                          <a:latin typeface="Aptos"/>
                        </a:rPr>
                        <a:t>$2.59</a:t>
                      </a:r>
                    </a:p>
                  </a:txBody>
                  <a:tcPr>
                    <a:solidFill>
                      <a:srgbClr val="F7F3EC"/>
                    </a:solidFill>
                  </a:tcPr>
                </a:tc>
                <a:tc>
                  <a:txBody>
                    <a:bodyPr/>
                    <a:lstStyle/>
                    <a:p>
                      <a:r>
                        <a:rPr sz="1100" b="0">
                          <a:solidFill>
                            <a:srgbClr val="1F2621"/>
                          </a:solidFill>
                          <a:latin typeface="Aptos"/>
                        </a:rPr>
                        <a:t>$14,838</a:t>
                      </a:r>
                    </a:p>
                  </a:txBody>
                  <a:tcPr>
                    <a:solidFill>
                      <a:srgbClr val="F7F3EC"/>
                    </a:solidFill>
                  </a:tcPr>
                </a:tc>
                <a:tc>
                  <a:txBody>
                    <a:bodyPr/>
                    <a:lstStyle/>
                    <a:p>
                      <a:r>
                        <a:rPr sz="1100" b="0">
                          <a:solidFill>
                            <a:srgbClr val="1F2621"/>
                          </a:solidFill>
                          <a:latin typeface="Aptos"/>
                        </a:rPr>
                        <a:t>71.5%</a:t>
                      </a:r>
                    </a:p>
                  </a:txBody>
                  <a:tcPr>
                    <a:solidFill>
                      <a:srgbClr val="F7F3EC"/>
                    </a:solidFill>
                  </a:tcPr>
                </a:tc>
              </a:tr>
              <a:tr h="420624">
                <a:tc>
                  <a:txBody>
                    <a:bodyPr/>
                    <a:lstStyle/>
                    <a:p>
                      <a:r>
                        <a:rPr sz="1100" b="0">
                          <a:solidFill>
                            <a:srgbClr val="1F2621"/>
                          </a:solidFill>
                          <a:latin typeface="Aptos"/>
                        </a:rPr>
                        <a:t>Portland, OR</a:t>
                      </a:r>
                    </a:p>
                  </a:txBody>
                  <a:tcPr>
                    <a:solidFill>
                      <a:srgbClr val="FCFAF5"/>
                    </a:solidFill>
                  </a:tcPr>
                </a:tc>
                <a:tc>
                  <a:txBody>
                    <a:bodyPr/>
                    <a:lstStyle/>
                    <a:p>
                      <a:r>
                        <a:rPr sz="1100" b="0">
                          <a:solidFill>
                            <a:srgbClr val="1F2621"/>
                          </a:solidFill>
                          <a:latin typeface="Aptos"/>
                        </a:rPr>
                        <a:t>855</a:t>
                      </a:r>
                    </a:p>
                  </a:txBody>
                  <a:tcPr>
                    <a:solidFill>
                      <a:srgbClr val="FCFAF5"/>
                    </a:solidFill>
                  </a:tcPr>
                </a:tc>
                <a:tc>
                  <a:txBody>
                    <a:bodyPr/>
                    <a:lstStyle/>
                    <a:p>
                      <a:r>
                        <a:rPr sz="1100" b="0">
                          <a:solidFill>
                            <a:srgbClr val="1F2621"/>
                          </a:solidFill>
                          <a:latin typeface="Aptos"/>
                        </a:rPr>
                        <a:t>$2.54</a:t>
                      </a:r>
                    </a:p>
                  </a:txBody>
                  <a:tcPr>
                    <a:solidFill>
                      <a:srgbClr val="FCFAF5"/>
                    </a:solidFill>
                  </a:tcPr>
                </a:tc>
                <a:tc>
                  <a:txBody>
                    <a:bodyPr/>
                    <a:lstStyle/>
                    <a:p>
                      <a:r>
                        <a:rPr sz="1100" b="0">
                          <a:solidFill>
                            <a:srgbClr val="1F2621"/>
                          </a:solidFill>
                          <a:latin typeface="Aptos"/>
                        </a:rPr>
                        <a:t>$14,408</a:t>
                      </a:r>
                    </a:p>
                  </a:txBody>
                  <a:tcPr>
                    <a:solidFill>
                      <a:srgbClr val="FCFAF5"/>
                    </a:solidFill>
                  </a:tcPr>
                </a:tc>
                <a:tc>
                  <a:txBody>
                    <a:bodyPr/>
                    <a:lstStyle/>
                    <a:p>
                      <a:r>
                        <a:rPr sz="1100" b="0">
                          <a:solidFill>
                            <a:srgbClr val="1F2621"/>
                          </a:solidFill>
                          <a:latin typeface="Aptos"/>
                        </a:rPr>
                        <a:t>70.9%</a:t>
                      </a:r>
                    </a:p>
                  </a:txBody>
                  <a:tcPr>
                    <a:solidFill>
                      <a:srgbClr val="FCFAF5"/>
                    </a:solidFill>
                  </a:tcPr>
                </a:tc>
              </a:tr>
              <a:tr h="420624">
                <a:tc>
                  <a:txBody>
                    <a:bodyPr/>
                    <a:lstStyle/>
                    <a:p>
                      <a:r>
                        <a:rPr sz="1100" b="0">
                          <a:solidFill>
                            <a:srgbClr val="1F2621"/>
                          </a:solidFill>
                          <a:latin typeface="Aptos"/>
                        </a:rPr>
                        <a:t>Spokane, WA</a:t>
                      </a:r>
                    </a:p>
                  </a:txBody>
                  <a:tcPr>
                    <a:solidFill>
                      <a:srgbClr val="F7F3EC"/>
                    </a:solidFill>
                  </a:tcPr>
                </a:tc>
                <a:tc>
                  <a:txBody>
                    <a:bodyPr/>
                    <a:lstStyle/>
                    <a:p>
                      <a:r>
                        <a:rPr sz="1100" b="0">
                          <a:solidFill>
                            <a:srgbClr val="1F2621"/>
                          </a:solidFill>
                          <a:latin typeface="Aptos"/>
                        </a:rPr>
                        <a:t>1,097</a:t>
                      </a:r>
                    </a:p>
                  </a:txBody>
                  <a:tcPr>
                    <a:solidFill>
                      <a:srgbClr val="F7F3EC"/>
                    </a:solidFill>
                  </a:tcPr>
                </a:tc>
                <a:tc>
                  <a:txBody>
                    <a:bodyPr/>
                    <a:lstStyle/>
                    <a:p>
                      <a:r>
                        <a:rPr sz="1100" b="0">
                          <a:solidFill>
                            <a:srgbClr val="1F2621"/>
                          </a:solidFill>
                          <a:latin typeface="Aptos"/>
                        </a:rPr>
                        <a:t>$2.38</a:t>
                      </a:r>
                    </a:p>
                  </a:txBody>
                  <a:tcPr>
                    <a:solidFill>
                      <a:srgbClr val="F7F3EC"/>
                    </a:solidFill>
                  </a:tcPr>
                </a:tc>
                <a:tc>
                  <a:txBody>
                    <a:bodyPr/>
                    <a:lstStyle/>
                    <a:p>
                      <a:r>
                        <a:rPr sz="1100" b="0">
                          <a:solidFill>
                            <a:srgbClr val="1F2621"/>
                          </a:solidFill>
                          <a:latin typeface="Aptos"/>
                        </a:rPr>
                        <a:t>$12,992</a:t>
                      </a:r>
                    </a:p>
                  </a:txBody>
                  <a:tcPr>
                    <a:solidFill>
                      <a:srgbClr val="F7F3EC"/>
                    </a:solidFill>
                  </a:tcPr>
                </a:tc>
                <a:tc>
                  <a:txBody>
                    <a:bodyPr/>
                    <a:lstStyle/>
                    <a:p>
                      <a:r>
                        <a:rPr sz="1100" b="0">
                          <a:solidFill>
                            <a:srgbClr val="1F2621"/>
                          </a:solidFill>
                          <a:latin typeface="Aptos"/>
                        </a:rPr>
                        <a:t>68.2%</a:t>
                      </a:r>
                    </a:p>
                  </a:txBody>
                  <a:tcPr>
                    <a:solidFill>
                      <a:srgbClr val="F7F3EC"/>
                    </a:solidFill>
                  </a:tcPr>
                </a:tc>
              </a:tr>
              <a:tr h="420624">
                <a:tc>
                  <a:txBody>
                    <a:bodyPr/>
                    <a:lstStyle/>
                    <a:p>
                      <a:r>
                        <a:rPr sz="1100" b="0">
                          <a:solidFill>
                            <a:srgbClr val="1F2621"/>
                          </a:solidFill>
                          <a:latin typeface="Aptos"/>
                        </a:rPr>
                        <a:t>San Diego, CA</a:t>
                      </a:r>
                    </a:p>
                  </a:txBody>
                  <a:tcPr>
                    <a:solidFill>
                      <a:srgbClr val="FCFAF5"/>
                    </a:solidFill>
                  </a:tcPr>
                </a:tc>
                <a:tc>
                  <a:txBody>
                    <a:bodyPr/>
                    <a:lstStyle/>
                    <a:p>
                      <a:r>
                        <a:rPr sz="1100" b="0">
                          <a:solidFill>
                            <a:srgbClr val="1F2621"/>
                          </a:solidFill>
                          <a:latin typeface="Aptos"/>
                        </a:rPr>
                        <a:t>253</a:t>
                      </a:r>
                    </a:p>
                  </a:txBody>
                  <a:tcPr>
                    <a:solidFill>
                      <a:srgbClr val="FCFAF5"/>
                    </a:solidFill>
                  </a:tcPr>
                </a:tc>
                <a:tc>
                  <a:txBody>
                    <a:bodyPr/>
                    <a:lstStyle/>
                    <a:p>
                      <a:r>
                        <a:rPr sz="1100" b="0">
                          <a:solidFill>
                            <a:srgbClr val="1F2621"/>
                          </a:solidFill>
                          <a:latin typeface="Aptos"/>
                        </a:rPr>
                        <a:t>$2.09</a:t>
                      </a:r>
                    </a:p>
                  </a:txBody>
                  <a:tcPr>
                    <a:solidFill>
                      <a:srgbClr val="FCFAF5"/>
                    </a:solidFill>
                  </a:tcPr>
                </a:tc>
                <a:tc>
                  <a:txBody>
                    <a:bodyPr/>
                    <a:lstStyle/>
                    <a:p>
                      <a:r>
                        <a:rPr sz="1100" b="0">
                          <a:solidFill>
                            <a:srgbClr val="1F2621"/>
                          </a:solidFill>
                          <a:latin typeface="Aptos"/>
                        </a:rPr>
                        <a:t>$11,126</a:t>
                      </a:r>
                    </a:p>
                  </a:txBody>
                  <a:tcPr>
                    <a:solidFill>
                      <a:srgbClr val="FCFAF5"/>
                    </a:solidFill>
                  </a:tcPr>
                </a:tc>
                <a:tc>
                  <a:txBody>
                    <a:bodyPr/>
                    <a:lstStyle/>
                    <a:p>
                      <a:r>
                        <a:rPr sz="1100" b="0">
                          <a:solidFill>
                            <a:srgbClr val="1F2621"/>
                          </a:solidFill>
                          <a:latin typeface="Aptos"/>
                        </a:rPr>
                        <a:t>66.4%</a:t>
                      </a:r>
                    </a:p>
                  </a:txBody>
                  <a:tcPr>
                    <a:solidFill>
                      <a:srgbClr val="FCFAF5"/>
                    </a:solidFill>
                  </a:tcPr>
                </a:tc>
              </a:tr>
            </a:tbl>
          </a:graphicData>
        </a:graphic>
      </p:graphicFrame>
      <p:sp>
        <p:nvSpPr>
          <p:cNvPr id="22" name="Rounded Rectangle 21"/>
          <p:cNvSpPr/>
          <p:nvPr/>
        </p:nvSpPr>
        <p:spPr>
          <a:xfrm>
            <a:off x="7863840" y="1975104"/>
            <a:ext cx="3639312" cy="3950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01583" y="2194560"/>
            <a:ext cx="2011680" cy="164592"/>
          </a:xfrm>
          <a:prstGeom prst="rect">
            <a:avLst/>
          </a:prstGeom>
          <a:noFill/>
        </p:spPr>
        <p:txBody>
          <a:bodyPr wrap="square" lIns="27432" rIns="27432" tIns="27432" bIns="27432" anchor="t">
            <a:spAutoFit/>
          </a:bodyPr>
          <a:lstStyle/>
          <a:p>
            <a:pPr algn="l"/>
            <a:r>
              <a:rPr sz="1000" b="1">
                <a:solidFill>
                  <a:srgbClr val="5F6B63"/>
                </a:solidFill>
                <a:latin typeface="Aptos"/>
              </a:rPr>
              <a:t>WHY THIS SET WINS</a:t>
            </a:r>
          </a:p>
        </p:txBody>
      </p:sp>
      <p:sp>
        <p:nvSpPr>
          <p:cNvPr id="24" name="Rounded Rectangle 23"/>
          <p:cNvSpPr/>
          <p:nvPr/>
        </p:nvSpPr>
        <p:spPr>
          <a:xfrm>
            <a:off x="8101583" y="2487168"/>
            <a:ext cx="3127248" cy="2011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9" y="2615184"/>
            <a:ext cx="786384" cy="164592"/>
          </a:xfrm>
          <a:prstGeom prst="rect">
            <a:avLst/>
          </a:prstGeom>
          <a:noFill/>
        </p:spPr>
        <p:txBody>
          <a:bodyPr wrap="square" lIns="27432" rIns="27432" tIns="27432" bIns="27432" anchor="t">
            <a:spAutoFit/>
          </a:bodyPr>
          <a:lstStyle/>
          <a:p>
            <a:pPr algn="l"/>
            <a:r>
              <a:rPr sz="1000" b="1">
                <a:solidFill>
                  <a:srgbClr val="5F6B63"/>
                </a:solidFill>
                <a:latin typeface="Aptos"/>
              </a:rPr>
              <a:t>PRICE SUPPORT</a:t>
            </a:r>
          </a:p>
        </p:txBody>
      </p:sp>
      <p:sp>
        <p:nvSpPr>
          <p:cNvPr id="26" name="TextBox 25"/>
          <p:cNvSpPr txBox="1"/>
          <p:nvPr/>
        </p:nvSpPr>
        <p:spPr>
          <a:xfrm>
            <a:off x="8229599" y="2798064"/>
            <a:ext cx="786384" cy="310896"/>
          </a:xfrm>
          <a:prstGeom prst="rect">
            <a:avLst/>
          </a:prstGeom>
          <a:noFill/>
        </p:spPr>
        <p:txBody>
          <a:bodyPr wrap="square" lIns="27432" rIns="27432" tIns="27432" bIns="27432" anchor="t">
            <a:spAutoFit/>
          </a:bodyPr>
          <a:lstStyle/>
          <a:p>
            <a:pPr algn="l"/>
            <a:r>
              <a:rPr sz="2100" b="1">
                <a:solidFill>
                  <a:srgbClr val="355C47"/>
                </a:solidFill>
                <a:latin typeface="Aptos Display"/>
              </a:rPr>
              <a:t>Top 5 price markets</a:t>
            </a:r>
          </a:p>
        </p:txBody>
      </p:sp>
      <p:sp>
        <p:nvSpPr>
          <p:cNvPr id="27" name="TextBox 26"/>
          <p:cNvSpPr txBox="1"/>
          <p:nvPr/>
        </p:nvSpPr>
        <p:spPr>
          <a:xfrm>
            <a:off x="8229599" y="3145536"/>
            <a:ext cx="786384" cy="1207008"/>
          </a:xfrm>
          <a:prstGeom prst="rect">
            <a:avLst/>
          </a:prstGeom>
          <a:noFill/>
        </p:spPr>
        <p:txBody>
          <a:bodyPr wrap="square" lIns="27432" rIns="27432" tIns="27432" bIns="27432" anchor="t">
            <a:spAutoFit/>
          </a:bodyPr>
          <a:lstStyle/>
          <a:p>
            <a:pPr algn="l"/>
            <a:r>
              <a:rPr sz="1200" b="0">
                <a:solidFill>
                  <a:srgbClr val="1F2621"/>
                </a:solidFill>
                <a:latin typeface="Aptos"/>
              </a:rPr>
              <a:t>The selected cities are the strongest June organic price markets in the model.</a:t>
            </a:r>
          </a:p>
        </p:txBody>
      </p:sp>
      <p:cxnSp>
        <p:nvCxnSpPr>
          <p:cNvPr id="28" name="Connector 27"/>
          <p:cNvCxnSpPr/>
          <p:nvPr/>
        </p:nvCxnSpPr>
        <p:spPr>
          <a:xfrm>
            <a:off x="9143999" y="2651760"/>
            <a:ext cx="0" cy="168249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272015" y="2615184"/>
            <a:ext cx="786384" cy="164592"/>
          </a:xfrm>
          <a:prstGeom prst="rect">
            <a:avLst/>
          </a:prstGeom>
          <a:noFill/>
        </p:spPr>
        <p:txBody>
          <a:bodyPr wrap="square" lIns="27432" rIns="27432" tIns="27432" bIns="27432" anchor="t">
            <a:spAutoFit/>
          </a:bodyPr>
          <a:lstStyle/>
          <a:p>
            <a:pPr algn="l"/>
            <a:r>
              <a:rPr sz="1000" b="1">
                <a:solidFill>
                  <a:srgbClr val="5F6B63"/>
                </a:solidFill>
                <a:latin typeface="Aptos"/>
              </a:rPr>
              <a:t>FREIGHT</a:t>
            </a:r>
          </a:p>
        </p:txBody>
      </p:sp>
      <p:sp>
        <p:nvSpPr>
          <p:cNvPr id="30" name="TextBox 29"/>
          <p:cNvSpPr txBox="1"/>
          <p:nvPr/>
        </p:nvSpPr>
        <p:spPr>
          <a:xfrm>
            <a:off x="9272015" y="2798064"/>
            <a:ext cx="786384" cy="310896"/>
          </a:xfrm>
          <a:prstGeom prst="rect">
            <a:avLst/>
          </a:prstGeom>
          <a:noFill/>
        </p:spPr>
        <p:txBody>
          <a:bodyPr wrap="square" lIns="27432" rIns="27432" tIns="27432" bIns="27432" anchor="t">
            <a:spAutoFit/>
          </a:bodyPr>
          <a:lstStyle/>
          <a:p>
            <a:pPr algn="l"/>
            <a:r>
              <a:rPr sz="2100" b="1">
                <a:solidFill>
                  <a:srgbClr val="3F728A"/>
                </a:solidFill>
                <a:latin typeface="Aptos Display"/>
              </a:rPr>
              <a:t>Manageable miles</a:t>
            </a:r>
          </a:p>
        </p:txBody>
      </p:sp>
      <p:sp>
        <p:nvSpPr>
          <p:cNvPr id="31" name="TextBox 30"/>
          <p:cNvSpPr txBox="1"/>
          <p:nvPr/>
        </p:nvSpPr>
        <p:spPr>
          <a:xfrm>
            <a:off x="9272015" y="3145536"/>
            <a:ext cx="786384" cy="1207008"/>
          </a:xfrm>
          <a:prstGeom prst="rect">
            <a:avLst/>
          </a:prstGeom>
          <a:noFill/>
        </p:spPr>
        <p:txBody>
          <a:bodyPr wrap="square" lIns="27432" rIns="27432" tIns="27432" bIns="27432" anchor="t">
            <a:spAutoFit/>
          </a:bodyPr>
          <a:lstStyle/>
          <a:p>
            <a:pPr algn="l"/>
            <a:r>
              <a:rPr sz="1200" b="0">
                <a:solidFill>
                  <a:srgbClr val="1F2621"/>
                </a:solidFill>
                <a:latin typeface="Aptos"/>
              </a:rPr>
              <a:t>San Diego provides a low-mile hedge while the Northwest still supports premium pricing.</a:t>
            </a:r>
          </a:p>
        </p:txBody>
      </p:sp>
      <p:cxnSp>
        <p:nvCxnSpPr>
          <p:cNvPr id="32" name="Connector 31"/>
          <p:cNvCxnSpPr/>
          <p:nvPr/>
        </p:nvCxnSpPr>
        <p:spPr>
          <a:xfrm>
            <a:off x="10186415" y="2651760"/>
            <a:ext cx="0" cy="168249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314431" y="2615184"/>
            <a:ext cx="786384" cy="164592"/>
          </a:xfrm>
          <a:prstGeom prst="rect">
            <a:avLst/>
          </a:prstGeom>
          <a:noFill/>
        </p:spPr>
        <p:txBody>
          <a:bodyPr wrap="square" lIns="27432" rIns="27432" tIns="27432" bIns="27432" anchor="t">
            <a:spAutoFit/>
          </a:bodyPr>
          <a:lstStyle/>
          <a:p>
            <a:pPr algn="l"/>
            <a:r>
              <a:rPr sz="1000" b="1">
                <a:solidFill>
                  <a:srgbClr val="5F6B63"/>
                </a:solidFill>
                <a:latin typeface="Aptos"/>
              </a:rPr>
              <a:t>RESULT</a:t>
            </a:r>
          </a:p>
        </p:txBody>
      </p:sp>
      <p:sp>
        <p:nvSpPr>
          <p:cNvPr id="34" name="TextBox 33"/>
          <p:cNvSpPr txBox="1"/>
          <p:nvPr/>
        </p:nvSpPr>
        <p:spPr>
          <a:xfrm>
            <a:off x="10314431" y="2798064"/>
            <a:ext cx="786384" cy="310896"/>
          </a:xfrm>
          <a:prstGeom prst="rect">
            <a:avLst/>
          </a:prstGeom>
          <a:noFill/>
        </p:spPr>
        <p:txBody>
          <a:bodyPr wrap="square" lIns="27432" rIns="27432" tIns="27432" bIns="27432" anchor="t">
            <a:spAutoFit/>
          </a:bodyPr>
          <a:lstStyle/>
          <a:p>
            <a:pPr algn="l"/>
            <a:r>
              <a:rPr sz="2100" b="1">
                <a:solidFill>
                  <a:srgbClr val="355C47"/>
                </a:solidFill>
                <a:latin typeface="Aptos Display"/>
              </a:rPr>
              <a:t>Best profit set</a:t>
            </a:r>
          </a:p>
        </p:txBody>
      </p:sp>
      <p:sp>
        <p:nvSpPr>
          <p:cNvPr id="35" name="TextBox 34"/>
          <p:cNvSpPr txBox="1"/>
          <p:nvPr/>
        </p:nvSpPr>
        <p:spPr>
          <a:xfrm>
            <a:off x="10314431" y="3145536"/>
            <a:ext cx="786384" cy="1207008"/>
          </a:xfrm>
          <a:prstGeom prst="rect">
            <a:avLst/>
          </a:prstGeom>
          <a:noFill/>
        </p:spPr>
        <p:txBody>
          <a:bodyPr wrap="square" lIns="27432" rIns="27432" tIns="27432" bIns="27432" anchor="t">
            <a:spAutoFit/>
          </a:bodyPr>
          <a:lstStyle/>
          <a:p>
            <a:pPr algn="l"/>
            <a:r>
              <a:rPr sz="1200" b="0">
                <a:solidFill>
                  <a:srgbClr val="1F2621"/>
                </a:solidFill>
                <a:latin typeface="Aptos"/>
              </a:rPr>
              <a:t>The five-city list wins on expected profit without requiring broad national complexity.</a:t>
            </a:r>
          </a:p>
        </p:txBody>
      </p:sp>
      <p:sp>
        <p:nvSpPr>
          <p:cNvPr id="36" name="TextBox 35"/>
          <p:cNvSpPr txBox="1"/>
          <p:nvPr/>
        </p:nvSpPr>
        <p:spPr>
          <a:xfrm>
            <a:off x="8119872" y="4791456"/>
            <a:ext cx="2926080" cy="530352"/>
          </a:xfrm>
          <a:prstGeom prst="rect">
            <a:avLst/>
          </a:prstGeom>
          <a:noFill/>
        </p:spPr>
        <p:txBody>
          <a:bodyPr wrap="square" lIns="27432" rIns="27432" tIns="27432" bIns="27432" anchor="t">
            <a:spAutoFit/>
          </a:bodyPr>
          <a:lstStyle/>
          <a:p>
            <a:pPr algn="l"/>
            <a:r>
              <a:rPr sz="1200" b="0">
                <a:solidFill>
                  <a:srgbClr val="1F2621"/>
                </a:solidFill>
                <a:latin typeface="Aptos"/>
              </a:rPr>
              <a:t>This is the formal Q5 answer: a disciplined five-city pilot beats a broad rollout because the premium-price cities still produce the best economics after freight.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20</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chosen five win on price support, not just distance</a:t>
            </a:r>
          </a:p>
        </p:txBody>
      </p:sp>
      <p:sp>
        <p:nvSpPr>
          <p:cNvPr id="9" name="Rounded Rectangle 8"/>
          <p:cNvSpPr/>
          <p:nvPr/>
        </p:nvSpPr>
        <p:spPr>
          <a:xfrm>
            <a:off x="749808" y="1664208"/>
            <a:ext cx="6812280" cy="4251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65376"/>
            <a:ext cx="2011680" cy="164592"/>
          </a:xfrm>
          <a:prstGeom prst="rect">
            <a:avLst/>
          </a:prstGeom>
          <a:noFill/>
        </p:spPr>
        <p:txBody>
          <a:bodyPr wrap="square" lIns="27432" rIns="27432" tIns="27432" bIns="27432" anchor="t">
            <a:spAutoFit/>
          </a:bodyPr>
          <a:lstStyle/>
          <a:p>
            <a:pPr algn="l"/>
            <a:r>
              <a:rPr sz="1000" b="1">
                <a:solidFill>
                  <a:srgbClr val="5F6B63"/>
                </a:solidFill>
                <a:latin typeface="Aptos"/>
              </a:rPr>
              <a:t>PRICE VS MILES</a:t>
            </a:r>
          </a:p>
        </p:txBody>
      </p:sp>
      <p:cxnSp>
        <p:nvCxnSpPr>
          <p:cNvPr id="11" name="Connector 10"/>
          <p:cNvCxnSpPr/>
          <p:nvPr/>
        </p:nvCxnSpPr>
        <p:spPr>
          <a:xfrm>
            <a:off x="1527048" y="4937760"/>
            <a:ext cx="5321808" cy="0"/>
          </a:xfrm>
          <a:prstGeom prst="line">
            <a:avLst/>
          </a:prstGeom>
          <a:ln w="1778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27048" y="2377440"/>
            <a:ext cx="0" cy="2560320"/>
          </a:xfrm>
          <a:prstGeom prst="line">
            <a:avLst/>
          </a:prstGeom>
          <a:ln w="1778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169677" y="2478024"/>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6837" y="2487168"/>
            <a:ext cx="1097280" cy="146304"/>
          </a:xfrm>
          <a:prstGeom prst="rect">
            <a:avLst/>
          </a:prstGeom>
          <a:noFill/>
        </p:spPr>
        <p:txBody>
          <a:bodyPr wrap="square" lIns="27432" rIns="27432" tIns="27432" bIns="27432" anchor="t">
            <a:spAutoFit/>
          </a:bodyPr>
          <a:lstStyle/>
          <a:p>
            <a:pPr algn="l"/>
            <a:r>
              <a:rPr sz="1000" b="1">
                <a:solidFill>
                  <a:srgbClr val="355C47"/>
                </a:solidFill>
                <a:latin typeface="Aptos"/>
              </a:rPr>
              <a:t>Seattle</a:t>
            </a:r>
          </a:p>
        </p:txBody>
      </p:sp>
      <p:sp>
        <p:nvSpPr>
          <p:cNvPr id="15" name="Oval 14"/>
          <p:cNvSpPr/>
          <p:nvPr/>
        </p:nvSpPr>
        <p:spPr>
          <a:xfrm>
            <a:off x="5129988" y="2647109"/>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67148" y="2656253"/>
            <a:ext cx="1097280" cy="146304"/>
          </a:xfrm>
          <a:prstGeom prst="rect">
            <a:avLst/>
          </a:prstGeom>
          <a:noFill/>
        </p:spPr>
        <p:txBody>
          <a:bodyPr wrap="square" lIns="27432" rIns="27432" tIns="27432" bIns="27432" anchor="t">
            <a:spAutoFit/>
          </a:bodyPr>
          <a:lstStyle/>
          <a:p>
            <a:pPr algn="l"/>
            <a:r>
              <a:rPr sz="1000" b="1">
                <a:solidFill>
                  <a:srgbClr val="355C47"/>
                </a:solidFill>
                <a:latin typeface="Aptos"/>
              </a:rPr>
              <a:t>Boise</a:t>
            </a:r>
          </a:p>
        </p:txBody>
      </p:sp>
      <p:sp>
        <p:nvSpPr>
          <p:cNvPr id="17" name="Oval 16"/>
          <p:cNvSpPr/>
          <p:nvPr/>
        </p:nvSpPr>
        <p:spPr>
          <a:xfrm>
            <a:off x="5274103" y="2780327"/>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11263" y="2789471"/>
            <a:ext cx="1097280" cy="146304"/>
          </a:xfrm>
          <a:prstGeom prst="rect">
            <a:avLst/>
          </a:prstGeom>
          <a:noFill/>
        </p:spPr>
        <p:txBody>
          <a:bodyPr wrap="square" lIns="27432" rIns="27432" tIns="27432" bIns="27432" anchor="t">
            <a:spAutoFit/>
          </a:bodyPr>
          <a:lstStyle/>
          <a:p>
            <a:pPr algn="l"/>
            <a:r>
              <a:rPr sz="1000" b="1">
                <a:solidFill>
                  <a:srgbClr val="355C47"/>
                </a:solidFill>
                <a:latin typeface="Aptos"/>
              </a:rPr>
              <a:t>Portland</a:t>
            </a:r>
          </a:p>
        </p:txBody>
      </p:sp>
      <p:sp>
        <p:nvSpPr>
          <p:cNvPr id="19" name="Oval 18"/>
          <p:cNvSpPr/>
          <p:nvPr/>
        </p:nvSpPr>
        <p:spPr>
          <a:xfrm>
            <a:off x="6519672" y="3195355"/>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56832" y="3204499"/>
            <a:ext cx="1097280" cy="146304"/>
          </a:xfrm>
          <a:prstGeom prst="rect">
            <a:avLst/>
          </a:prstGeom>
          <a:noFill/>
        </p:spPr>
        <p:txBody>
          <a:bodyPr wrap="square" lIns="27432" rIns="27432" tIns="27432" bIns="27432" anchor="t">
            <a:spAutoFit/>
          </a:bodyPr>
          <a:lstStyle/>
          <a:p>
            <a:pPr algn="l"/>
            <a:r>
              <a:rPr sz="1000" b="1">
                <a:solidFill>
                  <a:srgbClr val="355C47"/>
                </a:solidFill>
                <a:latin typeface="Aptos"/>
              </a:rPr>
              <a:t>Spokane</a:t>
            </a:r>
          </a:p>
        </p:txBody>
      </p:sp>
      <p:sp>
        <p:nvSpPr>
          <p:cNvPr id="21" name="Oval 20"/>
          <p:cNvSpPr/>
          <p:nvPr/>
        </p:nvSpPr>
        <p:spPr>
          <a:xfrm>
            <a:off x="2175622" y="3928057"/>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12782" y="3937201"/>
            <a:ext cx="1097280" cy="146304"/>
          </a:xfrm>
          <a:prstGeom prst="rect">
            <a:avLst/>
          </a:prstGeom>
          <a:noFill/>
        </p:spPr>
        <p:txBody>
          <a:bodyPr wrap="square" lIns="27432" rIns="27432" tIns="27432" bIns="27432" anchor="t">
            <a:spAutoFit/>
          </a:bodyPr>
          <a:lstStyle/>
          <a:p>
            <a:pPr algn="l"/>
            <a:r>
              <a:rPr sz="1000" b="1">
                <a:solidFill>
                  <a:srgbClr val="355C47"/>
                </a:solidFill>
                <a:latin typeface="Aptos"/>
              </a:rPr>
              <a:t>San Diego</a:t>
            </a:r>
          </a:p>
        </p:txBody>
      </p:sp>
      <p:sp>
        <p:nvSpPr>
          <p:cNvPr id="23" name="Oval 22"/>
          <p:cNvSpPr/>
          <p:nvPr/>
        </p:nvSpPr>
        <p:spPr>
          <a:xfrm>
            <a:off x="1444752" y="4501922"/>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81912" y="4511066"/>
            <a:ext cx="1097280" cy="146304"/>
          </a:xfrm>
          <a:prstGeom prst="rect">
            <a:avLst/>
          </a:prstGeom>
          <a:noFill/>
        </p:spPr>
        <p:txBody>
          <a:bodyPr wrap="square" lIns="27432" rIns="27432" tIns="27432" bIns="27432" anchor="t">
            <a:spAutoFit/>
          </a:bodyPr>
          <a:lstStyle/>
          <a:p>
            <a:pPr algn="l"/>
            <a:r>
              <a:rPr sz="1000" b="0">
                <a:solidFill>
                  <a:srgbClr val="1F2621"/>
                </a:solidFill>
                <a:latin typeface="Aptos"/>
              </a:rPr>
              <a:t>Los Angeles</a:t>
            </a:r>
          </a:p>
        </p:txBody>
      </p:sp>
      <p:sp>
        <p:nvSpPr>
          <p:cNvPr id="25" name="Oval 24"/>
          <p:cNvSpPr/>
          <p:nvPr/>
        </p:nvSpPr>
        <p:spPr>
          <a:xfrm>
            <a:off x="2299150" y="4419941"/>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36310" y="4429085"/>
            <a:ext cx="1097280" cy="146304"/>
          </a:xfrm>
          <a:prstGeom prst="rect">
            <a:avLst/>
          </a:prstGeom>
          <a:noFill/>
        </p:spPr>
        <p:txBody>
          <a:bodyPr wrap="square" lIns="27432" rIns="27432" tIns="27432" bIns="27432" anchor="t">
            <a:spAutoFit/>
          </a:bodyPr>
          <a:lstStyle/>
          <a:p>
            <a:pPr algn="l"/>
            <a:r>
              <a:rPr sz="1000" b="0">
                <a:solidFill>
                  <a:srgbClr val="1F2621"/>
                </a:solidFill>
                <a:latin typeface="Aptos"/>
              </a:rPr>
              <a:t>Sacramento</a:t>
            </a:r>
          </a:p>
        </p:txBody>
      </p:sp>
      <p:sp>
        <p:nvSpPr>
          <p:cNvPr id="27" name="Oval 26"/>
          <p:cNvSpPr/>
          <p:nvPr/>
        </p:nvSpPr>
        <p:spPr>
          <a:xfrm>
            <a:off x="2330032" y="4245732"/>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467192" y="4254876"/>
            <a:ext cx="1097280" cy="146304"/>
          </a:xfrm>
          <a:prstGeom prst="rect">
            <a:avLst/>
          </a:prstGeom>
          <a:noFill/>
        </p:spPr>
        <p:txBody>
          <a:bodyPr wrap="square" lIns="27432" rIns="27432" tIns="27432" bIns="27432" anchor="t">
            <a:spAutoFit/>
          </a:bodyPr>
          <a:lstStyle/>
          <a:p>
            <a:pPr algn="l"/>
            <a:r>
              <a:rPr sz="1000" b="0">
                <a:solidFill>
                  <a:srgbClr val="1F2621"/>
                </a:solidFill>
                <a:latin typeface="Aptos"/>
              </a:rPr>
              <a:t>San Francisco</a:t>
            </a:r>
          </a:p>
        </p:txBody>
      </p:sp>
      <p:sp>
        <p:nvSpPr>
          <p:cNvPr id="29" name="Oval 28"/>
          <p:cNvSpPr/>
          <p:nvPr/>
        </p:nvSpPr>
        <p:spPr>
          <a:xfrm>
            <a:off x="2345473" y="4855464"/>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482633" y="4864608"/>
            <a:ext cx="1097280" cy="146304"/>
          </a:xfrm>
          <a:prstGeom prst="rect">
            <a:avLst/>
          </a:prstGeom>
          <a:noFill/>
        </p:spPr>
        <p:txBody>
          <a:bodyPr wrap="square" lIns="27432" rIns="27432" tIns="27432" bIns="27432" anchor="t">
            <a:spAutoFit/>
          </a:bodyPr>
          <a:lstStyle/>
          <a:p>
            <a:pPr algn="l"/>
            <a:r>
              <a:rPr sz="1000" b="0">
                <a:solidFill>
                  <a:srgbClr val="1F2621"/>
                </a:solidFill>
                <a:latin typeface="Aptos"/>
              </a:rPr>
              <a:t>Las Vegas</a:t>
            </a:r>
          </a:p>
        </p:txBody>
      </p:sp>
      <p:sp>
        <p:nvSpPr>
          <p:cNvPr id="31" name="TextBox 30"/>
          <p:cNvSpPr txBox="1"/>
          <p:nvPr/>
        </p:nvSpPr>
        <p:spPr>
          <a:xfrm>
            <a:off x="3310128" y="5413248"/>
            <a:ext cx="1828800" cy="146304"/>
          </a:xfrm>
          <a:prstGeom prst="rect">
            <a:avLst/>
          </a:prstGeom>
          <a:noFill/>
        </p:spPr>
        <p:txBody>
          <a:bodyPr wrap="square" lIns="27432" rIns="27432" tIns="27432" bIns="27432" anchor="t">
            <a:spAutoFit/>
          </a:bodyPr>
          <a:lstStyle/>
          <a:p>
            <a:pPr algn="ctr"/>
            <a:r>
              <a:rPr sz="1000" b="0">
                <a:solidFill>
                  <a:srgbClr val="5F6B63"/>
                </a:solidFill>
                <a:latin typeface="Aptos"/>
              </a:rPr>
              <a:t>Higher mileage</a:t>
            </a:r>
          </a:p>
        </p:txBody>
      </p:sp>
      <p:sp>
        <p:nvSpPr>
          <p:cNvPr id="32" name="TextBox 31"/>
          <p:cNvSpPr txBox="1"/>
          <p:nvPr/>
        </p:nvSpPr>
        <p:spPr>
          <a:xfrm>
            <a:off x="841248" y="3657600"/>
            <a:ext cx="548640" cy="320040"/>
          </a:xfrm>
          <a:prstGeom prst="rect">
            <a:avLst/>
          </a:prstGeom>
          <a:noFill/>
        </p:spPr>
        <p:txBody>
          <a:bodyPr wrap="square" lIns="27432" rIns="27432" tIns="27432" bIns="27432" anchor="t">
            <a:spAutoFit/>
          </a:bodyPr>
          <a:lstStyle/>
          <a:p>
            <a:pPr algn="ctr"/>
            <a:r>
              <a:rPr sz="1000" b="0">
                <a:solidFill>
                  <a:srgbClr val="5F6B63"/>
                </a:solidFill>
                <a:latin typeface="Aptos"/>
              </a:rPr>
              <a:t>Higher
price</a:t>
            </a:r>
          </a:p>
        </p:txBody>
      </p:sp>
      <p:sp>
        <p:nvSpPr>
          <p:cNvPr id="33" name="Rounded Rectangle 32"/>
          <p:cNvSpPr/>
          <p:nvPr/>
        </p:nvSpPr>
        <p:spPr>
          <a:xfrm>
            <a:off x="7845552" y="1664208"/>
            <a:ext cx="3657600" cy="4251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01583" y="1938528"/>
            <a:ext cx="157276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9" y="2048256"/>
            <a:ext cx="1316736" cy="164592"/>
          </a:xfrm>
          <a:prstGeom prst="rect">
            <a:avLst/>
          </a:prstGeom>
          <a:noFill/>
        </p:spPr>
        <p:txBody>
          <a:bodyPr wrap="square" lIns="27432" rIns="27432" tIns="27432" bIns="27432" anchor="t">
            <a:spAutoFit/>
          </a:bodyPr>
          <a:lstStyle/>
          <a:p>
            <a:pPr algn="l"/>
            <a:r>
              <a:rPr sz="1000" b="1">
                <a:solidFill>
                  <a:srgbClr val="5F6B63"/>
                </a:solidFill>
                <a:latin typeface="Aptos"/>
              </a:rPr>
              <a:t>SELECTED AVG PRICE</a:t>
            </a:r>
          </a:p>
        </p:txBody>
      </p:sp>
      <p:sp>
        <p:nvSpPr>
          <p:cNvPr id="36" name="TextBox 35"/>
          <p:cNvSpPr txBox="1"/>
          <p:nvPr/>
        </p:nvSpPr>
        <p:spPr>
          <a:xfrm>
            <a:off x="8229599" y="2249424"/>
            <a:ext cx="1316736"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$2.45</a:t>
            </a:r>
          </a:p>
        </p:txBody>
      </p:sp>
      <p:sp>
        <p:nvSpPr>
          <p:cNvPr id="37" name="Rounded Rectangle 36"/>
          <p:cNvSpPr/>
          <p:nvPr/>
        </p:nvSpPr>
        <p:spPr>
          <a:xfrm>
            <a:off x="9765792" y="1938528"/>
            <a:ext cx="148132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93808" y="2048256"/>
            <a:ext cx="1225296" cy="164592"/>
          </a:xfrm>
          <a:prstGeom prst="rect">
            <a:avLst/>
          </a:prstGeom>
          <a:noFill/>
        </p:spPr>
        <p:txBody>
          <a:bodyPr wrap="square" lIns="27432" rIns="27432" tIns="27432" bIns="27432" anchor="t">
            <a:spAutoFit/>
          </a:bodyPr>
          <a:lstStyle/>
          <a:p>
            <a:pPr algn="l"/>
            <a:r>
              <a:rPr sz="1000" b="1">
                <a:solidFill>
                  <a:srgbClr val="5F6B63"/>
                </a:solidFill>
                <a:latin typeface="Aptos"/>
              </a:rPr>
              <a:t>NEARBY ALT.</a:t>
            </a:r>
          </a:p>
        </p:txBody>
      </p:sp>
      <p:sp>
        <p:nvSpPr>
          <p:cNvPr id="39" name="TextBox 38"/>
          <p:cNvSpPr txBox="1"/>
          <p:nvPr/>
        </p:nvSpPr>
        <p:spPr>
          <a:xfrm>
            <a:off x="9893808" y="2249424"/>
            <a:ext cx="1225296"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$1.87</a:t>
            </a:r>
          </a:p>
        </p:txBody>
      </p:sp>
      <p:sp>
        <p:nvSpPr>
          <p:cNvPr id="40" name="TextBox 39"/>
          <p:cNvSpPr txBox="1"/>
          <p:nvPr/>
        </p:nvSpPr>
        <p:spPr>
          <a:xfrm>
            <a:off x="8101583" y="3054096"/>
            <a:ext cx="2907792" cy="17373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The winning cities are not the shortest-haul options; they are the strongest price-support markets.</a:t>
            </a:r>
          </a:p>
          <a:p>
            <a:pPr algn="l">
              <a:lnSpc>
                <a:spcPct val="115000"/>
              </a:lnSpc>
            </a:pPr>
            <a:r>
              <a:rPr sz="1300">
                <a:solidFill>
                  <a:srgbClr val="1F2621"/>
                </a:solidFill>
                <a:latin typeface="Aptos"/>
              </a:rPr>
              <a:t>- Nearby alternatives lose because lower local pricing gives back the mileage advantage.</a:t>
            </a:r>
          </a:p>
          <a:p>
            <a:pPr algn="l">
              <a:lnSpc>
                <a:spcPct val="115000"/>
              </a:lnSpc>
            </a:pPr>
            <a:r>
              <a:rPr sz="1300">
                <a:solidFill>
                  <a:srgbClr val="1F2621"/>
                </a:solidFill>
                <a:latin typeface="Aptos"/>
              </a:rPr>
              <a:t>- San Diego is the low-mile hedge inside an otherwise premium-price 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21</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Shipping +50% compresses profit but does not change the recommendation</a:t>
            </a:r>
          </a:p>
        </p:txBody>
      </p:sp>
      <p:sp>
        <p:nvSpPr>
          <p:cNvPr id="9" name="Rounded Rectangle 8"/>
          <p:cNvSpPr/>
          <p:nvPr/>
        </p:nvSpPr>
        <p:spPr>
          <a:xfrm>
            <a:off x="713232" y="1664208"/>
            <a:ext cx="690372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83664"/>
            <a:ext cx="2468880" cy="164592"/>
          </a:xfrm>
          <a:prstGeom prst="rect">
            <a:avLst/>
          </a:prstGeom>
          <a:noFill/>
        </p:spPr>
        <p:txBody>
          <a:bodyPr wrap="square" lIns="27432" rIns="27432" tIns="27432" bIns="27432" anchor="t">
            <a:spAutoFit/>
          </a:bodyPr>
          <a:lstStyle/>
          <a:p>
            <a:pPr algn="l"/>
            <a:r>
              <a:rPr sz="1000" b="1">
                <a:solidFill>
                  <a:srgbClr val="5F6B63"/>
                </a:solidFill>
                <a:latin typeface="Aptos"/>
              </a:rPr>
              <a:t>BASE VS +50% FREIGHT</a:t>
            </a:r>
          </a:p>
        </p:txBody>
      </p:sp>
      <p:sp>
        <p:nvSpPr>
          <p:cNvPr id="11" name="TextBox 10"/>
          <p:cNvSpPr txBox="1"/>
          <p:nvPr/>
        </p:nvSpPr>
        <p:spPr>
          <a:xfrm>
            <a:off x="932688" y="2304288"/>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212848" y="2322576"/>
            <a:ext cx="2560320"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12848" y="2505456"/>
            <a:ext cx="2391384"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83480" y="2286000"/>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$15.3k</a:t>
            </a:r>
          </a:p>
        </p:txBody>
      </p:sp>
      <p:sp>
        <p:nvSpPr>
          <p:cNvPr id="15" name="TextBox 14"/>
          <p:cNvSpPr txBox="1"/>
          <p:nvPr/>
        </p:nvSpPr>
        <p:spPr>
          <a:xfrm>
            <a:off x="4983480" y="2478024"/>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$14.3k</a:t>
            </a:r>
          </a:p>
        </p:txBody>
      </p:sp>
      <p:sp>
        <p:nvSpPr>
          <p:cNvPr id="16" name="TextBox 15"/>
          <p:cNvSpPr txBox="1"/>
          <p:nvPr/>
        </p:nvSpPr>
        <p:spPr>
          <a:xfrm>
            <a:off x="5989320" y="2377440"/>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-$1.0k</a:t>
            </a:r>
          </a:p>
        </p:txBody>
      </p:sp>
      <p:sp>
        <p:nvSpPr>
          <p:cNvPr id="17" name="TextBox 16"/>
          <p:cNvSpPr txBox="1"/>
          <p:nvPr/>
        </p:nvSpPr>
        <p:spPr>
          <a:xfrm>
            <a:off x="932688" y="2980944"/>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8" name="Rounded Rectangle 17"/>
          <p:cNvSpPr/>
          <p:nvPr/>
        </p:nvSpPr>
        <p:spPr>
          <a:xfrm>
            <a:off x="2212848" y="2999232"/>
            <a:ext cx="2488703"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212848" y="3182112"/>
            <a:ext cx="2328238"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2962656"/>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$14.8k</a:t>
            </a:r>
          </a:p>
        </p:txBody>
      </p:sp>
      <p:sp>
        <p:nvSpPr>
          <p:cNvPr id="21" name="TextBox 20"/>
          <p:cNvSpPr txBox="1"/>
          <p:nvPr/>
        </p:nvSpPr>
        <p:spPr>
          <a:xfrm>
            <a:off x="4983480" y="3154680"/>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$13.9k</a:t>
            </a:r>
          </a:p>
        </p:txBody>
      </p:sp>
      <p:sp>
        <p:nvSpPr>
          <p:cNvPr id="22" name="TextBox 21"/>
          <p:cNvSpPr txBox="1"/>
          <p:nvPr/>
        </p:nvSpPr>
        <p:spPr>
          <a:xfrm>
            <a:off x="5989320" y="3054096"/>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-$957</a:t>
            </a:r>
          </a:p>
        </p:txBody>
      </p:sp>
      <p:sp>
        <p:nvSpPr>
          <p:cNvPr id="23" name="TextBox 22"/>
          <p:cNvSpPr txBox="1"/>
          <p:nvPr/>
        </p:nvSpPr>
        <p:spPr>
          <a:xfrm>
            <a:off x="932688" y="3657600"/>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4" name="Rounded Rectangle 23"/>
          <p:cNvSpPr/>
          <p:nvPr/>
        </p:nvSpPr>
        <p:spPr>
          <a:xfrm>
            <a:off x="2212848" y="3675888"/>
            <a:ext cx="2416584"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12848" y="3858768"/>
            <a:ext cx="2254944"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639312"/>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$14.4k</a:t>
            </a:r>
          </a:p>
        </p:txBody>
      </p:sp>
      <p:sp>
        <p:nvSpPr>
          <p:cNvPr id="27" name="TextBox 26"/>
          <p:cNvSpPr txBox="1"/>
          <p:nvPr/>
        </p:nvSpPr>
        <p:spPr>
          <a:xfrm>
            <a:off x="4983480" y="3831336"/>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$13.4k</a:t>
            </a:r>
          </a:p>
        </p:txBody>
      </p:sp>
      <p:sp>
        <p:nvSpPr>
          <p:cNvPr id="28" name="TextBox 27"/>
          <p:cNvSpPr txBox="1"/>
          <p:nvPr/>
        </p:nvSpPr>
        <p:spPr>
          <a:xfrm>
            <a:off x="5989320" y="3730752"/>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-$964</a:t>
            </a:r>
          </a:p>
        </p:txBody>
      </p:sp>
      <p:sp>
        <p:nvSpPr>
          <p:cNvPr id="29" name="TextBox 28"/>
          <p:cNvSpPr txBox="1"/>
          <p:nvPr/>
        </p:nvSpPr>
        <p:spPr>
          <a:xfrm>
            <a:off x="932688" y="4334256"/>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30" name="Rounded Rectangle 29"/>
          <p:cNvSpPr/>
          <p:nvPr/>
        </p:nvSpPr>
        <p:spPr>
          <a:xfrm>
            <a:off x="2212848" y="4352544"/>
            <a:ext cx="2178926"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212848" y="4535424"/>
            <a:ext cx="2007139"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83480" y="4315968"/>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$13.0k</a:t>
            </a:r>
          </a:p>
        </p:txBody>
      </p:sp>
      <p:sp>
        <p:nvSpPr>
          <p:cNvPr id="33" name="TextBox 32"/>
          <p:cNvSpPr txBox="1"/>
          <p:nvPr/>
        </p:nvSpPr>
        <p:spPr>
          <a:xfrm>
            <a:off x="4983480" y="4507992"/>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$12.0k</a:t>
            </a:r>
          </a:p>
        </p:txBody>
      </p:sp>
      <p:sp>
        <p:nvSpPr>
          <p:cNvPr id="34" name="TextBox 33"/>
          <p:cNvSpPr txBox="1"/>
          <p:nvPr/>
        </p:nvSpPr>
        <p:spPr>
          <a:xfrm>
            <a:off x="5989320" y="4407408"/>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-$1.0k</a:t>
            </a:r>
          </a:p>
        </p:txBody>
      </p:sp>
      <p:sp>
        <p:nvSpPr>
          <p:cNvPr id="35" name="TextBox 34"/>
          <p:cNvSpPr txBox="1"/>
          <p:nvPr/>
        </p:nvSpPr>
        <p:spPr>
          <a:xfrm>
            <a:off x="932688" y="5010912"/>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36" name="Rounded Rectangle 35"/>
          <p:cNvSpPr/>
          <p:nvPr/>
        </p:nvSpPr>
        <p:spPr>
          <a:xfrm>
            <a:off x="2212848" y="5029200"/>
            <a:ext cx="1865961"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212848" y="5212080"/>
            <a:ext cx="1729564"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83480" y="4992624"/>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$11.1k</a:t>
            </a:r>
          </a:p>
        </p:txBody>
      </p:sp>
      <p:sp>
        <p:nvSpPr>
          <p:cNvPr id="39" name="TextBox 38"/>
          <p:cNvSpPr txBox="1"/>
          <p:nvPr/>
        </p:nvSpPr>
        <p:spPr>
          <a:xfrm>
            <a:off x="4983480" y="5184648"/>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$10.3k</a:t>
            </a:r>
          </a:p>
        </p:txBody>
      </p:sp>
      <p:sp>
        <p:nvSpPr>
          <p:cNvPr id="40" name="TextBox 39"/>
          <p:cNvSpPr txBox="1"/>
          <p:nvPr/>
        </p:nvSpPr>
        <p:spPr>
          <a:xfrm>
            <a:off x="5989320" y="5084064"/>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-$813</a:t>
            </a:r>
          </a:p>
        </p:txBody>
      </p:sp>
      <p:sp>
        <p:nvSpPr>
          <p:cNvPr id="41" name="TextBox 40"/>
          <p:cNvSpPr txBox="1"/>
          <p:nvPr/>
        </p:nvSpPr>
        <p:spPr>
          <a:xfrm>
            <a:off x="2212848" y="5413248"/>
            <a:ext cx="1097280" cy="146304"/>
          </a:xfrm>
          <a:prstGeom prst="rect">
            <a:avLst/>
          </a:prstGeom>
          <a:noFill/>
        </p:spPr>
        <p:txBody>
          <a:bodyPr wrap="square" lIns="27432" rIns="27432" tIns="27432" bIns="27432" anchor="t">
            <a:spAutoFit/>
          </a:bodyPr>
          <a:lstStyle/>
          <a:p>
            <a:pPr algn="l"/>
            <a:r>
              <a:rPr sz="1000" b="0">
                <a:solidFill>
                  <a:srgbClr val="355C47"/>
                </a:solidFill>
                <a:latin typeface="Aptos"/>
              </a:rPr>
              <a:t>Base case</a:t>
            </a:r>
          </a:p>
        </p:txBody>
      </p:sp>
      <p:sp>
        <p:nvSpPr>
          <p:cNvPr id="42" name="TextBox 41"/>
          <p:cNvSpPr txBox="1"/>
          <p:nvPr/>
        </p:nvSpPr>
        <p:spPr>
          <a:xfrm>
            <a:off x="3273552" y="5413248"/>
            <a:ext cx="1280160" cy="146304"/>
          </a:xfrm>
          <a:prstGeom prst="rect">
            <a:avLst/>
          </a:prstGeom>
          <a:noFill/>
        </p:spPr>
        <p:txBody>
          <a:bodyPr wrap="square" lIns="27432" rIns="27432" tIns="27432" bIns="27432" anchor="t">
            <a:spAutoFit/>
          </a:bodyPr>
          <a:lstStyle/>
          <a:p>
            <a:pPr algn="l"/>
            <a:r>
              <a:rPr sz="1000" b="0">
                <a:solidFill>
                  <a:srgbClr val="B5533A"/>
                </a:solidFill>
                <a:latin typeface="Aptos"/>
              </a:rPr>
              <a:t>+50% freight</a:t>
            </a:r>
          </a:p>
        </p:txBody>
      </p:sp>
      <p:sp>
        <p:nvSpPr>
          <p:cNvPr id="43" name="Rounded Rectangle 42"/>
          <p:cNvSpPr/>
          <p:nvPr/>
        </p:nvSpPr>
        <p:spPr>
          <a:xfrm>
            <a:off x="7845552" y="1664208"/>
            <a:ext cx="365760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101583" y="1938528"/>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9" y="2048256"/>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TOP-5 AVG PROFIT</a:t>
            </a:r>
          </a:p>
        </p:txBody>
      </p:sp>
      <p:sp>
        <p:nvSpPr>
          <p:cNvPr id="46" name="TextBox 45"/>
          <p:cNvSpPr txBox="1"/>
          <p:nvPr/>
        </p:nvSpPr>
        <p:spPr>
          <a:xfrm>
            <a:off x="8229599" y="2249424"/>
            <a:ext cx="1389888" cy="457200"/>
          </a:xfrm>
          <a:prstGeom prst="rect">
            <a:avLst/>
          </a:prstGeom>
          <a:noFill/>
        </p:spPr>
        <p:txBody>
          <a:bodyPr wrap="square" lIns="27432" rIns="27432" tIns="27432" bIns="27432" anchor="ctr">
            <a:spAutoFit/>
          </a:bodyPr>
          <a:lstStyle/>
          <a:p>
            <a:pPr algn="l"/>
            <a:r>
              <a:rPr sz="1900" b="1">
                <a:solidFill>
                  <a:srgbClr val="B5533A"/>
                </a:solidFill>
                <a:latin typeface="Aptos Display"/>
              </a:rPr>
              <a:t>$12.8k</a:t>
            </a:r>
          </a:p>
        </p:txBody>
      </p:sp>
      <p:sp>
        <p:nvSpPr>
          <p:cNvPr id="47" name="Rounded Rectangle 46"/>
          <p:cNvSpPr/>
          <p:nvPr/>
        </p:nvSpPr>
        <p:spPr>
          <a:xfrm>
            <a:off x="9857232" y="1938528"/>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85248" y="2048256"/>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AVG MARGIN</a:t>
            </a:r>
          </a:p>
        </p:txBody>
      </p:sp>
      <p:sp>
        <p:nvSpPr>
          <p:cNvPr id="49" name="TextBox 48"/>
          <p:cNvSpPr txBox="1"/>
          <p:nvPr/>
        </p:nvSpPr>
        <p:spPr>
          <a:xfrm>
            <a:off x="9985248" y="2249424"/>
            <a:ext cx="1097280"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64.9%</a:t>
            </a:r>
          </a:p>
        </p:txBody>
      </p:sp>
      <p:sp>
        <p:nvSpPr>
          <p:cNvPr id="50" name="Rounded Rectangle 49"/>
          <p:cNvSpPr/>
          <p:nvPr/>
        </p:nvSpPr>
        <p:spPr>
          <a:xfrm>
            <a:off x="8101583" y="3017520"/>
            <a:ext cx="31089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599" y="3127248"/>
            <a:ext cx="2852928" cy="164592"/>
          </a:xfrm>
          <a:prstGeom prst="rect">
            <a:avLst/>
          </a:prstGeom>
          <a:noFill/>
        </p:spPr>
        <p:txBody>
          <a:bodyPr wrap="square" lIns="27432" rIns="27432" tIns="27432" bIns="27432" anchor="t">
            <a:spAutoFit/>
          </a:bodyPr>
          <a:lstStyle/>
          <a:p>
            <a:pPr algn="l"/>
            <a:r>
              <a:rPr sz="1000" b="1">
                <a:solidFill>
                  <a:srgbClr val="5F6B63"/>
                </a:solidFill>
                <a:latin typeface="Aptos"/>
              </a:rPr>
              <a:t>RESULT</a:t>
            </a:r>
          </a:p>
        </p:txBody>
      </p:sp>
      <p:sp>
        <p:nvSpPr>
          <p:cNvPr id="52" name="TextBox 51"/>
          <p:cNvSpPr txBox="1"/>
          <p:nvPr/>
        </p:nvSpPr>
        <p:spPr>
          <a:xfrm>
            <a:off x="8229599" y="3328416"/>
            <a:ext cx="2852928"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Same 5 cities</a:t>
            </a:r>
          </a:p>
        </p:txBody>
      </p:sp>
      <p:sp>
        <p:nvSpPr>
          <p:cNvPr id="53" name="TextBox 52"/>
          <p:cNvSpPr txBox="1"/>
          <p:nvPr/>
        </p:nvSpPr>
        <p:spPr>
          <a:xfrm>
            <a:off x="8101583" y="4160520"/>
            <a:ext cx="2889504" cy="12801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Profit compresses in every selected city.</a:t>
            </a:r>
          </a:p>
          <a:p>
            <a:pPr algn="l">
              <a:lnSpc>
                <a:spcPct val="115000"/>
              </a:lnSpc>
            </a:pPr>
            <a:r>
              <a:rPr sz="1300">
                <a:solidFill>
                  <a:srgbClr val="1F2621"/>
                </a:solidFill>
                <a:latin typeface="Aptos"/>
              </a:rPr>
              <a:t>- The ranking does not change because local price support still dominates freight.</a:t>
            </a:r>
          </a:p>
          <a:p>
            <a:pPr algn="l">
              <a:lnSpc>
                <a:spcPct val="115000"/>
              </a:lnSpc>
            </a:pPr>
            <a:r>
              <a:rPr sz="1300">
                <a:solidFill>
                  <a:srgbClr val="1F2621"/>
                </a:solidFill>
                <a:latin typeface="Aptos"/>
              </a:rPr>
              <a:t>- This is a resilience test, not a claim that shipping does not matter.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22</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Shipping -50% expands profit but still does not change the recommendation</a:t>
            </a:r>
          </a:p>
        </p:txBody>
      </p:sp>
      <p:sp>
        <p:nvSpPr>
          <p:cNvPr id="9" name="Rounded Rectangle 8"/>
          <p:cNvSpPr/>
          <p:nvPr/>
        </p:nvSpPr>
        <p:spPr>
          <a:xfrm>
            <a:off x="713232" y="1664208"/>
            <a:ext cx="690372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83664"/>
            <a:ext cx="2468880" cy="164592"/>
          </a:xfrm>
          <a:prstGeom prst="rect">
            <a:avLst/>
          </a:prstGeom>
          <a:noFill/>
        </p:spPr>
        <p:txBody>
          <a:bodyPr wrap="square" lIns="27432" rIns="27432" tIns="27432" bIns="27432" anchor="t">
            <a:spAutoFit/>
          </a:bodyPr>
          <a:lstStyle/>
          <a:p>
            <a:pPr algn="l"/>
            <a:r>
              <a:rPr sz="1000" b="1">
                <a:solidFill>
                  <a:srgbClr val="5F6B63"/>
                </a:solidFill>
                <a:latin typeface="Aptos"/>
              </a:rPr>
              <a:t>BASE VS -50% FREIGHT</a:t>
            </a:r>
          </a:p>
        </p:txBody>
      </p:sp>
      <p:sp>
        <p:nvSpPr>
          <p:cNvPr id="11" name="TextBox 10"/>
          <p:cNvSpPr txBox="1"/>
          <p:nvPr/>
        </p:nvSpPr>
        <p:spPr>
          <a:xfrm>
            <a:off x="932688" y="2304288"/>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212848" y="2322576"/>
            <a:ext cx="2401841"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12848" y="2505456"/>
            <a:ext cx="2560320"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83480" y="2286000"/>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$15.3k</a:t>
            </a:r>
          </a:p>
        </p:txBody>
      </p:sp>
      <p:sp>
        <p:nvSpPr>
          <p:cNvPr id="15" name="TextBox 14"/>
          <p:cNvSpPr txBox="1"/>
          <p:nvPr/>
        </p:nvSpPr>
        <p:spPr>
          <a:xfrm>
            <a:off x="4983480" y="2478024"/>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$16.3k</a:t>
            </a:r>
          </a:p>
        </p:txBody>
      </p:sp>
      <p:sp>
        <p:nvSpPr>
          <p:cNvPr id="16" name="TextBox 15"/>
          <p:cNvSpPr txBox="1"/>
          <p:nvPr/>
        </p:nvSpPr>
        <p:spPr>
          <a:xfrm>
            <a:off x="5989320" y="2377440"/>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+$1.0k</a:t>
            </a:r>
          </a:p>
        </p:txBody>
      </p:sp>
      <p:sp>
        <p:nvSpPr>
          <p:cNvPr id="17" name="TextBox 16"/>
          <p:cNvSpPr txBox="1"/>
          <p:nvPr/>
        </p:nvSpPr>
        <p:spPr>
          <a:xfrm>
            <a:off x="932688" y="2980944"/>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8" name="Rounded Rectangle 17"/>
          <p:cNvSpPr/>
          <p:nvPr/>
        </p:nvSpPr>
        <p:spPr>
          <a:xfrm>
            <a:off x="2212848" y="2999232"/>
            <a:ext cx="2334658"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212848" y="3182112"/>
            <a:ext cx="2485191"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2962656"/>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$14.8k</a:t>
            </a:r>
          </a:p>
        </p:txBody>
      </p:sp>
      <p:sp>
        <p:nvSpPr>
          <p:cNvPr id="21" name="TextBox 20"/>
          <p:cNvSpPr txBox="1"/>
          <p:nvPr/>
        </p:nvSpPr>
        <p:spPr>
          <a:xfrm>
            <a:off x="4983480" y="3154680"/>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$15.8k</a:t>
            </a:r>
          </a:p>
        </p:txBody>
      </p:sp>
      <p:sp>
        <p:nvSpPr>
          <p:cNvPr id="22" name="TextBox 21"/>
          <p:cNvSpPr txBox="1"/>
          <p:nvPr/>
        </p:nvSpPr>
        <p:spPr>
          <a:xfrm>
            <a:off x="5989320" y="3054096"/>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+$957</a:t>
            </a:r>
          </a:p>
        </p:txBody>
      </p:sp>
      <p:sp>
        <p:nvSpPr>
          <p:cNvPr id="23" name="TextBox 22"/>
          <p:cNvSpPr txBox="1"/>
          <p:nvPr/>
        </p:nvSpPr>
        <p:spPr>
          <a:xfrm>
            <a:off x="932688" y="3657600"/>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4" name="Rounded Rectangle 23"/>
          <p:cNvSpPr/>
          <p:nvPr/>
        </p:nvSpPr>
        <p:spPr>
          <a:xfrm>
            <a:off x="2212848" y="3675888"/>
            <a:ext cx="2267002"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12848" y="3858768"/>
            <a:ext cx="2418637"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639312"/>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$14.4k</a:t>
            </a:r>
          </a:p>
        </p:txBody>
      </p:sp>
      <p:sp>
        <p:nvSpPr>
          <p:cNvPr id="27" name="TextBox 26"/>
          <p:cNvSpPr txBox="1"/>
          <p:nvPr/>
        </p:nvSpPr>
        <p:spPr>
          <a:xfrm>
            <a:off x="4983480" y="3831336"/>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$15.4k</a:t>
            </a:r>
          </a:p>
        </p:txBody>
      </p:sp>
      <p:sp>
        <p:nvSpPr>
          <p:cNvPr id="28" name="TextBox 27"/>
          <p:cNvSpPr txBox="1"/>
          <p:nvPr/>
        </p:nvSpPr>
        <p:spPr>
          <a:xfrm>
            <a:off x="5989320" y="3730752"/>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+$964</a:t>
            </a:r>
          </a:p>
        </p:txBody>
      </p:sp>
      <p:sp>
        <p:nvSpPr>
          <p:cNvPr id="29" name="TextBox 28"/>
          <p:cNvSpPr txBox="1"/>
          <p:nvPr/>
        </p:nvSpPr>
        <p:spPr>
          <a:xfrm>
            <a:off x="932688" y="4334256"/>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30" name="Rounded Rectangle 29"/>
          <p:cNvSpPr/>
          <p:nvPr/>
        </p:nvSpPr>
        <p:spPr>
          <a:xfrm>
            <a:off x="2212848" y="4352544"/>
            <a:ext cx="2044055"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212848" y="4535424"/>
            <a:ext cx="2205208"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83480" y="4315968"/>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$13.0k</a:t>
            </a:r>
          </a:p>
        </p:txBody>
      </p:sp>
      <p:sp>
        <p:nvSpPr>
          <p:cNvPr id="33" name="TextBox 32"/>
          <p:cNvSpPr txBox="1"/>
          <p:nvPr/>
        </p:nvSpPr>
        <p:spPr>
          <a:xfrm>
            <a:off x="4983480" y="4507992"/>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$14.0k</a:t>
            </a:r>
          </a:p>
        </p:txBody>
      </p:sp>
      <p:sp>
        <p:nvSpPr>
          <p:cNvPr id="34" name="TextBox 33"/>
          <p:cNvSpPr txBox="1"/>
          <p:nvPr/>
        </p:nvSpPr>
        <p:spPr>
          <a:xfrm>
            <a:off x="5989320" y="4407408"/>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+$1.0k</a:t>
            </a:r>
          </a:p>
        </p:txBody>
      </p:sp>
      <p:sp>
        <p:nvSpPr>
          <p:cNvPr id="35" name="TextBox 34"/>
          <p:cNvSpPr txBox="1"/>
          <p:nvPr/>
        </p:nvSpPr>
        <p:spPr>
          <a:xfrm>
            <a:off x="932688" y="5010912"/>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36" name="Rounded Rectangle 35"/>
          <p:cNvSpPr/>
          <p:nvPr/>
        </p:nvSpPr>
        <p:spPr>
          <a:xfrm>
            <a:off x="2212848" y="5029200"/>
            <a:ext cx="1750462"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212848" y="5212080"/>
            <a:ext cx="1878417"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83480" y="4992624"/>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$11.1k</a:t>
            </a:r>
          </a:p>
        </p:txBody>
      </p:sp>
      <p:sp>
        <p:nvSpPr>
          <p:cNvPr id="39" name="TextBox 38"/>
          <p:cNvSpPr txBox="1"/>
          <p:nvPr/>
        </p:nvSpPr>
        <p:spPr>
          <a:xfrm>
            <a:off x="4983480" y="5184648"/>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$11.9k</a:t>
            </a:r>
          </a:p>
        </p:txBody>
      </p:sp>
      <p:sp>
        <p:nvSpPr>
          <p:cNvPr id="40" name="TextBox 39"/>
          <p:cNvSpPr txBox="1"/>
          <p:nvPr/>
        </p:nvSpPr>
        <p:spPr>
          <a:xfrm>
            <a:off x="5989320" y="5084064"/>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+$813</a:t>
            </a:r>
          </a:p>
        </p:txBody>
      </p:sp>
      <p:sp>
        <p:nvSpPr>
          <p:cNvPr id="41" name="TextBox 40"/>
          <p:cNvSpPr txBox="1"/>
          <p:nvPr/>
        </p:nvSpPr>
        <p:spPr>
          <a:xfrm>
            <a:off x="2212848" y="5413248"/>
            <a:ext cx="1097280" cy="146304"/>
          </a:xfrm>
          <a:prstGeom prst="rect">
            <a:avLst/>
          </a:prstGeom>
          <a:noFill/>
        </p:spPr>
        <p:txBody>
          <a:bodyPr wrap="square" lIns="27432" rIns="27432" tIns="27432" bIns="27432" anchor="t">
            <a:spAutoFit/>
          </a:bodyPr>
          <a:lstStyle/>
          <a:p>
            <a:pPr algn="l"/>
            <a:r>
              <a:rPr sz="1000" b="0">
                <a:solidFill>
                  <a:srgbClr val="355C47"/>
                </a:solidFill>
                <a:latin typeface="Aptos"/>
              </a:rPr>
              <a:t>Base case</a:t>
            </a:r>
          </a:p>
        </p:txBody>
      </p:sp>
      <p:sp>
        <p:nvSpPr>
          <p:cNvPr id="42" name="TextBox 41"/>
          <p:cNvSpPr txBox="1"/>
          <p:nvPr/>
        </p:nvSpPr>
        <p:spPr>
          <a:xfrm>
            <a:off x="3273552" y="5413248"/>
            <a:ext cx="1280160" cy="146304"/>
          </a:xfrm>
          <a:prstGeom prst="rect">
            <a:avLst/>
          </a:prstGeom>
          <a:noFill/>
        </p:spPr>
        <p:txBody>
          <a:bodyPr wrap="square" lIns="27432" rIns="27432" tIns="27432" bIns="27432" anchor="t">
            <a:spAutoFit/>
          </a:bodyPr>
          <a:lstStyle/>
          <a:p>
            <a:pPr algn="l"/>
            <a:r>
              <a:rPr sz="1000" b="0">
                <a:solidFill>
                  <a:srgbClr val="3F728A"/>
                </a:solidFill>
                <a:latin typeface="Aptos"/>
              </a:rPr>
              <a:t>-50% freight</a:t>
            </a:r>
          </a:p>
        </p:txBody>
      </p:sp>
      <p:sp>
        <p:nvSpPr>
          <p:cNvPr id="43" name="Rounded Rectangle 42"/>
          <p:cNvSpPr/>
          <p:nvPr/>
        </p:nvSpPr>
        <p:spPr>
          <a:xfrm>
            <a:off x="7845552" y="1664208"/>
            <a:ext cx="365760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101583" y="1938528"/>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9" y="2048256"/>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TOP-5 AVG PROFIT</a:t>
            </a:r>
          </a:p>
        </p:txBody>
      </p:sp>
      <p:sp>
        <p:nvSpPr>
          <p:cNvPr id="46" name="TextBox 45"/>
          <p:cNvSpPr txBox="1"/>
          <p:nvPr/>
        </p:nvSpPr>
        <p:spPr>
          <a:xfrm>
            <a:off x="8229599" y="2249424"/>
            <a:ext cx="1389888"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$14.7k</a:t>
            </a:r>
          </a:p>
        </p:txBody>
      </p:sp>
      <p:sp>
        <p:nvSpPr>
          <p:cNvPr id="47" name="Rounded Rectangle 46"/>
          <p:cNvSpPr/>
          <p:nvPr/>
        </p:nvSpPr>
        <p:spPr>
          <a:xfrm>
            <a:off x="9857232" y="1938528"/>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85248" y="2048256"/>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AVG MARGIN</a:t>
            </a:r>
          </a:p>
        </p:txBody>
      </p:sp>
      <p:sp>
        <p:nvSpPr>
          <p:cNvPr id="49" name="TextBox 48"/>
          <p:cNvSpPr txBox="1"/>
          <p:nvPr/>
        </p:nvSpPr>
        <p:spPr>
          <a:xfrm>
            <a:off x="9985248" y="2249424"/>
            <a:ext cx="1097280"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74.6%</a:t>
            </a:r>
          </a:p>
        </p:txBody>
      </p:sp>
      <p:sp>
        <p:nvSpPr>
          <p:cNvPr id="50" name="Rounded Rectangle 49"/>
          <p:cNvSpPr/>
          <p:nvPr/>
        </p:nvSpPr>
        <p:spPr>
          <a:xfrm>
            <a:off x="8101583" y="3017520"/>
            <a:ext cx="31089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599" y="3127248"/>
            <a:ext cx="2852928" cy="164592"/>
          </a:xfrm>
          <a:prstGeom prst="rect">
            <a:avLst/>
          </a:prstGeom>
          <a:noFill/>
        </p:spPr>
        <p:txBody>
          <a:bodyPr wrap="square" lIns="27432" rIns="27432" tIns="27432" bIns="27432" anchor="t">
            <a:spAutoFit/>
          </a:bodyPr>
          <a:lstStyle/>
          <a:p>
            <a:pPr algn="l"/>
            <a:r>
              <a:rPr sz="1000" b="1">
                <a:solidFill>
                  <a:srgbClr val="5F6B63"/>
                </a:solidFill>
                <a:latin typeface="Aptos"/>
              </a:rPr>
              <a:t>RESULT</a:t>
            </a:r>
          </a:p>
        </p:txBody>
      </p:sp>
      <p:sp>
        <p:nvSpPr>
          <p:cNvPr id="52" name="TextBox 51"/>
          <p:cNvSpPr txBox="1"/>
          <p:nvPr/>
        </p:nvSpPr>
        <p:spPr>
          <a:xfrm>
            <a:off x="8229599" y="3328416"/>
            <a:ext cx="2852928"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Same 5 cities</a:t>
            </a:r>
          </a:p>
        </p:txBody>
      </p:sp>
      <p:sp>
        <p:nvSpPr>
          <p:cNvPr id="53" name="TextBox 52"/>
          <p:cNvSpPr txBox="1"/>
          <p:nvPr/>
        </p:nvSpPr>
        <p:spPr>
          <a:xfrm>
            <a:off x="8101583" y="4160520"/>
            <a:ext cx="2889504" cy="12801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Every selected city benefits from lower freight.</a:t>
            </a:r>
          </a:p>
          <a:p>
            <a:pPr algn="l">
              <a:lnSpc>
                <a:spcPct val="115000"/>
              </a:lnSpc>
            </a:pPr>
            <a:r>
              <a:rPr sz="1300">
                <a:solidFill>
                  <a:srgbClr val="1F2621"/>
                </a:solidFill>
                <a:latin typeface="Aptos"/>
              </a:rPr>
              <a:t>- The rank order still does not move.</a:t>
            </a:r>
          </a:p>
          <a:p>
            <a:pPr algn="l">
              <a:lnSpc>
                <a:spcPct val="115000"/>
              </a:lnSpc>
            </a:pPr>
            <a:r>
              <a:rPr sz="1300">
                <a:solidFill>
                  <a:srgbClr val="1F2621"/>
                </a:solidFill>
                <a:latin typeface="Aptos"/>
              </a:rPr>
              <a:t>- That confirms the decision is about optimization, not about barely surviving freight.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23</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same five cities stay top-ranked in every modeled scenario</a:t>
            </a:r>
          </a:p>
        </p:txBody>
      </p:sp>
      <p:sp>
        <p:nvSpPr>
          <p:cNvPr id="9" name="Rounded Rectangle 8"/>
          <p:cNvSpPr/>
          <p:nvPr/>
        </p:nvSpPr>
        <p:spPr>
          <a:xfrm>
            <a:off x="713232" y="1645920"/>
            <a:ext cx="649224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65376"/>
            <a:ext cx="2194560" cy="164592"/>
          </a:xfrm>
          <a:prstGeom prst="rect">
            <a:avLst/>
          </a:prstGeom>
          <a:noFill/>
        </p:spPr>
        <p:txBody>
          <a:bodyPr wrap="square" lIns="27432" rIns="27432" tIns="27432" bIns="27432" anchor="t">
            <a:spAutoFit/>
          </a:bodyPr>
          <a:lstStyle/>
          <a:p>
            <a:pPr algn="l"/>
            <a:r>
              <a:rPr sz="1000" b="1">
                <a:solidFill>
                  <a:srgbClr val="5F6B63"/>
                </a:solidFill>
                <a:latin typeface="Aptos"/>
              </a:rPr>
              <a:t>RANK MATRIX</a:t>
            </a:r>
          </a:p>
        </p:txBody>
      </p:sp>
      <p:graphicFrame>
        <p:nvGraphicFramePr>
          <p:cNvPr id="11" name="Table 10"/>
          <p:cNvGraphicFramePr>
            <a:graphicFrameLocks noGrp="1"/>
          </p:cNvGraphicFramePr>
          <p:nvPr/>
        </p:nvGraphicFramePr>
        <p:xfrm>
          <a:off x="914400" y="2194560"/>
          <a:ext cx="5943600" cy="3072384"/>
        </p:xfrm>
        <a:graphic>
          <a:graphicData uri="http://schemas.openxmlformats.org/drawingml/2006/table">
            <a:tbl>
              <a:tblPr firstRow="1" bandRow="1">
                <a:tableStyleId>{5C22544A-7EE6-4342-B048-85BDC9FD1C3A}</a:tableStyleId>
              </a:tblPr>
              <a:tblGrid>
                <a:gridCol w="731520"/>
                <a:gridCol w="1737360"/>
                <a:gridCol w="1737360"/>
                <a:gridCol w="1737360"/>
              </a:tblGrid>
              <a:tr h="512064">
                <a:tc>
                  <a:txBody>
                    <a:bodyPr/>
                    <a:lstStyle/>
                    <a:p>
                      <a:pPr algn="ctr"/>
                      <a:r>
                        <a:rPr sz="1100" b="0">
                          <a:solidFill>
                            <a:srgbClr val="1F2621"/>
                          </a:solidFill>
                          <a:latin typeface="Aptos"/>
                        </a:rPr>
                        <a:t>Rank</a:t>
                      </a:r>
                    </a:p>
                  </a:txBody>
                  <a:tcPr>
                    <a:solidFill>
                      <a:srgbClr val="355C47"/>
                    </a:solidFill>
                  </a:tcPr>
                </a:tc>
                <a:tc>
                  <a:txBody>
                    <a:bodyPr/>
                    <a:lstStyle/>
                    <a:p>
                      <a:pPr algn="ctr"/>
                      <a:r>
                        <a:rPr sz="1100" b="0">
                          <a:solidFill>
                            <a:srgbClr val="1F2621"/>
                          </a:solidFill>
                          <a:latin typeface="Aptos"/>
                        </a:rPr>
                        <a:t>Base</a:t>
                      </a:r>
                    </a:p>
                  </a:txBody>
                  <a:tcPr>
                    <a:solidFill>
                      <a:srgbClr val="355C47"/>
                    </a:solidFill>
                  </a:tcPr>
                </a:tc>
                <a:tc>
                  <a:txBody>
                    <a:bodyPr/>
                    <a:lstStyle/>
                    <a:p>
                      <a:pPr algn="ctr"/>
                      <a:r>
                        <a:rPr sz="1100" b="0">
                          <a:solidFill>
                            <a:srgbClr val="1F2621"/>
                          </a:solidFill>
                          <a:latin typeface="Aptos"/>
                        </a:rPr>
                        <a:t>+50%</a:t>
                      </a:r>
                    </a:p>
                  </a:txBody>
                  <a:tcPr>
                    <a:solidFill>
                      <a:srgbClr val="355C47"/>
                    </a:solidFill>
                  </a:tcPr>
                </a:tc>
                <a:tc>
                  <a:txBody>
                    <a:bodyPr/>
                    <a:lstStyle/>
                    <a:p>
                      <a:pPr algn="ctr"/>
                      <a:r>
                        <a:rPr sz="1100" b="0">
                          <a:solidFill>
                            <a:srgbClr val="1F2621"/>
                          </a:solidFill>
                          <a:latin typeface="Aptos"/>
                        </a:rPr>
                        <a:t>-50%</a:t>
                      </a:r>
                    </a:p>
                  </a:txBody>
                  <a:tcPr>
                    <a:solidFill>
                      <a:srgbClr val="355C47"/>
                    </a:solidFill>
                  </a:tcPr>
                </a:tc>
              </a:tr>
              <a:tr h="512064">
                <a:tc>
                  <a:txBody>
                    <a:bodyPr/>
                    <a:lstStyle/>
                    <a:p>
                      <a:pPr algn="ctr"/>
                      <a:r>
                        <a:rPr sz="1100" b="0">
                          <a:solidFill>
                            <a:srgbClr val="1F2621"/>
                          </a:solidFill>
                          <a:latin typeface="Aptos"/>
                        </a:rPr>
                        <a:t>1</a:t>
                      </a:r>
                    </a:p>
                  </a:txBody>
                  <a:tcPr>
                    <a:solidFill>
                      <a:srgbClr val="FCFAF5"/>
                    </a:solidFill>
                  </a:tcPr>
                </a:tc>
                <a:tc>
                  <a:txBody>
                    <a:bodyPr/>
                    <a:lstStyle/>
                    <a:p>
                      <a:pPr algn="ctr"/>
                      <a:r>
                        <a:rPr sz="1100" b="0">
                          <a:solidFill>
                            <a:srgbClr val="1F2621"/>
                          </a:solidFill>
                          <a:latin typeface="Aptos"/>
                        </a:rPr>
                        <a:t>Seattle</a:t>
                      </a:r>
                    </a:p>
                  </a:txBody>
                  <a:tcPr>
                    <a:solidFill>
                      <a:srgbClr val="FCFAF5"/>
                    </a:solidFill>
                  </a:tcPr>
                </a:tc>
                <a:tc>
                  <a:txBody>
                    <a:bodyPr/>
                    <a:lstStyle/>
                    <a:p>
                      <a:pPr algn="ctr"/>
                      <a:r>
                        <a:rPr sz="1100" b="0">
                          <a:solidFill>
                            <a:srgbClr val="1F2621"/>
                          </a:solidFill>
                          <a:latin typeface="Aptos"/>
                        </a:rPr>
                        <a:t>Seattle</a:t>
                      </a:r>
                    </a:p>
                  </a:txBody>
                  <a:tcPr>
                    <a:solidFill>
                      <a:srgbClr val="FCFAF5"/>
                    </a:solidFill>
                  </a:tcPr>
                </a:tc>
                <a:tc>
                  <a:txBody>
                    <a:bodyPr/>
                    <a:lstStyle/>
                    <a:p>
                      <a:pPr algn="ctr"/>
                      <a:r>
                        <a:rPr sz="1100" b="0">
                          <a:solidFill>
                            <a:srgbClr val="1F2621"/>
                          </a:solidFill>
                          <a:latin typeface="Aptos"/>
                        </a:rPr>
                        <a:t>Seattle</a:t>
                      </a:r>
                    </a:p>
                  </a:txBody>
                  <a:tcPr>
                    <a:solidFill>
                      <a:srgbClr val="FCFAF5"/>
                    </a:solidFill>
                  </a:tcPr>
                </a:tc>
              </a:tr>
              <a:tr h="512064">
                <a:tc>
                  <a:txBody>
                    <a:bodyPr/>
                    <a:lstStyle/>
                    <a:p>
                      <a:pPr algn="ctr"/>
                      <a:r>
                        <a:rPr sz="1100" b="0">
                          <a:solidFill>
                            <a:srgbClr val="1F2621"/>
                          </a:solidFill>
                          <a:latin typeface="Aptos"/>
                        </a:rPr>
                        <a:t>2</a:t>
                      </a:r>
                    </a:p>
                  </a:txBody>
                  <a:tcPr>
                    <a:solidFill>
                      <a:srgbClr val="F7F3EC"/>
                    </a:solidFill>
                  </a:tcPr>
                </a:tc>
                <a:tc>
                  <a:txBody>
                    <a:bodyPr/>
                    <a:lstStyle/>
                    <a:p>
                      <a:pPr algn="ctr"/>
                      <a:r>
                        <a:rPr sz="1100" b="0">
                          <a:solidFill>
                            <a:srgbClr val="1F2621"/>
                          </a:solidFill>
                          <a:latin typeface="Aptos"/>
                        </a:rPr>
                        <a:t>Boise</a:t>
                      </a:r>
                    </a:p>
                  </a:txBody>
                  <a:tcPr>
                    <a:solidFill>
                      <a:srgbClr val="F7F3EC"/>
                    </a:solidFill>
                  </a:tcPr>
                </a:tc>
                <a:tc>
                  <a:txBody>
                    <a:bodyPr/>
                    <a:lstStyle/>
                    <a:p>
                      <a:pPr algn="ctr"/>
                      <a:r>
                        <a:rPr sz="1100" b="0">
                          <a:solidFill>
                            <a:srgbClr val="1F2621"/>
                          </a:solidFill>
                          <a:latin typeface="Aptos"/>
                        </a:rPr>
                        <a:t>Boise</a:t>
                      </a:r>
                    </a:p>
                  </a:txBody>
                  <a:tcPr>
                    <a:solidFill>
                      <a:srgbClr val="F7F3EC"/>
                    </a:solidFill>
                  </a:tcPr>
                </a:tc>
                <a:tc>
                  <a:txBody>
                    <a:bodyPr/>
                    <a:lstStyle/>
                    <a:p>
                      <a:pPr algn="ctr"/>
                      <a:r>
                        <a:rPr sz="1100" b="0">
                          <a:solidFill>
                            <a:srgbClr val="1F2621"/>
                          </a:solidFill>
                          <a:latin typeface="Aptos"/>
                        </a:rPr>
                        <a:t>Boise</a:t>
                      </a:r>
                    </a:p>
                  </a:txBody>
                  <a:tcPr>
                    <a:solidFill>
                      <a:srgbClr val="F7F3EC"/>
                    </a:solidFill>
                  </a:tcPr>
                </a:tc>
              </a:tr>
              <a:tr h="512064">
                <a:tc>
                  <a:txBody>
                    <a:bodyPr/>
                    <a:lstStyle/>
                    <a:p>
                      <a:pPr algn="ctr"/>
                      <a:r>
                        <a:rPr sz="1100" b="0">
                          <a:solidFill>
                            <a:srgbClr val="1F2621"/>
                          </a:solidFill>
                          <a:latin typeface="Aptos"/>
                        </a:rPr>
                        <a:t>3</a:t>
                      </a:r>
                    </a:p>
                  </a:txBody>
                  <a:tcPr>
                    <a:solidFill>
                      <a:srgbClr val="FCFAF5"/>
                    </a:solidFill>
                  </a:tcPr>
                </a:tc>
                <a:tc>
                  <a:txBody>
                    <a:bodyPr/>
                    <a:lstStyle/>
                    <a:p>
                      <a:pPr algn="ctr"/>
                      <a:r>
                        <a:rPr sz="1100" b="0">
                          <a:solidFill>
                            <a:srgbClr val="1F2621"/>
                          </a:solidFill>
                          <a:latin typeface="Aptos"/>
                        </a:rPr>
                        <a:t>Portland</a:t>
                      </a:r>
                    </a:p>
                  </a:txBody>
                  <a:tcPr>
                    <a:solidFill>
                      <a:srgbClr val="FCFAF5"/>
                    </a:solidFill>
                  </a:tcPr>
                </a:tc>
                <a:tc>
                  <a:txBody>
                    <a:bodyPr/>
                    <a:lstStyle/>
                    <a:p>
                      <a:pPr algn="ctr"/>
                      <a:r>
                        <a:rPr sz="1100" b="0">
                          <a:solidFill>
                            <a:srgbClr val="1F2621"/>
                          </a:solidFill>
                          <a:latin typeface="Aptos"/>
                        </a:rPr>
                        <a:t>Portland</a:t>
                      </a:r>
                    </a:p>
                  </a:txBody>
                  <a:tcPr>
                    <a:solidFill>
                      <a:srgbClr val="FCFAF5"/>
                    </a:solidFill>
                  </a:tcPr>
                </a:tc>
                <a:tc>
                  <a:txBody>
                    <a:bodyPr/>
                    <a:lstStyle/>
                    <a:p>
                      <a:pPr algn="ctr"/>
                      <a:r>
                        <a:rPr sz="1100" b="0">
                          <a:solidFill>
                            <a:srgbClr val="1F2621"/>
                          </a:solidFill>
                          <a:latin typeface="Aptos"/>
                        </a:rPr>
                        <a:t>Portland</a:t>
                      </a:r>
                    </a:p>
                  </a:txBody>
                  <a:tcPr>
                    <a:solidFill>
                      <a:srgbClr val="FCFAF5"/>
                    </a:solidFill>
                  </a:tcPr>
                </a:tc>
              </a:tr>
              <a:tr h="512064">
                <a:tc>
                  <a:txBody>
                    <a:bodyPr/>
                    <a:lstStyle/>
                    <a:p>
                      <a:pPr algn="ctr"/>
                      <a:r>
                        <a:rPr sz="1100" b="0">
                          <a:solidFill>
                            <a:srgbClr val="1F2621"/>
                          </a:solidFill>
                          <a:latin typeface="Aptos"/>
                        </a:rPr>
                        <a:t>4</a:t>
                      </a:r>
                    </a:p>
                  </a:txBody>
                  <a:tcPr>
                    <a:solidFill>
                      <a:srgbClr val="F7F3EC"/>
                    </a:solidFill>
                  </a:tcPr>
                </a:tc>
                <a:tc>
                  <a:txBody>
                    <a:bodyPr/>
                    <a:lstStyle/>
                    <a:p>
                      <a:pPr algn="ctr"/>
                      <a:r>
                        <a:rPr sz="1100" b="0">
                          <a:solidFill>
                            <a:srgbClr val="1F2621"/>
                          </a:solidFill>
                          <a:latin typeface="Aptos"/>
                        </a:rPr>
                        <a:t>Spokane</a:t>
                      </a:r>
                    </a:p>
                  </a:txBody>
                  <a:tcPr>
                    <a:solidFill>
                      <a:srgbClr val="F7F3EC"/>
                    </a:solidFill>
                  </a:tcPr>
                </a:tc>
                <a:tc>
                  <a:txBody>
                    <a:bodyPr/>
                    <a:lstStyle/>
                    <a:p>
                      <a:pPr algn="ctr"/>
                      <a:r>
                        <a:rPr sz="1100" b="0">
                          <a:solidFill>
                            <a:srgbClr val="1F2621"/>
                          </a:solidFill>
                          <a:latin typeface="Aptos"/>
                        </a:rPr>
                        <a:t>Spokane</a:t>
                      </a:r>
                    </a:p>
                  </a:txBody>
                  <a:tcPr>
                    <a:solidFill>
                      <a:srgbClr val="F7F3EC"/>
                    </a:solidFill>
                  </a:tcPr>
                </a:tc>
                <a:tc>
                  <a:txBody>
                    <a:bodyPr/>
                    <a:lstStyle/>
                    <a:p>
                      <a:pPr algn="ctr"/>
                      <a:r>
                        <a:rPr sz="1100" b="0">
                          <a:solidFill>
                            <a:srgbClr val="1F2621"/>
                          </a:solidFill>
                          <a:latin typeface="Aptos"/>
                        </a:rPr>
                        <a:t>Spokane</a:t>
                      </a:r>
                    </a:p>
                  </a:txBody>
                  <a:tcPr>
                    <a:solidFill>
                      <a:srgbClr val="F7F3EC"/>
                    </a:solidFill>
                  </a:tcPr>
                </a:tc>
              </a:tr>
              <a:tr h="512064">
                <a:tc>
                  <a:txBody>
                    <a:bodyPr/>
                    <a:lstStyle/>
                    <a:p>
                      <a:pPr algn="ctr"/>
                      <a:r>
                        <a:rPr sz="1100" b="0">
                          <a:solidFill>
                            <a:srgbClr val="1F2621"/>
                          </a:solidFill>
                          <a:latin typeface="Aptos"/>
                        </a:rPr>
                        <a:t>5</a:t>
                      </a:r>
                    </a:p>
                  </a:txBody>
                  <a:tcPr>
                    <a:solidFill>
                      <a:srgbClr val="FCFAF5"/>
                    </a:solidFill>
                  </a:tcPr>
                </a:tc>
                <a:tc>
                  <a:txBody>
                    <a:bodyPr/>
                    <a:lstStyle/>
                    <a:p>
                      <a:pPr algn="ctr"/>
                      <a:r>
                        <a:rPr sz="1100" b="0">
                          <a:solidFill>
                            <a:srgbClr val="1F2621"/>
                          </a:solidFill>
                          <a:latin typeface="Aptos"/>
                        </a:rPr>
                        <a:t>San Diego</a:t>
                      </a:r>
                    </a:p>
                  </a:txBody>
                  <a:tcPr>
                    <a:solidFill>
                      <a:srgbClr val="FCFAF5"/>
                    </a:solidFill>
                  </a:tcPr>
                </a:tc>
                <a:tc>
                  <a:txBody>
                    <a:bodyPr/>
                    <a:lstStyle/>
                    <a:p>
                      <a:pPr algn="ctr"/>
                      <a:r>
                        <a:rPr sz="1100" b="0">
                          <a:solidFill>
                            <a:srgbClr val="1F2621"/>
                          </a:solidFill>
                          <a:latin typeface="Aptos"/>
                        </a:rPr>
                        <a:t>San Diego</a:t>
                      </a:r>
                    </a:p>
                  </a:txBody>
                  <a:tcPr>
                    <a:solidFill>
                      <a:srgbClr val="FCFAF5"/>
                    </a:solidFill>
                  </a:tcPr>
                </a:tc>
                <a:tc>
                  <a:txBody>
                    <a:bodyPr/>
                    <a:lstStyle/>
                    <a:p>
                      <a:pPr algn="ctr"/>
                      <a:r>
                        <a:rPr sz="1100" b="0">
                          <a:solidFill>
                            <a:srgbClr val="1F2621"/>
                          </a:solidFill>
                          <a:latin typeface="Aptos"/>
                        </a:rPr>
                        <a:t>San Diego</a:t>
                      </a:r>
                    </a:p>
                  </a:txBody>
                  <a:tcPr>
                    <a:solidFill>
                      <a:srgbClr val="FCFAF5"/>
                    </a:solidFill>
                  </a:tcPr>
                </a:tc>
              </a:tr>
            </a:tbl>
          </a:graphicData>
        </a:graphic>
      </p:graphicFrame>
      <p:sp>
        <p:nvSpPr>
          <p:cNvPr id="12" name="Rounded Rectangle 11"/>
          <p:cNvSpPr/>
          <p:nvPr/>
        </p:nvSpPr>
        <p:spPr>
          <a:xfrm>
            <a:off x="7516368" y="1645920"/>
            <a:ext cx="3986784"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72400" y="1938528"/>
            <a:ext cx="15087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416" y="2048256"/>
            <a:ext cx="1252728" cy="164592"/>
          </a:xfrm>
          <a:prstGeom prst="rect">
            <a:avLst/>
          </a:prstGeom>
          <a:noFill/>
        </p:spPr>
        <p:txBody>
          <a:bodyPr wrap="square" lIns="27432" rIns="27432" tIns="27432" bIns="27432" anchor="t">
            <a:spAutoFit/>
          </a:bodyPr>
          <a:lstStyle/>
          <a:p>
            <a:pPr algn="ctr"/>
            <a:r>
              <a:rPr sz="1000" b="1">
                <a:solidFill>
                  <a:srgbClr val="5F6B63"/>
                </a:solidFill>
                <a:latin typeface="Aptos"/>
              </a:rPr>
              <a:t>RANK CHANGES</a:t>
            </a:r>
          </a:p>
        </p:txBody>
      </p:sp>
      <p:sp>
        <p:nvSpPr>
          <p:cNvPr id="15" name="TextBox 14"/>
          <p:cNvSpPr txBox="1"/>
          <p:nvPr/>
        </p:nvSpPr>
        <p:spPr>
          <a:xfrm>
            <a:off x="7900416" y="2249424"/>
            <a:ext cx="125272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0</a:t>
            </a:r>
          </a:p>
        </p:txBody>
      </p:sp>
      <p:sp>
        <p:nvSpPr>
          <p:cNvPr id="16" name="Rounded Rectangle 15"/>
          <p:cNvSpPr/>
          <p:nvPr/>
        </p:nvSpPr>
        <p:spPr>
          <a:xfrm>
            <a:off x="9381744" y="1938528"/>
            <a:ext cx="182880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0" y="2048256"/>
            <a:ext cx="1572768" cy="164592"/>
          </a:xfrm>
          <a:prstGeom prst="rect">
            <a:avLst/>
          </a:prstGeom>
          <a:noFill/>
        </p:spPr>
        <p:txBody>
          <a:bodyPr wrap="square" lIns="27432" rIns="27432" tIns="27432" bIns="27432" anchor="t">
            <a:spAutoFit/>
          </a:bodyPr>
          <a:lstStyle/>
          <a:p>
            <a:pPr algn="ctr"/>
            <a:r>
              <a:rPr sz="1000" b="1">
                <a:solidFill>
                  <a:srgbClr val="5F6B63"/>
                </a:solidFill>
                <a:latin typeface="Aptos"/>
              </a:rPr>
              <a:t>SELECTED SET</a:t>
            </a:r>
          </a:p>
        </p:txBody>
      </p:sp>
      <p:sp>
        <p:nvSpPr>
          <p:cNvPr id="18" name="TextBox 17"/>
          <p:cNvSpPr txBox="1"/>
          <p:nvPr/>
        </p:nvSpPr>
        <p:spPr>
          <a:xfrm>
            <a:off x="9509760" y="2249424"/>
            <a:ext cx="157276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Same 5 cities</a:t>
            </a:r>
          </a:p>
        </p:txBody>
      </p:sp>
      <p:sp>
        <p:nvSpPr>
          <p:cNvPr id="19" name="TextBox 18"/>
          <p:cNvSpPr txBox="1"/>
          <p:nvPr/>
        </p:nvSpPr>
        <p:spPr>
          <a:xfrm>
            <a:off x="7772400" y="3200400"/>
            <a:ext cx="3108960" cy="164592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Base, upside, and downside freight scenarios all return the same five cities in the same order.</a:t>
            </a:r>
          </a:p>
          <a:p>
            <a:pPr algn="l">
              <a:lnSpc>
                <a:spcPct val="115000"/>
              </a:lnSpc>
            </a:pPr>
            <a:r>
              <a:rPr sz="1300">
                <a:solidFill>
                  <a:srgbClr val="1F2621"/>
                </a:solidFill>
                <a:latin typeface="Aptos"/>
              </a:rPr>
              <a:t>- That is the cleanest evidence that the recommendation is structurally stable.</a:t>
            </a:r>
          </a:p>
          <a:p>
            <a:pPr algn="l">
              <a:lnSpc>
                <a:spcPct val="115000"/>
              </a:lnSpc>
            </a:pPr>
            <a:r>
              <a:rPr sz="1300">
                <a:solidFill>
                  <a:srgbClr val="1F2621"/>
                </a:solidFill>
                <a:latin typeface="Aptos"/>
              </a:rPr>
              <a:t>- The explanation comes next: price support matters more than sensitivity alone.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24</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Shipping sensitivity is highest in distant markets, not in the recommended set</a:t>
            </a:r>
          </a:p>
        </p:txBody>
      </p:sp>
      <p:sp>
        <p:nvSpPr>
          <p:cNvPr id="9" name="Rounded Rectangle 8"/>
          <p:cNvSpPr/>
          <p:nvPr/>
        </p:nvSpPr>
        <p:spPr>
          <a:xfrm>
            <a:off x="713232" y="1645920"/>
            <a:ext cx="676656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28800"/>
            <a:ext cx="6126480" cy="146304"/>
          </a:xfrm>
          <a:prstGeom prst="rect">
            <a:avLst/>
          </a:prstGeom>
          <a:noFill/>
        </p:spPr>
        <p:txBody>
          <a:bodyPr wrap="square" lIns="27432" rIns="27432" tIns="27432" bIns="27432" anchor="t">
            <a:spAutoFit/>
          </a:bodyPr>
          <a:lstStyle/>
          <a:p>
            <a:pPr algn="l"/>
            <a:r>
              <a:rPr sz="1000" b="1">
                <a:solidFill>
                  <a:srgbClr val="5F6B63"/>
                </a:solidFill>
                <a:latin typeface="Aptos"/>
              </a:rPr>
              <a:t>LARGEST +/-50% PROFIT SWINGS</a:t>
            </a:r>
          </a:p>
        </p:txBody>
      </p:sp>
      <p:sp>
        <p:nvSpPr>
          <p:cNvPr id="11" name="TextBox 10"/>
          <p:cNvSpPr txBox="1"/>
          <p:nvPr/>
        </p:nvSpPr>
        <p:spPr>
          <a:xfrm>
            <a:off x="932688" y="2066544"/>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Boston</a:t>
            </a:r>
          </a:p>
        </p:txBody>
      </p:sp>
      <p:sp>
        <p:nvSpPr>
          <p:cNvPr id="12" name="Rounded Rectangle 11"/>
          <p:cNvSpPr/>
          <p:nvPr/>
        </p:nvSpPr>
        <p:spPr>
          <a:xfrm>
            <a:off x="2596896" y="2075688"/>
            <a:ext cx="338328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596896" y="2075688"/>
            <a:ext cx="3383280"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44768" y="2029968"/>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$1,500</a:t>
            </a:r>
          </a:p>
        </p:txBody>
      </p:sp>
      <p:sp>
        <p:nvSpPr>
          <p:cNvPr id="15" name="TextBox 14"/>
          <p:cNvSpPr txBox="1"/>
          <p:nvPr/>
        </p:nvSpPr>
        <p:spPr>
          <a:xfrm>
            <a:off x="932688" y="2459736"/>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HartfordSpringfield</a:t>
            </a:r>
          </a:p>
        </p:txBody>
      </p:sp>
      <p:sp>
        <p:nvSpPr>
          <p:cNvPr id="16" name="Rounded Rectangle 15"/>
          <p:cNvSpPr/>
          <p:nvPr/>
        </p:nvSpPr>
        <p:spPr>
          <a:xfrm>
            <a:off x="2596896" y="2468880"/>
            <a:ext cx="338328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596896" y="2468880"/>
            <a:ext cx="3331386"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44768" y="2423160"/>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$1,476</a:t>
            </a:r>
          </a:p>
        </p:txBody>
      </p:sp>
      <p:sp>
        <p:nvSpPr>
          <p:cNvPr id="19" name="TextBox 18"/>
          <p:cNvSpPr txBox="1"/>
          <p:nvPr/>
        </p:nvSpPr>
        <p:spPr>
          <a:xfrm>
            <a:off x="932688" y="2852928"/>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Albany</a:t>
            </a:r>
          </a:p>
        </p:txBody>
      </p:sp>
      <p:sp>
        <p:nvSpPr>
          <p:cNvPr id="20" name="Rounded Rectangle 19"/>
          <p:cNvSpPr/>
          <p:nvPr/>
        </p:nvSpPr>
        <p:spPr>
          <a:xfrm>
            <a:off x="2596896" y="2862072"/>
            <a:ext cx="338328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596896" y="2862072"/>
            <a:ext cx="3289645"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44768" y="2816352"/>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$1,458</a:t>
            </a:r>
          </a:p>
        </p:txBody>
      </p:sp>
      <p:sp>
        <p:nvSpPr>
          <p:cNvPr id="23" name="TextBox 22"/>
          <p:cNvSpPr txBox="1"/>
          <p:nvPr/>
        </p:nvSpPr>
        <p:spPr>
          <a:xfrm>
            <a:off x="932688" y="3246120"/>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New York</a:t>
            </a:r>
          </a:p>
        </p:txBody>
      </p:sp>
      <p:sp>
        <p:nvSpPr>
          <p:cNvPr id="24" name="Rounded Rectangle 23"/>
          <p:cNvSpPr/>
          <p:nvPr/>
        </p:nvSpPr>
        <p:spPr>
          <a:xfrm>
            <a:off x="2596896" y="3255264"/>
            <a:ext cx="338328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596896" y="3255264"/>
            <a:ext cx="3268210"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44768" y="3209544"/>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$1,448</a:t>
            </a:r>
          </a:p>
        </p:txBody>
      </p:sp>
      <p:sp>
        <p:nvSpPr>
          <p:cNvPr id="27" name="TextBox 26"/>
          <p:cNvSpPr txBox="1"/>
          <p:nvPr/>
        </p:nvSpPr>
        <p:spPr>
          <a:xfrm>
            <a:off x="932688" y="3639312"/>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Philadelphia</a:t>
            </a:r>
          </a:p>
        </p:txBody>
      </p:sp>
      <p:sp>
        <p:nvSpPr>
          <p:cNvPr id="28" name="Rounded Rectangle 27"/>
          <p:cNvSpPr/>
          <p:nvPr/>
        </p:nvSpPr>
        <p:spPr>
          <a:xfrm>
            <a:off x="2596896" y="3648456"/>
            <a:ext cx="338328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596896" y="3648456"/>
            <a:ext cx="3248468"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44768" y="3602736"/>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$1,440</a:t>
            </a:r>
          </a:p>
        </p:txBody>
      </p:sp>
      <p:sp>
        <p:nvSpPr>
          <p:cNvPr id="31" name="TextBox 30"/>
          <p:cNvSpPr txBox="1"/>
          <p:nvPr/>
        </p:nvSpPr>
        <p:spPr>
          <a:xfrm>
            <a:off x="932688" y="4032504"/>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HarrisburgScranton</a:t>
            </a:r>
          </a:p>
        </p:txBody>
      </p:sp>
      <p:sp>
        <p:nvSpPr>
          <p:cNvPr id="32" name="Rounded Rectangle 31"/>
          <p:cNvSpPr/>
          <p:nvPr/>
        </p:nvSpPr>
        <p:spPr>
          <a:xfrm>
            <a:off x="2596896" y="4041648"/>
            <a:ext cx="338328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596896" y="4041648"/>
            <a:ext cx="3224777"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8" y="3995928"/>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$1,429</a:t>
            </a:r>
          </a:p>
        </p:txBody>
      </p:sp>
      <p:sp>
        <p:nvSpPr>
          <p:cNvPr id="35" name="TextBox 34"/>
          <p:cNvSpPr txBox="1"/>
          <p:nvPr/>
        </p:nvSpPr>
        <p:spPr>
          <a:xfrm>
            <a:off x="932688" y="4425696"/>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Syracuse</a:t>
            </a:r>
          </a:p>
        </p:txBody>
      </p:sp>
      <p:sp>
        <p:nvSpPr>
          <p:cNvPr id="36" name="Rounded Rectangle 35"/>
          <p:cNvSpPr/>
          <p:nvPr/>
        </p:nvSpPr>
        <p:spPr>
          <a:xfrm>
            <a:off x="2596896" y="4434840"/>
            <a:ext cx="338328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596896" y="4434840"/>
            <a:ext cx="3211239"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44768" y="4389120"/>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$1,423</a:t>
            </a:r>
          </a:p>
        </p:txBody>
      </p:sp>
      <p:sp>
        <p:nvSpPr>
          <p:cNvPr id="39" name="TextBox 38"/>
          <p:cNvSpPr txBox="1"/>
          <p:nvPr/>
        </p:nvSpPr>
        <p:spPr>
          <a:xfrm>
            <a:off x="932688" y="4818888"/>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BaltimoreWashington</a:t>
            </a:r>
          </a:p>
        </p:txBody>
      </p:sp>
      <p:sp>
        <p:nvSpPr>
          <p:cNvPr id="40" name="Rounded Rectangle 39"/>
          <p:cNvSpPr/>
          <p:nvPr/>
        </p:nvSpPr>
        <p:spPr>
          <a:xfrm>
            <a:off x="2596896" y="4828032"/>
            <a:ext cx="338328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596896" y="4828032"/>
            <a:ext cx="3203342"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44768" y="4782312"/>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$1,420</a:t>
            </a:r>
          </a:p>
        </p:txBody>
      </p:sp>
      <p:sp>
        <p:nvSpPr>
          <p:cNvPr id="43" name="Rounded Rectangle 42"/>
          <p:cNvSpPr/>
          <p:nvPr/>
        </p:nvSpPr>
        <p:spPr>
          <a:xfrm>
            <a:off x="7662672" y="1645920"/>
            <a:ext cx="384048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0416" y="1883664"/>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HOW TO READ IT</a:t>
            </a:r>
          </a:p>
        </p:txBody>
      </p:sp>
      <p:sp>
        <p:nvSpPr>
          <p:cNvPr id="45" name="TextBox 44"/>
          <p:cNvSpPr txBox="1"/>
          <p:nvPr/>
        </p:nvSpPr>
        <p:spPr>
          <a:xfrm>
            <a:off x="7900416" y="2212848"/>
            <a:ext cx="3108960" cy="13258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Red bars are the most freight-sensitive markets overall.</a:t>
            </a:r>
          </a:p>
          <a:p>
            <a:pPr algn="l">
              <a:lnSpc>
                <a:spcPct val="115000"/>
              </a:lnSpc>
            </a:pPr>
            <a:r>
              <a:rPr sz="1300">
                <a:solidFill>
                  <a:srgbClr val="1F2621"/>
                </a:solidFill>
                <a:latin typeface="Aptos"/>
              </a:rPr>
              <a:t>- Green bars show recommended cities that still move less than the most exposed long-haul markets.</a:t>
            </a:r>
          </a:p>
          <a:p>
            <a:pPr algn="l">
              <a:lnSpc>
                <a:spcPct val="115000"/>
              </a:lnSpc>
            </a:pPr>
            <a:r>
              <a:rPr sz="1300">
                <a:solidFill>
                  <a:srgbClr val="1F2621"/>
                </a:solidFill>
                <a:latin typeface="Aptos"/>
              </a:rPr>
              <a:t>- Sensitivity affects margin, but it does not explain the final ranking by itself.</a:t>
            </a:r>
          </a:p>
        </p:txBody>
      </p:sp>
      <p:sp>
        <p:nvSpPr>
          <p:cNvPr id="46" name="Rounded Rectangle 45"/>
          <p:cNvSpPr/>
          <p:nvPr/>
        </p:nvSpPr>
        <p:spPr>
          <a:xfrm>
            <a:off x="7900416" y="4041648"/>
            <a:ext cx="157276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28432" y="4151376"/>
            <a:ext cx="1316736" cy="164592"/>
          </a:xfrm>
          <a:prstGeom prst="rect">
            <a:avLst/>
          </a:prstGeom>
          <a:noFill/>
        </p:spPr>
        <p:txBody>
          <a:bodyPr wrap="square" lIns="27432" rIns="27432" tIns="27432" bIns="27432" anchor="t">
            <a:spAutoFit/>
          </a:bodyPr>
          <a:lstStyle/>
          <a:p>
            <a:pPr algn="l"/>
            <a:r>
              <a:rPr sz="1000" b="1">
                <a:solidFill>
                  <a:srgbClr val="5F6B63"/>
                </a:solidFill>
                <a:latin typeface="Aptos"/>
              </a:rPr>
              <a:t>RECOMMENDED RANGE</a:t>
            </a:r>
          </a:p>
        </p:txBody>
      </p:sp>
      <p:sp>
        <p:nvSpPr>
          <p:cNvPr id="48" name="TextBox 47"/>
          <p:cNvSpPr txBox="1"/>
          <p:nvPr/>
        </p:nvSpPr>
        <p:spPr>
          <a:xfrm>
            <a:off x="8028432" y="4352544"/>
            <a:ext cx="1316736"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$813-$1,024</a:t>
            </a:r>
          </a:p>
        </p:txBody>
      </p:sp>
      <p:sp>
        <p:nvSpPr>
          <p:cNvPr id="49" name="Rounded Rectangle 48"/>
          <p:cNvSpPr/>
          <p:nvPr/>
        </p:nvSpPr>
        <p:spPr>
          <a:xfrm>
            <a:off x="9582912" y="4041648"/>
            <a:ext cx="162763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710928" y="4151376"/>
            <a:ext cx="1371600" cy="164592"/>
          </a:xfrm>
          <a:prstGeom prst="rect">
            <a:avLst/>
          </a:prstGeom>
          <a:noFill/>
        </p:spPr>
        <p:txBody>
          <a:bodyPr wrap="square" lIns="27432" rIns="27432" tIns="27432" bIns="27432" anchor="t">
            <a:spAutoFit/>
          </a:bodyPr>
          <a:lstStyle/>
          <a:p>
            <a:pPr algn="l"/>
            <a:r>
              <a:rPr sz="1000" b="1">
                <a:solidFill>
                  <a:srgbClr val="5F6B63"/>
                </a:solidFill>
                <a:latin typeface="Aptos"/>
              </a:rPr>
              <a:t>WHAT MATTERS</a:t>
            </a:r>
          </a:p>
        </p:txBody>
      </p:sp>
      <p:sp>
        <p:nvSpPr>
          <p:cNvPr id="51" name="TextBox 50"/>
          <p:cNvSpPr txBox="1"/>
          <p:nvPr/>
        </p:nvSpPr>
        <p:spPr>
          <a:xfrm>
            <a:off x="9710928" y="4352544"/>
            <a:ext cx="1371600" cy="457200"/>
          </a:xfrm>
          <a:prstGeom prst="rect">
            <a:avLst/>
          </a:prstGeom>
          <a:noFill/>
        </p:spPr>
        <p:txBody>
          <a:bodyPr wrap="square" lIns="27432" rIns="27432" tIns="27432" bIns="27432" anchor="ctr">
            <a:spAutoFit/>
          </a:bodyPr>
          <a:lstStyle/>
          <a:p>
            <a:pPr algn="l"/>
            <a:r>
              <a:rPr sz="1900" b="1">
                <a:solidFill>
                  <a:srgbClr val="C58A2A"/>
                </a:solidFill>
                <a:latin typeface="Aptos Display"/>
              </a:rPr>
              <a:t>Price still wins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Local retail price is the main lever behind rank stability</a:t>
            </a:r>
          </a:p>
        </p:txBody>
      </p:sp>
      <p:sp>
        <p:nvSpPr>
          <p:cNvPr id="9" name="Rounded Rectangle 8"/>
          <p:cNvSpPr/>
          <p:nvPr/>
        </p:nvSpPr>
        <p:spPr>
          <a:xfrm>
            <a:off x="713232" y="1664208"/>
            <a:ext cx="525780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28800"/>
            <a:ext cx="4709160" cy="146304"/>
          </a:xfrm>
          <a:prstGeom prst="rect">
            <a:avLst/>
          </a:prstGeom>
          <a:noFill/>
        </p:spPr>
        <p:txBody>
          <a:bodyPr wrap="square" lIns="27432" rIns="27432" tIns="27432" bIns="27432" anchor="t">
            <a:spAutoFit/>
          </a:bodyPr>
          <a:lstStyle/>
          <a:p>
            <a:pPr algn="l"/>
            <a:r>
              <a:rPr sz="1000" b="1">
                <a:solidFill>
                  <a:srgbClr val="5F6B63"/>
                </a:solidFill>
                <a:latin typeface="Aptos"/>
              </a:rPr>
              <a:t>TOP JUNE PRICE SUPPORT</a:t>
            </a:r>
          </a:p>
        </p:txBody>
      </p:sp>
      <p:sp>
        <p:nvSpPr>
          <p:cNvPr id="11" name="TextBox 10"/>
          <p:cNvSpPr txBox="1"/>
          <p:nvPr/>
        </p:nvSpPr>
        <p:spPr>
          <a:xfrm>
            <a:off x="932688" y="2066544"/>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596896" y="2075688"/>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596896" y="2075688"/>
            <a:ext cx="1965960"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27448" y="2029968"/>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$2.66</a:t>
            </a:r>
          </a:p>
        </p:txBody>
      </p:sp>
      <p:sp>
        <p:nvSpPr>
          <p:cNvPr id="15" name="TextBox 14"/>
          <p:cNvSpPr txBox="1"/>
          <p:nvPr/>
        </p:nvSpPr>
        <p:spPr>
          <a:xfrm>
            <a:off x="932688" y="2459736"/>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6" name="Rounded Rectangle 15"/>
          <p:cNvSpPr/>
          <p:nvPr/>
        </p:nvSpPr>
        <p:spPr>
          <a:xfrm>
            <a:off x="2596896" y="2468880"/>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596896" y="2468880"/>
            <a:ext cx="1917181"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27448" y="2423160"/>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$2.59</a:t>
            </a:r>
          </a:p>
        </p:txBody>
      </p:sp>
      <p:sp>
        <p:nvSpPr>
          <p:cNvPr id="19" name="TextBox 18"/>
          <p:cNvSpPr txBox="1"/>
          <p:nvPr/>
        </p:nvSpPr>
        <p:spPr>
          <a:xfrm>
            <a:off x="932688" y="2852928"/>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0" name="Rounded Rectangle 19"/>
          <p:cNvSpPr/>
          <p:nvPr/>
        </p:nvSpPr>
        <p:spPr>
          <a:xfrm>
            <a:off x="2596896" y="2862072"/>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596896" y="2862072"/>
            <a:ext cx="1878748"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27448" y="2816352"/>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$2.54</a:t>
            </a:r>
          </a:p>
        </p:txBody>
      </p:sp>
      <p:sp>
        <p:nvSpPr>
          <p:cNvPr id="23" name="TextBox 22"/>
          <p:cNvSpPr txBox="1"/>
          <p:nvPr/>
        </p:nvSpPr>
        <p:spPr>
          <a:xfrm>
            <a:off x="932688" y="3246120"/>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24" name="Rounded Rectangle 23"/>
          <p:cNvSpPr/>
          <p:nvPr/>
        </p:nvSpPr>
        <p:spPr>
          <a:xfrm>
            <a:off x="2596896" y="3255264"/>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596896" y="3255264"/>
            <a:ext cx="1759017"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27448" y="3209544"/>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$2.38</a:t>
            </a:r>
          </a:p>
        </p:txBody>
      </p:sp>
      <p:sp>
        <p:nvSpPr>
          <p:cNvPr id="27" name="TextBox 26"/>
          <p:cNvSpPr txBox="1"/>
          <p:nvPr/>
        </p:nvSpPr>
        <p:spPr>
          <a:xfrm>
            <a:off x="932688" y="3639312"/>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28" name="Rounded Rectangle 27"/>
          <p:cNvSpPr/>
          <p:nvPr/>
        </p:nvSpPr>
        <p:spPr>
          <a:xfrm>
            <a:off x="2596896" y="3648456"/>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596896" y="3648456"/>
            <a:ext cx="1547639"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27448" y="3602736"/>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$2.09</a:t>
            </a:r>
          </a:p>
        </p:txBody>
      </p:sp>
      <p:sp>
        <p:nvSpPr>
          <p:cNvPr id="31" name="TextBox 30"/>
          <p:cNvSpPr txBox="1"/>
          <p:nvPr/>
        </p:nvSpPr>
        <p:spPr>
          <a:xfrm>
            <a:off x="932688" y="4032504"/>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San Francisco</a:t>
            </a:r>
          </a:p>
        </p:txBody>
      </p:sp>
      <p:sp>
        <p:nvSpPr>
          <p:cNvPr id="32" name="Rounded Rectangle 31"/>
          <p:cNvSpPr/>
          <p:nvPr/>
        </p:nvSpPr>
        <p:spPr>
          <a:xfrm>
            <a:off x="2596896" y="4041648"/>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596896" y="4041648"/>
            <a:ext cx="1455993"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27448" y="3995928"/>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$1.97</a:t>
            </a:r>
          </a:p>
        </p:txBody>
      </p:sp>
      <p:sp>
        <p:nvSpPr>
          <p:cNvPr id="35" name="TextBox 34"/>
          <p:cNvSpPr txBox="1"/>
          <p:nvPr/>
        </p:nvSpPr>
        <p:spPr>
          <a:xfrm>
            <a:off x="932688" y="4425696"/>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CincinnatiDayton</a:t>
            </a:r>
          </a:p>
        </p:txBody>
      </p:sp>
      <p:sp>
        <p:nvSpPr>
          <p:cNvPr id="36" name="Rounded Rectangle 35"/>
          <p:cNvSpPr/>
          <p:nvPr/>
        </p:nvSpPr>
        <p:spPr>
          <a:xfrm>
            <a:off x="2596896" y="4434840"/>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596896" y="4434840"/>
            <a:ext cx="1420517"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27448" y="4389120"/>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$1.92</a:t>
            </a:r>
          </a:p>
        </p:txBody>
      </p:sp>
      <p:sp>
        <p:nvSpPr>
          <p:cNvPr id="39" name="TextBox 38"/>
          <p:cNvSpPr txBox="1"/>
          <p:nvPr/>
        </p:nvSpPr>
        <p:spPr>
          <a:xfrm>
            <a:off x="932688" y="4818888"/>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Sacramento</a:t>
            </a:r>
          </a:p>
        </p:txBody>
      </p:sp>
      <p:sp>
        <p:nvSpPr>
          <p:cNvPr id="40" name="Rounded Rectangle 39"/>
          <p:cNvSpPr/>
          <p:nvPr/>
        </p:nvSpPr>
        <p:spPr>
          <a:xfrm>
            <a:off x="2596896" y="4828032"/>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596896" y="4828032"/>
            <a:ext cx="1405735"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27448" y="4782312"/>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$1.90</a:t>
            </a:r>
          </a:p>
        </p:txBody>
      </p:sp>
      <p:sp>
        <p:nvSpPr>
          <p:cNvPr id="43" name="Rounded Rectangle 42"/>
          <p:cNvSpPr/>
          <p:nvPr/>
        </p:nvSpPr>
        <p:spPr>
          <a:xfrm>
            <a:off x="6199632" y="1664208"/>
            <a:ext cx="525780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19088" y="1828800"/>
            <a:ext cx="4709160" cy="146304"/>
          </a:xfrm>
          <a:prstGeom prst="rect">
            <a:avLst/>
          </a:prstGeom>
          <a:noFill/>
        </p:spPr>
        <p:txBody>
          <a:bodyPr wrap="square" lIns="27432" rIns="27432" tIns="27432" bIns="27432" anchor="t">
            <a:spAutoFit/>
          </a:bodyPr>
          <a:lstStyle/>
          <a:p>
            <a:pPr algn="l"/>
            <a:r>
              <a:rPr sz="1000" b="1">
                <a:solidFill>
                  <a:srgbClr val="5F6B63"/>
                </a:solidFill>
                <a:latin typeface="Aptos"/>
              </a:rPr>
              <a:t>TOP FREIGHT SENSITIVITY</a:t>
            </a:r>
          </a:p>
        </p:txBody>
      </p:sp>
      <p:sp>
        <p:nvSpPr>
          <p:cNvPr id="45" name="TextBox 44"/>
          <p:cNvSpPr txBox="1"/>
          <p:nvPr/>
        </p:nvSpPr>
        <p:spPr>
          <a:xfrm>
            <a:off x="6419088" y="2066544"/>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Boston</a:t>
            </a:r>
          </a:p>
        </p:txBody>
      </p:sp>
      <p:sp>
        <p:nvSpPr>
          <p:cNvPr id="46" name="Rounded Rectangle 45"/>
          <p:cNvSpPr/>
          <p:nvPr/>
        </p:nvSpPr>
        <p:spPr>
          <a:xfrm>
            <a:off x="8083296" y="2075688"/>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8083296" y="2075688"/>
            <a:ext cx="1965960"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213848" y="2029968"/>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$1,500</a:t>
            </a:r>
          </a:p>
        </p:txBody>
      </p:sp>
      <p:sp>
        <p:nvSpPr>
          <p:cNvPr id="49" name="TextBox 48"/>
          <p:cNvSpPr txBox="1"/>
          <p:nvPr/>
        </p:nvSpPr>
        <p:spPr>
          <a:xfrm>
            <a:off x="6419088" y="2459736"/>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HartfordSpringfield</a:t>
            </a:r>
          </a:p>
        </p:txBody>
      </p:sp>
      <p:sp>
        <p:nvSpPr>
          <p:cNvPr id="50" name="Rounded Rectangle 49"/>
          <p:cNvSpPr/>
          <p:nvPr/>
        </p:nvSpPr>
        <p:spPr>
          <a:xfrm>
            <a:off x="8083296" y="2468880"/>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8083296" y="2468880"/>
            <a:ext cx="1935805"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13848" y="2423160"/>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$1,476</a:t>
            </a:r>
          </a:p>
        </p:txBody>
      </p:sp>
      <p:sp>
        <p:nvSpPr>
          <p:cNvPr id="53" name="TextBox 52"/>
          <p:cNvSpPr txBox="1"/>
          <p:nvPr/>
        </p:nvSpPr>
        <p:spPr>
          <a:xfrm>
            <a:off x="6419088" y="2852928"/>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Albany</a:t>
            </a:r>
          </a:p>
        </p:txBody>
      </p:sp>
      <p:sp>
        <p:nvSpPr>
          <p:cNvPr id="54" name="Rounded Rectangle 53"/>
          <p:cNvSpPr/>
          <p:nvPr/>
        </p:nvSpPr>
        <p:spPr>
          <a:xfrm>
            <a:off x="8083296" y="2862072"/>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8083296" y="2862072"/>
            <a:ext cx="1911550"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213848" y="2816352"/>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$1,458</a:t>
            </a:r>
          </a:p>
        </p:txBody>
      </p:sp>
      <p:sp>
        <p:nvSpPr>
          <p:cNvPr id="57" name="TextBox 56"/>
          <p:cNvSpPr txBox="1"/>
          <p:nvPr/>
        </p:nvSpPr>
        <p:spPr>
          <a:xfrm>
            <a:off x="6419088" y="3246120"/>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New York</a:t>
            </a:r>
          </a:p>
        </p:txBody>
      </p:sp>
      <p:sp>
        <p:nvSpPr>
          <p:cNvPr id="58" name="Rounded Rectangle 57"/>
          <p:cNvSpPr/>
          <p:nvPr/>
        </p:nvSpPr>
        <p:spPr>
          <a:xfrm>
            <a:off x="8083296" y="3255264"/>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8083296" y="3255264"/>
            <a:ext cx="1899095"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213848" y="3209544"/>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$1,448</a:t>
            </a:r>
          </a:p>
        </p:txBody>
      </p:sp>
      <p:sp>
        <p:nvSpPr>
          <p:cNvPr id="61" name="TextBox 60"/>
          <p:cNvSpPr txBox="1"/>
          <p:nvPr/>
        </p:nvSpPr>
        <p:spPr>
          <a:xfrm>
            <a:off x="6419088" y="3639312"/>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Philadelphia</a:t>
            </a:r>
          </a:p>
        </p:txBody>
      </p:sp>
      <p:sp>
        <p:nvSpPr>
          <p:cNvPr id="62" name="Rounded Rectangle 61"/>
          <p:cNvSpPr/>
          <p:nvPr/>
        </p:nvSpPr>
        <p:spPr>
          <a:xfrm>
            <a:off x="8083296" y="3648456"/>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8083296" y="3648456"/>
            <a:ext cx="1887623"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213848" y="3602736"/>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$1,440</a:t>
            </a:r>
          </a:p>
        </p:txBody>
      </p:sp>
      <p:sp>
        <p:nvSpPr>
          <p:cNvPr id="65" name="TextBox 64"/>
          <p:cNvSpPr txBox="1"/>
          <p:nvPr/>
        </p:nvSpPr>
        <p:spPr>
          <a:xfrm>
            <a:off x="6419088" y="4032504"/>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HarrisburgScranton</a:t>
            </a:r>
          </a:p>
        </p:txBody>
      </p:sp>
      <p:sp>
        <p:nvSpPr>
          <p:cNvPr id="66" name="Rounded Rectangle 65"/>
          <p:cNvSpPr/>
          <p:nvPr/>
        </p:nvSpPr>
        <p:spPr>
          <a:xfrm>
            <a:off x="8083296" y="4041648"/>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8083296" y="4041648"/>
            <a:ext cx="1873857"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213848" y="3995928"/>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$1,429</a:t>
            </a:r>
          </a:p>
        </p:txBody>
      </p:sp>
      <p:sp>
        <p:nvSpPr>
          <p:cNvPr id="69" name="TextBox 68"/>
          <p:cNvSpPr txBox="1"/>
          <p:nvPr/>
        </p:nvSpPr>
        <p:spPr>
          <a:xfrm>
            <a:off x="6419088" y="4425696"/>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Syracuse</a:t>
            </a:r>
          </a:p>
        </p:txBody>
      </p:sp>
      <p:sp>
        <p:nvSpPr>
          <p:cNvPr id="70" name="Rounded Rectangle 69"/>
          <p:cNvSpPr/>
          <p:nvPr/>
        </p:nvSpPr>
        <p:spPr>
          <a:xfrm>
            <a:off x="8083296" y="4434840"/>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8083296" y="4434840"/>
            <a:ext cx="1865990"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213848" y="4389120"/>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$1,423</a:t>
            </a:r>
          </a:p>
        </p:txBody>
      </p:sp>
      <p:sp>
        <p:nvSpPr>
          <p:cNvPr id="73" name="TextBox 72"/>
          <p:cNvSpPr txBox="1"/>
          <p:nvPr/>
        </p:nvSpPr>
        <p:spPr>
          <a:xfrm>
            <a:off x="6419088" y="4818888"/>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BaltimoreWashington</a:t>
            </a:r>
          </a:p>
        </p:txBody>
      </p:sp>
      <p:sp>
        <p:nvSpPr>
          <p:cNvPr id="74" name="Rounded Rectangle 73"/>
          <p:cNvSpPr/>
          <p:nvPr/>
        </p:nvSpPr>
        <p:spPr>
          <a:xfrm>
            <a:off x="8083296" y="4828032"/>
            <a:ext cx="19659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8083296" y="4828032"/>
            <a:ext cx="1861402"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213848" y="4782312"/>
            <a:ext cx="868680" cy="182880"/>
          </a:xfrm>
          <a:prstGeom prst="rect">
            <a:avLst/>
          </a:prstGeom>
          <a:noFill/>
        </p:spPr>
        <p:txBody>
          <a:bodyPr wrap="square" lIns="27432" rIns="27432" tIns="27432" bIns="27432" anchor="t">
            <a:spAutoFit/>
          </a:bodyPr>
          <a:lstStyle/>
          <a:p>
            <a:pPr algn="r"/>
            <a:r>
              <a:rPr sz="1100" b="1">
                <a:solidFill>
                  <a:srgbClr val="B5533A"/>
                </a:solidFill>
                <a:latin typeface="Aptos"/>
              </a:rPr>
              <a:t>$1,420</a:t>
            </a:r>
          </a:p>
        </p:txBody>
      </p:sp>
      <p:sp>
        <p:nvSpPr>
          <p:cNvPr id="77" name="Rounded Rectangle 76"/>
          <p:cNvSpPr/>
          <p:nvPr/>
        </p:nvSpPr>
        <p:spPr>
          <a:xfrm>
            <a:off x="932688" y="5504688"/>
            <a:ext cx="10515600" cy="6400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152144" y="5687568"/>
            <a:ext cx="10058400" cy="164592"/>
          </a:xfrm>
          <a:prstGeom prst="rect">
            <a:avLst/>
          </a:prstGeom>
          <a:noFill/>
        </p:spPr>
        <p:txBody>
          <a:bodyPr wrap="square" lIns="27432" rIns="27432" tIns="27432" bIns="27432" anchor="t">
            <a:spAutoFit/>
          </a:bodyPr>
          <a:lstStyle/>
          <a:p>
            <a:pPr algn="l"/>
            <a:r>
              <a:rPr sz="1200" b="1">
                <a:solidFill>
                  <a:srgbClr val="1F2621"/>
                </a:solidFill>
                <a:latin typeface="Aptos"/>
              </a:rPr>
              <a:t>The selected cities dominate the price ranking, not the sensitivity ranking. That is why local price support, not freight volatility alone, explains why the recommendation stays stable.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26</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Prices reach their high point in July</a:t>
            </a:r>
          </a:p>
        </p:txBody>
      </p:sp>
      <p:sp>
        <p:nvSpPr>
          <p:cNvPr id="9" name="Rounded Rectangle 8"/>
          <p:cNvSpPr/>
          <p:nvPr/>
        </p:nvSpPr>
        <p:spPr>
          <a:xfrm>
            <a:off x="749808" y="1737360"/>
            <a:ext cx="6766560"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975104"/>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MONTHLY PRICE PROFILE</a:t>
            </a:r>
          </a:p>
        </p:txBody>
      </p:sp>
      <p:cxnSp>
        <p:nvCxnSpPr>
          <p:cNvPr id="11" name="Connector 10"/>
          <p:cNvCxnSpPr/>
          <p:nvPr/>
        </p:nvCxnSpPr>
        <p:spPr>
          <a:xfrm>
            <a:off x="1435608" y="4818888"/>
            <a:ext cx="5577840"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435608" y="2560320"/>
            <a:ext cx="0" cy="2258568"/>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380744" y="4752068"/>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435608" y="4806932"/>
            <a:ext cx="490451" cy="1195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871195" y="476402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flipV="1">
            <a:off x="1926059" y="4590297"/>
            <a:ext cx="490451" cy="228591"/>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361646" y="453543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flipV="1">
            <a:off x="2416510" y="4349135"/>
            <a:ext cx="490451" cy="24116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2852097" y="4294271"/>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2906961" y="4293540"/>
            <a:ext cx="490451" cy="55595"/>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3342548" y="4238676"/>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flipV="1">
            <a:off x="3397412" y="4240022"/>
            <a:ext cx="490451" cy="5351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832999" y="4185158"/>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3887863" y="4216027"/>
            <a:ext cx="490450" cy="23995"/>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323449" y="416116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4378313" y="4216027"/>
            <a:ext cx="490451" cy="17373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813900" y="433489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4868764" y="4389759"/>
            <a:ext cx="490451" cy="81473"/>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5304351" y="4416368"/>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5359215" y="4471232"/>
            <a:ext cx="490451" cy="84395"/>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5794802" y="450076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5849666" y="4555627"/>
            <a:ext cx="490451" cy="76041"/>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6285253" y="457680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6340117" y="4631668"/>
            <a:ext cx="490451" cy="102353"/>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6775704" y="467915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380744" y="348795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1435608" y="3542820"/>
            <a:ext cx="490451" cy="11138"/>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1871195" y="349909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1926059" y="3412656"/>
            <a:ext cx="490451" cy="14130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2361646" y="335779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flipV="1">
            <a:off x="2416510" y="3144979"/>
            <a:ext cx="490451" cy="26767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2852097" y="3090115"/>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2906961" y="2972631"/>
            <a:ext cx="490451" cy="172348"/>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3342548" y="291776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flipV="1">
            <a:off x="3397412" y="2896184"/>
            <a:ext cx="490451" cy="7644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3832999" y="284132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flipV="1">
            <a:off x="3887863" y="2715768"/>
            <a:ext cx="490450" cy="180416"/>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4323449" y="266090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378313" y="2715768"/>
            <a:ext cx="490451" cy="3781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4813900" y="269871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4868764" y="2753580"/>
            <a:ext cx="490451" cy="13455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5304351" y="2833268"/>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5359215" y="2888132"/>
            <a:ext cx="490451" cy="203735"/>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5794802" y="3037003"/>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5849666" y="3091867"/>
            <a:ext cx="490451" cy="11194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6285253" y="314895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6340117" y="3203814"/>
            <a:ext cx="490451" cy="156960"/>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775704" y="330591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16152"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Jan</a:t>
            </a:r>
          </a:p>
        </p:txBody>
      </p:sp>
      <p:sp>
        <p:nvSpPr>
          <p:cNvPr id="60" name="TextBox 59"/>
          <p:cNvSpPr txBox="1"/>
          <p:nvPr/>
        </p:nvSpPr>
        <p:spPr>
          <a:xfrm>
            <a:off x="1706603"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Feb</a:t>
            </a:r>
          </a:p>
        </p:txBody>
      </p:sp>
      <p:sp>
        <p:nvSpPr>
          <p:cNvPr id="61" name="TextBox 60"/>
          <p:cNvSpPr txBox="1"/>
          <p:nvPr/>
        </p:nvSpPr>
        <p:spPr>
          <a:xfrm>
            <a:off x="2197054"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Mar</a:t>
            </a:r>
          </a:p>
        </p:txBody>
      </p:sp>
      <p:sp>
        <p:nvSpPr>
          <p:cNvPr id="62" name="TextBox 61"/>
          <p:cNvSpPr txBox="1"/>
          <p:nvPr/>
        </p:nvSpPr>
        <p:spPr>
          <a:xfrm>
            <a:off x="268750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Apr</a:t>
            </a:r>
          </a:p>
        </p:txBody>
      </p:sp>
      <p:sp>
        <p:nvSpPr>
          <p:cNvPr id="63" name="TextBox 62"/>
          <p:cNvSpPr txBox="1"/>
          <p:nvPr/>
        </p:nvSpPr>
        <p:spPr>
          <a:xfrm>
            <a:off x="3177956"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May</a:t>
            </a:r>
          </a:p>
        </p:txBody>
      </p:sp>
      <p:sp>
        <p:nvSpPr>
          <p:cNvPr id="64" name="TextBox 63"/>
          <p:cNvSpPr txBox="1"/>
          <p:nvPr/>
        </p:nvSpPr>
        <p:spPr>
          <a:xfrm>
            <a:off x="3668407"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Jun</a:t>
            </a:r>
          </a:p>
        </p:txBody>
      </p:sp>
      <p:sp>
        <p:nvSpPr>
          <p:cNvPr id="65" name="TextBox 64"/>
          <p:cNvSpPr txBox="1"/>
          <p:nvPr/>
        </p:nvSpPr>
        <p:spPr>
          <a:xfrm>
            <a:off x="4158857"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Jul</a:t>
            </a:r>
          </a:p>
        </p:txBody>
      </p:sp>
      <p:sp>
        <p:nvSpPr>
          <p:cNvPr id="66" name="TextBox 65"/>
          <p:cNvSpPr txBox="1"/>
          <p:nvPr/>
        </p:nvSpPr>
        <p:spPr>
          <a:xfrm>
            <a:off x="4649308"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Aug</a:t>
            </a:r>
          </a:p>
        </p:txBody>
      </p:sp>
      <p:sp>
        <p:nvSpPr>
          <p:cNvPr id="67" name="TextBox 66"/>
          <p:cNvSpPr txBox="1"/>
          <p:nvPr/>
        </p:nvSpPr>
        <p:spPr>
          <a:xfrm>
            <a:off x="5139759"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Sep</a:t>
            </a:r>
          </a:p>
        </p:txBody>
      </p:sp>
      <p:sp>
        <p:nvSpPr>
          <p:cNvPr id="68" name="TextBox 67"/>
          <p:cNvSpPr txBox="1"/>
          <p:nvPr/>
        </p:nvSpPr>
        <p:spPr>
          <a:xfrm>
            <a:off x="563021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Oct</a:t>
            </a:r>
          </a:p>
        </p:txBody>
      </p:sp>
      <p:sp>
        <p:nvSpPr>
          <p:cNvPr id="69" name="TextBox 68"/>
          <p:cNvSpPr txBox="1"/>
          <p:nvPr/>
        </p:nvSpPr>
        <p:spPr>
          <a:xfrm>
            <a:off x="6120661"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Nov</a:t>
            </a:r>
          </a:p>
        </p:txBody>
      </p:sp>
      <p:sp>
        <p:nvSpPr>
          <p:cNvPr id="70" name="TextBox 69"/>
          <p:cNvSpPr txBox="1"/>
          <p:nvPr/>
        </p:nvSpPr>
        <p:spPr>
          <a:xfrm>
            <a:off x="6611112"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Dec</a:t>
            </a:r>
          </a:p>
        </p:txBody>
      </p:sp>
      <p:sp>
        <p:nvSpPr>
          <p:cNvPr id="71" name="TextBox 70"/>
          <p:cNvSpPr txBox="1"/>
          <p:nvPr/>
        </p:nvSpPr>
        <p:spPr>
          <a:xfrm>
            <a:off x="1005840" y="3675888"/>
            <a:ext cx="365760" cy="274320"/>
          </a:xfrm>
          <a:prstGeom prst="rect">
            <a:avLst/>
          </a:prstGeom>
          <a:noFill/>
        </p:spPr>
        <p:txBody>
          <a:bodyPr wrap="square" lIns="27432" rIns="27432" tIns="27432" bIns="27432" anchor="t">
            <a:spAutoFit/>
          </a:bodyPr>
          <a:lstStyle/>
          <a:p>
            <a:pPr algn="ctr"/>
            <a:r>
              <a:rPr sz="900" b="0">
                <a:solidFill>
                  <a:srgbClr val="5F6B63"/>
                </a:solidFill>
                <a:latin typeface="Aptos"/>
              </a:rPr>
              <a:t>Price</a:t>
            </a:r>
          </a:p>
        </p:txBody>
      </p:sp>
      <p:sp>
        <p:nvSpPr>
          <p:cNvPr id="72" name="TextBox 71"/>
          <p:cNvSpPr txBox="1"/>
          <p:nvPr/>
        </p:nvSpPr>
        <p:spPr>
          <a:xfrm>
            <a:off x="1188720" y="2249424"/>
            <a:ext cx="1143000" cy="128016"/>
          </a:xfrm>
          <a:prstGeom prst="rect">
            <a:avLst/>
          </a:prstGeom>
          <a:noFill/>
        </p:spPr>
        <p:txBody>
          <a:bodyPr wrap="square" lIns="27432" rIns="27432" tIns="27432" bIns="27432" anchor="t">
            <a:spAutoFit/>
          </a:bodyPr>
          <a:lstStyle/>
          <a:p>
            <a:pPr algn="l"/>
            <a:r>
              <a:rPr sz="1000" b="1">
                <a:solidFill>
                  <a:srgbClr val="355C47"/>
                </a:solidFill>
                <a:latin typeface="Aptos"/>
              </a:rPr>
              <a:t>CONVENTIONAL</a:t>
            </a:r>
          </a:p>
        </p:txBody>
      </p:sp>
      <p:sp>
        <p:nvSpPr>
          <p:cNvPr id="73" name="TextBox 72"/>
          <p:cNvSpPr txBox="1"/>
          <p:nvPr/>
        </p:nvSpPr>
        <p:spPr>
          <a:xfrm>
            <a:off x="2414016" y="2249424"/>
            <a:ext cx="1143000" cy="128016"/>
          </a:xfrm>
          <a:prstGeom prst="rect">
            <a:avLst/>
          </a:prstGeom>
          <a:noFill/>
        </p:spPr>
        <p:txBody>
          <a:bodyPr wrap="square" lIns="27432" rIns="27432" tIns="27432" bIns="27432" anchor="t">
            <a:spAutoFit/>
          </a:bodyPr>
          <a:lstStyle/>
          <a:p>
            <a:pPr algn="l"/>
            <a:r>
              <a:rPr sz="1000" b="1">
                <a:solidFill>
                  <a:srgbClr val="C58A2A"/>
                </a:solidFill>
                <a:latin typeface="Aptos"/>
              </a:rPr>
              <a:t>ORGANIC</a:t>
            </a:r>
          </a:p>
        </p:txBody>
      </p:sp>
      <p:sp>
        <p:nvSpPr>
          <p:cNvPr id="74" name="Rounded Rectangle 73"/>
          <p:cNvSpPr/>
          <p:nvPr/>
        </p:nvSpPr>
        <p:spPr>
          <a:xfrm>
            <a:off x="7790688" y="1737360"/>
            <a:ext cx="3712463"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8046720" y="1993392"/>
            <a:ext cx="160934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174736" y="2103120"/>
            <a:ext cx="1353312" cy="164592"/>
          </a:xfrm>
          <a:prstGeom prst="rect">
            <a:avLst/>
          </a:prstGeom>
          <a:noFill/>
        </p:spPr>
        <p:txBody>
          <a:bodyPr wrap="square" lIns="27432" rIns="27432" tIns="27432" bIns="27432" anchor="t">
            <a:spAutoFit/>
          </a:bodyPr>
          <a:lstStyle/>
          <a:p>
            <a:pPr algn="ctr"/>
            <a:r>
              <a:rPr sz="1000" b="1">
                <a:solidFill>
                  <a:srgbClr val="5F6B63"/>
                </a:solidFill>
                <a:latin typeface="Aptos"/>
              </a:rPr>
              <a:t>CONVENTIONAL PEAK</a:t>
            </a:r>
          </a:p>
        </p:txBody>
      </p:sp>
      <p:sp>
        <p:nvSpPr>
          <p:cNvPr id="77" name="TextBox 76"/>
          <p:cNvSpPr txBox="1"/>
          <p:nvPr/>
        </p:nvSpPr>
        <p:spPr>
          <a:xfrm>
            <a:off x="8174736" y="2304288"/>
            <a:ext cx="1353312"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Jul</a:t>
            </a:r>
          </a:p>
        </p:txBody>
      </p:sp>
      <p:sp>
        <p:nvSpPr>
          <p:cNvPr id="78" name="Rounded Rectangle 77"/>
          <p:cNvSpPr/>
          <p:nvPr/>
        </p:nvSpPr>
        <p:spPr>
          <a:xfrm>
            <a:off x="9747504" y="1993392"/>
            <a:ext cx="1499616"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875520" y="2103120"/>
            <a:ext cx="1243584" cy="164592"/>
          </a:xfrm>
          <a:prstGeom prst="rect">
            <a:avLst/>
          </a:prstGeom>
          <a:noFill/>
        </p:spPr>
        <p:txBody>
          <a:bodyPr wrap="square" lIns="27432" rIns="27432" tIns="27432" bIns="27432" anchor="t">
            <a:spAutoFit/>
          </a:bodyPr>
          <a:lstStyle/>
          <a:p>
            <a:pPr algn="ctr"/>
            <a:r>
              <a:rPr sz="1000" b="1">
                <a:solidFill>
                  <a:srgbClr val="5F6B63"/>
                </a:solidFill>
                <a:latin typeface="Aptos"/>
              </a:rPr>
              <a:t>ORGANIC PEAK</a:t>
            </a:r>
          </a:p>
        </p:txBody>
      </p:sp>
      <p:sp>
        <p:nvSpPr>
          <p:cNvPr id="80" name="TextBox 79"/>
          <p:cNvSpPr txBox="1"/>
          <p:nvPr/>
        </p:nvSpPr>
        <p:spPr>
          <a:xfrm>
            <a:off x="9875520" y="2304288"/>
            <a:ext cx="1243584"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Jul</a:t>
            </a:r>
          </a:p>
        </p:txBody>
      </p:sp>
      <p:sp>
        <p:nvSpPr>
          <p:cNvPr id="81" name="TextBox 80"/>
          <p:cNvSpPr txBox="1"/>
          <p:nvPr/>
        </p:nvSpPr>
        <p:spPr>
          <a:xfrm>
            <a:off x="8046720" y="3163824"/>
            <a:ext cx="2926080" cy="15087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Both product types peak in July, not during the highest-volume months.</a:t>
            </a:r>
          </a:p>
          <a:p>
            <a:pPr algn="l">
              <a:lnSpc>
                <a:spcPct val="115000"/>
              </a:lnSpc>
            </a:pPr>
            <a:r>
              <a:rPr sz="1300">
                <a:solidFill>
                  <a:srgbClr val="1F2621"/>
                </a:solidFill>
                <a:latin typeface="Aptos"/>
              </a:rPr>
              <a:t>- That means the operating plan should switch from service protection to margin protection in summer.</a:t>
            </a:r>
          </a:p>
          <a:p>
            <a:pPr algn="l">
              <a:lnSpc>
                <a:spcPct val="115000"/>
              </a:lnSpc>
            </a:pPr>
            <a:r>
              <a:rPr sz="1300">
                <a:solidFill>
                  <a:srgbClr val="1F2621"/>
                </a:solidFill>
                <a:latin typeface="Aptos"/>
              </a:rPr>
              <a:t>- Summer is the cleanest season for monetizing premium markets.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Volumes peak earlier and trough in November</a:t>
            </a:r>
          </a:p>
        </p:txBody>
      </p:sp>
      <p:sp>
        <p:nvSpPr>
          <p:cNvPr id="9" name="Rounded Rectangle 8"/>
          <p:cNvSpPr/>
          <p:nvPr/>
        </p:nvSpPr>
        <p:spPr>
          <a:xfrm>
            <a:off x="749808" y="1737360"/>
            <a:ext cx="6766560"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975104"/>
            <a:ext cx="2011680" cy="164592"/>
          </a:xfrm>
          <a:prstGeom prst="rect">
            <a:avLst/>
          </a:prstGeom>
          <a:noFill/>
        </p:spPr>
        <p:txBody>
          <a:bodyPr wrap="square" lIns="27432" rIns="27432" tIns="27432" bIns="27432" anchor="t">
            <a:spAutoFit/>
          </a:bodyPr>
          <a:lstStyle/>
          <a:p>
            <a:pPr algn="l"/>
            <a:r>
              <a:rPr sz="1000" b="1">
                <a:solidFill>
                  <a:srgbClr val="5F6B63"/>
                </a:solidFill>
                <a:latin typeface="Aptos"/>
              </a:rPr>
              <a:t>MONTHLY VOLUME PROFILE</a:t>
            </a:r>
          </a:p>
        </p:txBody>
      </p:sp>
      <p:cxnSp>
        <p:nvCxnSpPr>
          <p:cNvPr id="11" name="Connector 10"/>
          <p:cNvCxnSpPr/>
          <p:nvPr/>
        </p:nvCxnSpPr>
        <p:spPr>
          <a:xfrm>
            <a:off x="1435608" y="4818888"/>
            <a:ext cx="5577840"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435608" y="2560320"/>
            <a:ext cx="0" cy="2258568"/>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380744" y="2695101"/>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435608" y="2749965"/>
            <a:ext cx="490451" cy="130889"/>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871195" y="282599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flipV="1">
            <a:off x="1926059" y="2774568"/>
            <a:ext cx="490451" cy="10628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361646" y="271970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2416510" y="2774568"/>
            <a:ext cx="490451" cy="176139"/>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2852097" y="289584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2906961" y="2715768"/>
            <a:ext cx="490451" cy="234939"/>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3342548" y="266090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3397412" y="2715768"/>
            <a:ext cx="490451" cy="219177"/>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832999" y="2880081"/>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3887863" y="2934945"/>
            <a:ext cx="490450" cy="52109"/>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323449" y="293219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4378313" y="2987054"/>
            <a:ext cx="490451" cy="9695"/>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813900" y="294188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4868764" y="2996749"/>
            <a:ext cx="490451" cy="19269"/>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5304351" y="296115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flipV="1">
            <a:off x="5359215" y="2995419"/>
            <a:ext cx="490451" cy="20599"/>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5794802" y="294055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5849666" y="2995419"/>
            <a:ext cx="490451" cy="214285"/>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6285253" y="315484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flipV="1">
            <a:off x="6340117" y="3045820"/>
            <a:ext cx="490451" cy="163884"/>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6775704" y="2990956"/>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380744" y="473694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1435608" y="4791804"/>
            <a:ext cx="490451" cy="15544"/>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1871195" y="475248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1926059" y="4795417"/>
            <a:ext cx="490451" cy="11931"/>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2361646" y="4740553"/>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2416510" y="4795417"/>
            <a:ext cx="490451" cy="8354"/>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2852097" y="474890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2906961" y="4796929"/>
            <a:ext cx="490451" cy="684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3342548" y="4742065"/>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397412" y="4796929"/>
            <a:ext cx="490451" cy="1191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3832999" y="475397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3887863" y="4808841"/>
            <a:ext cx="490450" cy="8269"/>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4323449" y="476224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flipV="1">
            <a:off x="4378313" y="4816810"/>
            <a:ext cx="490451" cy="300"/>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4813900" y="476194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flipV="1">
            <a:off x="4868764" y="4814100"/>
            <a:ext cx="490451" cy="2710"/>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5304351" y="475923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flipV="1">
            <a:off x="5359215" y="4812708"/>
            <a:ext cx="490451" cy="139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5794802" y="475784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5849666" y="4812708"/>
            <a:ext cx="490451" cy="6180"/>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6285253" y="476402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flipV="1">
            <a:off x="6340117" y="4806239"/>
            <a:ext cx="490451" cy="12649"/>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775704" y="4751375"/>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16152"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Jan</a:t>
            </a:r>
          </a:p>
        </p:txBody>
      </p:sp>
      <p:sp>
        <p:nvSpPr>
          <p:cNvPr id="60" name="TextBox 59"/>
          <p:cNvSpPr txBox="1"/>
          <p:nvPr/>
        </p:nvSpPr>
        <p:spPr>
          <a:xfrm>
            <a:off x="1706603"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Feb</a:t>
            </a:r>
          </a:p>
        </p:txBody>
      </p:sp>
      <p:sp>
        <p:nvSpPr>
          <p:cNvPr id="61" name="TextBox 60"/>
          <p:cNvSpPr txBox="1"/>
          <p:nvPr/>
        </p:nvSpPr>
        <p:spPr>
          <a:xfrm>
            <a:off x="2197054"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Mar</a:t>
            </a:r>
          </a:p>
        </p:txBody>
      </p:sp>
      <p:sp>
        <p:nvSpPr>
          <p:cNvPr id="62" name="TextBox 61"/>
          <p:cNvSpPr txBox="1"/>
          <p:nvPr/>
        </p:nvSpPr>
        <p:spPr>
          <a:xfrm>
            <a:off x="268750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Apr</a:t>
            </a:r>
          </a:p>
        </p:txBody>
      </p:sp>
      <p:sp>
        <p:nvSpPr>
          <p:cNvPr id="63" name="TextBox 62"/>
          <p:cNvSpPr txBox="1"/>
          <p:nvPr/>
        </p:nvSpPr>
        <p:spPr>
          <a:xfrm>
            <a:off x="3177956"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May</a:t>
            </a:r>
          </a:p>
        </p:txBody>
      </p:sp>
      <p:sp>
        <p:nvSpPr>
          <p:cNvPr id="64" name="TextBox 63"/>
          <p:cNvSpPr txBox="1"/>
          <p:nvPr/>
        </p:nvSpPr>
        <p:spPr>
          <a:xfrm>
            <a:off x="3668407"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Jun</a:t>
            </a:r>
          </a:p>
        </p:txBody>
      </p:sp>
      <p:sp>
        <p:nvSpPr>
          <p:cNvPr id="65" name="TextBox 64"/>
          <p:cNvSpPr txBox="1"/>
          <p:nvPr/>
        </p:nvSpPr>
        <p:spPr>
          <a:xfrm>
            <a:off x="4158857"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Jul</a:t>
            </a:r>
          </a:p>
        </p:txBody>
      </p:sp>
      <p:sp>
        <p:nvSpPr>
          <p:cNvPr id="66" name="TextBox 65"/>
          <p:cNvSpPr txBox="1"/>
          <p:nvPr/>
        </p:nvSpPr>
        <p:spPr>
          <a:xfrm>
            <a:off x="4649308"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Aug</a:t>
            </a:r>
          </a:p>
        </p:txBody>
      </p:sp>
      <p:sp>
        <p:nvSpPr>
          <p:cNvPr id="67" name="TextBox 66"/>
          <p:cNvSpPr txBox="1"/>
          <p:nvPr/>
        </p:nvSpPr>
        <p:spPr>
          <a:xfrm>
            <a:off x="5139759"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Sep</a:t>
            </a:r>
          </a:p>
        </p:txBody>
      </p:sp>
      <p:sp>
        <p:nvSpPr>
          <p:cNvPr id="68" name="TextBox 67"/>
          <p:cNvSpPr txBox="1"/>
          <p:nvPr/>
        </p:nvSpPr>
        <p:spPr>
          <a:xfrm>
            <a:off x="563021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Oct</a:t>
            </a:r>
          </a:p>
        </p:txBody>
      </p:sp>
      <p:sp>
        <p:nvSpPr>
          <p:cNvPr id="69" name="TextBox 68"/>
          <p:cNvSpPr txBox="1"/>
          <p:nvPr/>
        </p:nvSpPr>
        <p:spPr>
          <a:xfrm>
            <a:off x="6120661"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Nov</a:t>
            </a:r>
          </a:p>
        </p:txBody>
      </p:sp>
      <p:sp>
        <p:nvSpPr>
          <p:cNvPr id="70" name="TextBox 69"/>
          <p:cNvSpPr txBox="1"/>
          <p:nvPr/>
        </p:nvSpPr>
        <p:spPr>
          <a:xfrm>
            <a:off x="6611112"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Dec</a:t>
            </a:r>
          </a:p>
        </p:txBody>
      </p:sp>
      <p:sp>
        <p:nvSpPr>
          <p:cNvPr id="71" name="TextBox 70"/>
          <p:cNvSpPr txBox="1"/>
          <p:nvPr/>
        </p:nvSpPr>
        <p:spPr>
          <a:xfrm>
            <a:off x="1005840" y="3675888"/>
            <a:ext cx="365760" cy="274320"/>
          </a:xfrm>
          <a:prstGeom prst="rect">
            <a:avLst/>
          </a:prstGeom>
          <a:noFill/>
        </p:spPr>
        <p:txBody>
          <a:bodyPr wrap="square" lIns="27432" rIns="27432" tIns="27432" bIns="27432" anchor="t">
            <a:spAutoFit/>
          </a:bodyPr>
          <a:lstStyle/>
          <a:p>
            <a:pPr algn="ctr"/>
            <a:r>
              <a:rPr sz="900" b="0">
                <a:solidFill>
                  <a:srgbClr val="5F6B63"/>
                </a:solidFill>
                <a:latin typeface="Aptos"/>
              </a:rPr>
              <a:t>Volume</a:t>
            </a:r>
          </a:p>
        </p:txBody>
      </p:sp>
      <p:sp>
        <p:nvSpPr>
          <p:cNvPr id="72" name="TextBox 71"/>
          <p:cNvSpPr txBox="1"/>
          <p:nvPr/>
        </p:nvSpPr>
        <p:spPr>
          <a:xfrm>
            <a:off x="1188720" y="2249424"/>
            <a:ext cx="1143000" cy="128016"/>
          </a:xfrm>
          <a:prstGeom prst="rect">
            <a:avLst/>
          </a:prstGeom>
          <a:noFill/>
        </p:spPr>
        <p:txBody>
          <a:bodyPr wrap="square" lIns="27432" rIns="27432" tIns="27432" bIns="27432" anchor="t">
            <a:spAutoFit/>
          </a:bodyPr>
          <a:lstStyle/>
          <a:p>
            <a:pPr algn="l"/>
            <a:r>
              <a:rPr sz="1000" b="1">
                <a:solidFill>
                  <a:srgbClr val="355C47"/>
                </a:solidFill>
                <a:latin typeface="Aptos"/>
              </a:rPr>
              <a:t>CONVENTIONAL</a:t>
            </a:r>
          </a:p>
        </p:txBody>
      </p:sp>
      <p:sp>
        <p:nvSpPr>
          <p:cNvPr id="73" name="TextBox 72"/>
          <p:cNvSpPr txBox="1"/>
          <p:nvPr/>
        </p:nvSpPr>
        <p:spPr>
          <a:xfrm>
            <a:off x="2414016" y="2249424"/>
            <a:ext cx="1143000" cy="128016"/>
          </a:xfrm>
          <a:prstGeom prst="rect">
            <a:avLst/>
          </a:prstGeom>
          <a:noFill/>
        </p:spPr>
        <p:txBody>
          <a:bodyPr wrap="square" lIns="27432" rIns="27432" tIns="27432" bIns="27432" anchor="t">
            <a:spAutoFit/>
          </a:bodyPr>
          <a:lstStyle/>
          <a:p>
            <a:pPr algn="l"/>
            <a:r>
              <a:rPr sz="1000" b="1">
                <a:solidFill>
                  <a:srgbClr val="C58A2A"/>
                </a:solidFill>
                <a:latin typeface="Aptos"/>
              </a:rPr>
              <a:t>ORGANIC</a:t>
            </a:r>
          </a:p>
        </p:txBody>
      </p:sp>
      <p:sp>
        <p:nvSpPr>
          <p:cNvPr id="74" name="Rounded Rectangle 73"/>
          <p:cNvSpPr/>
          <p:nvPr/>
        </p:nvSpPr>
        <p:spPr>
          <a:xfrm>
            <a:off x="7790688" y="1737360"/>
            <a:ext cx="3712463"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8046720" y="1993392"/>
            <a:ext cx="160934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174736" y="2103120"/>
            <a:ext cx="1353312" cy="164592"/>
          </a:xfrm>
          <a:prstGeom prst="rect">
            <a:avLst/>
          </a:prstGeom>
          <a:noFill/>
        </p:spPr>
        <p:txBody>
          <a:bodyPr wrap="square" lIns="27432" rIns="27432" tIns="27432" bIns="27432" anchor="t">
            <a:spAutoFit/>
          </a:bodyPr>
          <a:lstStyle/>
          <a:p>
            <a:pPr algn="ctr"/>
            <a:r>
              <a:rPr sz="1000" b="1">
                <a:solidFill>
                  <a:srgbClr val="5F6B63"/>
                </a:solidFill>
                <a:latin typeface="Aptos"/>
              </a:rPr>
              <a:t>CONVENTIONAL PEAK</a:t>
            </a:r>
          </a:p>
        </p:txBody>
      </p:sp>
      <p:sp>
        <p:nvSpPr>
          <p:cNvPr id="77" name="TextBox 76"/>
          <p:cNvSpPr txBox="1"/>
          <p:nvPr/>
        </p:nvSpPr>
        <p:spPr>
          <a:xfrm>
            <a:off x="8174736" y="2304288"/>
            <a:ext cx="1353312"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May</a:t>
            </a:r>
          </a:p>
        </p:txBody>
      </p:sp>
      <p:sp>
        <p:nvSpPr>
          <p:cNvPr id="78" name="Rounded Rectangle 77"/>
          <p:cNvSpPr/>
          <p:nvPr/>
        </p:nvSpPr>
        <p:spPr>
          <a:xfrm>
            <a:off x="9747504" y="1993392"/>
            <a:ext cx="1499616"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875520" y="2103120"/>
            <a:ext cx="1243584" cy="164592"/>
          </a:xfrm>
          <a:prstGeom prst="rect">
            <a:avLst/>
          </a:prstGeom>
          <a:noFill/>
        </p:spPr>
        <p:txBody>
          <a:bodyPr wrap="square" lIns="27432" rIns="27432" tIns="27432" bIns="27432" anchor="t">
            <a:spAutoFit/>
          </a:bodyPr>
          <a:lstStyle/>
          <a:p>
            <a:pPr algn="ctr"/>
            <a:r>
              <a:rPr sz="1000" b="1">
                <a:solidFill>
                  <a:srgbClr val="5F6B63"/>
                </a:solidFill>
                <a:latin typeface="Aptos"/>
              </a:rPr>
              <a:t>ORGANIC PEAK</a:t>
            </a:r>
          </a:p>
        </p:txBody>
      </p:sp>
      <p:sp>
        <p:nvSpPr>
          <p:cNvPr id="80" name="TextBox 79"/>
          <p:cNvSpPr txBox="1"/>
          <p:nvPr/>
        </p:nvSpPr>
        <p:spPr>
          <a:xfrm>
            <a:off x="9875520" y="2304288"/>
            <a:ext cx="1243584"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Jan</a:t>
            </a:r>
          </a:p>
        </p:txBody>
      </p:sp>
      <p:sp>
        <p:nvSpPr>
          <p:cNvPr id="81" name="TextBox 80"/>
          <p:cNvSpPr txBox="1"/>
          <p:nvPr/>
        </p:nvSpPr>
        <p:spPr>
          <a:xfrm>
            <a:off x="8046720" y="3163824"/>
            <a:ext cx="2926080" cy="15087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Organic volume peaks in January while conventional peaks in May.</a:t>
            </a:r>
          </a:p>
          <a:p>
            <a:pPr algn="l">
              <a:lnSpc>
                <a:spcPct val="115000"/>
              </a:lnSpc>
            </a:pPr>
            <a:r>
              <a:rPr sz="1300">
                <a:solidFill>
                  <a:srgbClr val="1F2621"/>
                </a:solidFill>
                <a:latin typeface="Aptos"/>
              </a:rPr>
              <a:t>- Both soften into November, which is why off-peak demand support matters.</a:t>
            </a:r>
          </a:p>
          <a:p>
            <a:pPr algn="l">
              <a:lnSpc>
                <a:spcPct val="115000"/>
              </a:lnSpc>
            </a:pPr>
            <a:r>
              <a:rPr sz="1300">
                <a:solidFill>
                  <a:srgbClr val="1F2621"/>
                </a:solidFill>
                <a:latin typeface="Aptos"/>
              </a:rPr>
              <a:t>- Volume timing and price timing do not line up, creating the duck-curve operating problem.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28</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Seasonality should change when West Valley pushes volume and when it protects margin</a:t>
            </a:r>
          </a:p>
        </p:txBody>
      </p:sp>
      <p:sp>
        <p:nvSpPr>
          <p:cNvPr id="11" name="TextBox 10"/>
          <p:cNvSpPr txBox="1"/>
          <p:nvPr/>
        </p:nvSpPr>
        <p:spPr>
          <a:xfrm>
            <a:off x="548640" y="1097280"/>
            <a:ext cx="10607040" cy="320040"/>
          </a:xfrm>
          <a:prstGeom prst="rect">
            <a:avLst/>
          </a:prstGeom>
          <a:noFill/>
        </p:spPr>
        <p:txBody>
          <a:bodyPr wrap="square" lIns="27432" rIns="27432" tIns="27432" bIns="27432" anchor="t">
            <a:spAutoFit/>
          </a:bodyPr>
          <a:lstStyle/>
          <a:p>
            <a:pPr algn="l"/>
            <a:r>
              <a:rPr sz="1300" b="0">
                <a:solidFill>
                  <a:srgbClr val="5F6B63"/>
                </a:solidFill>
                <a:latin typeface="Aptos"/>
              </a:rPr>
              <a:t>Organic volume peaks in Jan while price peaks in Jul; that gap is the operating lever.</a:t>
            </a:r>
          </a:p>
        </p:txBody>
      </p:sp>
      <p:sp>
        <p:nvSpPr>
          <p:cNvPr id="12" name="Rounded Rectangle 11"/>
          <p:cNvSpPr/>
          <p:nvPr/>
        </p:nvSpPr>
        <p:spPr>
          <a:xfrm>
            <a:off x="685800"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Jan</a:t>
            </a:r>
          </a:p>
        </p:txBody>
      </p:sp>
      <p:sp>
        <p:nvSpPr>
          <p:cNvPr id="14" name="Rounded Rectangle 13"/>
          <p:cNvSpPr/>
          <p:nvPr/>
        </p:nvSpPr>
        <p:spPr>
          <a:xfrm>
            <a:off x="1517904"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17904"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Feb</a:t>
            </a:r>
          </a:p>
        </p:txBody>
      </p:sp>
      <p:sp>
        <p:nvSpPr>
          <p:cNvPr id="16" name="Rounded Rectangle 15"/>
          <p:cNvSpPr/>
          <p:nvPr/>
        </p:nvSpPr>
        <p:spPr>
          <a:xfrm>
            <a:off x="2350008"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50008"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Mar</a:t>
            </a:r>
          </a:p>
        </p:txBody>
      </p:sp>
      <p:sp>
        <p:nvSpPr>
          <p:cNvPr id="18" name="Rounded Rectangle 17"/>
          <p:cNvSpPr/>
          <p:nvPr/>
        </p:nvSpPr>
        <p:spPr>
          <a:xfrm>
            <a:off x="3182112"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82112"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Apr</a:t>
            </a:r>
          </a:p>
        </p:txBody>
      </p:sp>
      <p:sp>
        <p:nvSpPr>
          <p:cNvPr id="20" name="Rounded Rectangle 19"/>
          <p:cNvSpPr/>
          <p:nvPr/>
        </p:nvSpPr>
        <p:spPr>
          <a:xfrm>
            <a:off x="4014216"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14216"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May</a:t>
            </a:r>
          </a:p>
        </p:txBody>
      </p:sp>
      <p:sp>
        <p:nvSpPr>
          <p:cNvPr id="22" name="Rounded Rectangle 21"/>
          <p:cNvSpPr/>
          <p:nvPr/>
        </p:nvSpPr>
        <p:spPr>
          <a:xfrm>
            <a:off x="4846320" y="1737360"/>
            <a:ext cx="713232" cy="438912"/>
          </a:xfrm>
          <a:prstGeom prst="roundRect">
            <a:avLst/>
          </a:prstGeom>
          <a:solidFill>
            <a:srgbClr val="FCFAF5"/>
          </a:solidFill>
          <a:ln>
            <a:solidFill>
              <a:srgbClr val="FCFA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1828800"/>
            <a:ext cx="713232" cy="182880"/>
          </a:xfrm>
          <a:prstGeom prst="rect">
            <a:avLst/>
          </a:prstGeom>
          <a:noFill/>
        </p:spPr>
        <p:txBody>
          <a:bodyPr wrap="square" lIns="27432" rIns="27432" tIns="27432" bIns="27432" anchor="t">
            <a:spAutoFit/>
          </a:bodyPr>
          <a:lstStyle/>
          <a:p>
            <a:pPr algn="ctr"/>
            <a:r>
              <a:rPr sz="1100" b="1">
                <a:solidFill>
                  <a:srgbClr val="1F2621"/>
                </a:solidFill>
                <a:latin typeface="Aptos"/>
              </a:rPr>
              <a:t>Jun</a:t>
            </a:r>
          </a:p>
        </p:txBody>
      </p:sp>
      <p:sp>
        <p:nvSpPr>
          <p:cNvPr id="24" name="Rounded Rectangle 23"/>
          <p:cNvSpPr/>
          <p:nvPr/>
        </p:nvSpPr>
        <p:spPr>
          <a:xfrm>
            <a:off x="5678424" y="1737360"/>
            <a:ext cx="713232" cy="43891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78424"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Jul</a:t>
            </a:r>
          </a:p>
        </p:txBody>
      </p:sp>
      <p:sp>
        <p:nvSpPr>
          <p:cNvPr id="26" name="Rounded Rectangle 25"/>
          <p:cNvSpPr/>
          <p:nvPr/>
        </p:nvSpPr>
        <p:spPr>
          <a:xfrm>
            <a:off x="6510528" y="1737360"/>
            <a:ext cx="713232" cy="43891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8"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Aug</a:t>
            </a:r>
          </a:p>
        </p:txBody>
      </p:sp>
      <p:sp>
        <p:nvSpPr>
          <p:cNvPr id="28" name="Rounded Rectangle 27"/>
          <p:cNvSpPr/>
          <p:nvPr/>
        </p:nvSpPr>
        <p:spPr>
          <a:xfrm>
            <a:off x="7342632" y="1737360"/>
            <a:ext cx="713232" cy="43891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42632"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Sep</a:t>
            </a:r>
          </a:p>
        </p:txBody>
      </p:sp>
      <p:sp>
        <p:nvSpPr>
          <p:cNvPr id="30" name="Rounded Rectangle 29"/>
          <p:cNvSpPr/>
          <p:nvPr/>
        </p:nvSpPr>
        <p:spPr>
          <a:xfrm>
            <a:off x="8174736" y="1737360"/>
            <a:ext cx="713232" cy="438912"/>
          </a:xfrm>
          <a:prstGeom prst="roundRect">
            <a:avLst/>
          </a:prstGeom>
          <a:solidFill>
            <a:srgbClr val="D8D1C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74736" y="1828800"/>
            <a:ext cx="713232" cy="182880"/>
          </a:xfrm>
          <a:prstGeom prst="rect">
            <a:avLst/>
          </a:prstGeom>
          <a:noFill/>
        </p:spPr>
        <p:txBody>
          <a:bodyPr wrap="square" lIns="27432" rIns="27432" tIns="27432" bIns="27432" anchor="t">
            <a:spAutoFit/>
          </a:bodyPr>
          <a:lstStyle/>
          <a:p>
            <a:pPr algn="ctr"/>
            <a:r>
              <a:rPr sz="1100" b="1">
                <a:solidFill>
                  <a:srgbClr val="1F2621"/>
                </a:solidFill>
                <a:latin typeface="Aptos"/>
              </a:rPr>
              <a:t>Oct</a:t>
            </a:r>
          </a:p>
        </p:txBody>
      </p:sp>
      <p:sp>
        <p:nvSpPr>
          <p:cNvPr id="32" name="Rounded Rectangle 31"/>
          <p:cNvSpPr/>
          <p:nvPr/>
        </p:nvSpPr>
        <p:spPr>
          <a:xfrm>
            <a:off x="9006840" y="1737360"/>
            <a:ext cx="713232" cy="43891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06840"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Nov</a:t>
            </a:r>
          </a:p>
        </p:txBody>
      </p:sp>
      <p:sp>
        <p:nvSpPr>
          <p:cNvPr id="34" name="Rounded Rectangle 33"/>
          <p:cNvSpPr/>
          <p:nvPr/>
        </p:nvSpPr>
        <p:spPr>
          <a:xfrm>
            <a:off x="9838944" y="1737360"/>
            <a:ext cx="713232" cy="43891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38944"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Dec</a:t>
            </a:r>
          </a:p>
        </p:txBody>
      </p:sp>
      <p:sp>
        <p:nvSpPr>
          <p:cNvPr id="36" name="Rounded Rectangle 35"/>
          <p:cNvSpPr/>
          <p:nvPr/>
        </p:nvSpPr>
        <p:spPr>
          <a:xfrm>
            <a:off x="713232" y="2542032"/>
            <a:ext cx="10808208" cy="283464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761488"/>
            <a:ext cx="1508760" cy="146304"/>
          </a:xfrm>
          <a:prstGeom prst="rect">
            <a:avLst/>
          </a:prstGeom>
          <a:noFill/>
        </p:spPr>
        <p:txBody>
          <a:bodyPr wrap="square" lIns="27432" rIns="27432" tIns="27432" bIns="27432" anchor="t">
            <a:spAutoFit/>
          </a:bodyPr>
          <a:lstStyle/>
          <a:p>
            <a:pPr algn="l"/>
            <a:r>
              <a:rPr sz="1000" b="1">
                <a:solidFill>
                  <a:srgbClr val="5F6B63"/>
                </a:solidFill>
                <a:latin typeface="Aptos"/>
              </a:rPr>
              <a:t>OPERATING STANCE</a:t>
            </a:r>
          </a:p>
        </p:txBody>
      </p:sp>
      <p:sp>
        <p:nvSpPr>
          <p:cNvPr id="38" name="TextBox 37"/>
          <p:cNvSpPr txBox="1"/>
          <p:nvPr/>
        </p:nvSpPr>
        <p:spPr>
          <a:xfrm>
            <a:off x="2569463" y="2761488"/>
            <a:ext cx="1325880" cy="146304"/>
          </a:xfrm>
          <a:prstGeom prst="rect">
            <a:avLst/>
          </a:prstGeom>
          <a:noFill/>
        </p:spPr>
        <p:txBody>
          <a:bodyPr wrap="square" lIns="27432" rIns="27432" tIns="27432" bIns="27432" anchor="t">
            <a:spAutoFit/>
          </a:bodyPr>
          <a:lstStyle/>
          <a:p>
            <a:pPr algn="l"/>
            <a:r>
              <a:rPr sz="1000" b="1">
                <a:solidFill>
                  <a:srgbClr val="5F6B63"/>
                </a:solidFill>
                <a:latin typeface="Aptos"/>
              </a:rPr>
              <a:t>WINDOW</a:t>
            </a:r>
          </a:p>
        </p:txBody>
      </p:sp>
      <p:sp>
        <p:nvSpPr>
          <p:cNvPr id="39" name="TextBox 38"/>
          <p:cNvSpPr txBox="1"/>
          <p:nvPr/>
        </p:nvSpPr>
        <p:spPr>
          <a:xfrm>
            <a:off x="4041647" y="2761488"/>
            <a:ext cx="4572000" cy="146304"/>
          </a:xfrm>
          <a:prstGeom prst="rect">
            <a:avLst/>
          </a:prstGeom>
          <a:noFill/>
        </p:spPr>
        <p:txBody>
          <a:bodyPr wrap="square" lIns="27432" rIns="27432" tIns="27432" bIns="27432" anchor="t">
            <a:spAutoFit/>
          </a:bodyPr>
          <a:lstStyle/>
          <a:p>
            <a:pPr algn="l"/>
            <a:r>
              <a:rPr sz="1000" b="1">
                <a:solidFill>
                  <a:srgbClr val="5F6B63"/>
                </a:solidFill>
                <a:latin typeface="Aptos"/>
              </a:rPr>
              <a:t>WHAT WEST VALLEY SHOULD DO</a:t>
            </a:r>
          </a:p>
        </p:txBody>
      </p:sp>
      <p:sp>
        <p:nvSpPr>
          <p:cNvPr id="40" name="TextBox 39"/>
          <p:cNvSpPr txBox="1"/>
          <p:nvPr/>
        </p:nvSpPr>
        <p:spPr>
          <a:xfrm>
            <a:off x="8759951" y="2761488"/>
            <a:ext cx="2834640" cy="146304"/>
          </a:xfrm>
          <a:prstGeom prst="rect">
            <a:avLst/>
          </a:prstGeom>
          <a:noFill/>
        </p:spPr>
        <p:txBody>
          <a:bodyPr wrap="square" lIns="27432" rIns="27432" tIns="27432" bIns="27432" anchor="t">
            <a:spAutoFit/>
          </a:bodyPr>
          <a:lstStyle/>
          <a:p>
            <a:pPr algn="l"/>
            <a:r>
              <a:rPr sz="1000" b="1">
                <a:solidFill>
                  <a:srgbClr val="5F6B63"/>
                </a:solidFill>
                <a:latin typeface="Aptos"/>
              </a:rPr>
              <a:t>WHY IT MATTERS</a:t>
            </a:r>
          </a:p>
        </p:txBody>
      </p:sp>
      <p:sp>
        <p:nvSpPr>
          <p:cNvPr id="41" name="Rounded Rectangle 40"/>
          <p:cNvSpPr/>
          <p:nvPr/>
        </p:nvSpPr>
        <p:spPr>
          <a:xfrm>
            <a:off x="914400" y="3090672"/>
            <a:ext cx="1298448" cy="53035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3209544"/>
            <a:ext cx="1133856" cy="164592"/>
          </a:xfrm>
          <a:prstGeom prst="rect">
            <a:avLst/>
          </a:prstGeom>
          <a:noFill/>
        </p:spPr>
        <p:txBody>
          <a:bodyPr wrap="square" lIns="27432" rIns="27432" tIns="27432" bIns="27432" anchor="t">
            <a:spAutoFit/>
          </a:bodyPr>
          <a:lstStyle/>
          <a:p>
            <a:pPr algn="ctr"/>
            <a:r>
              <a:rPr sz="1200" b="1">
                <a:solidFill>
                  <a:srgbClr val="FCFAF5"/>
                </a:solidFill>
                <a:latin typeface="Aptos Display"/>
              </a:rPr>
              <a:t>Push volume</a:t>
            </a:r>
          </a:p>
        </p:txBody>
      </p:sp>
      <p:sp>
        <p:nvSpPr>
          <p:cNvPr id="43" name="TextBox 42"/>
          <p:cNvSpPr txBox="1"/>
          <p:nvPr/>
        </p:nvSpPr>
        <p:spPr>
          <a:xfrm>
            <a:off x="2450592" y="3163824"/>
            <a:ext cx="1143000" cy="365760"/>
          </a:xfrm>
          <a:prstGeom prst="rect">
            <a:avLst/>
          </a:prstGeom>
          <a:noFill/>
        </p:spPr>
        <p:txBody>
          <a:bodyPr wrap="square" lIns="27432" rIns="27432" tIns="27432" bIns="27432" anchor="t">
            <a:spAutoFit/>
          </a:bodyPr>
          <a:lstStyle/>
          <a:p>
            <a:pPr algn="l"/>
            <a:r>
              <a:rPr sz="1400" b="1">
                <a:solidFill>
                  <a:srgbClr val="355C47"/>
                </a:solidFill>
                <a:latin typeface="Aptos Display"/>
              </a:rPr>
              <a:t>Jan to May</a:t>
            </a:r>
          </a:p>
        </p:txBody>
      </p:sp>
      <p:sp>
        <p:nvSpPr>
          <p:cNvPr id="44" name="TextBox 43"/>
          <p:cNvSpPr txBox="1"/>
          <p:nvPr/>
        </p:nvSpPr>
        <p:spPr>
          <a:xfrm>
            <a:off x="3767328" y="3136392"/>
            <a:ext cx="4315968" cy="420624"/>
          </a:xfrm>
          <a:prstGeom prst="rect">
            <a:avLst/>
          </a:prstGeom>
          <a:noFill/>
        </p:spPr>
        <p:txBody>
          <a:bodyPr wrap="square" lIns="27432" rIns="27432" tIns="27432" bIns="27432" anchor="t">
            <a:spAutoFit/>
          </a:bodyPr>
          <a:lstStyle/>
          <a:p>
            <a:pPr algn="l"/>
            <a:r>
              <a:rPr sz="1200" b="0">
                <a:solidFill>
                  <a:srgbClr val="1F2621"/>
                </a:solidFill>
                <a:latin typeface="Aptos"/>
              </a:rPr>
              <a:t>Prioritize service, retailer availability, and clean flow while the market is naturally absorbing more units.</a:t>
            </a:r>
          </a:p>
        </p:txBody>
      </p:sp>
      <p:sp>
        <p:nvSpPr>
          <p:cNvPr id="45" name="TextBox 44"/>
          <p:cNvSpPr txBox="1"/>
          <p:nvPr/>
        </p:nvSpPr>
        <p:spPr>
          <a:xfrm>
            <a:off x="8412480" y="3136392"/>
            <a:ext cx="2697480" cy="420624"/>
          </a:xfrm>
          <a:prstGeom prst="rect">
            <a:avLst/>
          </a:prstGeom>
          <a:noFill/>
        </p:spPr>
        <p:txBody>
          <a:bodyPr wrap="square" lIns="27432" rIns="27432" tIns="27432" bIns="27432" anchor="t">
            <a:spAutoFit/>
          </a:bodyPr>
          <a:lstStyle/>
          <a:p>
            <a:pPr algn="l"/>
            <a:r>
              <a:rPr sz="1200" b="0">
                <a:solidFill>
                  <a:srgbClr val="1F2621"/>
                </a:solidFill>
                <a:latin typeface="Aptos"/>
              </a:rPr>
              <a:t>This is the best window to prove service quality before summer pricing peaks.</a:t>
            </a:r>
          </a:p>
        </p:txBody>
      </p:sp>
      <p:sp>
        <p:nvSpPr>
          <p:cNvPr id="46" name="Rounded Rectangle 45"/>
          <p:cNvSpPr/>
          <p:nvPr/>
        </p:nvSpPr>
        <p:spPr>
          <a:xfrm>
            <a:off x="914400" y="3822191"/>
            <a:ext cx="1298448" cy="53035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7552" y="3941063"/>
            <a:ext cx="1133856" cy="164592"/>
          </a:xfrm>
          <a:prstGeom prst="rect">
            <a:avLst/>
          </a:prstGeom>
          <a:noFill/>
        </p:spPr>
        <p:txBody>
          <a:bodyPr wrap="square" lIns="27432" rIns="27432" tIns="27432" bIns="27432" anchor="t">
            <a:spAutoFit/>
          </a:bodyPr>
          <a:lstStyle/>
          <a:p>
            <a:pPr algn="ctr"/>
            <a:r>
              <a:rPr sz="1200" b="1">
                <a:solidFill>
                  <a:srgbClr val="FCFAF5"/>
                </a:solidFill>
                <a:latin typeface="Aptos Display"/>
              </a:rPr>
              <a:t>Protect margin</a:t>
            </a:r>
          </a:p>
        </p:txBody>
      </p:sp>
      <p:sp>
        <p:nvSpPr>
          <p:cNvPr id="48" name="TextBox 47"/>
          <p:cNvSpPr txBox="1"/>
          <p:nvPr/>
        </p:nvSpPr>
        <p:spPr>
          <a:xfrm>
            <a:off x="2450592" y="3895343"/>
            <a:ext cx="1143000" cy="365760"/>
          </a:xfrm>
          <a:prstGeom prst="rect">
            <a:avLst/>
          </a:prstGeom>
          <a:noFill/>
        </p:spPr>
        <p:txBody>
          <a:bodyPr wrap="square" lIns="27432" rIns="27432" tIns="27432" bIns="27432" anchor="t">
            <a:spAutoFit/>
          </a:bodyPr>
          <a:lstStyle/>
          <a:p>
            <a:pPr algn="l"/>
            <a:r>
              <a:rPr sz="1400" b="1">
                <a:solidFill>
                  <a:srgbClr val="C58A2A"/>
                </a:solidFill>
                <a:latin typeface="Aptos Display"/>
              </a:rPr>
              <a:t>Jul to Sep</a:t>
            </a:r>
          </a:p>
        </p:txBody>
      </p:sp>
      <p:sp>
        <p:nvSpPr>
          <p:cNvPr id="49" name="TextBox 48"/>
          <p:cNvSpPr txBox="1"/>
          <p:nvPr/>
        </p:nvSpPr>
        <p:spPr>
          <a:xfrm>
            <a:off x="3767328" y="3867911"/>
            <a:ext cx="4315968" cy="420624"/>
          </a:xfrm>
          <a:prstGeom prst="rect">
            <a:avLst/>
          </a:prstGeom>
          <a:noFill/>
        </p:spPr>
        <p:txBody>
          <a:bodyPr wrap="square" lIns="27432" rIns="27432" tIns="27432" bIns="27432" anchor="t">
            <a:spAutoFit/>
          </a:bodyPr>
          <a:lstStyle/>
          <a:p>
            <a:pPr algn="l"/>
            <a:r>
              <a:rPr sz="1200" b="0">
                <a:solidFill>
                  <a:srgbClr val="1F2621"/>
                </a:solidFill>
                <a:latin typeface="Aptos"/>
              </a:rPr>
              <a:t>Hold pricing discipline and allocate the strongest fruit to the highest-paying pilot markets.</a:t>
            </a:r>
          </a:p>
        </p:txBody>
      </p:sp>
      <p:sp>
        <p:nvSpPr>
          <p:cNvPr id="50" name="TextBox 49"/>
          <p:cNvSpPr txBox="1"/>
          <p:nvPr/>
        </p:nvSpPr>
        <p:spPr>
          <a:xfrm>
            <a:off x="8412480" y="3867911"/>
            <a:ext cx="2697480" cy="420624"/>
          </a:xfrm>
          <a:prstGeom prst="rect">
            <a:avLst/>
          </a:prstGeom>
          <a:noFill/>
        </p:spPr>
        <p:txBody>
          <a:bodyPr wrap="square" lIns="27432" rIns="27432" tIns="27432" bIns="27432" anchor="t">
            <a:spAutoFit/>
          </a:bodyPr>
          <a:lstStyle/>
          <a:p>
            <a:pPr algn="l"/>
            <a:r>
              <a:rPr sz="1200" b="0">
                <a:solidFill>
                  <a:srgbClr val="1F2621"/>
                </a:solidFill>
                <a:latin typeface="Aptos"/>
              </a:rPr>
              <a:t>Price support is strongest here, so margin capture matters more than raw throughput.</a:t>
            </a:r>
          </a:p>
        </p:txBody>
      </p:sp>
      <p:sp>
        <p:nvSpPr>
          <p:cNvPr id="51" name="Rounded Rectangle 50"/>
          <p:cNvSpPr/>
          <p:nvPr/>
        </p:nvSpPr>
        <p:spPr>
          <a:xfrm>
            <a:off x="914400" y="4553712"/>
            <a:ext cx="1298448" cy="53035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87552" y="4672584"/>
            <a:ext cx="1133856" cy="164592"/>
          </a:xfrm>
          <a:prstGeom prst="rect">
            <a:avLst/>
          </a:prstGeom>
          <a:noFill/>
        </p:spPr>
        <p:txBody>
          <a:bodyPr wrap="square" lIns="27432" rIns="27432" tIns="27432" bIns="27432" anchor="t">
            <a:spAutoFit/>
          </a:bodyPr>
          <a:lstStyle/>
          <a:p>
            <a:pPr algn="ctr"/>
            <a:r>
              <a:rPr sz="1200" b="1">
                <a:solidFill>
                  <a:srgbClr val="FCFAF5"/>
                </a:solidFill>
                <a:latin typeface="Aptos Display"/>
              </a:rPr>
              <a:t>Stimulate demand</a:t>
            </a:r>
          </a:p>
        </p:txBody>
      </p:sp>
      <p:sp>
        <p:nvSpPr>
          <p:cNvPr id="53" name="TextBox 52"/>
          <p:cNvSpPr txBox="1"/>
          <p:nvPr/>
        </p:nvSpPr>
        <p:spPr>
          <a:xfrm>
            <a:off x="2450592" y="4626864"/>
            <a:ext cx="1143000" cy="365760"/>
          </a:xfrm>
          <a:prstGeom prst="rect">
            <a:avLst/>
          </a:prstGeom>
          <a:noFill/>
        </p:spPr>
        <p:txBody>
          <a:bodyPr wrap="square" lIns="27432" rIns="27432" tIns="27432" bIns="27432" anchor="t">
            <a:spAutoFit/>
          </a:bodyPr>
          <a:lstStyle/>
          <a:p>
            <a:pPr algn="l"/>
            <a:r>
              <a:rPr sz="1400" b="1">
                <a:solidFill>
                  <a:srgbClr val="3F728A"/>
                </a:solidFill>
                <a:latin typeface="Aptos Display"/>
              </a:rPr>
              <a:t>Nov to Feb</a:t>
            </a:r>
          </a:p>
        </p:txBody>
      </p:sp>
      <p:sp>
        <p:nvSpPr>
          <p:cNvPr id="54" name="TextBox 53"/>
          <p:cNvSpPr txBox="1"/>
          <p:nvPr/>
        </p:nvSpPr>
        <p:spPr>
          <a:xfrm>
            <a:off x="3767328" y="4599432"/>
            <a:ext cx="4315968" cy="420624"/>
          </a:xfrm>
          <a:prstGeom prst="rect">
            <a:avLst/>
          </a:prstGeom>
          <a:noFill/>
        </p:spPr>
        <p:txBody>
          <a:bodyPr wrap="square" lIns="27432" rIns="27432" tIns="27432" bIns="27432" anchor="t">
            <a:spAutoFit/>
          </a:bodyPr>
          <a:lstStyle/>
          <a:p>
            <a:pPr algn="l"/>
            <a:r>
              <a:rPr sz="1200" b="0">
                <a:solidFill>
                  <a:srgbClr val="1F2621"/>
                </a:solidFill>
                <a:latin typeface="Aptos"/>
              </a:rPr>
              <a:t>Use promotions, alternate channels, and tighter inventory planning when both types soften.</a:t>
            </a:r>
          </a:p>
        </p:txBody>
      </p:sp>
      <p:sp>
        <p:nvSpPr>
          <p:cNvPr id="55" name="TextBox 54"/>
          <p:cNvSpPr txBox="1"/>
          <p:nvPr/>
        </p:nvSpPr>
        <p:spPr>
          <a:xfrm>
            <a:off x="8412480" y="4599432"/>
            <a:ext cx="2697480" cy="420624"/>
          </a:xfrm>
          <a:prstGeom prst="rect">
            <a:avLst/>
          </a:prstGeom>
          <a:noFill/>
        </p:spPr>
        <p:txBody>
          <a:bodyPr wrap="square" lIns="27432" rIns="27432" tIns="27432" bIns="27432" anchor="t">
            <a:spAutoFit/>
          </a:bodyPr>
          <a:lstStyle/>
          <a:p>
            <a:pPr algn="l"/>
            <a:r>
              <a:rPr sz="1200" b="0">
                <a:solidFill>
                  <a:srgbClr val="1F2621"/>
                </a:solidFill>
                <a:latin typeface="Aptos"/>
              </a:rPr>
              <a:t>Low-demand months require commercial support so the pilot does not confuse seasonality with weak economics.</a:t>
            </a:r>
          </a:p>
        </p:txBody>
      </p:sp>
      <p:sp>
        <p:nvSpPr>
          <p:cNvPr id="56" name="TextBox 55"/>
          <p:cNvSpPr txBox="1"/>
          <p:nvPr/>
        </p:nvSpPr>
        <p:spPr>
          <a:xfrm>
            <a:off x="749808" y="5650992"/>
            <a:ext cx="10149840" cy="201168"/>
          </a:xfrm>
          <a:prstGeom prst="rect">
            <a:avLst/>
          </a:prstGeom>
          <a:noFill/>
        </p:spPr>
        <p:txBody>
          <a:bodyPr wrap="square" lIns="27432" rIns="27432" tIns="27432" bIns="27432" anchor="t">
            <a:spAutoFit/>
          </a:bodyPr>
          <a:lstStyle/>
          <a:p>
            <a:pPr algn="l"/>
            <a:r>
              <a:rPr sz="1200" b="0">
                <a:solidFill>
                  <a:srgbClr val="5F6B63"/>
                </a:solidFill>
                <a:latin typeface="Aptos"/>
              </a:rPr>
              <a:t>Management implication: the pilot should be judged against the right seasonal job each month, not against a flat annual operating assumption.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29</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A monthly operating calendar can convert seasonality from risk into advantage</a:t>
            </a:r>
          </a:p>
        </p:txBody>
      </p:sp>
      <p:sp>
        <p:nvSpPr>
          <p:cNvPr id="11" name="TextBox 10"/>
          <p:cNvSpPr txBox="1"/>
          <p:nvPr/>
        </p:nvSpPr>
        <p:spPr>
          <a:xfrm>
            <a:off x="749808" y="1143000"/>
            <a:ext cx="1417320" cy="146304"/>
          </a:xfrm>
          <a:prstGeom prst="rect">
            <a:avLst/>
          </a:prstGeom>
          <a:noFill/>
        </p:spPr>
        <p:txBody>
          <a:bodyPr wrap="square" lIns="27432" rIns="27432" tIns="27432" bIns="27432" anchor="t">
            <a:spAutoFit/>
          </a:bodyPr>
          <a:lstStyle/>
          <a:p>
            <a:pPr algn="l"/>
            <a:r>
              <a:rPr sz="1000" b="1">
                <a:solidFill>
                  <a:srgbClr val="5F6B63"/>
                </a:solidFill>
                <a:latin typeface="Aptos"/>
              </a:rPr>
              <a:t>READING GUIDE</a:t>
            </a:r>
          </a:p>
        </p:txBody>
      </p:sp>
      <p:sp>
        <p:nvSpPr>
          <p:cNvPr id="12" name="Oval 11"/>
          <p:cNvSpPr/>
          <p:nvPr/>
        </p:nvSpPr>
        <p:spPr>
          <a:xfrm>
            <a:off x="1938528" y="1115568"/>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7627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Service</a:t>
            </a:r>
          </a:p>
        </p:txBody>
      </p:sp>
      <p:sp>
        <p:nvSpPr>
          <p:cNvPr id="14" name="Oval 13"/>
          <p:cNvSpPr/>
          <p:nvPr/>
        </p:nvSpPr>
        <p:spPr>
          <a:xfrm>
            <a:off x="4178808" y="1115568"/>
            <a:ext cx="164592" cy="164592"/>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Protect margin</a:t>
            </a:r>
          </a:p>
        </p:txBody>
      </p:sp>
      <p:sp>
        <p:nvSpPr>
          <p:cNvPr id="16" name="Oval 15"/>
          <p:cNvSpPr/>
          <p:nvPr/>
        </p:nvSpPr>
        <p:spPr>
          <a:xfrm>
            <a:off x="6419088" y="1115568"/>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5683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Stimulate demand</a:t>
            </a:r>
          </a:p>
        </p:txBody>
      </p:sp>
      <p:sp>
        <p:nvSpPr>
          <p:cNvPr id="18" name="Oval 17"/>
          <p:cNvSpPr/>
          <p:nvPr/>
        </p:nvSpPr>
        <p:spPr>
          <a:xfrm>
            <a:off x="8659368" y="1115568"/>
            <a:ext cx="164592" cy="164592"/>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9711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Rebalance / reset</a:t>
            </a:r>
          </a:p>
        </p:txBody>
      </p:sp>
      <p:sp>
        <p:nvSpPr>
          <p:cNvPr id="20" name="Rounded Rectangle 19"/>
          <p:cNvSpPr/>
          <p:nvPr/>
        </p:nvSpPr>
        <p:spPr>
          <a:xfrm>
            <a:off x="621792" y="1444752"/>
            <a:ext cx="11027664" cy="380390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1" name="Table 20"/>
          <p:cNvGraphicFramePr>
            <a:graphicFrameLocks noGrp="1"/>
          </p:cNvGraphicFramePr>
          <p:nvPr/>
        </p:nvGraphicFramePr>
        <p:xfrm>
          <a:off x="749808" y="1700784"/>
          <a:ext cx="10177272" cy="3072384"/>
        </p:xfrm>
        <a:graphic>
          <a:graphicData uri="http://schemas.openxmlformats.org/drawingml/2006/table">
            <a:tbl>
              <a:tblPr firstRow="1" bandRow="1">
                <a:tableStyleId>{5C22544A-7EE6-4342-B048-85BDC9FD1C3A}</a:tableStyleId>
              </a:tblPr>
              <a:tblGrid>
                <a:gridCol w="1508760"/>
                <a:gridCol w="722376"/>
                <a:gridCol w="722376"/>
                <a:gridCol w="722376"/>
                <a:gridCol w="722376"/>
                <a:gridCol w="722376"/>
                <a:gridCol w="722376"/>
                <a:gridCol w="722376"/>
                <a:gridCol w="722376"/>
                <a:gridCol w="722376"/>
                <a:gridCol w="722376"/>
                <a:gridCol w="722376"/>
                <a:gridCol w="722376"/>
              </a:tblGrid>
              <a:tr h="768096">
                <a:tc>
                  <a:txBody>
                    <a:bodyPr/>
                    <a:lstStyle/>
                    <a:p>
                      <a:pPr algn="ctr"/>
                    </a:p>
                  </a:txBody>
                  <a:tcPr/>
                </a:tc>
                <a:tc>
                  <a:txBody>
                    <a:bodyPr/>
                    <a:lstStyle/>
                    <a:p>
                      <a:pPr algn="ctr"/>
                      <a:r>
                        <a:rPr sz="1050" b="1">
                          <a:solidFill>
                            <a:srgbClr val="1F2621"/>
                          </a:solidFill>
                          <a:latin typeface="Aptos"/>
                        </a:rPr>
                        <a:t>Jan</a:t>
                      </a:r>
                    </a:p>
                  </a:txBody>
                  <a:tcPr>
                    <a:solidFill>
                      <a:srgbClr val="FCFAF5"/>
                    </a:solidFill>
                  </a:tcPr>
                </a:tc>
                <a:tc>
                  <a:txBody>
                    <a:bodyPr/>
                    <a:lstStyle/>
                    <a:p>
                      <a:pPr algn="ctr"/>
                      <a:r>
                        <a:rPr sz="1050" b="1">
                          <a:solidFill>
                            <a:srgbClr val="1F2621"/>
                          </a:solidFill>
                          <a:latin typeface="Aptos"/>
                        </a:rPr>
                        <a:t>Feb</a:t>
                      </a:r>
                    </a:p>
                  </a:txBody>
                  <a:tcPr>
                    <a:solidFill>
                      <a:srgbClr val="FCFAF5"/>
                    </a:solidFill>
                  </a:tcPr>
                </a:tc>
                <a:tc>
                  <a:txBody>
                    <a:bodyPr/>
                    <a:lstStyle/>
                    <a:p>
                      <a:pPr algn="ctr"/>
                      <a:r>
                        <a:rPr sz="1050" b="1">
                          <a:solidFill>
                            <a:srgbClr val="1F2621"/>
                          </a:solidFill>
                          <a:latin typeface="Aptos"/>
                        </a:rPr>
                        <a:t>Mar</a:t>
                      </a:r>
                    </a:p>
                  </a:txBody>
                  <a:tcPr>
                    <a:solidFill>
                      <a:srgbClr val="FCFAF5"/>
                    </a:solidFill>
                  </a:tcPr>
                </a:tc>
                <a:tc>
                  <a:txBody>
                    <a:bodyPr/>
                    <a:lstStyle/>
                    <a:p>
                      <a:pPr algn="ctr"/>
                      <a:r>
                        <a:rPr sz="1050" b="1">
                          <a:solidFill>
                            <a:srgbClr val="1F2621"/>
                          </a:solidFill>
                          <a:latin typeface="Aptos"/>
                        </a:rPr>
                        <a:t>Apr</a:t>
                      </a:r>
                    </a:p>
                  </a:txBody>
                  <a:tcPr>
                    <a:solidFill>
                      <a:srgbClr val="FCFAF5"/>
                    </a:solidFill>
                  </a:tcPr>
                </a:tc>
                <a:tc>
                  <a:txBody>
                    <a:bodyPr/>
                    <a:lstStyle/>
                    <a:p>
                      <a:pPr algn="ctr"/>
                      <a:r>
                        <a:rPr sz="1050" b="1">
                          <a:solidFill>
                            <a:srgbClr val="1F2621"/>
                          </a:solidFill>
                          <a:latin typeface="Aptos"/>
                        </a:rPr>
                        <a:t>May</a:t>
                      </a:r>
                    </a:p>
                  </a:txBody>
                  <a:tcPr>
                    <a:solidFill>
                      <a:srgbClr val="FCFAF5"/>
                    </a:solidFill>
                  </a:tcPr>
                </a:tc>
                <a:tc>
                  <a:txBody>
                    <a:bodyPr/>
                    <a:lstStyle/>
                    <a:p>
                      <a:pPr algn="ctr"/>
                      <a:r>
                        <a:rPr sz="1050" b="1">
                          <a:solidFill>
                            <a:srgbClr val="1F2621"/>
                          </a:solidFill>
                          <a:latin typeface="Aptos"/>
                        </a:rPr>
                        <a:t>Jun</a:t>
                      </a:r>
                    </a:p>
                  </a:txBody>
                  <a:tcPr>
                    <a:solidFill>
                      <a:srgbClr val="FCFAF5"/>
                    </a:solidFill>
                  </a:tcPr>
                </a:tc>
                <a:tc>
                  <a:txBody>
                    <a:bodyPr/>
                    <a:lstStyle/>
                    <a:p>
                      <a:pPr algn="ctr"/>
                      <a:r>
                        <a:rPr sz="1050" b="1">
                          <a:solidFill>
                            <a:srgbClr val="1F2621"/>
                          </a:solidFill>
                          <a:latin typeface="Aptos"/>
                        </a:rPr>
                        <a:t>Jul</a:t>
                      </a:r>
                    </a:p>
                  </a:txBody>
                  <a:tcPr>
                    <a:solidFill>
                      <a:srgbClr val="FCFAF5"/>
                    </a:solidFill>
                  </a:tcPr>
                </a:tc>
                <a:tc>
                  <a:txBody>
                    <a:bodyPr/>
                    <a:lstStyle/>
                    <a:p>
                      <a:pPr algn="ctr"/>
                      <a:r>
                        <a:rPr sz="1050" b="1">
                          <a:solidFill>
                            <a:srgbClr val="1F2621"/>
                          </a:solidFill>
                          <a:latin typeface="Aptos"/>
                        </a:rPr>
                        <a:t>Aug</a:t>
                      </a:r>
                    </a:p>
                  </a:txBody>
                  <a:tcPr>
                    <a:solidFill>
                      <a:srgbClr val="FCFAF5"/>
                    </a:solidFill>
                  </a:tcPr>
                </a:tc>
                <a:tc>
                  <a:txBody>
                    <a:bodyPr/>
                    <a:lstStyle/>
                    <a:p>
                      <a:pPr algn="ctr"/>
                      <a:r>
                        <a:rPr sz="1050" b="1">
                          <a:solidFill>
                            <a:srgbClr val="1F2621"/>
                          </a:solidFill>
                          <a:latin typeface="Aptos"/>
                        </a:rPr>
                        <a:t>Sep</a:t>
                      </a:r>
                    </a:p>
                  </a:txBody>
                  <a:tcPr>
                    <a:solidFill>
                      <a:srgbClr val="FCFAF5"/>
                    </a:solidFill>
                  </a:tcPr>
                </a:tc>
                <a:tc>
                  <a:txBody>
                    <a:bodyPr/>
                    <a:lstStyle/>
                    <a:p>
                      <a:pPr algn="ctr"/>
                      <a:r>
                        <a:rPr sz="1050" b="1">
                          <a:solidFill>
                            <a:srgbClr val="1F2621"/>
                          </a:solidFill>
                          <a:latin typeface="Aptos"/>
                        </a:rPr>
                        <a:t>Oct</a:t>
                      </a:r>
                    </a:p>
                  </a:txBody>
                  <a:tcPr>
                    <a:solidFill>
                      <a:srgbClr val="FCFAF5"/>
                    </a:solidFill>
                  </a:tcPr>
                </a:tc>
                <a:tc>
                  <a:txBody>
                    <a:bodyPr/>
                    <a:lstStyle/>
                    <a:p>
                      <a:pPr algn="ctr"/>
                      <a:r>
                        <a:rPr sz="1050" b="1">
                          <a:solidFill>
                            <a:srgbClr val="1F2621"/>
                          </a:solidFill>
                          <a:latin typeface="Aptos"/>
                        </a:rPr>
                        <a:t>Nov</a:t>
                      </a:r>
                    </a:p>
                  </a:txBody>
                  <a:tcPr>
                    <a:solidFill>
                      <a:srgbClr val="FCFAF5"/>
                    </a:solidFill>
                  </a:tcPr>
                </a:tc>
                <a:tc>
                  <a:txBody>
                    <a:bodyPr/>
                    <a:lstStyle/>
                    <a:p>
                      <a:pPr algn="ctr"/>
                      <a:r>
                        <a:rPr sz="1050" b="1">
                          <a:solidFill>
                            <a:srgbClr val="1F2621"/>
                          </a:solidFill>
                          <a:latin typeface="Aptos"/>
                        </a:rPr>
                        <a:t>Dec</a:t>
                      </a:r>
                    </a:p>
                  </a:txBody>
                  <a:tcPr>
                    <a:solidFill>
                      <a:srgbClr val="FCFAF5"/>
                    </a:solidFill>
                  </a:tcPr>
                </a:tc>
              </a:tr>
              <a:tr h="768096">
                <a:tc>
                  <a:txBody>
                    <a:bodyPr/>
                    <a:lstStyle/>
                    <a:p>
                      <a:pPr algn="ctr"/>
                      <a:r>
                        <a:rPr sz="1050" b="1">
                          <a:solidFill>
                            <a:srgbClr val="1F2621"/>
                          </a:solidFill>
                          <a:latin typeface="Aptos"/>
                        </a:rPr>
                        <a:t>Commercial posture</a:t>
                      </a:r>
                    </a:p>
                  </a:txBody>
                  <a:tcPr>
                    <a:solidFill>
                      <a:srgbClr val="FCFAF5"/>
                    </a:solidFill>
                  </a:tcPr>
                </a:tc>
                <a:tc>
                  <a:txBody>
                    <a:bodyPr/>
                    <a:lstStyle/>
                    <a:p>
                      <a:pPr algn="ctr"/>
                      <a:r>
                        <a:rPr sz="1050" b="1">
                          <a:solidFill>
                            <a:srgbClr val="FCFAF5"/>
                          </a:solidFill>
                          <a:latin typeface="Aptos"/>
                        </a:rPr>
                        <a:t>Stimulate</a:t>
                      </a:r>
                    </a:p>
                  </a:txBody>
                  <a:tcPr>
                    <a:solidFill>
                      <a:srgbClr val="3F728A"/>
                    </a:solidFill>
                  </a:tcPr>
                </a:tc>
                <a:tc>
                  <a:txBody>
                    <a:bodyPr/>
                    <a:lstStyle/>
                    <a:p>
                      <a:pPr algn="ctr"/>
                      <a:r>
                        <a:rPr sz="1050" b="1">
                          <a:solidFill>
                            <a:srgbClr val="FCFAF5"/>
                          </a:solidFill>
                          <a:latin typeface="Aptos"/>
                        </a:rPr>
                        <a:t>Stimulate</a:t>
                      </a:r>
                    </a:p>
                  </a:txBody>
                  <a:tcPr>
                    <a:solidFill>
                      <a:srgbClr val="3F728A"/>
                    </a:solidFill>
                  </a:tcPr>
                </a:tc>
                <a:tc>
                  <a:txBody>
                    <a:bodyPr/>
                    <a:lstStyle/>
                    <a:p>
                      <a:pPr algn="ctr"/>
                      <a:r>
                        <a:rPr sz="1050" b="1">
                          <a:solidFill>
                            <a:srgbClr val="FCFAF5"/>
                          </a:solidFill>
                          <a:latin typeface="Aptos"/>
                        </a:rPr>
                        <a:t>Support</a:t>
                      </a:r>
                    </a:p>
                  </a:txBody>
                  <a:tcPr>
                    <a:solidFill>
                      <a:srgbClr val="889A83"/>
                    </a:solidFill>
                  </a:tcPr>
                </a:tc>
                <a:tc>
                  <a:txBody>
                    <a:bodyPr/>
                    <a:lstStyle/>
                    <a:p>
                      <a:pPr algn="ctr"/>
                      <a:r>
                        <a:rPr sz="1050" b="1">
                          <a:solidFill>
                            <a:srgbClr val="FCFAF5"/>
                          </a:solidFill>
                          <a:latin typeface="Aptos"/>
                        </a:rPr>
                        <a:t>Support</a:t>
                      </a:r>
                    </a:p>
                  </a:txBody>
                  <a:tcPr>
                    <a:solidFill>
                      <a:srgbClr val="889A83"/>
                    </a:solidFill>
                  </a:tcPr>
                </a:tc>
                <a:tc>
                  <a:txBody>
                    <a:bodyPr/>
                    <a:lstStyle/>
                    <a:p>
                      <a:pPr algn="ctr"/>
                      <a:r>
                        <a:rPr sz="1050" b="1">
                          <a:solidFill>
                            <a:srgbClr val="FCFAF5"/>
                          </a:solidFill>
                          <a:latin typeface="Aptos"/>
                        </a:rPr>
                        <a:t>Service</a:t>
                      </a:r>
                    </a:p>
                  </a:txBody>
                  <a:tcPr>
                    <a:solidFill>
                      <a:srgbClr val="355C47"/>
                    </a:solidFill>
                  </a:tcPr>
                </a:tc>
                <a:tc>
                  <a:txBody>
                    <a:bodyPr/>
                    <a:lstStyle/>
                    <a:p>
                      <a:pPr algn="ctr"/>
                      <a:r>
                        <a:rPr sz="1050" b="1">
                          <a:solidFill>
                            <a:srgbClr val="1F2621"/>
                          </a:solidFill>
                          <a:latin typeface="Aptos"/>
                        </a:rPr>
                        <a:t>Balance</a:t>
                      </a:r>
                    </a:p>
                  </a:txBody>
                  <a:tcPr>
                    <a:solidFill>
                      <a:srgbClr val="D8D1C6"/>
                    </a:solidFill>
                  </a:tcPr>
                </a:tc>
                <a:tc>
                  <a:txBody>
                    <a:bodyPr/>
                    <a:lstStyle/>
                    <a:p>
                      <a:pPr algn="ctr"/>
                      <a:r>
                        <a:rPr sz="1050" b="1">
                          <a:solidFill>
                            <a:srgbClr val="FCFAF5"/>
                          </a:solidFill>
                          <a:latin typeface="Aptos"/>
                        </a:rPr>
                        <a:t>Protect</a:t>
                      </a:r>
                    </a:p>
                  </a:txBody>
                  <a:tcPr>
                    <a:solidFill>
                      <a:srgbClr val="C58A2A"/>
                    </a:solidFill>
                  </a:tcPr>
                </a:tc>
                <a:tc>
                  <a:txBody>
                    <a:bodyPr/>
                    <a:lstStyle/>
                    <a:p>
                      <a:pPr algn="ctr"/>
                      <a:r>
                        <a:rPr sz="1050" b="1">
                          <a:solidFill>
                            <a:srgbClr val="FCFAF5"/>
                          </a:solidFill>
                          <a:latin typeface="Aptos"/>
                        </a:rPr>
                        <a:t>Protect</a:t>
                      </a:r>
                    </a:p>
                  </a:txBody>
                  <a:tcPr>
                    <a:solidFill>
                      <a:srgbClr val="C58A2A"/>
                    </a:solidFill>
                  </a:tcPr>
                </a:tc>
                <a:tc>
                  <a:txBody>
                    <a:bodyPr/>
                    <a:lstStyle/>
                    <a:p>
                      <a:pPr algn="ctr"/>
                      <a:r>
                        <a:rPr sz="1050" b="1">
                          <a:solidFill>
                            <a:srgbClr val="FCFAF5"/>
                          </a:solidFill>
                          <a:latin typeface="Aptos"/>
                        </a:rPr>
                        <a:t>Protect</a:t>
                      </a:r>
                    </a:p>
                  </a:txBody>
                  <a:tcPr>
                    <a:solidFill>
                      <a:srgbClr val="C58A2A"/>
                    </a:solidFill>
                  </a:tcPr>
                </a:tc>
                <a:tc>
                  <a:txBody>
                    <a:bodyPr/>
                    <a:lstStyle/>
                    <a:p>
                      <a:pPr algn="ctr"/>
                      <a:r>
                        <a:rPr sz="1050" b="1">
                          <a:solidFill>
                            <a:srgbClr val="FCFAF5"/>
                          </a:solidFill>
                          <a:latin typeface="Aptos"/>
                        </a:rPr>
                        <a:t>Rebalance</a:t>
                      </a:r>
                    </a:p>
                  </a:txBody>
                  <a:tcPr>
                    <a:solidFill>
                      <a:srgbClr val="B5533A"/>
                    </a:solidFill>
                  </a:tcPr>
                </a:tc>
                <a:tc>
                  <a:txBody>
                    <a:bodyPr/>
                    <a:lstStyle/>
                    <a:p>
                      <a:pPr algn="ctr"/>
                      <a:r>
                        <a:rPr sz="1050" b="1">
                          <a:solidFill>
                            <a:srgbClr val="FCFAF5"/>
                          </a:solidFill>
                          <a:latin typeface="Aptos"/>
                        </a:rPr>
                        <a:t>Stimulate</a:t>
                      </a:r>
                    </a:p>
                  </a:txBody>
                  <a:tcPr>
                    <a:solidFill>
                      <a:srgbClr val="3F728A"/>
                    </a:solidFill>
                  </a:tcPr>
                </a:tc>
                <a:tc>
                  <a:txBody>
                    <a:bodyPr/>
                    <a:lstStyle/>
                    <a:p>
                      <a:pPr algn="ctr"/>
                      <a:r>
                        <a:rPr sz="1050" b="1">
                          <a:solidFill>
                            <a:srgbClr val="FCFAF5"/>
                          </a:solidFill>
                          <a:latin typeface="Aptos"/>
                        </a:rPr>
                        <a:t>Stimulate</a:t>
                      </a:r>
                    </a:p>
                  </a:txBody>
                  <a:tcPr>
                    <a:solidFill>
                      <a:srgbClr val="3F728A"/>
                    </a:solidFill>
                  </a:tcPr>
                </a:tc>
              </a:tr>
              <a:tr h="768096">
                <a:tc>
                  <a:txBody>
                    <a:bodyPr/>
                    <a:lstStyle/>
                    <a:p>
                      <a:pPr algn="ctr"/>
                      <a:r>
                        <a:rPr sz="1050" b="1">
                          <a:solidFill>
                            <a:srgbClr val="1F2621"/>
                          </a:solidFill>
                          <a:latin typeface="Aptos"/>
                        </a:rPr>
                        <a:t>Supply posture</a:t>
                      </a:r>
                    </a:p>
                  </a:txBody>
                  <a:tcPr>
                    <a:solidFill>
                      <a:srgbClr val="FCFAF5"/>
                    </a:solidFill>
                  </a:tcPr>
                </a:tc>
                <a:tc>
                  <a:txBody>
                    <a:bodyPr/>
                    <a:lstStyle/>
                    <a:p>
                      <a:pPr algn="ctr"/>
                      <a:r>
                        <a:rPr sz="1050" b="1">
                          <a:solidFill>
                            <a:srgbClr val="FCFAF5"/>
                          </a:solidFill>
                          <a:latin typeface="Aptos"/>
                        </a:rPr>
                        <a:t>Flex up</a:t>
                      </a:r>
                    </a:p>
                  </a:txBody>
                  <a:tcPr>
                    <a:solidFill>
                      <a:srgbClr val="889A83"/>
                    </a:solidFill>
                  </a:tcPr>
                </a:tc>
                <a:tc>
                  <a:txBody>
                    <a:bodyPr/>
                    <a:lstStyle/>
                    <a:p>
                      <a:pPr algn="ctr"/>
                      <a:r>
                        <a:rPr sz="1050" b="1">
                          <a:solidFill>
                            <a:srgbClr val="FCFAF5"/>
                          </a:solidFill>
                          <a:latin typeface="Aptos"/>
                        </a:rPr>
                        <a:t>Flex up</a:t>
                      </a:r>
                    </a:p>
                  </a:txBody>
                  <a:tcPr>
                    <a:solidFill>
                      <a:srgbClr val="889A83"/>
                    </a:solidFill>
                  </a:tcPr>
                </a:tc>
                <a:tc>
                  <a:txBody>
                    <a:bodyPr/>
                    <a:lstStyle/>
                    <a:p>
                      <a:pPr algn="ctr"/>
                      <a:r>
                        <a:rPr sz="1050" b="1">
                          <a:solidFill>
                            <a:srgbClr val="FCFAF5"/>
                          </a:solidFill>
                          <a:latin typeface="Aptos"/>
                        </a:rPr>
                        <a:t>Flex up</a:t>
                      </a:r>
                    </a:p>
                  </a:txBody>
                  <a:tcPr>
                    <a:solidFill>
                      <a:srgbClr val="889A83"/>
                    </a:solidFill>
                  </a:tcPr>
                </a:tc>
                <a:tc>
                  <a:txBody>
                    <a:bodyPr/>
                    <a:lstStyle/>
                    <a:p>
                      <a:pPr algn="ctr"/>
                      <a:r>
                        <a:rPr sz="1050" b="1">
                          <a:solidFill>
                            <a:srgbClr val="FCFAF5"/>
                          </a:solidFill>
                          <a:latin typeface="Aptos"/>
                        </a:rPr>
                        <a:t>Flex up</a:t>
                      </a:r>
                    </a:p>
                  </a:txBody>
                  <a:tcPr>
                    <a:solidFill>
                      <a:srgbClr val="889A83"/>
                    </a:solidFill>
                  </a:tcPr>
                </a:tc>
                <a:tc>
                  <a:txBody>
                    <a:bodyPr/>
                    <a:lstStyle/>
                    <a:p>
                      <a:pPr algn="ctr"/>
                      <a:r>
                        <a:rPr sz="1050" b="1">
                          <a:solidFill>
                            <a:srgbClr val="FCFAF5"/>
                          </a:solidFill>
                          <a:latin typeface="Aptos"/>
                        </a:rPr>
                        <a:t>Peak flow</a:t>
                      </a:r>
                    </a:p>
                  </a:txBody>
                  <a:tcPr>
                    <a:solidFill>
                      <a:srgbClr val="355C47"/>
                    </a:solidFill>
                  </a:tcPr>
                </a:tc>
                <a:tc>
                  <a:txBody>
                    <a:bodyPr/>
                    <a:lstStyle/>
                    <a:p>
                      <a:pPr algn="ctr"/>
                      <a:r>
                        <a:rPr sz="1050" b="1">
                          <a:solidFill>
                            <a:srgbClr val="1F2621"/>
                          </a:solidFill>
                          <a:latin typeface="Aptos"/>
                        </a:rPr>
                        <a:t>Normalize</a:t>
                      </a:r>
                    </a:p>
                  </a:txBody>
                  <a:tcPr>
                    <a:solidFill>
                      <a:srgbClr val="D8D1C6"/>
                    </a:solidFill>
                  </a:tcPr>
                </a:tc>
                <a:tc>
                  <a:txBody>
                    <a:bodyPr/>
                    <a:lstStyle/>
                    <a:p>
                      <a:pPr algn="ctr"/>
                      <a:r>
                        <a:rPr sz="1050" b="1">
                          <a:solidFill>
                            <a:srgbClr val="FCFAF5"/>
                          </a:solidFill>
                          <a:latin typeface="Aptos"/>
                        </a:rPr>
                        <a:t>Tighten mix</a:t>
                      </a:r>
                    </a:p>
                  </a:txBody>
                  <a:tcPr>
                    <a:solidFill>
                      <a:srgbClr val="C58A2A"/>
                    </a:solidFill>
                  </a:tcPr>
                </a:tc>
                <a:tc>
                  <a:txBody>
                    <a:bodyPr/>
                    <a:lstStyle/>
                    <a:p>
                      <a:pPr algn="ctr"/>
                      <a:r>
                        <a:rPr sz="1050" b="1">
                          <a:solidFill>
                            <a:srgbClr val="FCFAF5"/>
                          </a:solidFill>
                          <a:latin typeface="Aptos"/>
                        </a:rPr>
                        <a:t>Tighten mix</a:t>
                      </a:r>
                    </a:p>
                  </a:txBody>
                  <a:tcPr>
                    <a:solidFill>
                      <a:srgbClr val="C58A2A"/>
                    </a:solidFill>
                  </a:tcPr>
                </a:tc>
                <a:tc>
                  <a:txBody>
                    <a:bodyPr/>
                    <a:lstStyle/>
                    <a:p>
                      <a:pPr algn="ctr"/>
                      <a:r>
                        <a:rPr sz="1050" b="1">
                          <a:solidFill>
                            <a:srgbClr val="FCFAF5"/>
                          </a:solidFill>
                          <a:latin typeface="Aptos"/>
                        </a:rPr>
                        <a:t>Tighten mix</a:t>
                      </a:r>
                    </a:p>
                  </a:txBody>
                  <a:tcPr>
                    <a:solidFill>
                      <a:srgbClr val="C58A2A"/>
                    </a:solidFill>
                  </a:tcPr>
                </a:tc>
                <a:tc>
                  <a:txBody>
                    <a:bodyPr/>
                    <a:lstStyle/>
                    <a:p>
                      <a:pPr algn="ctr"/>
                      <a:r>
                        <a:rPr sz="1050" b="1">
                          <a:solidFill>
                            <a:srgbClr val="FCFAF5"/>
                          </a:solidFill>
                          <a:latin typeface="Aptos"/>
                        </a:rPr>
                        <a:t>Reset</a:t>
                      </a:r>
                    </a:p>
                  </a:txBody>
                  <a:tcPr>
                    <a:solidFill>
                      <a:srgbClr val="B5533A"/>
                    </a:solidFill>
                  </a:tcPr>
                </a:tc>
                <a:tc>
                  <a:txBody>
                    <a:bodyPr/>
                    <a:lstStyle/>
                    <a:p>
                      <a:pPr algn="ctr"/>
                      <a:r>
                        <a:rPr sz="1050" b="1">
                          <a:solidFill>
                            <a:srgbClr val="FCFAF5"/>
                          </a:solidFill>
                          <a:latin typeface="Aptos"/>
                        </a:rPr>
                        <a:t>Flex down</a:t>
                      </a:r>
                    </a:p>
                  </a:txBody>
                  <a:tcPr>
                    <a:solidFill>
                      <a:srgbClr val="3F728A"/>
                    </a:solidFill>
                  </a:tcPr>
                </a:tc>
                <a:tc>
                  <a:txBody>
                    <a:bodyPr/>
                    <a:lstStyle/>
                    <a:p>
                      <a:pPr algn="ctr"/>
                      <a:r>
                        <a:rPr sz="1050" b="1">
                          <a:solidFill>
                            <a:srgbClr val="FCFAF5"/>
                          </a:solidFill>
                          <a:latin typeface="Aptos"/>
                        </a:rPr>
                        <a:t>Flex down</a:t>
                      </a:r>
                    </a:p>
                  </a:txBody>
                  <a:tcPr>
                    <a:solidFill>
                      <a:srgbClr val="3F728A"/>
                    </a:solidFill>
                  </a:tcPr>
                </a:tc>
              </a:tr>
              <a:tr h="768096">
                <a:tc>
                  <a:txBody>
                    <a:bodyPr/>
                    <a:lstStyle/>
                    <a:p>
                      <a:pPr algn="ctr"/>
                      <a:r>
                        <a:rPr sz="1050" b="1">
                          <a:solidFill>
                            <a:srgbClr val="1F2621"/>
                          </a:solidFill>
                          <a:latin typeface="Aptos"/>
                        </a:rPr>
                        <a:t>Operating focus</a:t>
                      </a:r>
                    </a:p>
                  </a:txBody>
                  <a:tcPr>
                    <a:solidFill>
                      <a:srgbClr val="FCFAF5"/>
                    </a:solidFill>
                  </a:tcPr>
                </a:tc>
                <a:tc>
                  <a:txBody>
                    <a:bodyPr/>
                    <a:lstStyle/>
                    <a:p>
                      <a:pPr algn="ctr"/>
                      <a:r>
                        <a:rPr sz="1050" b="1">
                          <a:solidFill>
                            <a:srgbClr val="FCFAF5"/>
                          </a:solidFill>
                          <a:latin typeface="Aptos"/>
                        </a:rPr>
                        <a:t>Forecast</a:t>
                      </a:r>
                    </a:p>
                  </a:txBody>
                  <a:tcPr>
                    <a:solidFill>
                      <a:srgbClr val="889A83"/>
                    </a:solidFill>
                  </a:tcPr>
                </a:tc>
                <a:tc>
                  <a:txBody>
                    <a:bodyPr/>
                    <a:lstStyle/>
                    <a:p>
                      <a:pPr algn="ctr"/>
                      <a:r>
                        <a:rPr sz="1050" b="1">
                          <a:solidFill>
                            <a:srgbClr val="FCFAF5"/>
                          </a:solidFill>
                          <a:latin typeface="Aptos"/>
                        </a:rPr>
                        <a:t>Promote</a:t>
                      </a:r>
                    </a:p>
                  </a:txBody>
                  <a:tcPr>
                    <a:solidFill>
                      <a:srgbClr val="3F728A"/>
                    </a:solidFill>
                  </a:tcPr>
                </a:tc>
                <a:tc>
                  <a:txBody>
                    <a:bodyPr/>
                    <a:lstStyle/>
                    <a:p>
                      <a:pPr algn="ctr"/>
                      <a:r>
                        <a:rPr sz="1050" b="1">
                          <a:solidFill>
                            <a:srgbClr val="FCFAF5"/>
                          </a:solidFill>
                          <a:latin typeface="Aptos"/>
                        </a:rPr>
                        <a:t>Allocate</a:t>
                      </a:r>
                    </a:p>
                  </a:txBody>
                  <a:tcPr>
                    <a:solidFill>
                      <a:srgbClr val="355C47"/>
                    </a:solidFill>
                  </a:tcPr>
                </a:tc>
                <a:tc>
                  <a:txBody>
                    <a:bodyPr/>
                    <a:lstStyle/>
                    <a:p>
                      <a:pPr algn="ctr"/>
                      <a:r>
                        <a:rPr sz="1050" b="1">
                          <a:solidFill>
                            <a:srgbClr val="FCFAF5"/>
                          </a:solidFill>
                          <a:latin typeface="Aptos"/>
                        </a:rPr>
                        <a:t>Allocate</a:t>
                      </a:r>
                    </a:p>
                  </a:txBody>
                  <a:tcPr>
                    <a:solidFill>
                      <a:srgbClr val="355C47"/>
                    </a:solidFill>
                  </a:tcPr>
                </a:tc>
                <a:tc>
                  <a:txBody>
                    <a:bodyPr/>
                    <a:lstStyle/>
                    <a:p>
                      <a:pPr algn="ctr"/>
                      <a:r>
                        <a:rPr sz="1050" b="1">
                          <a:solidFill>
                            <a:srgbClr val="FCFAF5"/>
                          </a:solidFill>
                          <a:latin typeface="Aptos"/>
                        </a:rPr>
                        <a:t>Service</a:t>
                      </a:r>
                    </a:p>
                  </a:txBody>
                  <a:tcPr>
                    <a:solidFill>
                      <a:srgbClr val="355C47"/>
                    </a:solidFill>
                  </a:tcPr>
                </a:tc>
                <a:tc>
                  <a:txBody>
                    <a:bodyPr/>
                    <a:lstStyle/>
                    <a:p>
                      <a:pPr algn="ctr"/>
                      <a:r>
                        <a:rPr sz="1050" b="1">
                          <a:solidFill>
                            <a:srgbClr val="1F2621"/>
                          </a:solidFill>
                          <a:latin typeface="Aptos"/>
                        </a:rPr>
                        <a:t>Audit</a:t>
                      </a:r>
                    </a:p>
                  </a:txBody>
                  <a:tcPr>
                    <a:solidFill>
                      <a:srgbClr val="D8D1C6"/>
                    </a:solidFill>
                  </a:tcPr>
                </a:tc>
                <a:tc>
                  <a:txBody>
                    <a:bodyPr/>
                    <a:lstStyle/>
                    <a:p>
                      <a:pPr algn="ctr"/>
                      <a:r>
                        <a:rPr sz="1050" b="1">
                          <a:solidFill>
                            <a:srgbClr val="FCFAF5"/>
                          </a:solidFill>
                          <a:latin typeface="Aptos"/>
                        </a:rPr>
                        <a:t>Margin</a:t>
                      </a:r>
                    </a:p>
                  </a:txBody>
                  <a:tcPr>
                    <a:solidFill>
                      <a:srgbClr val="C58A2A"/>
                    </a:solidFill>
                  </a:tcPr>
                </a:tc>
                <a:tc>
                  <a:txBody>
                    <a:bodyPr/>
                    <a:lstStyle/>
                    <a:p>
                      <a:pPr algn="ctr"/>
                      <a:r>
                        <a:rPr sz="1050" b="1">
                          <a:solidFill>
                            <a:srgbClr val="FCFAF5"/>
                          </a:solidFill>
                          <a:latin typeface="Aptos"/>
                        </a:rPr>
                        <a:t>Margin</a:t>
                      </a:r>
                    </a:p>
                  </a:txBody>
                  <a:tcPr>
                    <a:solidFill>
                      <a:srgbClr val="C58A2A"/>
                    </a:solidFill>
                  </a:tcPr>
                </a:tc>
                <a:tc>
                  <a:txBody>
                    <a:bodyPr/>
                    <a:lstStyle/>
                    <a:p>
                      <a:pPr algn="ctr"/>
                      <a:r>
                        <a:rPr sz="1050" b="1">
                          <a:solidFill>
                            <a:srgbClr val="FCFAF5"/>
                          </a:solidFill>
                          <a:latin typeface="Aptos"/>
                        </a:rPr>
                        <a:t>Margin</a:t>
                      </a:r>
                    </a:p>
                  </a:txBody>
                  <a:tcPr>
                    <a:solidFill>
                      <a:srgbClr val="C58A2A"/>
                    </a:solidFill>
                  </a:tcPr>
                </a:tc>
                <a:tc>
                  <a:txBody>
                    <a:bodyPr/>
                    <a:lstStyle/>
                    <a:p>
                      <a:pPr algn="ctr"/>
                      <a:r>
                        <a:rPr sz="1050" b="1">
                          <a:solidFill>
                            <a:srgbClr val="FCFAF5"/>
                          </a:solidFill>
                          <a:latin typeface="Aptos"/>
                        </a:rPr>
                        <a:t>Plan</a:t>
                      </a:r>
                    </a:p>
                  </a:txBody>
                  <a:tcPr>
                    <a:solidFill>
                      <a:srgbClr val="B5533A"/>
                    </a:solidFill>
                  </a:tcPr>
                </a:tc>
                <a:tc>
                  <a:txBody>
                    <a:bodyPr/>
                    <a:lstStyle/>
                    <a:p>
                      <a:pPr algn="ctr"/>
                      <a:r>
                        <a:rPr sz="1050" b="1">
                          <a:solidFill>
                            <a:srgbClr val="FCFAF5"/>
                          </a:solidFill>
                          <a:latin typeface="Aptos"/>
                        </a:rPr>
                        <a:t>Clear</a:t>
                      </a:r>
                    </a:p>
                  </a:txBody>
                  <a:tcPr>
                    <a:solidFill>
                      <a:srgbClr val="3F728A"/>
                    </a:solidFill>
                  </a:tcPr>
                </a:tc>
                <a:tc>
                  <a:txBody>
                    <a:bodyPr/>
                    <a:lstStyle/>
                    <a:p>
                      <a:pPr algn="ctr"/>
                      <a:r>
                        <a:rPr sz="1050" b="1">
                          <a:solidFill>
                            <a:srgbClr val="FCFAF5"/>
                          </a:solidFill>
                          <a:latin typeface="Aptos"/>
                        </a:rPr>
                        <a:t>Review</a:t>
                      </a:r>
                    </a:p>
                  </a:txBody>
                  <a:tcPr>
                    <a:solidFill>
                      <a:srgbClr val="889A83"/>
                    </a:solidFill>
                  </a:tcPr>
                </a:tc>
              </a:tr>
            </a:tbl>
          </a:graphicData>
        </a:graphic>
      </p:graphicFrame>
      <p:sp>
        <p:nvSpPr>
          <p:cNvPr id="22" name="Rounded Rectangle 21"/>
          <p:cNvSpPr/>
          <p:nvPr/>
        </p:nvSpPr>
        <p:spPr>
          <a:xfrm>
            <a:off x="749808" y="5468112"/>
            <a:ext cx="10716768" cy="7132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559552"/>
            <a:ext cx="3316224" cy="128016"/>
          </a:xfrm>
          <a:prstGeom prst="rect">
            <a:avLst/>
          </a:prstGeom>
          <a:noFill/>
        </p:spPr>
        <p:txBody>
          <a:bodyPr wrap="square" lIns="27432" rIns="27432" tIns="27432" bIns="27432" anchor="t">
            <a:spAutoFit/>
          </a:bodyPr>
          <a:lstStyle/>
          <a:p>
            <a:pPr algn="l"/>
            <a:r>
              <a:rPr sz="1000" b="1">
                <a:solidFill>
                  <a:srgbClr val="5F6B63"/>
                </a:solidFill>
                <a:latin typeface="Aptos"/>
              </a:rPr>
              <a:t>JAN TO MAY</a:t>
            </a:r>
          </a:p>
        </p:txBody>
      </p:sp>
      <p:sp>
        <p:nvSpPr>
          <p:cNvPr id="24" name="TextBox 23"/>
          <p:cNvSpPr txBox="1"/>
          <p:nvPr/>
        </p:nvSpPr>
        <p:spPr>
          <a:xfrm>
            <a:off x="877824" y="5705856"/>
            <a:ext cx="3316224" cy="219456"/>
          </a:xfrm>
          <a:prstGeom prst="rect">
            <a:avLst/>
          </a:prstGeom>
          <a:noFill/>
        </p:spPr>
        <p:txBody>
          <a:bodyPr wrap="square" lIns="27432" rIns="27432" tIns="27432" bIns="27432" anchor="t">
            <a:spAutoFit/>
          </a:bodyPr>
          <a:lstStyle/>
          <a:p>
            <a:pPr algn="l"/>
            <a:r>
              <a:rPr sz="1700" b="1">
                <a:solidFill>
                  <a:srgbClr val="355C47"/>
                </a:solidFill>
                <a:latin typeface="Aptos Display"/>
              </a:rPr>
              <a:t>Service + flow</a:t>
            </a:r>
          </a:p>
        </p:txBody>
      </p:sp>
      <p:sp>
        <p:nvSpPr>
          <p:cNvPr id="25" name="TextBox 24"/>
          <p:cNvSpPr txBox="1"/>
          <p:nvPr/>
        </p:nvSpPr>
        <p:spPr>
          <a:xfrm>
            <a:off x="877824" y="5980176"/>
            <a:ext cx="3316224" cy="128016"/>
          </a:xfrm>
          <a:prstGeom prst="rect">
            <a:avLst/>
          </a:prstGeom>
          <a:noFill/>
        </p:spPr>
        <p:txBody>
          <a:bodyPr wrap="square" lIns="27432" rIns="27432" tIns="27432" bIns="27432" anchor="t">
            <a:spAutoFit/>
          </a:bodyPr>
          <a:lstStyle/>
          <a:p>
            <a:pPr algn="l"/>
            <a:r>
              <a:rPr sz="1000" b="0">
                <a:solidFill>
                  <a:srgbClr val="1F2621"/>
                </a:solidFill>
                <a:latin typeface="Aptos"/>
              </a:rPr>
              <a:t>Use the market's natural volume strength to prove availability and execution.</a:t>
            </a:r>
          </a:p>
        </p:txBody>
      </p:sp>
      <p:cxnSp>
        <p:nvCxnSpPr>
          <p:cNvPr id="26" name="Connector 25"/>
          <p:cNvCxnSpPr/>
          <p:nvPr/>
        </p:nvCxnSpPr>
        <p:spPr>
          <a:xfrm>
            <a:off x="4322064" y="5632704"/>
            <a:ext cx="0" cy="384048"/>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450080" y="5559552"/>
            <a:ext cx="3316224" cy="128016"/>
          </a:xfrm>
          <a:prstGeom prst="rect">
            <a:avLst/>
          </a:prstGeom>
          <a:noFill/>
        </p:spPr>
        <p:txBody>
          <a:bodyPr wrap="square" lIns="27432" rIns="27432" tIns="27432" bIns="27432" anchor="t">
            <a:spAutoFit/>
          </a:bodyPr>
          <a:lstStyle/>
          <a:p>
            <a:pPr algn="l"/>
            <a:r>
              <a:rPr sz="1000" b="1">
                <a:solidFill>
                  <a:srgbClr val="5F6B63"/>
                </a:solidFill>
                <a:latin typeface="Aptos"/>
              </a:rPr>
              <a:t>JUL TO SEP</a:t>
            </a:r>
          </a:p>
        </p:txBody>
      </p:sp>
      <p:sp>
        <p:nvSpPr>
          <p:cNvPr id="28" name="TextBox 27"/>
          <p:cNvSpPr txBox="1"/>
          <p:nvPr/>
        </p:nvSpPr>
        <p:spPr>
          <a:xfrm>
            <a:off x="4450080" y="5705856"/>
            <a:ext cx="3316224" cy="219456"/>
          </a:xfrm>
          <a:prstGeom prst="rect">
            <a:avLst/>
          </a:prstGeom>
          <a:noFill/>
        </p:spPr>
        <p:txBody>
          <a:bodyPr wrap="square" lIns="27432" rIns="27432" tIns="27432" bIns="27432" anchor="t">
            <a:spAutoFit/>
          </a:bodyPr>
          <a:lstStyle/>
          <a:p>
            <a:pPr algn="l"/>
            <a:r>
              <a:rPr sz="1700" b="1">
                <a:solidFill>
                  <a:srgbClr val="355C47"/>
                </a:solidFill>
                <a:latin typeface="Aptos Display"/>
              </a:rPr>
              <a:t>Margin season</a:t>
            </a:r>
          </a:p>
        </p:txBody>
      </p:sp>
      <p:sp>
        <p:nvSpPr>
          <p:cNvPr id="29" name="TextBox 28"/>
          <p:cNvSpPr txBox="1"/>
          <p:nvPr/>
        </p:nvSpPr>
        <p:spPr>
          <a:xfrm>
            <a:off x="4450080" y="5980176"/>
            <a:ext cx="3316224" cy="128016"/>
          </a:xfrm>
          <a:prstGeom prst="rect">
            <a:avLst/>
          </a:prstGeom>
          <a:noFill/>
        </p:spPr>
        <p:txBody>
          <a:bodyPr wrap="square" lIns="27432" rIns="27432" tIns="27432" bIns="27432" anchor="t">
            <a:spAutoFit/>
          </a:bodyPr>
          <a:lstStyle/>
          <a:p>
            <a:pPr algn="l"/>
            <a:r>
              <a:rPr sz="1000" b="0">
                <a:solidFill>
                  <a:srgbClr val="1F2621"/>
                </a:solidFill>
                <a:latin typeface="Aptos"/>
              </a:rPr>
              <a:t>Allocate tightly and protect price while summer support is strongest.</a:t>
            </a:r>
          </a:p>
        </p:txBody>
      </p:sp>
      <p:cxnSp>
        <p:nvCxnSpPr>
          <p:cNvPr id="30" name="Connector 29"/>
          <p:cNvCxnSpPr/>
          <p:nvPr/>
        </p:nvCxnSpPr>
        <p:spPr>
          <a:xfrm>
            <a:off x="7894320" y="5632704"/>
            <a:ext cx="0" cy="384048"/>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022336" y="5559552"/>
            <a:ext cx="3316224" cy="128016"/>
          </a:xfrm>
          <a:prstGeom prst="rect">
            <a:avLst/>
          </a:prstGeom>
          <a:noFill/>
        </p:spPr>
        <p:txBody>
          <a:bodyPr wrap="square" lIns="27432" rIns="27432" tIns="27432" bIns="27432" anchor="t">
            <a:spAutoFit/>
          </a:bodyPr>
          <a:lstStyle/>
          <a:p>
            <a:pPr algn="l"/>
            <a:r>
              <a:rPr sz="1000" b="1">
                <a:solidFill>
                  <a:srgbClr val="5F6B63"/>
                </a:solidFill>
                <a:latin typeface="Aptos"/>
              </a:rPr>
              <a:t>NOV TO FEB</a:t>
            </a:r>
          </a:p>
        </p:txBody>
      </p:sp>
      <p:sp>
        <p:nvSpPr>
          <p:cNvPr id="32" name="TextBox 31"/>
          <p:cNvSpPr txBox="1"/>
          <p:nvPr/>
        </p:nvSpPr>
        <p:spPr>
          <a:xfrm>
            <a:off x="8022336" y="5705856"/>
            <a:ext cx="3316224" cy="219456"/>
          </a:xfrm>
          <a:prstGeom prst="rect">
            <a:avLst/>
          </a:prstGeom>
          <a:noFill/>
        </p:spPr>
        <p:txBody>
          <a:bodyPr wrap="square" lIns="27432" rIns="27432" tIns="27432" bIns="27432" anchor="t">
            <a:spAutoFit/>
          </a:bodyPr>
          <a:lstStyle/>
          <a:p>
            <a:pPr algn="l"/>
            <a:r>
              <a:rPr sz="1700" b="1">
                <a:solidFill>
                  <a:srgbClr val="C58A2A"/>
                </a:solidFill>
                <a:latin typeface="Aptos Display"/>
              </a:rPr>
              <a:t>Demand support</a:t>
            </a:r>
          </a:p>
        </p:txBody>
      </p:sp>
      <p:sp>
        <p:nvSpPr>
          <p:cNvPr id="33" name="TextBox 32"/>
          <p:cNvSpPr txBox="1"/>
          <p:nvPr/>
        </p:nvSpPr>
        <p:spPr>
          <a:xfrm>
            <a:off x="8022336" y="5980176"/>
            <a:ext cx="3316224" cy="128016"/>
          </a:xfrm>
          <a:prstGeom prst="rect">
            <a:avLst/>
          </a:prstGeom>
          <a:noFill/>
        </p:spPr>
        <p:txBody>
          <a:bodyPr wrap="square" lIns="27432" rIns="27432" tIns="27432" bIns="27432" anchor="t">
            <a:spAutoFit/>
          </a:bodyPr>
          <a:lstStyle/>
          <a:p>
            <a:pPr algn="l"/>
            <a:r>
              <a:rPr sz="1000" b="0">
                <a:solidFill>
                  <a:srgbClr val="1F2621"/>
                </a:solidFill>
                <a:latin typeface="Aptos"/>
              </a:rPr>
              <a:t>Stimulate consumption and tighten inventory in the softest months.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30</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Growers need flexible contracts, better cold-chain readiness, and alternate lanes</a:t>
            </a:r>
          </a:p>
        </p:txBody>
      </p:sp>
      <p:sp>
        <p:nvSpPr>
          <p:cNvPr id="11" name="TextBox 10"/>
          <p:cNvSpPr txBox="1"/>
          <p:nvPr/>
        </p:nvSpPr>
        <p:spPr>
          <a:xfrm>
            <a:off x="548640" y="1097280"/>
            <a:ext cx="10241280" cy="320040"/>
          </a:xfrm>
          <a:prstGeom prst="rect">
            <a:avLst/>
          </a:prstGeom>
          <a:noFill/>
        </p:spPr>
        <p:txBody>
          <a:bodyPr wrap="square" lIns="27432" rIns="27432" tIns="27432" bIns="27432" anchor="t">
            <a:spAutoFit/>
          </a:bodyPr>
          <a:lstStyle/>
          <a:p>
            <a:pPr algn="l"/>
            <a:r>
              <a:rPr sz="1300" b="0">
                <a:solidFill>
                  <a:srgbClr val="5F6B63"/>
                </a:solidFill>
                <a:latin typeface="Aptos"/>
              </a:rPr>
              <a:t>Supply-side seasonality discipline should be built into contracts and execution rules before the pilot scales.</a:t>
            </a:r>
          </a:p>
        </p:txBody>
      </p:sp>
      <p:sp>
        <p:nvSpPr>
          <p:cNvPr id="12" name="Rounded Rectangle 11"/>
          <p:cNvSpPr/>
          <p:nvPr/>
        </p:nvSpPr>
        <p:spPr>
          <a:xfrm>
            <a:off x="749808" y="1572768"/>
            <a:ext cx="10789920" cy="4343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1810512"/>
            <a:ext cx="1691640" cy="146304"/>
          </a:xfrm>
          <a:prstGeom prst="rect">
            <a:avLst/>
          </a:prstGeom>
          <a:noFill/>
        </p:spPr>
        <p:txBody>
          <a:bodyPr wrap="square" lIns="27432" rIns="27432" tIns="27432" bIns="27432" anchor="t">
            <a:spAutoFit/>
          </a:bodyPr>
          <a:lstStyle/>
          <a:p>
            <a:pPr algn="l"/>
            <a:r>
              <a:rPr sz="1000" b="1">
                <a:solidFill>
                  <a:srgbClr val="5F6B63"/>
                </a:solidFill>
                <a:latin typeface="Aptos"/>
              </a:rPr>
              <a:t>LEVER</a:t>
            </a:r>
          </a:p>
        </p:txBody>
      </p:sp>
      <p:sp>
        <p:nvSpPr>
          <p:cNvPr id="14" name="TextBox 13"/>
          <p:cNvSpPr txBox="1"/>
          <p:nvPr/>
        </p:nvSpPr>
        <p:spPr>
          <a:xfrm>
            <a:off x="2770632" y="1810512"/>
            <a:ext cx="2743200" cy="146304"/>
          </a:xfrm>
          <a:prstGeom prst="rect">
            <a:avLst/>
          </a:prstGeom>
          <a:noFill/>
        </p:spPr>
        <p:txBody>
          <a:bodyPr wrap="square" lIns="27432" rIns="27432" tIns="27432" bIns="27432" anchor="t">
            <a:spAutoFit/>
          </a:bodyPr>
          <a:lstStyle/>
          <a:p>
            <a:pPr algn="l"/>
            <a:r>
              <a:rPr sz="1000" b="1">
                <a:solidFill>
                  <a:srgbClr val="5F6B63"/>
                </a:solidFill>
                <a:latin typeface="Aptos"/>
              </a:rPr>
              <a:t>HOW IT SHOULD WORK</a:t>
            </a:r>
          </a:p>
        </p:txBody>
      </p:sp>
      <p:sp>
        <p:nvSpPr>
          <p:cNvPr id="15" name="TextBox 14"/>
          <p:cNvSpPr txBox="1"/>
          <p:nvPr/>
        </p:nvSpPr>
        <p:spPr>
          <a:xfrm>
            <a:off x="5641848" y="1810512"/>
            <a:ext cx="3657600" cy="146304"/>
          </a:xfrm>
          <a:prstGeom prst="rect">
            <a:avLst/>
          </a:prstGeom>
          <a:noFill/>
        </p:spPr>
        <p:txBody>
          <a:bodyPr wrap="square" lIns="27432" rIns="27432" tIns="27432" bIns="27432" anchor="t">
            <a:spAutoFit/>
          </a:bodyPr>
          <a:lstStyle/>
          <a:p>
            <a:pPr algn="l"/>
            <a:r>
              <a:rPr sz="1000" b="1">
                <a:solidFill>
                  <a:srgbClr val="5F6B63"/>
                </a:solidFill>
                <a:latin typeface="Aptos"/>
              </a:rPr>
              <a:t>CRITICAL OPERATING MOVE</a:t>
            </a:r>
          </a:p>
        </p:txBody>
      </p:sp>
      <p:sp>
        <p:nvSpPr>
          <p:cNvPr id="16" name="TextBox 15"/>
          <p:cNvSpPr txBox="1"/>
          <p:nvPr/>
        </p:nvSpPr>
        <p:spPr>
          <a:xfrm>
            <a:off x="9427463" y="1810512"/>
            <a:ext cx="1965960" cy="146304"/>
          </a:xfrm>
          <a:prstGeom prst="rect">
            <a:avLst/>
          </a:prstGeom>
          <a:noFill/>
        </p:spPr>
        <p:txBody>
          <a:bodyPr wrap="square" lIns="27432" rIns="27432" tIns="27432" bIns="27432" anchor="t">
            <a:spAutoFit/>
          </a:bodyPr>
          <a:lstStyle/>
          <a:p>
            <a:pPr algn="l"/>
            <a:r>
              <a:rPr sz="1000" b="1">
                <a:solidFill>
                  <a:srgbClr val="5F6B63"/>
                </a:solidFill>
                <a:latin typeface="Aptos"/>
              </a:rPr>
              <a:t>WHY IT MATTERS</a:t>
            </a:r>
          </a:p>
        </p:txBody>
      </p:sp>
      <p:sp>
        <p:nvSpPr>
          <p:cNvPr id="17" name="Rounded Rectangle 16"/>
          <p:cNvSpPr/>
          <p:nvPr/>
        </p:nvSpPr>
        <p:spPr>
          <a:xfrm>
            <a:off x="932688" y="2121408"/>
            <a:ext cx="1417320" cy="749808"/>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304288"/>
            <a:ext cx="1225296" cy="201168"/>
          </a:xfrm>
          <a:prstGeom prst="rect">
            <a:avLst/>
          </a:prstGeom>
          <a:noFill/>
        </p:spPr>
        <p:txBody>
          <a:bodyPr wrap="square" lIns="27432" rIns="27432" tIns="27432" bIns="27432" anchor="t">
            <a:spAutoFit/>
          </a:bodyPr>
          <a:lstStyle/>
          <a:p>
            <a:pPr algn="ctr"/>
            <a:r>
              <a:rPr sz="1400" b="1">
                <a:solidFill>
                  <a:srgbClr val="FCFAF5"/>
                </a:solidFill>
                <a:latin typeface="Aptos Display"/>
              </a:rPr>
              <a:t>Contract tiers</a:t>
            </a:r>
          </a:p>
        </p:txBody>
      </p:sp>
      <p:sp>
        <p:nvSpPr>
          <p:cNvPr id="19" name="TextBox 18"/>
          <p:cNvSpPr txBox="1"/>
          <p:nvPr/>
        </p:nvSpPr>
        <p:spPr>
          <a:xfrm>
            <a:off x="2615184" y="2231136"/>
            <a:ext cx="2377440" cy="438912"/>
          </a:xfrm>
          <a:prstGeom prst="rect">
            <a:avLst/>
          </a:prstGeom>
          <a:noFill/>
        </p:spPr>
        <p:txBody>
          <a:bodyPr wrap="square" lIns="27432" rIns="27432" tIns="27432" bIns="27432" anchor="t">
            <a:spAutoFit/>
          </a:bodyPr>
          <a:lstStyle/>
          <a:p>
            <a:pPr algn="l"/>
            <a:r>
              <a:rPr sz="1500" b="1">
                <a:solidFill>
                  <a:srgbClr val="355C47"/>
                </a:solidFill>
                <a:latin typeface="Aptos Display"/>
              </a:rPr>
              <a:t>Base + flex volume</a:t>
            </a:r>
          </a:p>
        </p:txBody>
      </p:sp>
      <p:sp>
        <p:nvSpPr>
          <p:cNvPr id="20" name="TextBox 19"/>
          <p:cNvSpPr txBox="1"/>
          <p:nvPr/>
        </p:nvSpPr>
        <p:spPr>
          <a:xfrm>
            <a:off x="5413248" y="2194560"/>
            <a:ext cx="3474720" cy="566928"/>
          </a:xfrm>
          <a:prstGeom prst="rect">
            <a:avLst/>
          </a:prstGeom>
          <a:noFill/>
        </p:spPr>
        <p:txBody>
          <a:bodyPr wrap="square" lIns="27432" rIns="27432" tIns="27432" bIns="27432" anchor="t">
            <a:spAutoFit/>
          </a:bodyPr>
          <a:lstStyle/>
          <a:p>
            <a:pPr algn="l"/>
            <a:r>
              <a:rPr sz="1200" b="0">
                <a:solidFill>
                  <a:srgbClr val="1F2621"/>
                </a:solidFill>
                <a:latin typeface="Aptos"/>
              </a:rPr>
              <a:t>Lock a stable base commitment, then layer in seasonal flex volume so supply can expand without year-round overcommitment.</a:t>
            </a:r>
          </a:p>
        </p:txBody>
      </p:sp>
      <p:sp>
        <p:nvSpPr>
          <p:cNvPr id="21" name="TextBox 20"/>
          <p:cNvSpPr txBox="1"/>
          <p:nvPr/>
        </p:nvSpPr>
        <p:spPr>
          <a:xfrm>
            <a:off x="9253728" y="2194560"/>
            <a:ext cx="1783080" cy="566928"/>
          </a:xfrm>
          <a:prstGeom prst="rect">
            <a:avLst/>
          </a:prstGeom>
          <a:noFill/>
        </p:spPr>
        <p:txBody>
          <a:bodyPr wrap="square" lIns="27432" rIns="27432" tIns="27432" bIns="27432" anchor="t">
            <a:spAutoFit/>
          </a:bodyPr>
          <a:lstStyle/>
          <a:p>
            <a:pPr algn="l"/>
            <a:r>
              <a:rPr sz="1200" b="0">
                <a:solidFill>
                  <a:srgbClr val="1F2621"/>
                </a:solidFill>
                <a:latin typeface="Aptos"/>
              </a:rPr>
              <a:t>Prevents the pilot from buying peak-season optionality with permanent fixed cost.</a:t>
            </a:r>
          </a:p>
        </p:txBody>
      </p:sp>
      <p:sp>
        <p:nvSpPr>
          <p:cNvPr id="22" name="Rounded Rectangle 21"/>
          <p:cNvSpPr/>
          <p:nvPr/>
        </p:nvSpPr>
        <p:spPr>
          <a:xfrm>
            <a:off x="932688" y="3191256"/>
            <a:ext cx="1417320" cy="749808"/>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4128" y="3374136"/>
            <a:ext cx="1225296" cy="201168"/>
          </a:xfrm>
          <a:prstGeom prst="rect">
            <a:avLst/>
          </a:prstGeom>
          <a:noFill/>
        </p:spPr>
        <p:txBody>
          <a:bodyPr wrap="square" lIns="27432" rIns="27432" tIns="27432" bIns="27432" anchor="t">
            <a:spAutoFit/>
          </a:bodyPr>
          <a:lstStyle/>
          <a:p>
            <a:pPr algn="ctr"/>
            <a:r>
              <a:rPr sz="1400" b="1">
                <a:solidFill>
                  <a:srgbClr val="FCFAF5"/>
                </a:solidFill>
                <a:latin typeface="Aptos Display"/>
              </a:rPr>
              <a:t>Cold-chain readiness</a:t>
            </a:r>
          </a:p>
        </p:txBody>
      </p:sp>
      <p:sp>
        <p:nvSpPr>
          <p:cNvPr id="24" name="TextBox 23"/>
          <p:cNvSpPr txBox="1"/>
          <p:nvPr/>
        </p:nvSpPr>
        <p:spPr>
          <a:xfrm>
            <a:off x="2615184" y="3300984"/>
            <a:ext cx="2377440" cy="438912"/>
          </a:xfrm>
          <a:prstGeom prst="rect">
            <a:avLst/>
          </a:prstGeom>
          <a:noFill/>
        </p:spPr>
        <p:txBody>
          <a:bodyPr wrap="square" lIns="27432" rIns="27432" tIns="27432" bIns="27432" anchor="t">
            <a:spAutoFit/>
          </a:bodyPr>
          <a:lstStyle/>
          <a:p>
            <a:pPr algn="l"/>
            <a:r>
              <a:rPr sz="1500" b="1">
                <a:solidFill>
                  <a:srgbClr val="3F728A"/>
                </a:solidFill>
                <a:latin typeface="Aptos Display"/>
              </a:rPr>
              <a:t>Protect service</a:t>
            </a:r>
          </a:p>
        </p:txBody>
      </p:sp>
      <p:sp>
        <p:nvSpPr>
          <p:cNvPr id="25" name="TextBox 24"/>
          <p:cNvSpPr txBox="1"/>
          <p:nvPr/>
        </p:nvSpPr>
        <p:spPr>
          <a:xfrm>
            <a:off x="5413248" y="3264408"/>
            <a:ext cx="3474720" cy="566928"/>
          </a:xfrm>
          <a:prstGeom prst="rect">
            <a:avLst/>
          </a:prstGeom>
          <a:noFill/>
        </p:spPr>
        <p:txBody>
          <a:bodyPr wrap="square" lIns="27432" rIns="27432" tIns="27432" bIns="27432" anchor="t">
            <a:spAutoFit/>
          </a:bodyPr>
          <a:lstStyle/>
          <a:p>
            <a:pPr algn="l"/>
            <a:r>
              <a:rPr sz="1200" b="0">
                <a:solidFill>
                  <a:srgbClr val="1F2621"/>
                </a:solidFill>
                <a:latin typeface="Aptos"/>
              </a:rPr>
              <a:t>Tighten transit monitoring, storage discipline, and receiving checks during the months when flow is highest.</a:t>
            </a:r>
          </a:p>
        </p:txBody>
      </p:sp>
      <p:sp>
        <p:nvSpPr>
          <p:cNvPr id="26" name="TextBox 25"/>
          <p:cNvSpPr txBox="1"/>
          <p:nvPr/>
        </p:nvSpPr>
        <p:spPr>
          <a:xfrm>
            <a:off x="9253728" y="3264408"/>
            <a:ext cx="1783080" cy="566928"/>
          </a:xfrm>
          <a:prstGeom prst="rect">
            <a:avLst/>
          </a:prstGeom>
          <a:noFill/>
        </p:spPr>
        <p:txBody>
          <a:bodyPr wrap="square" lIns="27432" rIns="27432" tIns="27432" bIns="27432" anchor="t">
            <a:spAutoFit/>
          </a:bodyPr>
          <a:lstStyle/>
          <a:p>
            <a:pPr algn="l"/>
            <a:r>
              <a:rPr sz="1200" b="0">
                <a:solidFill>
                  <a:srgbClr val="1F2621"/>
                </a:solidFill>
                <a:latin typeface="Aptos"/>
              </a:rPr>
              <a:t>Spoilage and service misses can erase good city economics faster than freight swings do.</a:t>
            </a:r>
          </a:p>
        </p:txBody>
      </p:sp>
      <p:sp>
        <p:nvSpPr>
          <p:cNvPr id="27" name="Rounded Rectangle 26"/>
          <p:cNvSpPr/>
          <p:nvPr/>
        </p:nvSpPr>
        <p:spPr>
          <a:xfrm>
            <a:off x="932688" y="4261104"/>
            <a:ext cx="1417320" cy="749808"/>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4128" y="4443984"/>
            <a:ext cx="1225296" cy="201168"/>
          </a:xfrm>
          <a:prstGeom prst="rect">
            <a:avLst/>
          </a:prstGeom>
          <a:noFill/>
        </p:spPr>
        <p:txBody>
          <a:bodyPr wrap="square" lIns="27432" rIns="27432" tIns="27432" bIns="27432" anchor="t">
            <a:spAutoFit/>
          </a:bodyPr>
          <a:lstStyle/>
          <a:p>
            <a:pPr algn="ctr"/>
            <a:r>
              <a:rPr sz="1400" b="1">
                <a:solidFill>
                  <a:srgbClr val="FCFAF5"/>
                </a:solidFill>
                <a:latin typeface="Aptos Display"/>
              </a:rPr>
              <a:t>Alternate lanes</a:t>
            </a:r>
          </a:p>
        </p:txBody>
      </p:sp>
      <p:sp>
        <p:nvSpPr>
          <p:cNvPr id="29" name="TextBox 28"/>
          <p:cNvSpPr txBox="1"/>
          <p:nvPr/>
        </p:nvSpPr>
        <p:spPr>
          <a:xfrm>
            <a:off x="2615184" y="4370832"/>
            <a:ext cx="2377440" cy="438912"/>
          </a:xfrm>
          <a:prstGeom prst="rect">
            <a:avLst/>
          </a:prstGeom>
          <a:noFill/>
        </p:spPr>
        <p:txBody>
          <a:bodyPr wrap="square" lIns="27432" rIns="27432" tIns="27432" bIns="27432" anchor="t">
            <a:spAutoFit/>
          </a:bodyPr>
          <a:lstStyle/>
          <a:p>
            <a:pPr algn="l"/>
            <a:r>
              <a:rPr sz="1500" b="1">
                <a:solidFill>
                  <a:srgbClr val="B5533A"/>
                </a:solidFill>
                <a:latin typeface="Aptos Display"/>
              </a:rPr>
              <a:t>Reduce disruption</a:t>
            </a:r>
          </a:p>
        </p:txBody>
      </p:sp>
      <p:sp>
        <p:nvSpPr>
          <p:cNvPr id="30" name="TextBox 29"/>
          <p:cNvSpPr txBox="1"/>
          <p:nvPr/>
        </p:nvSpPr>
        <p:spPr>
          <a:xfrm>
            <a:off x="5413248" y="4334256"/>
            <a:ext cx="3474720" cy="566928"/>
          </a:xfrm>
          <a:prstGeom prst="rect">
            <a:avLst/>
          </a:prstGeom>
          <a:noFill/>
        </p:spPr>
        <p:txBody>
          <a:bodyPr wrap="square" lIns="27432" rIns="27432" tIns="27432" bIns="27432" anchor="t">
            <a:spAutoFit/>
          </a:bodyPr>
          <a:lstStyle/>
          <a:p>
            <a:pPr algn="l"/>
            <a:r>
              <a:rPr sz="1200" b="0">
                <a:solidFill>
                  <a:srgbClr val="1F2621"/>
                </a:solidFill>
                <a:latin typeface="Aptos"/>
              </a:rPr>
              <a:t>Pre-qualify backup carriers and routes before the peak season so lane shocks do not force reactive reallocations.</a:t>
            </a:r>
          </a:p>
        </p:txBody>
      </p:sp>
      <p:sp>
        <p:nvSpPr>
          <p:cNvPr id="31" name="TextBox 30"/>
          <p:cNvSpPr txBox="1"/>
          <p:nvPr/>
        </p:nvSpPr>
        <p:spPr>
          <a:xfrm>
            <a:off x="9253728" y="4334256"/>
            <a:ext cx="1783080" cy="566928"/>
          </a:xfrm>
          <a:prstGeom prst="rect">
            <a:avLst/>
          </a:prstGeom>
          <a:noFill/>
        </p:spPr>
        <p:txBody>
          <a:bodyPr wrap="square" lIns="27432" rIns="27432" tIns="27432" bIns="27432" anchor="t">
            <a:spAutoFit/>
          </a:bodyPr>
          <a:lstStyle/>
          <a:p>
            <a:pPr algn="l"/>
            <a:r>
              <a:rPr sz="1200" b="0">
                <a:solidFill>
                  <a:srgbClr val="1F2621"/>
                </a:solidFill>
                <a:latin typeface="Aptos"/>
              </a:rPr>
              <a:t>The pilot should never have to choose between service and margin because a lane fails.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31</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Trade associations should smooth demand in off-peak months</a:t>
            </a:r>
          </a:p>
        </p:txBody>
      </p:sp>
      <p:sp>
        <p:nvSpPr>
          <p:cNvPr id="11" name="TextBox 10"/>
          <p:cNvSpPr txBox="1"/>
          <p:nvPr/>
        </p:nvSpPr>
        <p:spPr>
          <a:xfrm>
            <a:off x="548640" y="1097280"/>
            <a:ext cx="10332720" cy="320040"/>
          </a:xfrm>
          <a:prstGeom prst="rect">
            <a:avLst/>
          </a:prstGeom>
          <a:noFill/>
        </p:spPr>
        <p:txBody>
          <a:bodyPr wrap="square" lIns="27432" rIns="27432" tIns="27432" bIns="27432" anchor="t">
            <a:spAutoFit/>
          </a:bodyPr>
          <a:lstStyle/>
          <a:p>
            <a:pPr algn="l"/>
            <a:r>
              <a:rPr sz="1300" b="0">
                <a:solidFill>
                  <a:srgbClr val="5F6B63"/>
                </a:solidFill>
                <a:latin typeface="Aptos"/>
              </a:rPr>
              <a:t>Demand-side support should be strongest in the softest months, not wasted when the market is already doing the work.</a:t>
            </a:r>
          </a:p>
        </p:txBody>
      </p:sp>
      <p:sp>
        <p:nvSpPr>
          <p:cNvPr id="12" name="Rounded Rectangle 11"/>
          <p:cNvSpPr/>
          <p:nvPr/>
        </p:nvSpPr>
        <p:spPr>
          <a:xfrm>
            <a:off x="749808" y="1645920"/>
            <a:ext cx="667512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1874519"/>
            <a:ext cx="2011680" cy="182880"/>
          </a:xfrm>
          <a:prstGeom prst="rect">
            <a:avLst/>
          </a:prstGeom>
          <a:noFill/>
        </p:spPr>
        <p:txBody>
          <a:bodyPr wrap="square" lIns="27432" rIns="27432" tIns="27432" bIns="27432" anchor="t">
            <a:spAutoFit/>
          </a:bodyPr>
          <a:lstStyle/>
          <a:p>
            <a:pPr algn="l"/>
            <a:r>
              <a:rPr sz="1100" b="1">
                <a:solidFill>
                  <a:srgbClr val="5F6B63"/>
                </a:solidFill>
                <a:latin typeface="Aptos"/>
              </a:rPr>
              <a:t>OFF-PEAK PLAYBOOK</a:t>
            </a:r>
          </a:p>
        </p:txBody>
      </p:sp>
      <p:sp>
        <p:nvSpPr>
          <p:cNvPr id="14" name="Oval 13"/>
          <p:cNvSpPr/>
          <p:nvPr/>
        </p:nvSpPr>
        <p:spPr>
          <a:xfrm>
            <a:off x="1005840" y="2212848"/>
            <a:ext cx="310896" cy="31089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286000"/>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1</a:t>
            </a:r>
          </a:p>
        </p:txBody>
      </p:sp>
      <p:sp>
        <p:nvSpPr>
          <p:cNvPr id="16" name="TextBox 15"/>
          <p:cNvSpPr txBox="1"/>
          <p:nvPr/>
        </p:nvSpPr>
        <p:spPr>
          <a:xfrm>
            <a:off x="1426464" y="2194560"/>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CONSUMER MESSAGING</a:t>
            </a:r>
          </a:p>
        </p:txBody>
      </p:sp>
      <p:sp>
        <p:nvSpPr>
          <p:cNvPr id="17" name="TextBox 16"/>
          <p:cNvSpPr txBox="1"/>
          <p:nvPr/>
        </p:nvSpPr>
        <p:spPr>
          <a:xfrm>
            <a:off x="1426464" y="2377440"/>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Push recipes, convenience, and health messaging when avocados are less visible in routine weekly shopping.</a:t>
            </a:r>
          </a:p>
        </p:txBody>
      </p:sp>
      <p:sp>
        <p:nvSpPr>
          <p:cNvPr id="18" name="Oval 17"/>
          <p:cNvSpPr/>
          <p:nvPr/>
        </p:nvSpPr>
        <p:spPr>
          <a:xfrm>
            <a:off x="1005840" y="3054096"/>
            <a:ext cx="310896" cy="310896"/>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127248"/>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2</a:t>
            </a:r>
          </a:p>
        </p:txBody>
      </p:sp>
      <p:sp>
        <p:nvSpPr>
          <p:cNvPr id="20" name="TextBox 19"/>
          <p:cNvSpPr txBox="1"/>
          <p:nvPr/>
        </p:nvSpPr>
        <p:spPr>
          <a:xfrm>
            <a:off x="1426464" y="3035808"/>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CHANNEL MIX</a:t>
            </a:r>
          </a:p>
        </p:txBody>
      </p:sp>
      <p:sp>
        <p:nvSpPr>
          <p:cNvPr id="21" name="TextBox 20"/>
          <p:cNvSpPr txBox="1"/>
          <p:nvPr/>
        </p:nvSpPr>
        <p:spPr>
          <a:xfrm>
            <a:off x="1426464" y="3218688"/>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Lean harder on food-service, prepared foods, and institutional channels when retail pull weakens.</a:t>
            </a:r>
          </a:p>
        </p:txBody>
      </p:sp>
      <p:sp>
        <p:nvSpPr>
          <p:cNvPr id="22" name="Oval 21"/>
          <p:cNvSpPr/>
          <p:nvPr/>
        </p:nvSpPr>
        <p:spPr>
          <a:xfrm>
            <a:off x="1005840" y="3895344"/>
            <a:ext cx="310896" cy="310896"/>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3968496"/>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3</a:t>
            </a:r>
          </a:p>
        </p:txBody>
      </p:sp>
      <p:sp>
        <p:nvSpPr>
          <p:cNvPr id="24" name="TextBox 23"/>
          <p:cNvSpPr txBox="1"/>
          <p:nvPr/>
        </p:nvSpPr>
        <p:spPr>
          <a:xfrm>
            <a:off x="1426464" y="3877056"/>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PROMO TIMING</a:t>
            </a:r>
          </a:p>
        </p:txBody>
      </p:sp>
      <p:sp>
        <p:nvSpPr>
          <p:cNvPr id="25" name="TextBox 24"/>
          <p:cNvSpPr txBox="1"/>
          <p:nvPr/>
        </p:nvSpPr>
        <p:spPr>
          <a:xfrm>
            <a:off x="1426464" y="4059936"/>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Use the strongest promo calendar in soft months rather than discounting away naturally strong summer demand.</a:t>
            </a:r>
          </a:p>
        </p:txBody>
      </p:sp>
      <p:sp>
        <p:nvSpPr>
          <p:cNvPr id="26" name="Oval 25"/>
          <p:cNvSpPr/>
          <p:nvPr/>
        </p:nvSpPr>
        <p:spPr>
          <a:xfrm>
            <a:off x="1005840" y="4736592"/>
            <a:ext cx="310896" cy="31089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4809744"/>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4</a:t>
            </a:r>
          </a:p>
        </p:txBody>
      </p:sp>
      <p:sp>
        <p:nvSpPr>
          <p:cNvPr id="28" name="TextBox 27"/>
          <p:cNvSpPr txBox="1"/>
          <p:nvPr/>
        </p:nvSpPr>
        <p:spPr>
          <a:xfrm>
            <a:off x="1426464" y="4718304"/>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TRADE SUPPORT</a:t>
            </a:r>
          </a:p>
        </p:txBody>
      </p:sp>
      <p:sp>
        <p:nvSpPr>
          <p:cNvPr id="29" name="TextBox 28"/>
          <p:cNvSpPr txBox="1"/>
          <p:nvPr/>
        </p:nvSpPr>
        <p:spPr>
          <a:xfrm>
            <a:off x="1426464" y="4901184"/>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Coordinate retailer calendars with association campaigns so promotions follow the seasonal operating plan.</a:t>
            </a:r>
          </a:p>
        </p:txBody>
      </p:sp>
      <p:sp>
        <p:nvSpPr>
          <p:cNvPr id="30" name="Rounded Rectangle 29"/>
          <p:cNvSpPr/>
          <p:nvPr/>
        </p:nvSpPr>
        <p:spPr>
          <a:xfrm>
            <a:off x="7699248" y="1645920"/>
            <a:ext cx="3840480" cy="431596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36992" y="1874519"/>
            <a:ext cx="2194560" cy="182880"/>
          </a:xfrm>
          <a:prstGeom prst="rect">
            <a:avLst/>
          </a:prstGeom>
          <a:noFill/>
        </p:spPr>
        <p:txBody>
          <a:bodyPr wrap="square" lIns="27432" rIns="27432" tIns="27432" bIns="27432" anchor="t">
            <a:spAutoFit/>
          </a:bodyPr>
          <a:lstStyle/>
          <a:p>
            <a:pPr algn="l"/>
            <a:r>
              <a:rPr sz="1100" b="1">
                <a:solidFill>
                  <a:srgbClr val="5F6B63"/>
                </a:solidFill>
                <a:latin typeface="Aptos"/>
              </a:rPr>
              <a:t>WHERE TO PUSH HARDER</a:t>
            </a:r>
          </a:p>
        </p:txBody>
      </p:sp>
      <p:sp>
        <p:nvSpPr>
          <p:cNvPr id="32" name="Rounded Rectangle 31"/>
          <p:cNvSpPr/>
          <p:nvPr/>
        </p:nvSpPr>
        <p:spPr>
          <a:xfrm>
            <a:off x="7936992" y="2212848"/>
            <a:ext cx="1645920" cy="822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65008" y="2322576"/>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SOFTEST MONTHS</a:t>
            </a:r>
          </a:p>
        </p:txBody>
      </p:sp>
      <p:sp>
        <p:nvSpPr>
          <p:cNvPr id="34" name="TextBox 33"/>
          <p:cNvSpPr txBox="1"/>
          <p:nvPr/>
        </p:nvSpPr>
        <p:spPr>
          <a:xfrm>
            <a:off x="8065008" y="2523744"/>
            <a:ext cx="1389888" cy="402336"/>
          </a:xfrm>
          <a:prstGeom prst="rect">
            <a:avLst/>
          </a:prstGeom>
          <a:noFill/>
        </p:spPr>
        <p:txBody>
          <a:bodyPr wrap="square" lIns="27432" rIns="27432" tIns="27432" bIns="27432" anchor="ctr">
            <a:spAutoFit/>
          </a:bodyPr>
          <a:lstStyle/>
          <a:p>
            <a:pPr algn="l"/>
            <a:r>
              <a:rPr sz="1900" b="1">
                <a:solidFill>
                  <a:srgbClr val="3F728A"/>
                </a:solidFill>
                <a:latin typeface="Aptos Display"/>
              </a:rPr>
              <a:t>Nov to Feb</a:t>
            </a:r>
          </a:p>
        </p:txBody>
      </p:sp>
      <p:sp>
        <p:nvSpPr>
          <p:cNvPr id="35" name="Rounded Rectangle 34"/>
          <p:cNvSpPr/>
          <p:nvPr/>
        </p:nvSpPr>
        <p:spPr>
          <a:xfrm>
            <a:off x="9646920" y="2212848"/>
            <a:ext cx="1600200" cy="822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74936" y="2322576"/>
            <a:ext cx="1344168" cy="164592"/>
          </a:xfrm>
          <a:prstGeom prst="rect">
            <a:avLst/>
          </a:prstGeom>
          <a:noFill/>
        </p:spPr>
        <p:txBody>
          <a:bodyPr wrap="square" lIns="27432" rIns="27432" tIns="27432" bIns="27432" anchor="t">
            <a:spAutoFit/>
          </a:bodyPr>
          <a:lstStyle/>
          <a:p>
            <a:pPr algn="l"/>
            <a:r>
              <a:rPr sz="1000" b="1">
                <a:solidFill>
                  <a:srgbClr val="5F6B63"/>
                </a:solidFill>
                <a:latin typeface="Aptos"/>
              </a:rPr>
              <a:t>GOAL</a:t>
            </a:r>
          </a:p>
        </p:txBody>
      </p:sp>
      <p:sp>
        <p:nvSpPr>
          <p:cNvPr id="37" name="TextBox 36"/>
          <p:cNvSpPr txBox="1"/>
          <p:nvPr/>
        </p:nvSpPr>
        <p:spPr>
          <a:xfrm>
            <a:off x="9774936" y="2523744"/>
            <a:ext cx="1344168" cy="402336"/>
          </a:xfrm>
          <a:prstGeom prst="rect">
            <a:avLst/>
          </a:prstGeom>
          <a:noFill/>
        </p:spPr>
        <p:txBody>
          <a:bodyPr wrap="square" lIns="27432" rIns="27432" tIns="27432" bIns="27432" anchor="ctr">
            <a:spAutoFit/>
          </a:bodyPr>
          <a:lstStyle/>
          <a:p>
            <a:pPr algn="l"/>
            <a:r>
              <a:rPr sz="1900" b="1">
                <a:solidFill>
                  <a:srgbClr val="C58A2A"/>
                </a:solidFill>
                <a:latin typeface="Aptos Display"/>
              </a:rPr>
              <a:t>Protect demand</a:t>
            </a:r>
          </a:p>
        </p:txBody>
      </p:sp>
      <p:sp>
        <p:nvSpPr>
          <p:cNvPr id="38" name="TextBox 37"/>
          <p:cNvSpPr txBox="1"/>
          <p:nvPr/>
        </p:nvSpPr>
        <p:spPr>
          <a:xfrm>
            <a:off x="7955279" y="3246120"/>
            <a:ext cx="3154680" cy="15544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Do not confuse seasonal softness with weak pilot economics.</a:t>
            </a:r>
          </a:p>
          <a:p>
            <a:pPr algn="l">
              <a:lnSpc>
                <a:spcPct val="115000"/>
              </a:lnSpc>
            </a:pPr>
            <a:r>
              <a:rPr sz="1300">
                <a:solidFill>
                  <a:srgbClr val="1F2621"/>
                </a:solidFill>
                <a:latin typeface="Aptos"/>
              </a:rPr>
              <a:t>- Use the same monthly calendar across retailers, channels, and trade campaigns.</a:t>
            </a:r>
          </a:p>
          <a:p>
            <a:pPr algn="l">
              <a:lnSpc>
                <a:spcPct val="115000"/>
              </a:lnSpc>
            </a:pPr>
            <a:r>
              <a:rPr sz="1300">
                <a:solidFill>
                  <a:srgbClr val="1F2621"/>
                </a:solidFill>
                <a:latin typeface="Aptos"/>
              </a:rPr>
              <a:t>- Measure promotional lift separately from baseline reorder demand.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32</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A shared monthly S&amp;OP cadence can align growers, West Valley, and retail partners</a:t>
            </a:r>
          </a:p>
        </p:txBody>
      </p:sp>
      <p:sp>
        <p:nvSpPr>
          <p:cNvPr id="11" name="TextBox 10"/>
          <p:cNvSpPr txBox="1"/>
          <p:nvPr/>
        </p:nvSpPr>
        <p:spPr>
          <a:xfrm>
            <a:off x="548640" y="1097280"/>
            <a:ext cx="10515600" cy="320040"/>
          </a:xfrm>
          <a:prstGeom prst="rect">
            <a:avLst/>
          </a:prstGeom>
          <a:noFill/>
        </p:spPr>
        <p:txBody>
          <a:bodyPr wrap="square" lIns="27432" rIns="27432" tIns="27432" bIns="27432" anchor="t">
            <a:spAutoFit/>
          </a:bodyPr>
          <a:lstStyle/>
          <a:p>
            <a:pPr algn="l"/>
            <a:r>
              <a:rPr sz="1300" b="0">
                <a:solidFill>
                  <a:srgbClr val="5F6B63"/>
                </a:solidFill>
                <a:latin typeface="Aptos"/>
              </a:rPr>
              <a:t>The operating model is stronger when the same monthly forum translates market signals into volume, routing, and promotion decisions.</a:t>
            </a:r>
          </a:p>
        </p:txBody>
      </p:sp>
      <p:sp>
        <p:nvSpPr>
          <p:cNvPr id="12" name="Rounded Rectangle 11"/>
          <p:cNvSpPr/>
          <p:nvPr/>
        </p:nvSpPr>
        <p:spPr>
          <a:xfrm>
            <a:off x="777240" y="1700784"/>
            <a:ext cx="301752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1837944"/>
            <a:ext cx="2724912" cy="219456"/>
          </a:xfrm>
          <a:prstGeom prst="rect">
            <a:avLst/>
          </a:prstGeom>
          <a:noFill/>
        </p:spPr>
        <p:txBody>
          <a:bodyPr wrap="square" lIns="27432" rIns="27432" tIns="27432" bIns="27432" anchor="t">
            <a:spAutoFit/>
          </a:bodyPr>
          <a:lstStyle/>
          <a:p>
            <a:pPr algn="l"/>
            <a:r>
              <a:rPr sz="1100" b="1">
                <a:solidFill>
                  <a:srgbClr val="5F6B63"/>
                </a:solidFill>
                <a:latin typeface="Aptos"/>
              </a:rPr>
              <a:t>GROWERS</a:t>
            </a:r>
          </a:p>
        </p:txBody>
      </p:sp>
      <p:sp>
        <p:nvSpPr>
          <p:cNvPr id="14" name="TextBox 13"/>
          <p:cNvSpPr txBox="1"/>
          <p:nvPr/>
        </p:nvSpPr>
        <p:spPr>
          <a:xfrm>
            <a:off x="923544" y="2084832"/>
            <a:ext cx="2724912" cy="502920"/>
          </a:xfrm>
          <a:prstGeom prst="rect">
            <a:avLst/>
          </a:prstGeom>
          <a:noFill/>
        </p:spPr>
        <p:txBody>
          <a:bodyPr wrap="square" lIns="27432" rIns="27432" tIns="27432" bIns="27432" anchor="t">
            <a:spAutoFit/>
          </a:bodyPr>
          <a:lstStyle/>
          <a:p>
            <a:pPr algn="l"/>
            <a:r>
              <a:rPr sz="2400" b="1">
                <a:solidFill>
                  <a:srgbClr val="355C47"/>
                </a:solidFill>
                <a:latin typeface="Aptos Display"/>
              </a:rPr>
              <a:t>Supply commitment</a:t>
            </a:r>
          </a:p>
        </p:txBody>
      </p:sp>
      <p:sp>
        <p:nvSpPr>
          <p:cNvPr id="15" name="TextBox 14"/>
          <p:cNvSpPr txBox="1"/>
          <p:nvPr/>
        </p:nvSpPr>
        <p:spPr>
          <a:xfrm>
            <a:off x="923544" y="2578608"/>
            <a:ext cx="2724912" cy="457200"/>
          </a:xfrm>
          <a:prstGeom prst="rect">
            <a:avLst/>
          </a:prstGeom>
          <a:noFill/>
        </p:spPr>
        <p:txBody>
          <a:bodyPr wrap="square" lIns="27432" rIns="27432" tIns="27432" bIns="27432" anchor="t">
            <a:spAutoFit/>
          </a:bodyPr>
          <a:lstStyle/>
          <a:p>
            <a:pPr algn="l"/>
            <a:r>
              <a:rPr sz="1500" b="0">
                <a:solidFill>
                  <a:srgbClr val="1F2621"/>
                </a:solidFill>
                <a:latin typeface="Aptos"/>
              </a:rPr>
              <a:t>Provide base volume, flex capacity, and harvest timing updates.</a:t>
            </a:r>
          </a:p>
        </p:txBody>
      </p:sp>
      <p:sp>
        <p:nvSpPr>
          <p:cNvPr id="16" name="Rounded Rectangle 15"/>
          <p:cNvSpPr/>
          <p:nvPr/>
        </p:nvSpPr>
        <p:spPr>
          <a:xfrm>
            <a:off x="4507992" y="1700784"/>
            <a:ext cx="301752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54296" y="1837944"/>
            <a:ext cx="2724912" cy="219456"/>
          </a:xfrm>
          <a:prstGeom prst="rect">
            <a:avLst/>
          </a:prstGeom>
          <a:noFill/>
        </p:spPr>
        <p:txBody>
          <a:bodyPr wrap="square" lIns="27432" rIns="27432" tIns="27432" bIns="27432" anchor="t">
            <a:spAutoFit/>
          </a:bodyPr>
          <a:lstStyle/>
          <a:p>
            <a:pPr algn="l"/>
            <a:r>
              <a:rPr sz="1100" b="1">
                <a:solidFill>
                  <a:srgbClr val="5F6B63"/>
                </a:solidFill>
                <a:latin typeface="Aptos"/>
              </a:rPr>
              <a:t>WEST VALLEY</a:t>
            </a:r>
          </a:p>
        </p:txBody>
      </p:sp>
      <p:sp>
        <p:nvSpPr>
          <p:cNvPr id="18" name="TextBox 17"/>
          <p:cNvSpPr txBox="1"/>
          <p:nvPr/>
        </p:nvSpPr>
        <p:spPr>
          <a:xfrm>
            <a:off x="4654296" y="2084832"/>
            <a:ext cx="2724912" cy="502920"/>
          </a:xfrm>
          <a:prstGeom prst="rect">
            <a:avLst/>
          </a:prstGeom>
          <a:noFill/>
        </p:spPr>
        <p:txBody>
          <a:bodyPr wrap="square" lIns="27432" rIns="27432" tIns="27432" bIns="27432" anchor="t">
            <a:spAutoFit/>
          </a:bodyPr>
          <a:lstStyle/>
          <a:p>
            <a:pPr algn="l"/>
            <a:r>
              <a:rPr sz="2400" b="1">
                <a:solidFill>
                  <a:srgbClr val="3F728A"/>
                </a:solidFill>
                <a:latin typeface="Aptos Display"/>
              </a:rPr>
              <a:t>Control tower</a:t>
            </a:r>
          </a:p>
        </p:txBody>
      </p:sp>
      <p:sp>
        <p:nvSpPr>
          <p:cNvPr id="19" name="TextBox 18"/>
          <p:cNvSpPr txBox="1"/>
          <p:nvPr/>
        </p:nvSpPr>
        <p:spPr>
          <a:xfrm>
            <a:off x="4654296" y="2578608"/>
            <a:ext cx="2724912" cy="457200"/>
          </a:xfrm>
          <a:prstGeom prst="rect">
            <a:avLst/>
          </a:prstGeom>
          <a:noFill/>
        </p:spPr>
        <p:txBody>
          <a:bodyPr wrap="square" lIns="27432" rIns="27432" tIns="27432" bIns="27432" anchor="t">
            <a:spAutoFit/>
          </a:bodyPr>
          <a:lstStyle/>
          <a:p>
            <a:pPr algn="l"/>
            <a:r>
              <a:rPr sz="1500" b="0">
                <a:solidFill>
                  <a:srgbClr val="1F2621"/>
                </a:solidFill>
                <a:latin typeface="Aptos"/>
              </a:rPr>
              <a:t>Convert price, freight, and demand signals into city allocation decisions.</a:t>
            </a:r>
          </a:p>
        </p:txBody>
      </p:sp>
      <p:sp>
        <p:nvSpPr>
          <p:cNvPr id="20" name="Rounded Rectangle 19"/>
          <p:cNvSpPr/>
          <p:nvPr/>
        </p:nvSpPr>
        <p:spPr>
          <a:xfrm>
            <a:off x="8238744" y="1700784"/>
            <a:ext cx="301752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8" y="1837944"/>
            <a:ext cx="2724912" cy="219456"/>
          </a:xfrm>
          <a:prstGeom prst="rect">
            <a:avLst/>
          </a:prstGeom>
          <a:noFill/>
        </p:spPr>
        <p:txBody>
          <a:bodyPr wrap="square" lIns="27432" rIns="27432" tIns="27432" bIns="27432" anchor="t">
            <a:spAutoFit/>
          </a:bodyPr>
          <a:lstStyle/>
          <a:p>
            <a:pPr algn="l"/>
            <a:r>
              <a:rPr sz="1100" b="1">
                <a:solidFill>
                  <a:srgbClr val="5F6B63"/>
                </a:solidFill>
                <a:latin typeface="Aptos"/>
              </a:rPr>
              <a:t>RETAILERS</a:t>
            </a:r>
          </a:p>
        </p:txBody>
      </p:sp>
      <p:sp>
        <p:nvSpPr>
          <p:cNvPr id="22" name="TextBox 21"/>
          <p:cNvSpPr txBox="1"/>
          <p:nvPr/>
        </p:nvSpPr>
        <p:spPr>
          <a:xfrm>
            <a:off x="8385048" y="2084832"/>
            <a:ext cx="2724912" cy="502920"/>
          </a:xfrm>
          <a:prstGeom prst="rect">
            <a:avLst/>
          </a:prstGeom>
          <a:noFill/>
        </p:spPr>
        <p:txBody>
          <a:bodyPr wrap="square" lIns="27432" rIns="27432" tIns="27432" bIns="27432" anchor="t">
            <a:spAutoFit/>
          </a:bodyPr>
          <a:lstStyle/>
          <a:p>
            <a:pPr algn="l"/>
            <a:r>
              <a:rPr sz="2400" b="1">
                <a:solidFill>
                  <a:srgbClr val="C58A2A"/>
                </a:solidFill>
                <a:latin typeface="Aptos Display"/>
              </a:rPr>
              <a:t>Demand signal</a:t>
            </a:r>
          </a:p>
        </p:txBody>
      </p:sp>
      <p:sp>
        <p:nvSpPr>
          <p:cNvPr id="23" name="TextBox 22"/>
          <p:cNvSpPr txBox="1"/>
          <p:nvPr/>
        </p:nvSpPr>
        <p:spPr>
          <a:xfrm>
            <a:off x="8385048" y="2578608"/>
            <a:ext cx="2724912" cy="457200"/>
          </a:xfrm>
          <a:prstGeom prst="rect">
            <a:avLst/>
          </a:prstGeom>
          <a:noFill/>
        </p:spPr>
        <p:txBody>
          <a:bodyPr wrap="square" lIns="27432" rIns="27432" tIns="27432" bIns="27432" anchor="t">
            <a:spAutoFit/>
          </a:bodyPr>
          <a:lstStyle/>
          <a:p>
            <a:pPr algn="l"/>
            <a:r>
              <a:rPr sz="1500" b="0">
                <a:solidFill>
                  <a:srgbClr val="1F2621"/>
                </a:solidFill>
                <a:latin typeface="Aptos"/>
              </a:rPr>
              <a:t>Feed promo calendars, replenishment risk, and reorder visibility into the review.</a:t>
            </a:r>
          </a:p>
        </p:txBody>
      </p:sp>
      <p:sp>
        <p:nvSpPr>
          <p:cNvPr id="24" name="Rounded Rectangle 23"/>
          <p:cNvSpPr/>
          <p:nvPr/>
        </p:nvSpPr>
        <p:spPr>
          <a:xfrm>
            <a:off x="1874519" y="3493008"/>
            <a:ext cx="8458200" cy="106070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176272" y="3749039"/>
            <a:ext cx="292608" cy="29260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03704"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1</a:t>
            </a:r>
          </a:p>
        </p:txBody>
      </p:sp>
      <p:sp>
        <p:nvSpPr>
          <p:cNvPr id="27" name="TextBox 26"/>
          <p:cNvSpPr txBox="1"/>
          <p:nvPr/>
        </p:nvSpPr>
        <p:spPr>
          <a:xfrm>
            <a:off x="2560320"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Forecast demand</a:t>
            </a:r>
          </a:p>
        </p:txBody>
      </p:sp>
      <p:cxnSp>
        <p:nvCxnSpPr>
          <p:cNvPr id="28" name="Connector 27"/>
          <p:cNvCxnSpPr/>
          <p:nvPr/>
        </p:nvCxnSpPr>
        <p:spPr>
          <a:xfrm>
            <a:off x="3867912" y="3895344"/>
            <a:ext cx="292608" cy="0"/>
          </a:xfrm>
          <a:prstGeom prst="line">
            <a:avLst/>
          </a:prstGeom>
          <a:ln w="22860">
            <a:solidFill>
              <a:srgbClr val="D8D1C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215383" y="3749039"/>
            <a:ext cx="292608" cy="29260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42815"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2</a:t>
            </a:r>
          </a:p>
        </p:txBody>
      </p:sp>
      <p:sp>
        <p:nvSpPr>
          <p:cNvPr id="31" name="TextBox 30"/>
          <p:cNvSpPr txBox="1"/>
          <p:nvPr/>
        </p:nvSpPr>
        <p:spPr>
          <a:xfrm>
            <a:off x="4599431"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Lock commitments</a:t>
            </a:r>
          </a:p>
        </p:txBody>
      </p:sp>
      <p:cxnSp>
        <p:nvCxnSpPr>
          <p:cNvPr id="32" name="Connector 31"/>
          <p:cNvCxnSpPr/>
          <p:nvPr/>
        </p:nvCxnSpPr>
        <p:spPr>
          <a:xfrm>
            <a:off x="5907023" y="3895344"/>
            <a:ext cx="292608" cy="0"/>
          </a:xfrm>
          <a:prstGeom prst="line">
            <a:avLst/>
          </a:prstGeom>
          <a:ln w="22860">
            <a:solidFill>
              <a:srgbClr val="D8D1C6"/>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6254496" y="3749039"/>
            <a:ext cx="292608" cy="29260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81928"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3</a:t>
            </a:r>
          </a:p>
        </p:txBody>
      </p:sp>
      <p:sp>
        <p:nvSpPr>
          <p:cNvPr id="35" name="TextBox 34"/>
          <p:cNvSpPr txBox="1"/>
          <p:nvPr/>
        </p:nvSpPr>
        <p:spPr>
          <a:xfrm>
            <a:off x="6638544"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Allocate by city</a:t>
            </a:r>
          </a:p>
        </p:txBody>
      </p:sp>
      <p:cxnSp>
        <p:nvCxnSpPr>
          <p:cNvPr id="36" name="Connector 35"/>
          <p:cNvCxnSpPr/>
          <p:nvPr/>
        </p:nvCxnSpPr>
        <p:spPr>
          <a:xfrm>
            <a:off x="7946136" y="3895344"/>
            <a:ext cx="292608" cy="0"/>
          </a:xfrm>
          <a:prstGeom prst="line">
            <a:avLst/>
          </a:prstGeom>
          <a:ln w="22860">
            <a:solidFill>
              <a:srgbClr val="D8D1C6"/>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8293608" y="3749039"/>
            <a:ext cx="292608" cy="29260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21040"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4</a:t>
            </a:r>
          </a:p>
        </p:txBody>
      </p:sp>
      <p:sp>
        <p:nvSpPr>
          <p:cNvPr id="39" name="TextBox 38"/>
          <p:cNvSpPr txBox="1"/>
          <p:nvPr/>
        </p:nvSpPr>
        <p:spPr>
          <a:xfrm>
            <a:off x="8677656"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Review margin + service</a:t>
            </a:r>
          </a:p>
        </p:txBody>
      </p:sp>
      <p:sp>
        <p:nvSpPr>
          <p:cNvPr id="40" name="Rounded Rectangle 39"/>
          <p:cNvSpPr/>
          <p:nvPr/>
        </p:nvSpPr>
        <p:spPr>
          <a:xfrm>
            <a:off x="768096" y="4864608"/>
            <a:ext cx="10744200" cy="89611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992624"/>
            <a:ext cx="3325368" cy="164592"/>
          </a:xfrm>
          <a:prstGeom prst="rect">
            <a:avLst/>
          </a:prstGeom>
          <a:noFill/>
        </p:spPr>
        <p:txBody>
          <a:bodyPr wrap="square" lIns="27432" rIns="27432" tIns="27432" bIns="27432" anchor="t">
            <a:spAutoFit/>
          </a:bodyPr>
          <a:lstStyle/>
          <a:p>
            <a:pPr algn="l"/>
            <a:r>
              <a:rPr sz="1000" b="1">
                <a:solidFill>
                  <a:srgbClr val="5F6B63"/>
                </a:solidFill>
                <a:latin typeface="Aptos"/>
              </a:rPr>
              <a:t>CADENCE</a:t>
            </a:r>
          </a:p>
        </p:txBody>
      </p:sp>
      <p:sp>
        <p:nvSpPr>
          <p:cNvPr id="42" name="TextBox 41"/>
          <p:cNvSpPr txBox="1"/>
          <p:nvPr/>
        </p:nvSpPr>
        <p:spPr>
          <a:xfrm>
            <a:off x="896112" y="5175504"/>
            <a:ext cx="3325368" cy="310896"/>
          </a:xfrm>
          <a:prstGeom prst="rect">
            <a:avLst/>
          </a:prstGeom>
          <a:noFill/>
        </p:spPr>
        <p:txBody>
          <a:bodyPr wrap="square" lIns="27432" rIns="27432" tIns="27432" bIns="27432" anchor="t">
            <a:spAutoFit/>
          </a:bodyPr>
          <a:lstStyle/>
          <a:p>
            <a:pPr algn="l"/>
            <a:r>
              <a:rPr sz="2100" b="1">
                <a:solidFill>
                  <a:srgbClr val="355C47"/>
                </a:solidFill>
                <a:latin typeface="Aptos Display"/>
              </a:rPr>
              <a:t>Monthly</a:t>
            </a:r>
          </a:p>
        </p:txBody>
      </p:sp>
      <p:sp>
        <p:nvSpPr>
          <p:cNvPr id="43" name="TextBox 42"/>
          <p:cNvSpPr txBox="1"/>
          <p:nvPr/>
        </p:nvSpPr>
        <p:spPr>
          <a:xfrm>
            <a:off x="896112" y="5522976"/>
            <a:ext cx="3325368" cy="91440"/>
          </a:xfrm>
          <a:prstGeom prst="rect">
            <a:avLst/>
          </a:prstGeom>
          <a:noFill/>
        </p:spPr>
        <p:txBody>
          <a:bodyPr wrap="square" lIns="27432" rIns="27432" tIns="27432" bIns="27432" anchor="t">
            <a:spAutoFit/>
          </a:bodyPr>
          <a:lstStyle/>
          <a:p>
            <a:pPr algn="l"/>
            <a:r>
              <a:rPr sz="1200" b="0">
                <a:solidFill>
                  <a:srgbClr val="1F2621"/>
                </a:solidFill>
                <a:latin typeface="Aptos"/>
              </a:rPr>
              <a:t>Run the review monthly, not quarterly, because the volume-price gap changes within the season.</a:t>
            </a:r>
          </a:p>
        </p:txBody>
      </p:sp>
      <p:cxnSp>
        <p:nvCxnSpPr>
          <p:cNvPr id="44" name="Connector 43"/>
          <p:cNvCxnSpPr/>
          <p:nvPr/>
        </p:nvCxnSpPr>
        <p:spPr>
          <a:xfrm>
            <a:off x="4349496" y="5029200"/>
            <a:ext cx="0" cy="566928"/>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477512" y="4992624"/>
            <a:ext cx="3325368" cy="164592"/>
          </a:xfrm>
          <a:prstGeom prst="rect">
            <a:avLst/>
          </a:prstGeom>
          <a:noFill/>
        </p:spPr>
        <p:txBody>
          <a:bodyPr wrap="square" lIns="27432" rIns="27432" tIns="27432" bIns="27432" anchor="t">
            <a:spAutoFit/>
          </a:bodyPr>
          <a:lstStyle/>
          <a:p>
            <a:pPr algn="l"/>
            <a:r>
              <a:rPr sz="1000" b="1">
                <a:solidFill>
                  <a:srgbClr val="5F6B63"/>
                </a:solidFill>
                <a:latin typeface="Aptos"/>
              </a:rPr>
              <a:t>DECISION OUTPUT</a:t>
            </a:r>
          </a:p>
        </p:txBody>
      </p:sp>
      <p:sp>
        <p:nvSpPr>
          <p:cNvPr id="46" name="TextBox 45"/>
          <p:cNvSpPr txBox="1"/>
          <p:nvPr/>
        </p:nvSpPr>
        <p:spPr>
          <a:xfrm>
            <a:off x="4477512" y="5175504"/>
            <a:ext cx="3325368" cy="310896"/>
          </a:xfrm>
          <a:prstGeom prst="rect">
            <a:avLst/>
          </a:prstGeom>
          <a:noFill/>
        </p:spPr>
        <p:txBody>
          <a:bodyPr wrap="square" lIns="27432" rIns="27432" tIns="27432" bIns="27432" anchor="t">
            <a:spAutoFit/>
          </a:bodyPr>
          <a:lstStyle/>
          <a:p>
            <a:pPr algn="l"/>
            <a:r>
              <a:rPr sz="2100" b="1">
                <a:solidFill>
                  <a:srgbClr val="3F728A"/>
                </a:solidFill>
                <a:latin typeface="Aptos Display"/>
              </a:rPr>
              <a:t>Commit + allocate</a:t>
            </a:r>
          </a:p>
        </p:txBody>
      </p:sp>
      <p:sp>
        <p:nvSpPr>
          <p:cNvPr id="47" name="TextBox 46"/>
          <p:cNvSpPr txBox="1"/>
          <p:nvPr/>
        </p:nvSpPr>
        <p:spPr>
          <a:xfrm>
            <a:off x="4477512" y="5522976"/>
            <a:ext cx="3325368" cy="91440"/>
          </a:xfrm>
          <a:prstGeom prst="rect">
            <a:avLst/>
          </a:prstGeom>
          <a:noFill/>
        </p:spPr>
        <p:txBody>
          <a:bodyPr wrap="square" lIns="27432" rIns="27432" tIns="27432" bIns="27432" anchor="t">
            <a:spAutoFit/>
          </a:bodyPr>
          <a:lstStyle/>
          <a:p>
            <a:pPr algn="l"/>
            <a:r>
              <a:rPr sz="1200" b="0">
                <a:solidFill>
                  <a:srgbClr val="1F2621"/>
                </a:solidFill>
                <a:latin typeface="Aptos"/>
              </a:rPr>
              <a:t>Use the same forum to update grower commitments, routing, and retailer timing.</a:t>
            </a:r>
          </a:p>
        </p:txBody>
      </p:sp>
      <p:cxnSp>
        <p:nvCxnSpPr>
          <p:cNvPr id="48" name="Connector 47"/>
          <p:cNvCxnSpPr/>
          <p:nvPr/>
        </p:nvCxnSpPr>
        <p:spPr>
          <a:xfrm>
            <a:off x="7930896" y="5029200"/>
            <a:ext cx="0" cy="566928"/>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58912" y="4992624"/>
            <a:ext cx="3325368" cy="164592"/>
          </a:xfrm>
          <a:prstGeom prst="rect">
            <a:avLst/>
          </a:prstGeom>
          <a:noFill/>
        </p:spPr>
        <p:txBody>
          <a:bodyPr wrap="square" lIns="27432" rIns="27432" tIns="27432" bIns="27432" anchor="t">
            <a:spAutoFit/>
          </a:bodyPr>
          <a:lstStyle/>
          <a:p>
            <a:pPr algn="l"/>
            <a:r>
              <a:rPr sz="1000" b="1">
                <a:solidFill>
                  <a:srgbClr val="5F6B63"/>
                </a:solidFill>
                <a:latin typeface="Aptos"/>
              </a:rPr>
              <a:t>SUCCESS SIGNAL</a:t>
            </a:r>
          </a:p>
        </p:txBody>
      </p:sp>
      <p:sp>
        <p:nvSpPr>
          <p:cNvPr id="50" name="TextBox 49"/>
          <p:cNvSpPr txBox="1"/>
          <p:nvPr/>
        </p:nvSpPr>
        <p:spPr>
          <a:xfrm>
            <a:off x="8058912" y="5175504"/>
            <a:ext cx="3325368" cy="310896"/>
          </a:xfrm>
          <a:prstGeom prst="rect">
            <a:avLst/>
          </a:prstGeom>
          <a:noFill/>
        </p:spPr>
        <p:txBody>
          <a:bodyPr wrap="square" lIns="27432" rIns="27432" tIns="27432" bIns="27432" anchor="t">
            <a:spAutoFit/>
          </a:bodyPr>
          <a:lstStyle/>
          <a:p>
            <a:pPr algn="l"/>
            <a:r>
              <a:rPr sz="2100" b="1">
                <a:solidFill>
                  <a:srgbClr val="C58A2A"/>
                </a:solidFill>
                <a:latin typeface="Aptos Display"/>
              </a:rPr>
              <a:t>Margin + service</a:t>
            </a:r>
          </a:p>
        </p:txBody>
      </p:sp>
      <p:sp>
        <p:nvSpPr>
          <p:cNvPr id="51" name="TextBox 50"/>
          <p:cNvSpPr txBox="1"/>
          <p:nvPr/>
        </p:nvSpPr>
        <p:spPr>
          <a:xfrm>
            <a:off x="8058912" y="5522976"/>
            <a:ext cx="3325368" cy="91440"/>
          </a:xfrm>
          <a:prstGeom prst="rect">
            <a:avLst/>
          </a:prstGeom>
          <a:noFill/>
        </p:spPr>
        <p:txBody>
          <a:bodyPr wrap="square" lIns="27432" rIns="27432" tIns="27432" bIns="27432" anchor="t">
            <a:spAutoFit/>
          </a:bodyPr>
          <a:lstStyle/>
          <a:p>
            <a:pPr algn="l"/>
            <a:r>
              <a:rPr sz="1200" b="0">
                <a:solidFill>
                  <a:srgbClr val="1F2621"/>
                </a:solidFill>
                <a:latin typeface="Aptos"/>
              </a:rPr>
              <a:t>The forum should improve realized margin without breaking fill rate or freshness.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IMPLEMENTATION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33</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Launch the 2026 pilot first, then scale what the market confirms</a:t>
            </a:r>
          </a:p>
        </p:txBody>
      </p:sp>
      <p:sp>
        <p:nvSpPr>
          <p:cNvPr id="9" name="TextBox 8"/>
          <p:cNvSpPr txBox="1"/>
          <p:nvPr/>
        </p:nvSpPr>
        <p:spPr>
          <a:xfrm>
            <a:off x="548640" y="1097280"/>
            <a:ext cx="10607040" cy="320040"/>
          </a:xfrm>
          <a:prstGeom prst="rect">
            <a:avLst/>
          </a:prstGeom>
          <a:noFill/>
        </p:spPr>
        <p:txBody>
          <a:bodyPr wrap="square" lIns="27432" rIns="27432" tIns="27432" bIns="27432" anchor="t">
            <a:spAutoFit/>
          </a:bodyPr>
          <a:lstStyle/>
          <a:p>
            <a:pPr algn="l"/>
            <a:r>
              <a:rPr sz="1300" b="0">
                <a:solidFill>
                  <a:srgbClr val="5F6B63"/>
                </a:solidFill>
                <a:latin typeface="Aptos"/>
              </a:rPr>
              <a:t>Treat the first year as a live test of economics, service, and demand quality rather than a commitment to broad expansion.</a:t>
            </a:r>
          </a:p>
        </p:txBody>
      </p:sp>
      <p:sp>
        <p:nvSpPr>
          <p:cNvPr id="10" name="Rounded Rectangle 9"/>
          <p:cNvSpPr/>
          <p:nvPr/>
        </p:nvSpPr>
        <p:spPr>
          <a:xfrm>
            <a:off x="749808" y="1600200"/>
            <a:ext cx="7680960" cy="443484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10512"/>
            <a:ext cx="1828800" cy="182880"/>
          </a:xfrm>
          <a:prstGeom prst="rect">
            <a:avLst/>
          </a:prstGeom>
          <a:noFill/>
        </p:spPr>
        <p:txBody>
          <a:bodyPr wrap="square" lIns="27432" rIns="27432" tIns="27432" bIns="27432" anchor="t">
            <a:spAutoFit/>
          </a:bodyPr>
          <a:lstStyle/>
          <a:p>
            <a:pPr algn="l"/>
            <a:r>
              <a:rPr sz="1100" b="1">
                <a:solidFill>
                  <a:srgbClr val="5F6B63"/>
                </a:solidFill>
                <a:latin typeface="Aptos"/>
              </a:rPr>
              <a:t>ROLLOUT ROADMAP</a:t>
            </a:r>
          </a:p>
        </p:txBody>
      </p:sp>
      <p:sp>
        <p:nvSpPr>
          <p:cNvPr id="12" name="Rounded Rectangle 11"/>
          <p:cNvSpPr/>
          <p:nvPr/>
        </p:nvSpPr>
        <p:spPr>
          <a:xfrm>
            <a:off x="914400" y="2148840"/>
            <a:ext cx="960120" cy="676656"/>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276856"/>
            <a:ext cx="914400" cy="182880"/>
          </a:xfrm>
          <a:prstGeom prst="rect">
            <a:avLst/>
          </a:prstGeom>
          <a:noFill/>
        </p:spPr>
        <p:txBody>
          <a:bodyPr wrap="square" lIns="27432" rIns="27432" tIns="27432" bIns="27432" anchor="t">
            <a:spAutoFit/>
          </a:bodyPr>
          <a:lstStyle/>
          <a:p>
            <a:pPr algn="ctr"/>
            <a:r>
              <a:rPr sz="1800" b="1">
                <a:solidFill>
                  <a:srgbClr val="FCFAF5"/>
                </a:solidFill>
                <a:latin typeface="Aptos Display"/>
              </a:rPr>
              <a:t>2026</a:t>
            </a:r>
          </a:p>
        </p:txBody>
      </p:sp>
      <p:sp>
        <p:nvSpPr>
          <p:cNvPr id="14" name="Rounded Rectangle 13"/>
          <p:cNvSpPr/>
          <p:nvPr/>
        </p:nvSpPr>
        <p:spPr>
          <a:xfrm>
            <a:off x="2084831" y="2148840"/>
            <a:ext cx="4160520" cy="676656"/>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40280"/>
            <a:ext cx="3749039" cy="164592"/>
          </a:xfrm>
          <a:prstGeom prst="rect">
            <a:avLst/>
          </a:prstGeom>
          <a:noFill/>
        </p:spPr>
        <p:txBody>
          <a:bodyPr wrap="square" lIns="27432" rIns="27432" tIns="27432" bIns="27432" anchor="t">
            <a:spAutoFit/>
          </a:bodyPr>
          <a:lstStyle/>
          <a:p>
            <a:pPr algn="l"/>
            <a:r>
              <a:rPr sz="1000" b="1">
                <a:solidFill>
                  <a:srgbClr val="5F6B63"/>
                </a:solidFill>
                <a:latin typeface="Aptos"/>
              </a:rPr>
              <a:t>PILOT</a:t>
            </a:r>
          </a:p>
        </p:txBody>
      </p:sp>
      <p:sp>
        <p:nvSpPr>
          <p:cNvPr id="16" name="TextBox 15"/>
          <p:cNvSpPr txBox="1"/>
          <p:nvPr/>
        </p:nvSpPr>
        <p:spPr>
          <a:xfrm>
            <a:off x="2267712" y="2423160"/>
            <a:ext cx="3749039" cy="256032"/>
          </a:xfrm>
          <a:prstGeom prst="rect">
            <a:avLst/>
          </a:prstGeom>
          <a:noFill/>
        </p:spPr>
        <p:txBody>
          <a:bodyPr wrap="square" lIns="27432" rIns="27432" tIns="27432" bIns="27432" anchor="t">
            <a:spAutoFit/>
          </a:bodyPr>
          <a:lstStyle/>
          <a:p>
            <a:pPr algn="l"/>
            <a:r>
              <a:rPr sz="1300" b="0">
                <a:solidFill>
                  <a:srgbClr val="1F2621"/>
                </a:solidFill>
                <a:latin typeface="Aptos"/>
              </a:rPr>
              <a:t>Launch the five-city test and prove realized margin, fill rate, and spoilage control.</a:t>
            </a:r>
          </a:p>
        </p:txBody>
      </p:sp>
      <p:sp>
        <p:nvSpPr>
          <p:cNvPr id="17" name="Rounded Rectangle 16"/>
          <p:cNvSpPr/>
          <p:nvPr/>
        </p:nvSpPr>
        <p:spPr>
          <a:xfrm>
            <a:off x="6382512" y="2148840"/>
            <a:ext cx="1737360" cy="676656"/>
          </a:xfrm>
          <a:prstGeom prst="roundRect">
            <a:avLst/>
          </a:prstGeom>
          <a:solidFill>
            <a:srgbClr val="FFFDF9"/>
          </a:solidFill>
          <a:ln w="15240">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9672" y="2240280"/>
            <a:ext cx="1481328" cy="402336"/>
          </a:xfrm>
          <a:prstGeom prst="rect">
            <a:avLst/>
          </a:prstGeom>
          <a:noFill/>
        </p:spPr>
        <p:txBody>
          <a:bodyPr wrap="square" lIns="27432" rIns="27432" tIns="27432" bIns="27432" anchor="t">
            <a:spAutoFit/>
          </a:bodyPr>
          <a:lstStyle/>
          <a:p>
            <a:pPr algn="l"/>
            <a:r>
              <a:rPr sz="1100" b="0">
                <a:solidFill>
                  <a:srgbClr val="1F2621"/>
                </a:solidFill>
                <a:latin typeface="Aptos"/>
              </a:rPr>
              <a:t>What must be true: city economics hold in live execution.</a:t>
            </a:r>
          </a:p>
        </p:txBody>
      </p:sp>
      <p:sp>
        <p:nvSpPr>
          <p:cNvPr id="19" name="Rounded Rectangle 18"/>
          <p:cNvSpPr/>
          <p:nvPr/>
        </p:nvSpPr>
        <p:spPr>
          <a:xfrm>
            <a:off x="914400" y="3429000"/>
            <a:ext cx="960120" cy="676656"/>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557016"/>
            <a:ext cx="914400" cy="182880"/>
          </a:xfrm>
          <a:prstGeom prst="rect">
            <a:avLst/>
          </a:prstGeom>
          <a:noFill/>
        </p:spPr>
        <p:txBody>
          <a:bodyPr wrap="square" lIns="27432" rIns="27432" tIns="27432" bIns="27432" anchor="t">
            <a:spAutoFit/>
          </a:bodyPr>
          <a:lstStyle/>
          <a:p>
            <a:pPr algn="ctr"/>
            <a:r>
              <a:rPr sz="1800" b="1">
                <a:solidFill>
                  <a:srgbClr val="FCFAF5"/>
                </a:solidFill>
                <a:latin typeface="Aptos Display"/>
              </a:rPr>
              <a:t>2027</a:t>
            </a:r>
          </a:p>
        </p:txBody>
      </p:sp>
      <p:sp>
        <p:nvSpPr>
          <p:cNvPr id="21" name="Rounded Rectangle 20"/>
          <p:cNvSpPr/>
          <p:nvPr/>
        </p:nvSpPr>
        <p:spPr>
          <a:xfrm>
            <a:off x="2084831" y="3429000"/>
            <a:ext cx="4160520" cy="676656"/>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67712" y="3520440"/>
            <a:ext cx="3749039" cy="164592"/>
          </a:xfrm>
          <a:prstGeom prst="rect">
            <a:avLst/>
          </a:prstGeom>
          <a:noFill/>
        </p:spPr>
        <p:txBody>
          <a:bodyPr wrap="square" lIns="27432" rIns="27432" tIns="27432" bIns="27432" anchor="t">
            <a:spAutoFit/>
          </a:bodyPr>
          <a:lstStyle/>
          <a:p>
            <a:pPr algn="l"/>
            <a:r>
              <a:rPr sz="1000" b="1">
                <a:solidFill>
                  <a:srgbClr val="5F6B63"/>
                </a:solidFill>
                <a:latin typeface="Aptos"/>
              </a:rPr>
              <a:t>EXPAND SELECTIVELY</a:t>
            </a:r>
          </a:p>
        </p:txBody>
      </p:sp>
      <p:sp>
        <p:nvSpPr>
          <p:cNvPr id="23" name="TextBox 22"/>
          <p:cNvSpPr txBox="1"/>
          <p:nvPr/>
        </p:nvSpPr>
        <p:spPr>
          <a:xfrm>
            <a:off x="2267712" y="3703320"/>
            <a:ext cx="3749039" cy="256032"/>
          </a:xfrm>
          <a:prstGeom prst="rect">
            <a:avLst/>
          </a:prstGeom>
          <a:noFill/>
        </p:spPr>
        <p:txBody>
          <a:bodyPr wrap="square" lIns="27432" rIns="27432" tIns="27432" bIns="27432" anchor="t">
            <a:spAutoFit/>
          </a:bodyPr>
          <a:lstStyle/>
          <a:p>
            <a:pPr algn="l"/>
            <a:r>
              <a:rPr sz="1300" b="0">
                <a:solidFill>
                  <a:srgbClr val="1F2621"/>
                </a:solidFill>
                <a:latin typeface="Aptos"/>
              </a:rPr>
              <a:t>Add retailer doors only in markets where reorder behavior and service levels remain strong.</a:t>
            </a:r>
          </a:p>
        </p:txBody>
      </p:sp>
      <p:sp>
        <p:nvSpPr>
          <p:cNvPr id="24" name="Rounded Rectangle 23"/>
          <p:cNvSpPr/>
          <p:nvPr/>
        </p:nvSpPr>
        <p:spPr>
          <a:xfrm>
            <a:off x="6382512" y="3429000"/>
            <a:ext cx="1737360" cy="676656"/>
          </a:xfrm>
          <a:prstGeom prst="roundRect">
            <a:avLst/>
          </a:prstGeom>
          <a:solidFill>
            <a:srgbClr val="FFFDF9"/>
          </a:solidFill>
          <a:ln w="15240">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19672" y="3520440"/>
            <a:ext cx="1481328" cy="402336"/>
          </a:xfrm>
          <a:prstGeom prst="rect">
            <a:avLst/>
          </a:prstGeom>
          <a:noFill/>
        </p:spPr>
        <p:txBody>
          <a:bodyPr wrap="square" lIns="27432" rIns="27432" tIns="27432" bIns="27432" anchor="t">
            <a:spAutoFit/>
          </a:bodyPr>
          <a:lstStyle/>
          <a:p>
            <a:pPr algn="l"/>
            <a:r>
              <a:rPr sz="1100" b="0">
                <a:solidFill>
                  <a:srgbClr val="1F2621"/>
                </a:solidFill>
                <a:latin typeface="Aptos"/>
              </a:rPr>
              <a:t>What must be true: economics survive broader coverage.</a:t>
            </a:r>
          </a:p>
        </p:txBody>
      </p:sp>
      <p:sp>
        <p:nvSpPr>
          <p:cNvPr id="26" name="Rounded Rectangle 25"/>
          <p:cNvSpPr/>
          <p:nvPr/>
        </p:nvSpPr>
        <p:spPr>
          <a:xfrm>
            <a:off x="914400" y="4709160"/>
            <a:ext cx="960120" cy="676656"/>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837176"/>
            <a:ext cx="914400" cy="182880"/>
          </a:xfrm>
          <a:prstGeom prst="rect">
            <a:avLst/>
          </a:prstGeom>
          <a:noFill/>
        </p:spPr>
        <p:txBody>
          <a:bodyPr wrap="square" lIns="27432" rIns="27432" tIns="27432" bIns="27432" anchor="t">
            <a:spAutoFit/>
          </a:bodyPr>
          <a:lstStyle/>
          <a:p>
            <a:pPr algn="ctr"/>
            <a:r>
              <a:rPr sz="1800" b="1">
                <a:solidFill>
                  <a:srgbClr val="FCFAF5"/>
                </a:solidFill>
                <a:latin typeface="Aptos Display"/>
              </a:rPr>
              <a:t>2028</a:t>
            </a:r>
          </a:p>
        </p:txBody>
      </p:sp>
      <p:sp>
        <p:nvSpPr>
          <p:cNvPr id="28" name="Rounded Rectangle 27"/>
          <p:cNvSpPr/>
          <p:nvPr/>
        </p:nvSpPr>
        <p:spPr>
          <a:xfrm>
            <a:off x="2084831" y="4709160"/>
            <a:ext cx="4160520" cy="676656"/>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67712" y="4800600"/>
            <a:ext cx="3749039" cy="164592"/>
          </a:xfrm>
          <a:prstGeom prst="rect">
            <a:avLst/>
          </a:prstGeom>
          <a:noFill/>
        </p:spPr>
        <p:txBody>
          <a:bodyPr wrap="square" lIns="27432" rIns="27432" tIns="27432" bIns="27432" anchor="t">
            <a:spAutoFit/>
          </a:bodyPr>
          <a:lstStyle/>
          <a:p>
            <a:pPr algn="l"/>
            <a:r>
              <a:rPr sz="1000" b="1">
                <a:solidFill>
                  <a:srgbClr val="5F6B63"/>
                </a:solidFill>
                <a:latin typeface="Aptos"/>
              </a:rPr>
              <a:t>OPTIMIZE SYSTEM</a:t>
            </a:r>
          </a:p>
        </p:txBody>
      </p:sp>
      <p:sp>
        <p:nvSpPr>
          <p:cNvPr id="30" name="TextBox 29"/>
          <p:cNvSpPr txBox="1"/>
          <p:nvPr/>
        </p:nvSpPr>
        <p:spPr>
          <a:xfrm>
            <a:off x="2267712" y="4983480"/>
            <a:ext cx="3749039" cy="256032"/>
          </a:xfrm>
          <a:prstGeom prst="rect">
            <a:avLst/>
          </a:prstGeom>
          <a:noFill/>
        </p:spPr>
        <p:txBody>
          <a:bodyPr wrap="square" lIns="27432" rIns="27432" tIns="27432" bIns="27432" anchor="t">
            <a:spAutoFit/>
          </a:bodyPr>
          <a:lstStyle/>
          <a:p>
            <a:pPr algn="l"/>
            <a:r>
              <a:rPr sz="1300" b="0">
                <a:solidFill>
                  <a:srgbClr val="1F2621"/>
                </a:solidFill>
                <a:latin typeface="Aptos"/>
              </a:rPr>
              <a:t>Tighten grower contracts, allocation logic, and seasonal playbooks around what the pilot confirms.</a:t>
            </a:r>
          </a:p>
        </p:txBody>
      </p:sp>
      <p:sp>
        <p:nvSpPr>
          <p:cNvPr id="31" name="Rounded Rectangle 30"/>
          <p:cNvSpPr/>
          <p:nvPr/>
        </p:nvSpPr>
        <p:spPr>
          <a:xfrm>
            <a:off x="6382512" y="4709160"/>
            <a:ext cx="1737360" cy="676656"/>
          </a:xfrm>
          <a:prstGeom prst="roundRect">
            <a:avLst/>
          </a:prstGeom>
          <a:solidFill>
            <a:srgbClr val="FFFDF9"/>
          </a:solidFill>
          <a:ln w="15240">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19672" y="4800600"/>
            <a:ext cx="1481328" cy="402336"/>
          </a:xfrm>
          <a:prstGeom prst="rect">
            <a:avLst/>
          </a:prstGeom>
          <a:noFill/>
        </p:spPr>
        <p:txBody>
          <a:bodyPr wrap="square" lIns="27432" rIns="27432" tIns="27432" bIns="27432" anchor="t">
            <a:spAutoFit/>
          </a:bodyPr>
          <a:lstStyle/>
          <a:p>
            <a:pPr algn="l"/>
            <a:r>
              <a:rPr sz="1100" b="0">
                <a:solidFill>
                  <a:srgbClr val="1F2621"/>
                </a:solidFill>
                <a:latin typeface="Aptos"/>
              </a:rPr>
              <a:t>What must be true: process gains are repeatable.</a:t>
            </a:r>
          </a:p>
        </p:txBody>
      </p:sp>
      <p:sp>
        <p:nvSpPr>
          <p:cNvPr id="33" name="Rounded Rectangle 32"/>
          <p:cNvSpPr/>
          <p:nvPr/>
        </p:nvSpPr>
        <p:spPr>
          <a:xfrm>
            <a:off x="8705088" y="1600200"/>
            <a:ext cx="2788920" cy="44348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42832" y="1810512"/>
            <a:ext cx="2011680" cy="182880"/>
          </a:xfrm>
          <a:prstGeom prst="rect">
            <a:avLst/>
          </a:prstGeom>
          <a:noFill/>
        </p:spPr>
        <p:txBody>
          <a:bodyPr wrap="square" lIns="27432" rIns="27432" tIns="27432" bIns="27432" anchor="t">
            <a:spAutoFit/>
          </a:bodyPr>
          <a:lstStyle/>
          <a:p>
            <a:pPr algn="l"/>
            <a:r>
              <a:rPr sz="1100" b="1">
                <a:solidFill>
                  <a:srgbClr val="5F6B63"/>
                </a:solidFill>
                <a:latin typeface="Aptos"/>
              </a:rPr>
              <a:t>SCALE ONLY IF</a:t>
            </a:r>
          </a:p>
        </p:txBody>
      </p:sp>
      <p:sp>
        <p:nvSpPr>
          <p:cNvPr id="35" name="Oval 34"/>
          <p:cNvSpPr/>
          <p:nvPr/>
        </p:nvSpPr>
        <p:spPr>
          <a:xfrm>
            <a:off x="8979408" y="2240280"/>
            <a:ext cx="256032" cy="25603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08592" y="222199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MARGIN</a:t>
            </a:r>
          </a:p>
        </p:txBody>
      </p:sp>
      <p:sp>
        <p:nvSpPr>
          <p:cNvPr id="37" name="TextBox 36"/>
          <p:cNvSpPr txBox="1"/>
          <p:nvPr/>
        </p:nvSpPr>
        <p:spPr>
          <a:xfrm>
            <a:off x="9308592" y="2404872"/>
            <a:ext cx="1828800" cy="475488"/>
          </a:xfrm>
          <a:prstGeom prst="rect">
            <a:avLst/>
          </a:prstGeom>
          <a:noFill/>
        </p:spPr>
        <p:txBody>
          <a:bodyPr wrap="square" lIns="27432" rIns="27432" tIns="27432" bIns="27432" anchor="t">
            <a:spAutoFit/>
          </a:bodyPr>
          <a:lstStyle/>
          <a:p>
            <a:pPr algn="l"/>
            <a:r>
              <a:rPr sz="1200" b="0">
                <a:solidFill>
                  <a:srgbClr val="1F2621"/>
                </a:solidFill>
                <a:latin typeface="Aptos"/>
              </a:rPr>
              <a:t>Realized margin clears the base-case plan after freight and spoilage.</a:t>
            </a:r>
          </a:p>
        </p:txBody>
      </p:sp>
      <p:sp>
        <p:nvSpPr>
          <p:cNvPr id="38" name="Oval 37"/>
          <p:cNvSpPr/>
          <p:nvPr/>
        </p:nvSpPr>
        <p:spPr>
          <a:xfrm>
            <a:off x="8979408" y="3337560"/>
            <a:ext cx="256032" cy="25603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08592" y="331927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SERVICE</a:t>
            </a:r>
          </a:p>
        </p:txBody>
      </p:sp>
      <p:sp>
        <p:nvSpPr>
          <p:cNvPr id="40" name="TextBox 39"/>
          <p:cNvSpPr txBox="1"/>
          <p:nvPr/>
        </p:nvSpPr>
        <p:spPr>
          <a:xfrm>
            <a:off x="9308592" y="3502152"/>
            <a:ext cx="1828800" cy="475488"/>
          </a:xfrm>
          <a:prstGeom prst="rect">
            <a:avLst/>
          </a:prstGeom>
          <a:noFill/>
        </p:spPr>
        <p:txBody>
          <a:bodyPr wrap="square" lIns="27432" rIns="27432" tIns="27432" bIns="27432" anchor="t">
            <a:spAutoFit/>
          </a:bodyPr>
          <a:lstStyle/>
          <a:p>
            <a:pPr algn="l"/>
            <a:r>
              <a:rPr sz="1200" b="0">
                <a:solidFill>
                  <a:srgbClr val="1F2621"/>
                </a:solidFill>
                <a:latin typeface="Aptos"/>
              </a:rPr>
              <a:t>Fill rate stays credible through seasonal peaks and lane pressure.</a:t>
            </a:r>
          </a:p>
        </p:txBody>
      </p:sp>
      <p:sp>
        <p:nvSpPr>
          <p:cNvPr id="41" name="Oval 40"/>
          <p:cNvSpPr/>
          <p:nvPr/>
        </p:nvSpPr>
        <p:spPr>
          <a:xfrm>
            <a:off x="8979408" y="4434840"/>
            <a:ext cx="256032" cy="256032"/>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08592" y="441655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DEMAND</a:t>
            </a:r>
          </a:p>
        </p:txBody>
      </p:sp>
      <p:sp>
        <p:nvSpPr>
          <p:cNvPr id="43" name="TextBox 42"/>
          <p:cNvSpPr txBox="1"/>
          <p:nvPr/>
        </p:nvSpPr>
        <p:spPr>
          <a:xfrm>
            <a:off x="9308592" y="4599432"/>
            <a:ext cx="1828800" cy="475488"/>
          </a:xfrm>
          <a:prstGeom prst="rect">
            <a:avLst/>
          </a:prstGeom>
          <a:noFill/>
        </p:spPr>
        <p:txBody>
          <a:bodyPr wrap="square" lIns="27432" rIns="27432" tIns="27432" bIns="27432" anchor="t">
            <a:spAutoFit/>
          </a:bodyPr>
          <a:lstStyle/>
          <a:p>
            <a:pPr algn="l"/>
            <a:r>
              <a:rPr sz="1200" b="0">
                <a:solidFill>
                  <a:srgbClr val="1F2621"/>
                </a:solidFill>
                <a:latin typeface="Aptos"/>
              </a:rPr>
              <a:t>Retailers reorder because pilot demand is repeatable, not promotional noise.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IMPLEMENTATION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34</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Pilot KPIs should focus on margin, service, spoilage, and repeat orders</a:t>
            </a:r>
          </a:p>
        </p:txBody>
      </p:sp>
      <p:sp>
        <p:nvSpPr>
          <p:cNvPr id="9" name="Rounded Rectangle 8"/>
          <p:cNvSpPr/>
          <p:nvPr/>
        </p:nvSpPr>
        <p:spPr>
          <a:xfrm>
            <a:off x="749808" y="1627632"/>
            <a:ext cx="3657600" cy="4343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847088"/>
            <a:ext cx="1645920" cy="182880"/>
          </a:xfrm>
          <a:prstGeom prst="rect">
            <a:avLst/>
          </a:prstGeom>
          <a:noFill/>
        </p:spPr>
        <p:txBody>
          <a:bodyPr wrap="square" lIns="27432" rIns="27432" tIns="27432" bIns="27432" anchor="t">
            <a:spAutoFit/>
          </a:bodyPr>
          <a:lstStyle/>
          <a:p>
            <a:pPr algn="l"/>
            <a:r>
              <a:rPr sz="1100" b="1">
                <a:solidFill>
                  <a:srgbClr val="5F6B63"/>
                </a:solidFill>
                <a:latin typeface="Aptos"/>
              </a:rPr>
              <a:t>HEALTH CHECK</a:t>
            </a:r>
          </a:p>
        </p:txBody>
      </p:sp>
      <p:sp>
        <p:nvSpPr>
          <p:cNvPr id="11" name="Rounded Rectangle 10"/>
          <p:cNvSpPr/>
          <p:nvPr/>
        </p:nvSpPr>
        <p:spPr>
          <a:xfrm>
            <a:off x="960120" y="2240280"/>
            <a:ext cx="201168" cy="64008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2258568"/>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GROSS MARGIN</a:t>
            </a:r>
          </a:p>
        </p:txBody>
      </p:sp>
      <p:sp>
        <p:nvSpPr>
          <p:cNvPr id="13" name="TextBox 12"/>
          <p:cNvSpPr txBox="1"/>
          <p:nvPr/>
        </p:nvSpPr>
        <p:spPr>
          <a:xfrm>
            <a:off x="1298448" y="2441448"/>
            <a:ext cx="2743200" cy="384048"/>
          </a:xfrm>
          <a:prstGeom prst="rect">
            <a:avLst/>
          </a:prstGeom>
          <a:noFill/>
        </p:spPr>
        <p:txBody>
          <a:bodyPr wrap="square" lIns="27432" rIns="27432" tIns="27432" bIns="27432" anchor="t">
            <a:spAutoFit/>
          </a:bodyPr>
          <a:lstStyle/>
          <a:p>
            <a:pPr algn="l"/>
            <a:r>
              <a:rPr sz="1300" b="0">
                <a:solidFill>
                  <a:srgbClr val="1F2621"/>
                </a:solidFill>
                <a:latin typeface="Aptos"/>
              </a:rPr>
              <a:t>Primary proof that price support and cost discipline hold.</a:t>
            </a:r>
          </a:p>
        </p:txBody>
      </p:sp>
      <p:sp>
        <p:nvSpPr>
          <p:cNvPr id="14" name="Rounded Rectangle 13"/>
          <p:cNvSpPr/>
          <p:nvPr/>
        </p:nvSpPr>
        <p:spPr>
          <a:xfrm>
            <a:off x="960120" y="3383280"/>
            <a:ext cx="201168" cy="64008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8448" y="3401568"/>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FILL RATE</a:t>
            </a:r>
          </a:p>
        </p:txBody>
      </p:sp>
      <p:sp>
        <p:nvSpPr>
          <p:cNvPr id="16" name="TextBox 15"/>
          <p:cNvSpPr txBox="1"/>
          <p:nvPr/>
        </p:nvSpPr>
        <p:spPr>
          <a:xfrm>
            <a:off x="1298448" y="3584448"/>
            <a:ext cx="2743200" cy="384048"/>
          </a:xfrm>
          <a:prstGeom prst="rect">
            <a:avLst/>
          </a:prstGeom>
          <a:noFill/>
        </p:spPr>
        <p:txBody>
          <a:bodyPr wrap="square" lIns="27432" rIns="27432" tIns="27432" bIns="27432" anchor="t">
            <a:spAutoFit/>
          </a:bodyPr>
          <a:lstStyle/>
          <a:p>
            <a:pPr algn="l"/>
            <a:r>
              <a:rPr sz="1300" b="0">
                <a:solidFill>
                  <a:srgbClr val="1F2621"/>
                </a:solidFill>
                <a:latin typeface="Aptos"/>
              </a:rPr>
              <a:t>Primary proof that service can scale in live operation.</a:t>
            </a:r>
          </a:p>
        </p:txBody>
      </p:sp>
      <p:sp>
        <p:nvSpPr>
          <p:cNvPr id="17" name="Rounded Rectangle 16"/>
          <p:cNvSpPr/>
          <p:nvPr/>
        </p:nvSpPr>
        <p:spPr>
          <a:xfrm>
            <a:off x="960120" y="4526280"/>
            <a:ext cx="201168" cy="64008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4544568"/>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REORDER RATE</a:t>
            </a:r>
          </a:p>
        </p:txBody>
      </p:sp>
      <p:sp>
        <p:nvSpPr>
          <p:cNvPr id="19" name="TextBox 18"/>
          <p:cNvSpPr txBox="1"/>
          <p:nvPr/>
        </p:nvSpPr>
        <p:spPr>
          <a:xfrm>
            <a:off x="1298448" y="4727448"/>
            <a:ext cx="2743200" cy="384048"/>
          </a:xfrm>
          <a:prstGeom prst="rect">
            <a:avLst/>
          </a:prstGeom>
          <a:noFill/>
        </p:spPr>
        <p:txBody>
          <a:bodyPr wrap="square" lIns="27432" rIns="27432" tIns="27432" bIns="27432" anchor="t">
            <a:spAutoFit/>
          </a:bodyPr>
          <a:lstStyle/>
          <a:p>
            <a:pPr algn="l"/>
            <a:r>
              <a:rPr sz="1300" b="0">
                <a:solidFill>
                  <a:srgbClr val="1F2621"/>
                </a:solidFill>
                <a:latin typeface="Aptos"/>
              </a:rPr>
              <a:t>Primary proof that demand is recurring, not one-off.</a:t>
            </a:r>
          </a:p>
        </p:txBody>
      </p:sp>
      <p:sp>
        <p:nvSpPr>
          <p:cNvPr id="20" name="Rounded Rectangle 19"/>
          <p:cNvSpPr/>
          <p:nvPr/>
        </p:nvSpPr>
        <p:spPr>
          <a:xfrm>
            <a:off x="4645152" y="1627632"/>
            <a:ext cx="6812280" cy="4343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64608" y="1847088"/>
            <a:ext cx="2286000" cy="182880"/>
          </a:xfrm>
          <a:prstGeom prst="rect">
            <a:avLst/>
          </a:prstGeom>
          <a:noFill/>
        </p:spPr>
        <p:txBody>
          <a:bodyPr wrap="square" lIns="27432" rIns="27432" tIns="27432" bIns="27432" anchor="t">
            <a:spAutoFit/>
          </a:bodyPr>
          <a:lstStyle/>
          <a:p>
            <a:pPr algn="l"/>
            <a:r>
              <a:rPr sz="1100" b="1">
                <a:solidFill>
                  <a:srgbClr val="5F6B63"/>
                </a:solidFill>
                <a:latin typeface="Aptos"/>
              </a:rPr>
              <a:t>PILOT SCORECARD</a:t>
            </a:r>
          </a:p>
        </p:txBody>
      </p:sp>
      <p:graphicFrame>
        <p:nvGraphicFramePr>
          <p:cNvPr id="22" name="Table 21"/>
          <p:cNvGraphicFramePr>
            <a:graphicFrameLocks noGrp="1"/>
          </p:cNvGraphicFramePr>
          <p:nvPr/>
        </p:nvGraphicFramePr>
        <p:xfrm>
          <a:off x="4864608" y="2148840"/>
          <a:ext cx="6355080" cy="3456432"/>
        </p:xfrm>
        <a:graphic>
          <a:graphicData uri="http://schemas.openxmlformats.org/drawingml/2006/table">
            <a:tbl>
              <a:tblPr firstRow="1" bandRow="1">
                <a:tableStyleId>{5C22544A-7EE6-4342-B048-85BDC9FD1C3A}</a:tableStyleId>
              </a:tblPr>
              <a:tblGrid>
                <a:gridCol w="1828800"/>
                <a:gridCol w="3246120"/>
                <a:gridCol w="1280160"/>
              </a:tblGrid>
              <a:tr h="493776">
                <a:tc>
                  <a:txBody>
                    <a:bodyPr/>
                    <a:lstStyle/>
                    <a:p>
                      <a:r>
                        <a:rPr sz="1100" b="1">
                          <a:solidFill>
                            <a:srgbClr val="FCFAF5"/>
                          </a:solidFill>
                          <a:latin typeface="Aptos"/>
                        </a:rPr>
                        <a:t>KPI</a:t>
                      </a:r>
                    </a:p>
                  </a:txBody>
                  <a:tcPr>
                    <a:solidFill>
                      <a:srgbClr val="355C47"/>
                    </a:solidFill>
                  </a:tcPr>
                </a:tc>
                <a:tc>
                  <a:txBody>
                    <a:bodyPr/>
                    <a:lstStyle/>
                    <a:p>
                      <a:r>
                        <a:rPr sz="1100" b="1">
                          <a:solidFill>
                            <a:srgbClr val="FCFAF5"/>
                          </a:solidFill>
                          <a:latin typeface="Aptos"/>
                        </a:rPr>
                        <a:t>Why it matters</a:t>
                      </a:r>
                    </a:p>
                  </a:txBody>
                  <a:tcPr>
                    <a:solidFill>
                      <a:srgbClr val="355C47"/>
                    </a:solidFill>
                  </a:tcPr>
                </a:tc>
                <a:tc>
                  <a:txBody>
                    <a:bodyPr/>
                    <a:lstStyle/>
                    <a:p>
                      <a:r>
                        <a:rPr sz="1100" b="1">
                          <a:solidFill>
                            <a:srgbClr val="FCFAF5"/>
                          </a:solidFill>
                          <a:latin typeface="Aptos"/>
                        </a:rPr>
                        <a:t>Cadence / owner</a:t>
                      </a:r>
                    </a:p>
                  </a:txBody>
                  <a:tcPr>
                    <a:solidFill>
                      <a:srgbClr val="355C47"/>
                    </a:solidFill>
                  </a:tcPr>
                </a:tc>
              </a:tr>
              <a:tr h="493776">
                <a:tc>
                  <a:txBody>
                    <a:bodyPr/>
                    <a:lstStyle/>
                    <a:p>
                      <a:r>
                        <a:rPr sz="1100" b="0">
                          <a:solidFill>
                            <a:srgbClr val="1F2621"/>
                          </a:solidFill>
                          <a:latin typeface="Aptos"/>
                        </a:rPr>
                        <a:t>Realized gross margin</a:t>
                      </a:r>
                    </a:p>
                  </a:txBody>
                  <a:tcPr>
                    <a:solidFill>
                      <a:srgbClr val="FCFAF5"/>
                    </a:solidFill>
                  </a:tcPr>
                </a:tc>
                <a:tc>
                  <a:txBody>
                    <a:bodyPr/>
                    <a:lstStyle/>
                    <a:p>
                      <a:r>
                        <a:rPr sz="1100" b="0">
                          <a:solidFill>
                            <a:srgbClr val="1F2621"/>
                          </a:solidFill>
                          <a:latin typeface="Aptos"/>
                        </a:rPr>
                        <a:t>Confirms whether forecast economics survive live execution.</a:t>
                      </a:r>
                    </a:p>
                  </a:txBody>
                  <a:tcPr>
                    <a:solidFill>
                      <a:srgbClr val="FCFAF5"/>
                    </a:solidFill>
                  </a:tcPr>
                </a:tc>
                <a:tc>
                  <a:txBody>
                    <a:bodyPr/>
                    <a:lstStyle/>
                    <a:p>
                      <a:r>
                        <a:rPr sz="1100" b="0">
                          <a:solidFill>
                            <a:srgbClr val="1F2621"/>
                          </a:solidFill>
                          <a:latin typeface="Aptos"/>
                        </a:rPr>
                        <a:t>Weekly / finance</a:t>
                      </a:r>
                    </a:p>
                  </a:txBody>
                  <a:tcPr>
                    <a:solidFill>
                      <a:srgbClr val="FCFAF5"/>
                    </a:solidFill>
                  </a:tcPr>
                </a:tc>
              </a:tr>
              <a:tr h="493776">
                <a:tc>
                  <a:txBody>
                    <a:bodyPr/>
                    <a:lstStyle/>
                    <a:p>
                      <a:r>
                        <a:rPr sz="1100" b="0">
                          <a:solidFill>
                            <a:srgbClr val="1F2621"/>
                          </a:solidFill>
                          <a:latin typeface="Aptos"/>
                        </a:rPr>
                        <a:t>Freight per unit</a:t>
                      </a:r>
                    </a:p>
                  </a:txBody>
                  <a:tcPr>
                    <a:solidFill>
                      <a:srgbClr val="F7F3EC"/>
                    </a:solidFill>
                  </a:tcPr>
                </a:tc>
                <a:tc>
                  <a:txBody>
                    <a:bodyPr/>
                    <a:lstStyle/>
                    <a:p>
                      <a:r>
                        <a:rPr sz="1100" b="0">
                          <a:solidFill>
                            <a:srgbClr val="1F2621"/>
                          </a:solidFill>
                          <a:latin typeface="Aptos"/>
                        </a:rPr>
                        <a:t>Shows whether routing and carrier discipline are improving.</a:t>
                      </a:r>
                    </a:p>
                  </a:txBody>
                  <a:tcPr>
                    <a:solidFill>
                      <a:srgbClr val="F7F3EC"/>
                    </a:solidFill>
                  </a:tcPr>
                </a:tc>
                <a:tc>
                  <a:txBody>
                    <a:bodyPr/>
                    <a:lstStyle/>
                    <a:p>
                      <a:r>
                        <a:rPr sz="1100" b="0">
                          <a:solidFill>
                            <a:srgbClr val="1F2621"/>
                          </a:solidFill>
                          <a:latin typeface="Aptos"/>
                        </a:rPr>
                        <a:t>Weekly / logistics</a:t>
                      </a:r>
                    </a:p>
                  </a:txBody>
                  <a:tcPr>
                    <a:solidFill>
                      <a:srgbClr val="F7F3EC"/>
                    </a:solidFill>
                  </a:tcPr>
                </a:tc>
              </a:tr>
              <a:tr h="493776">
                <a:tc>
                  <a:txBody>
                    <a:bodyPr/>
                    <a:lstStyle/>
                    <a:p>
                      <a:r>
                        <a:rPr sz="1100" b="0">
                          <a:solidFill>
                            <a:srgbClr val="1F2621"/>
                          </a:solidFill>
                          <a:latin typeface="Aptos"/>
                        </a:rPr>
                        <a:t>Fill rate</a:t>
                      </a:r>
                    </a:p>
                  </a:txBody>
                  <a:tcPr>
                    <a:solidFill>
                      <a:srgbClr val="FCFAF5"/>
                    </a:solidFill>
                  </a:tcPr>
                </a:tc>
                <a:tc>
                  <a:txBody>
                    <a:bodyPr/>
                    <a:lstStyle/>
                    <a:p>
                      <a:r>
                        <a:rPr sz="1100" b="0">
                          <a:solidFill>
                            <a:srgbClr val="1F2621"/>
                          </a:solidFill>
                          <a:latin typeface="Aptos"/>
                        </a:rPr>
                        <a:t>Measures retailer execution quality during seasonal peaks.</a:t>
                      </a:r>
                    </a:p>
                  </a:txBody>
                  <a:tcPr>
                    <a:solidFill>
                      <a:srgbClr val="FCFAF5"/>
                    </a:solidFill>
                  </a:tcPr>
                </a:tc>
                <a:tc>
                  <a:txBody>
                    <a:bodyPr/>
                    <a:lstStyle/>
                    <a:p>
                      <a:r>
                        <a:rPr sz="1100" b="0">
                          <a:solidFill>
                            <a:srgbClr val="1F2621"/>
                          </a:solidFill>
                          <a:latin typeface="Aptos"/>
                        </a:rPr>
                        <a:t>Weekly / operations</a:t>
                      </a:r>
                    </a:p>
                  </a:txBody>
                  <a:tcPr>
                    <a:solidFill>
                      <a:srgbClr val="FCFAF5"/>
                    </a:solidFill>
                  </a:tcPr>
                </a:tc>
              </a:tr>
              <a:tr h="493776">
                <a:tc>
                  <a:txBody>
                    <a:bodyPr/>
                    <a:lstStyle/>
                    <a:p>
                      <a:r>
                        <a:rPr sz="1100" b="0">
                          <a:solidFill>
                            <a:srgbClr val="1F2621"/>
                          </a:solidFill>
                          <a:latin typeface="Aptos"/>
                        </a:rPr>
                        <a:t>Spoilage rate</a:t>
                      </a:r>
                    </a:p>
                  </a:txBody>
                  <a:tcPr>
                    <a:solidFill>
                      <a:srgbClr val="F7F3EC"/>
                    </a:solidFill>
                  </a:tcPr>
                </a:tc>
                <a:tc>
                  <a:txBody>
                    <a:bodyPr/>
                    <a:lstStyle/>
                    <a:p>
                      <a:r>
                        <a:rPr sz="1100" b="0">
                          <a:solidFill>
                            <a:srgbClr val="1F2621"/>
                          </a:solidFill>
                          <a:latin typeface="Aptos"/>
                        </a:rPr>
                        <a:t>Captures cold-chain and freshness failures directly.</a:t>
                      </a:r>
                    </a:p>
                  </a:txBody>
                  <a:tcPr>
                    <a:solidFill>
                      <a:srgbClr val="F7F3EC"/>
                    </a:solidFill>
                  </a:tcPr>
                </a:tc>
                <a:tc>
                  <a:txBody>
                    <a:bodyPr/>
                    <a:lstStyle/>
                    <a:p>
                      <a:r>
                        <a:rPr sz="1100" b="0">
                          <a:solidFill>
                            <a:srgbClr val="1F2621"/>
                          </a:solidFill>
                          <a:latin typeface="Aptos"/>
                        </a:rPr>
                        <a:t>Weekly / operations</a:t>
                      </a:r>
                    </a:p>
                  </a:txBody>
                  <a:tcPr>
                    <a:solidFill>
                      <a:srgbClr val="F7F3EC"/>
                    </a:solidFill>
                  </a:tcPr>
                </a:tc>
              </a:tr>
              <a:tr h="493776">
                <a:tc>
                  <a:txBody>
                    <a:bodyPr/>
                    <a:lstStyle/>
                    <a:p>
                      <a:r>
                        <a:rPr sz="1100" b="0">
                          <a:solidFill>
                            <a:srgbClr val="1F2621"/>
                          </a:solidFill>
                          <a:latin typeface="Aptos"/>
                        </a:rPr>
                        <a:t>Reorder rate</a:t>
                      </a:r>
                    </a:p>
                  </a:txBody>
                  <a:tcPr>
                    <a:solidFill>
                      <a:srgbClr val="FCFAF5"/>
                    </a:solidFill>
                  </a:tcPr>
                </a:tc>
                <a:tc>
                  <a:txBody>
                    <a:bodyPr/>
                    <a:lstStyle/>
                    <a:p>
                      <a:r>
                        <a:rPr sz="1100" b="0">
                          <a:solidFill>
                            <a:srgbClr val="1F2621"/>
                          </a:solidFill>
                          <a:latin typeface="Aptos"/>
                        </a:rPr>
                        <a:t>Tests whether demand is repeatable beyond launch.</a:t>
                      </a:r>
                    </a:p>
                  </a:txBody>
                  <a:tcPr>
                    <a:solidFill>
                      <a:srgbClr val="FCFAF5"/>
                    </a:solidFill>
                  </a:tcPr>
                </a:tc>
                <a:tc>
                  <a:txBody>
                    <a:bodyPr/>
                    <a:lstStyle/>
                    <a:p>
                      <a:r>
                        <a:rPr sz="1100" b="0">
                          <a:solidFill>
                            <a:srgbClr val="1F2621"/>
                          </a:solidFill>
                          <a:latin typeface="Aptos"/>
                        </a:rPr>
                        <a:t>Monthly / commercial</a:t>
                      </a:r>
                    </a:p>
                  </a:txBody>
                  <a:tcPr>
                    <a:solidFill>
                      <a:srgbClr val="FCFAF5"/>
                    </a:solidFill>
                  </a:tcPr>
                </a:tc>
              </a:tr>
              <a:tr h="493776">
                <a:tc>
                  <a:txBody>
                    <a:bodyPr/>
                    <a:lstStyle/>
                    <a:p>
                      <a:r>
                        <a:rPr sz="1100" b="0">
                          <a:solidFill>
                            <a:srgbClr val="1F2621"/>
                          </a:solidFill>
                          <a:latin typeface="Aptos"/>
                        </a:rPr>
                        <a:t>Forecast accuracy</a:t>
                      </a:r>
                    </a:p>
                  </a:txBody>
                  <a:tcPr>
                    <a:solidFill>
                      <a:srgbClr val="F7F3EC"/>
                    </a:solidFill>
                  </a:tcPr>
                </a:tc>
                <a:tc>
                  <a:txBody>
                    <a:bodyPr/>
                    <a:lstStyle/>
                    <a:p>
                      <a:r>
                        <a:rPr sz="1100" b="0">
                          <a:solidFill>
                            <a:srgbClr val="1F2621"/>
                          </a:solidFill>
                          <a:latin typeface="Aptos"/>
                        </a:rPr>
                        <a:t>Shows whether monthly S&amp;OP is improving allocation decisions.</a:t>
                      </a:r>
                    </a:p>
                  </a:txBody>
                  <a:tcPr>
                    <a:solidFill>
                      <a:srgbClr val="F7F3EC"/>
                    </a:solidFill>
                  </a:tcPr>
                </a:tc>
                <a:tc>
                  <a:txBody>
                    <a:bodyPr/>
                    <a:lstStyle/>
                    <a:p>
                      <a:r>
                        <a:rPr sz="1100" b="0">
                          <a:solidFill>
                            <a:srgbClr val="1F2621"/>
                          </a:solidFill>
                          <a:latin typeface="Aptos"/>
                        </a:rPr>
                        <a:t>Monthly / planning</a:t>
                      </a:r>
                    </a:p>
                  </a:txBody>
                  <a:tcPr>
                    <a:solidFill>
                      <a:srgbClr val="F7F3E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IMPLEMENTATION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Expansion should follow stage gates, not automatic geography growth</a:t>
            </a:r>
          </a:p>
        </p:txBody>
      </p:sp>
      <p:sp>
        <p:nvSpPr>
          <p:cNvPr id="9" name="TextBox 8"/>
          <p:cNvSpPr txBox="1"/>
          <p:nvPr/>
        </p:nvSpPr>
        <p:spPr>
          <a:xfrm>
            <a:off x="548640" y="1097280"/>
            <a:ext cx="10698480" cy="320040"/>
          </a:xfrm>
          <a:prstGeom prst="rect">
            <a:avLst/>
          </a:prstGeom>
          <a:noFill/>
        </p:spPr>
        <p:txBody>
          <a:bodyPr wrap="square" lIns="27432" rIns="27432" tIns="27432" bIns="27432" anchor="t">
            <a:spAutoFit/>
          </a:bodyPr>
          <a:lstStyle/>
          <a:p>
            <a:pPr algn="l"/>
            <a:r>
              <a:rPr sz="1300" b="0">
                <a:solidFill>
                  <a:srgbClr val="5F6B63"/>
                </a:solidFill>
                <a:latin typeface="Aptos"/>
              </a:rPr>
              <a:t>The model is strong enough to choose where to test, but scale should still depend on pilot evidence rather than assumed allocation precision.</a:t>
            </a:r>
          </a:p>
        </p:txBody>
      </p:sp>
      <p:sp>
        <p:nvSpPr>
          <p:cNvPr id="10" name="Rounded Rectangle 9"/>
          <p:cNvSpPr/>
          <p:nvPr/>
        </p:nvSpPr>
        <p:spPr>
          <a:xfrm>
            <a:off x="685800" y="2057400"/>
            <a:ext cx="2240280" cy="384048"/>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1</a:t>
            </a:r>
          </a:p>
        </p:txBody>
      </p:sp>
      <p:sp>
        <p:nvSpPr>
          <p:cNvPr id="12" name="Rounded Rectangle 11"/>
          <p:cNvSpPr/>
          <p:nvPr/>
        </p:nvSpPr>
        <p:spPr>
          <a:xfrm>
            <a:off x="685800"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2743200"/>
            <a:ext cx="1920240" cy="256032"/>
          </a:xfrm>
          <a:prstGeom prst="rect">
            <a:avLst/>
          </a:prstGeom>
          <a:noFill/>
        </p:spPr>
        <p:txBody>
          <a:bodyPr wrap="square" lIns="27432" rIns="27432" tIns="27432" bIns="27432" anchor="t">
            <a:spAutoFit/>
          </a:bodyPr>
          <a:lstStyle/>
          <a:p>
            <a:pPr algn="l"/>
            <a:r>
              <a:rPr sz="1700" b="1">
                <a:solidFill>
                  <a:srgbClr val="355C47"/>
                </a:solidFill>
                <a:latin typeface="Aptos Display"/>
              </a:rPr>
              <a:t>Pilot live</a:t>
            </a:r>
          </a:p>
        </p:txBody>
      </p:sp>
      <p:sp>
        <p:nvSpPr>
          <p:cNvPr id="14" name="TextBox 13"/>
          <p:cNvSpPr txBox="1"/>
          <p:nvPr/>
        </p:nvSpPr>
        <p:spPr>
          <a:xfrm>
            <a:off x="832104"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Launch and collect clean economics by city.</a:t>
            </a:r>
          </a:p>
        </p:txBody>
      </p:sp>
      <p:cxnSp>
        <p:nvCxnSpPr>
          <p:cNvPr id="15" name="Connector 14"/>
          <p:cNvCxnSpPr/>
          <p:nvPr/>
        </p:nvCxnSpPr>
        <p:spPr>
          <a:xfrm>
            <a:off x="2953512" y="3364992"/>
            <a:ext cx="475488" cy="0"/>
          </a:xfrm>
          <a:prstGeom prst="line">
            <a:avLst/>
          </a:prstGeom>
          <a:ln w="25400">
            <a:solidFill>
              <a:srgbClr val="D8D1C6"/>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502152" y="2057400"/>
            <a:ext cx="2240280" cy="384048"/>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57016"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2</a:t>
            </a:r>
          </a:p>
        </p:txBody>
      </p:sp>
      <p:sp>
        <p:nvSpPr>
          <p:cNvPr id="18" name="Rounded Rectangle 17"/>
          <p:cNvSpPr/>
          <p:nvPr/>
        </p:nvSpPr>
        <p:spPr>
          <a:xfrm>
            <a:off x="3502152"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8456" y="2743200"/>
            <a:ext cx="1920240" cy="256032"/>
          </a:xfrm>
          <a:prstGeom prst="rect">
            <a:avLst/>
          </a:prstGeom>
          <a:noFill/>
        </p:spPr>
        <p:txBody>
          <a:bodyPr wrap="square" lIns="27432" rIns="27432" tIns="27432" bIns="27432" anchor="t">
            <a:spAutoFit/>
          </a:bodyPr>
          <a:lstStyle/>
          <a:p>
            <a:pPr algn="l"/>
            <a:r>
              <a:rPr sz="1700" b="1">
                <a:solidFill>
                  <a:srgbClr val="3F728A"/>
                </a:solidFill>
                <a:latin typeface="Aptos Display"/>
              </a:rPr>
              <a:t>Economics verified</a:t>
            </a:r>
          </a:p>
        </p:txBody>
      </p:sp>
      <p:sp>
        <p:nvSpPr>
          <p:cNvPr id="20" name="TextBox 19"/>
          <p:cNvSpPr txBox="1"/>
          <p:nvPr/>
        </p:nvSpPr>
        <p:spPr>
          <a:xfrm>
            <a:off x="3648456"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Confirm realized margin and freight per unit.</a:t>
            </a:r>
          </a:p>
        </p:txBody>
      </p:sp>
      <p:cxnSp>
        <p:nvCxnSpPr>
          <p:cNvPr id="21" name="Connector 20"/>
          <p:cNvCxnSpPr/>
          <p:nvPr/>
        </p:nvCxnSpPr>
        <p:spPr>
          <a:xfrm>
            <a:off x="5769864" y="3364992"/>
            <a:ext cx="475488" cy="0"/>
          </a:xfrm>
          <a:prstGeom prst="line">
            <a:avLst/>
          </a:prstGeom>
          <a:ln w="25400">
            <a:solidFill>
              <a:srgbClr val="D8D1C6"/>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18504" y="2057400"/>
            <a:ext cx="2240280" cy="384048"/>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3368"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3</a:t>
            </a:r>
          </a:p>
        </p:txBody>
      </p:sp>
      <p:sp>
        <p:nvSpPr>
          <p:cNvPr id="24" name="Rounded Rectangle 23"/>
          <p:cNvSpPr/>
          <p:nvPr/>
        </p:nvSpPr>
        <p:spPr>
          <a:xfrm>
            <a:off x="6318504"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4808" y="2743200"/>
            <a:ext cx="1920240" cy="256032"/>
          </a:xfrm>
          <a:prstGeom prst="rect">
            <a:avLst/>
          </a:prstGeom>
          <a:noFill/>
        </p:spPr>
        <p:txBody>
          <a:bodyPr wrap="square" lIns="27432" rIns="27432" tIns="27432" bIns="27432" anchor="t">
            <a:spAutoFit/>
          </a:bodyPr>
          <a:lstStyle/>
          <a:p>
            <a:pPr algn="l"/>
            <a:r>
              <a:rPr sz="1700" b="1">
                <a:solidFill>
                  <a:srgbClr val="889A83"/>
                </a:solidFill>
                <a:latin typeface="Aptos Display"/>
              </a:rPr>
              <a:t>Service verified</a:t>
            </a:r>
          </a:p>
        </p:txBody>
      </p:sp>
      <p:sp>
        <p:nvSpPr>
          <p:cNvPr id="26" name="TextBox 25"/>
          <p:cNvSpPr txBox="1"/>
          <p:nvPr/>
        </p:nvSpPr>
        <p:spPr>
          <a:xfrm>
            <a:off x="6464808"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Confirm fill rate, spoilage control, and reorder behavior.</a:t>
            </a:r>
          </a:p>
        </p:txBody>
      </p:sp>
      <p:cxnSp>
        <p:nvCxnSpPr>
          <p:cNvPr id="27" name="Connector 26"/>
          <p:cNvCxnSpPr/>
          <p:nvPr/>
        </p:nvCxnSpPr>
        <p:spPr>
          <a:xfrm>
            <a:off x="8586216" y="3364992"/>
            <a:ext cx="475488" cy="0"/>
          </a:xfrm>
          <a:prstGeom prst="line">
            <a:avLst/>
          </a:prstGeom>
          <a:ln w="25400">
            <a:solidFill>
              <a:srgbClr val="D8D1C6"/>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4856" y="2057400"/>
            <a:ext cx="2240280" cy="384048"/>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89720"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4</a:t>
            </a:r>
          </a:p>
        </p:txBody>
      </p:sp>
      <p:sp>
        <p:nvSpPr>
          <p:cNvPr id="30" name="Rounded Rectangle 29"/>
          <p:cNvSpPr/>
          <p:nvPr/>
        </p:nvSpPr>
        <p:spPr>
          <a:xfrm>
            <a:off x="9134856"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81160" y="2743200"/>
            <a:ext cx="1920240" cy="256032"/>
          </a:xfrm>
          <a:prstGeom prst="rect">
            <a:avLst/>
          </a:prstGeom>
          <a:noFill/>
        </p:spPr>
        <p:txBody>
          <a:bodyPr wrap="square" lIns="27432" rIns="27432" tIns="27432" bIns="27432" anchor="t">
            <a:spAutoFit/>
          </a:bodyPr>
          <a:lstStyle/>
          <a:p>
            <a:pPr algn="l"/>
            <a:r>
              <a:rPr sz="1700" b="1">
                <a:solidFill>
                  <a:srgbClr val="C58A2A"/>
                </a:solidFill>
                <a:latin typeface="Aptos Display"/>
              </a:rPr>
              <a:t>Scale selectively</a:t>
            </a:r>
          </a:p>
        </p:txBody>
      </p:sp>
      <p:sp>
        <p:nvSpPr>
          <p:cNvPr id="32" name="TextBox 31"/>
          <p:cNvSpPr txBox="1"/>
          <p:nvPr/>
        </p:nvSpPr>
        <p:spPr>
          <a:xfrm>
            <a:off x="9281160"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Expand only where pilot evidence remains strong.</a:t>
            </a:r>
          </a:p>
        </p:txBody>
      </p:sp>
      <p:sp>
        <p:nvSpPr>
          <p:cNvPr id="33" name="Rounded Rectangle 32"/>
          <p:cNvSpPr/>
          <p:nvPr/>
        </p:nvSpPr>
        <p:spPr>
          <a:xfrm>
            <a:off x="987552" y="4617720"/>
            <a:ext cx="10012680" cy="868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70432" y="4828032"/>
            <a:ext cx="2011680" cy="146304"/>
          </a:xfrm>
          <a:prstGeom prst="rect">
            <a:avLst/>
          </a:prstGeom>
          <a:noFill/>
        </p:spPr>
        <p:txBody>
          <a:bodyPr wrap="square" lIns="27432" rIns="27432" tIns="27432" bIns="27432" anchor="t">
            <a:spAutoFit/>
          </a:bodyPr>
          <a:lstStyle/>
          <a:p>
            <a:pPr algn="l"/>
            <a:r>
              <a:rPr sz="1000" b="1">
                <a:solidFill>
                  <a:srgbClr val="5F6B63"/>
                </a:solidFill>
                <a:latin typeface="Aptos"/>
              </a:rPr>
              <a:t>WHY THE STAGE GATES MATTER</a:t>
            </a:r>
          </a:p>
        </p:txBody>
      </p:sp>
      <p:sp>
        <p:nvSpPr>
          <p:cNvPr id="35" name="TextBox 34"/>
          <p:cNvSpPr txBox="1"/>
          <p:nvPr/>
        </p:nvSpPr>
        <p:spPr>
          <a:xfrm>
            <a:off x="2971800" y="4773168"/>
            <a:ext cx="7635240" cy="274320"/>
          </a:xfrm>
          <a:prstGeom prst="rect">
            <a:avLst/>
          </a:prstGeom>
          <a:noFill/>
        </p:spPr>
        <p:txBody>
          <a:bodyPr wrap="square" lIns="27432" rIns="27432" tIns="27432" bIns="27432" anchor="t">
            <a:spAutoFit/>
          </a:bodyPr>
          <a:lstStyle/>
          <a:p>
            <a:pPr algn="l"/>
            <a:r>
              <a:rPr sz="1400" b="0">
                <a:solidFill>
                  <a:srgbClr val="1F2621"/>
                </a:solidFill>
                <a:latin typeface="Aptos"/>
              </a:rPr>
              <a:t>They keep West Valley from pretending it can allocate the full 20,000-unit order with exact retailer-level precision before the live pilot proves what actually works.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RISKS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36</a:t>
            </a:r>
          </a:p>
        </p:txBody>
      </p:sp>
      <p:sp>
        <p:nvSpPr>
          <p:cNvPr id="8" name="Rounded Rectangle 7"/>
          <p:cNvSpPr/>
          <p:nvPr/>
        </p:nvSpPr>
        <p:spPr>
          <a:xfrm>
            <a:off x="10241280" y="256032"/>
            <a:ext cx="1280160" cy="274320"/>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highest-risk threats are freight spikes, import disruptions, and forecast error</a:t>
            </a:r>
          </a:p>
        </p:txBody>
      </p:sp>
      <p:sp>
        <p:nvSpPr>
          <p:cNvPr id="11" name="Rounded Rectangle 10"/>
          <p:cNvSpPr/>
          <p:nvPr/>
        </p:nvSpPr>
        <p:spPr>
          <a:xfrm>
            <a:off x="749808" y="1600200"/>
            <a:ext cx="6858000"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187952" y="1810512"/>
            <a:ext cx="0" cy="365760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 y="3657600"/>
            <a:ext cx="6291072"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200400" y="1673352"/>
            <a:ext cx="2011680" cy="182880"/>
          </a:xfrm>
          <a:prstGeom prst="rect">
            <a:avLst/>
          </a:prstGeom>
          <a:noFill/>
        </p:spPr>
        <p:txBody>
          <a:bodyPr wrap="square" lIns="27432" rIns="27432" tIns="27432" bIns="27432" anchor="t">
            <a:spAutoFit/>
          </a:bodyPr>
          <a:lstStyle/>
          <a:p>
            <a:pPr algn="ctr"/>
            <a:r>
              <a:rPr sz="1100" b="1">
                <a:solidFill>
                  <a:srgbClr val="5F6B63"/>
                </a:solidFill>
                <a:latin typeface="Aptos"/>
              </a:rPr>
              <a:t>High impact</a:t>
            </a:r>
          </a:p>
        </p:txBody>
      </p:sp>
      <p:sp>
        <p:nvSpPr>
          <p:cNvPr id="15" name="TextBox 14"/>
          <p:cNvSpPr txBox="1"/>
          <p:nvPr/>
        </p:nvSpPr>
        <p:spPr>
          <a:xfrm>
            <a:off x="3200400" y="5504688"/>
            <a:ext cx="2011680" cy="182880"/>
          </a:xfrm>
          <a:prstGeom prst="rect">
            <a:avLst/>
          </a:prstGeom>
          <a:noFill/>
        </p:spPr>
        <p:txBody>
          <a:bodyPr wrap="square" lIns="27432" rIns="27432" tIns="27432" bIns="27432" anchor="t">
            <a:spAutoFit/>
          </a:bodyPr>
          <a:lstStyle/>
          <a:p>
            <a:pPr algn="ctr"/>
            <a:r>
              <a:rPr sz="1100" b="1">
                <a:solidFill>
                  <a:srgbClr val="5F6B63"/>
                </a:solidFill>
                <a:latin typeface="Aptos"/>
              </a:rPr>
              <a:t>Low impact</a:t>
            </a:r>
          </a:p>
        </p:txBody>
      </p:sp>
      <p:sp>
        <p:nvSpPr>
          <p:cNvPr id="16" name="TextBox 15"/>
          <p:cNvSpPr txBox="1"/>
          <p:nvPr/>
        </p:nvSpPr>
        <p:spPr>
          <a:xfrm>
            <a:off x="658368" y="3383280"/>
            <a:ext cx="822960" cy="365760"/>
          </a:xfrm>
          <a:prstGeom prst="rect">
            <a:avLst/>
          </a:prstGeom>
          <a:noFill/>
        </p:spPr>
        <p:txBody>
          <a:bodyPr wrap="square" lIns="27432" rIns="27432" tIns="27432" bIns="27432" anchor="t">
            <a:spAutoFit/>
          </a:bodyPr>
          <a:lstStyle/>
          <a:p>
            <a:pPr algn="ctr"/>
            <a:r>
              <a:rPr sz="1100" b="1">
                <a:solidFill>
                  <a:srgbClr val="5F6B63"/>
                </a:solidFill>
                <a:latin typeface="Aptos"/>
              </a:rPr>
              <a:t>Low
prob.</a:t>
            </a:r>
          </a:p>
        </p:txBody>
      </p:sp>
      <p:sp>
        <p:nvSpPr>
          <p:cNvPr id="17" name="TextBox 16"/>
          <p:cNvSpPr txBox="1"/>
          <p:nvPr/>
        </p:nvSpPr>
        <p:spPr>
          <a:xfrm>
            <a:off x="7315200" y="3383280"/>
            <a:ext cx="822960" cy="365760"/>
          </a:xfrm>
          <a:prstGeom prst="rect">
            <a:avLst/>
          </a:prstGeom>
          <a:noFill/>
        </p:spPr>
        <p:txBody>
          <a:bodyPr wrap="square" lIns="27432" rIns="27432" tIns="27432" bIns="27432" anchor="t">
            <a:spAutoFit/>
          </a:bodyPr>
          <a:lstStyle/>
          <a:p>
            <a:pPr algn="ctr"/>
            <a:r>
              <a:rPr sz="1100" b="1">
                <a:solidFill>
                  <a:srgbClr val="5F6B63"/>
                </a:solidFill>
                <a:latin typeface="Aptos"/>
              </a:rPr>
              <a:t>High
prob.</a:t>
            </a:r>
          </a:p>
        </p:txBody>
      </p:sp>
      <p:sp>
        <p:nvSpPr>
          <p:cNvPr id="18" name="Oval 17"/>
          <p:cNvSpPr/>
          <p:nvPr/>
        </p:nvSpPr>
        <p:spPr>
          <a:xfrm>
            <a:off x="6080760" y="2286000"/>
            <a:ext cx="749808" cy="74980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06440" y="3054096"/>
            <a:ext cx="1325880" cy="365760"/>
          </a:xfrm>
          <a:prstGeom prst="rect">
            <a:avLst/>
          </a:prstGeom>
          <a:noFill/>
        </p:spPr>
        <p:txBody>
          <a:bodyPr wrap="square" lIns="27432" rIns="27432" tIns="27432" bIns="27432" anchor="t">
            <a:spAutoFit/>
          </a:bodyPr>
          <a:lstStyle/>
          <a:p>
            <a:pPr algn="ctr"/>
            <a:r>
              <a:rPr sz="1100" b="0">
                <a:solidFill>
                  <a:srgbClr val="1F2621"/>
                </a:solidFill>
                <a:latin typeface="Aptos"/>
              </a:rPr>
              <a:t>Freight spikes</a:t>
            </a:r>
          </a:p>
        </p:txBody>
      </p:sp>
      <p:sp>
        <p:nvSpPr>
          <p:cNvPr id="20" name="Oval 19"/>
          <p:cNvSpPr/>
          <p:nvPr/>
        </p:nvSpPr>
        <p:spPr>
          <a:xfrm>
            <a:off x="4572000" y="2011680"/>
            <a:ext cx="749808" cy="74980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0" y="2779776"/>
            <a:ext cx="1325880" cy="365760"/>
          </a:xfrm>
          <a:prstGeom prst="rect">
            <a:avLst/>
          </a:prstGeom>
          <a:noFill/>
        </p:spPr>
        <p:txBody>
          <a:bodyPr wrap="square" lIns="27432" rIns="27432" tIns="27432" bIns="27432" anchor="t">
            <a:spAutoFit/>
          </a:bodyPr>
          <a:lstStyle/>
          <a:p>
            <a:pPr algn="ctr"/>
            <a:r>
              <a:rPr sz="1100" b="0">
                <a:solidFill>
                  <a:srgbClr val="1F2621"/>
                </a:solidFill>
                <a:latin typeface="Aptos"/>
              </a:rPr>
              <a:t>Import disruption</a:t>
            </a:r>
          </a:p>
        </p:txBody>
      </p:sp>
      <p:sp>
        <p:nvSpPr>
          <p:cNvPr id="22" name="Oval 21"/>
          <p:cNvSpPr/>
          <p:nvPr/>
        </p:nvSpPr>
        <p:spPr>
          <a:xfrm>
            <a:off x="5486400" y="2880360"/>
            <a:ext cx="749808" cy="74980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0" y="3648456"/>
            <a:ext cx="1325880" cy="365760"/>
          </a:xfrm>
          <a:prstGeom prst="rect">
            <a:avLst/>
          </a:prstGeom>
          <a:noFill/>
        </p:spPr>
        <p:txBody>
          <a:bodyPr wrap="square" lIns="27432" rIns="27432" tIns="27432" bIns="27432" anchor="t">
            <a:spAutoFit/>
          </a:bodyPr>
          <a:lstStyle/>
          <a:p>
            <a:pPr algn="ctr"/>
            <a:r>
              <a:rPr sz="1100" b="0">
                <a:solidFill>
                  <a:srgbClr val="1F2621"/>
                </a:solidFill>
                <a:latin typeface="Aptos"/>
              </a:rPr>
              <a:t>Forecast error</a:t>
            </a:r>
          </a:p>
        </p:txBody>
      </p:sp>
      <p:sp>
        <p:nvSpPr>
          <p:cNvPr id="24" name="Oval 23"/>
          <p:cNvSpPr/>
          <p:nvPr/>
        </p:nvSpPr>
        <p:spPr>
          <a:xfrm>
            <a:off x="5349240" y="3977639"/>
            <a:ext cx="749808" cy="74980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74920" y="4745736"/>
            <a:ext cx="1325880" cy="365760"/>
          </a:xfrm>
          <a:prstGeom prst="rect">
            <a:avLst/>
          </a:prstGeom>
          <a:noFill/>
        </p:spPr>
        <p:txBody>
          <a:bodyPr wrap="square" lIns="27432" rIns="27432" tIns="27432" bIns="27432" anchor="t">
            <a:spAutoFit/>
          </a:bodyPr>
          <a:lstStyle/>
          <a:p>
            <a:pPr algn="ctr"/>
            <a:r>
              <a:rPr sz="1100" b="0">
                <a:solidFill>
                  <a:srgbClr val="1F2621"/>
                </a:solidFill>
                <a:latin typeface="Aptos"/>
              </a:rPr>
              <a:t>Retailer uptake</a:t>
            </a:r>
          </a:p>
        </p:txBody>
      </p:sp>
      <p:sp>
        <p:nvSpPr>
          <p:cNvPr id="26" name="Oval 25"/>
          <p:cNvSpPr/>
          <p:nvPr/>
        </p:nvSpPr>
        <p:spPr>
          <a:xfrm>
            <a:off x="4069080" y="3794760"/>
            <a:ext cx="749808" cy="74980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94760" y="4562856"/>
            <a:ext cx="1325880" cy="365760"/>
          </a:xfrm>
          <a:prstGeom prst="rect">
            <a:avLst/>
          </a:prstGeom>
          <a:noFill/>
        </p:spPr>
        <p:txBody>
          <a:bodyPr wrap="square" lIns="27432" rIns="27432" tIns="27432" bIns="27432" anchor="t">
            <a:spAutoFit/>
          </a:bodyPr>
          <a:lstStyle/>
          <a:p>
            <a:pPr algn="ctr"/>
            <a:r>
              <a:rPr sz="1100" b="0">
                <a:solidFill>
                  <a:srgbClr val="1F2621"/>
                </a:solidFill>
                <a:latin typeface="Aptos"/>
              </a:rPr>
              <a:t>Spoilage</a:t>
            </a:r>
          </a:p>
        </p:txBody>
      </p:sp>
      <p:sp>
        <p:nvSpPr>
          <p:cNvPr id="28" name="Oval 27"/>
          <p:cNvSpPr/>
          <p:nvPr/>
        </p:nvSpPr>
        <p:spPr>
          <a:xfrm>
            <a:off x="2971800" y="2788920"/>
            <a:ext cx="749808" cy="74980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97480" y="3557015"/>
            <a:ext cx="1325880" cy="365760"/>
          </a:xfrm>
          <a:prstGeom prst="rect">
            <a:avLst/>
          </a:prstGeom>
          <a:noFill/>
        </p:spPr>
        <p:txBody>
          <a:bodyPr wrap="square" lIns="27432" rIns="27432" tIns="27432" bIns="27432" anchor="t">
            <a:spAutoFit/>
          </a:bodyPr>
          <a:lstStyle/>
          <a:p>
            <a:pPr algn="ctr"/>
            <a:r>
              <a:rPr sz="1100" b="0">
                <a:solidFill>
                  <a:srgbClr val="1F2621"/>
                </a:solidFill>
                <a:latin typeface="Aptos"/>
              </a:rPr>
              <a:t>Labor pressure</a:t>
            </a:r>
          </a:p>
        </p:txBody>
      </p:sp>
      <p:sp>
        <p:nvSpPr>
          <p:cNvPr id="30" name="Rounded Rectangle 29"/>
          <p:cNvSpPr/>
          <p:nvPr/>
        </p:nvSpPr>
        <p:spPr>
          <a:xfrm>
            <a:off x="7918704" y="1600200"/>
            <a:ext cx="3529584" cy="411480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1810512"/>
            <a:ext cx="2194560" cy="182880"/>
          </a:xfrm>
          <a:prstGeom prst="rect">
            <a:avLst/>
          </a:prstGeom>
          <a:noFill/>
        </p:spPr>
        <p:txBody>
          <a:bodyPr wrap="square" lIns="27432" rIns="27432" tIns="27432" bIns="27432" anchor="t">
            <a:spAutoFit/>
          </a:bodyPr>
          <a:lstStyle/>
          <a:p>
            <a:pPr algn="l"/>
            <a:r>
              <a:rPr sz="1100" b="1">
                <a:solidFill>
                  <a:srgbClr val="5F6B63"/>
                </a:solidFill>
                <a:latin typeface="Aptos"/>
              </a:rPr>
              <a:t>WATCHLIST</a:t>
            </a:r>
          </a:p>
        </p:txBody>
      </p:sp>
      <p:sp>
        <p:nvSpPr>
          <p:cNvPr id="32" name="TextBox 31"/>
          <p:cNvSpPr txBox="1"/>
          <p:nvPr/>
        </p:nvSpPr>
        <p:spPr>
          <a:xfrm>
            <a:off x="8183879" y="2212848"/>
            <a:ext cx="2560320" cy="164592"/>
          </a:xfrm>
          <a:prstGeom prst="rect">
            <a:avLst/>
          </a:prstGeom>
          <a:noFill/>
        </p:spPr>
        <p:txBody>
          <a:bodyPr wrap="square" lIns="27432" rIns="27432" tIns="27432" bIns="27432" anchor="t">
            <a:spAutoFit/>
          </a:bodyPr>
          <a:lstStyle/>
          <a:p>
            <a:pPr algn="l"/>
            <a:r>
              <a:rPr sz="1000" b="1">
                <a:solidFill>
                  <a:srgbClr val="B5533A"/>
                </a:solidFill>
                <a:latin typeface="Aptos"/>
              </a:rPr>
              <a:t>FREIGHT SPIKES</a:t>
            </a:r>
          </a:p>
        </p:txBody>
      </p:sp>
      <p:sp>
        <p:nvSpPr>
          <p:cNvPr id="33" name="TextBox 32"/>
          <p:cNvSpPr txBox="1"/>
          <p:nvPr/>
        </p:nvSpPr>
        <p:spPr>
          <a:xfrm>
            <a:off x="8183879" y="2395728"/>
            <a:ext cx="2743200" cy="438912"/>
          </a:xfrm>
          <a:prstGeom prst="rect">
            <a:avLst/>
          </a:prstGeom>
          <a:noFill/>
        </p:spPr>
        <p:txBody>
          <a:bodyPr wrap="square" lIns="27432" rIns="27432" tIns="27432" bIns="27432" anchor="t">
            <a:spAutoFit/>
          </a:bodyPr>
          <a:lstStyle/>
          <a:p>
            <a:pPr algn="l"/>
            <a:r>
              <a:rPr sz="1200" b="0">
                <a:solidFill>
                  <a:srgbClr val="1F2621"/>
                </a:solidFill>
                <a:latin typeface="Aptos"/>
              </a:rPr>
              <a:t>Pre-book core lanes and keep alternates warm before the peak season hits.</a:t>
            </a:r>
          </a:p>
        </p:txBody>
      </p:sp>
      <p:sp>
        <p:nvSpPr>
          <p:cNvPr id="34" name="TextBox 33"/>
          <p:cNvSpPr txBox="1"/>
          <p:nvPr/>
        </p:nvSpPr>
        <p:spPr>
          <a:xfrm>
            <a:off x="8183879" y="3328415"/>
            <a:ext cx="2560320" cy="164592"/>
          </a:xfrm>
          <a:prstGeom prst="rect">
            <a:avLst/>
          </a:prstGeom>
          <a:noFill/>
        </p:spPr>
        <p:txBody>
          <a:bodyPr wrap="square" lIns="27432" rIns="27432" tIns="27432" bIns="27432" anchor="t">
            <a:spAutoFit/>
          </a:bodyPr>
          <a:lstStyle/>
          <a:p>
            <a:pPr algn="l"/>
            <a:r>
              <a:rPr sz="1000" b="1">
                <a:solidFill>
                  <a:srgbClr val="355C47"/>
                </a:solidFill>
                <a:latin typeface="Aptos"/>
              </a:rPr>
              <a:t>IMPORT DISRUPTION</a:t>
            </a:r>
          </a:p>
        </p:txBody>
      </p:sp>
      <p:sp>
        <p:nvSpPr>
          <p:cNvPr id="35" name="TextBox 34"/>
          <p:cNvSpPr txBox="1"/>
          <p:nvPr/>
        </p:nvSpPr>
        <p:spPr>
          <a:xfrm>
            <a:off x="8183879" y="3511295"/>
            <a:ext cx="2743200" cy="438912"/>
          </a:xfrm>
          <a:prstGeom prst="rect">
            <a:avLst/>
          </a:prstGeom>
          <a:noFill/>
        </p:spPr>
        <p:txBody>
          <a:bodyPr wrap="square" lIns="27432" rIns="27432" tIns="27432" bIns="27432" anchor="t">
            <a:spAutoFit/>
          </a:bodyPr>
          <a:lstStyle/>
          <a:p>
            <a:pPr algn="l"/>
            <a:r>
              <a:rPr sz="1200" b="0">
                <a:solidFill>
                  <a:srgbClr val="1F2621"/>
                </a:solidFill>
                <a:latin typeface="Aptos"/>
              </a:rPr>
              <a:t>Use flexible grower commitments and staggered sourcing windows.</a:t>
            </a:r>
          </a:p>
        </p:txBody>
      </p:sp>
      <p:sp>
        <p:nvSpPr>
          <p:cNvPr id="36" name="TextBox 35"/>
          <p:cNvSpPr txBox="1"/>
          <p:nvPr/>
        </p:nvSpPr>
        <p:spPr>
          <a:xfrm>
            <a:off x="8183879" y="4443983"/>
            <a:ext cx="2560320" cy="164592"/>
          </a:xfrm>
          <a:prstGeom prst="rect">
            <a:avLst/>
          </a:prstGeom>
          <a:noFill/>
        </p:spPr>
        <p:txBody>
          <a:bodyPr wrap="square" lIns="27432" rIns="27432" tIns="27432" bIns="27432" anchor="t">
            <a:spAutoFit/>
          </a:bodyPr>
          <a:lstStyle/>
          <a:p>
            <a:pPr algn="l"/>
            <a:r>
              <a:rPr sz="1000" b="1">
                <a:solidFill>
                  <a:srgbClr val="3F728A"/>
                </a:solidFill>
                <a:latin typeface="Aptos"/>
              </a:rPr>
              <a:t>FORECAST ERROR</a:t>
            </a:r>
          </a:p>
        </p:txBody>
      </p:sp>
      <p:sp>
        <p:nvSpPr>
          <p:cNvPr id="37" name="TextBox 36"/>
          <p:cNvSpPr txBox="1"/>
          <p:nvPr/>
        </p:nvSpPr>
        <p:spPr>
          <a:xfrm>
            <a:off x="8183879" y="4626863"/>
            <a:ext cx="2743200" cy="438912"/>
          </a:xfrm>
          <a:prstGeom prst="rect">
            <a:avLst/>
          </a:prstGeom>
          <a:noFill/>
        </p:spPr>
        <p:txBody>
          <a:bodyPr wrap="square" lIns="27432" rIns="27432" tIns="27432" bIns="27432" anchor="t">
            <a:spAutoFit/>
          </a:bodyPr>
          <a:lstStyle/>
          <a:p>
            <a:pPr algn="l"/>
            <a:r>
              <a:rPr sz="1200" b="0">
                <a:solidFill>
                  <a:srgbClr val="1F2621"/>
                </a:solidFill>
                <a:latin typeface="Aptos"/>
              </a:rPr>
              <a:t>Re-run allocation decisions monthly using realized pilot demand.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RISKS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Each major risk has a specific operational countermeasure</a:t>
            </a:r>
          </a:p>
        </p:txBody>
      </p:sp>
      <p:sp>
        <p:nvSpPr>
          <p:cNvPr id="9" name="TextBox 8"/>
          <p:cNvSpPr txBox="1"/>
          <p:nvPr/>
        </p:nvSpPr>
        <p:spPr>
          <a:xfrm>
            <a:off x="548640" y="1097280"/>
            <a:ext cx="10424160" cy="320040"/>
          </a:xfrm>
          <a:prstGeom prst="rect">
            <a:avLst/>
          </a:prstGeom>
          <a:noFill/>
        </p:spPr>
        <p:txBody>
          <a:bodyPr wrap="square" lIns="27432" rIns="27432" tIns="27432" bIns="27432" anchor="t">
            <a:spAutoFit/>
          </a:bodyPr>
          <a:lstStyle/>
          <a:p>
            <a:pPr algn="l"/>
            <a:r>
              <a:rPr sz="1300" b="0">
                <a:solidFill>
                  <a:srgbClr val="5F6B63"/>
                </a:solidFill>
                <a:latin typeface="Aptos"/>
              </a:rPr>
              <a:t>The deck is stronger when every major threat already has an operational response and clear owner.</a:t>
            </a:r>
          </a:p>
        </p:txBody>
      </p:sp>
      <p:graphicFrame>
        <p:nvGraphicFramePr>
          <p:cNvPr id="10" name="Table 9"/>
          <p:cNvGraphicFramePr>
            <a:graphicFrameLocks noGrp="1"/>
          </p:cNvGraphicFramePr>
          <p:nvPr/>
        </p:nvGraphicFramePr>
        <p:xfrm>
          <a:off x="658368" y="1691640"/>
          <a:ext cx="10835640" cy="3785616"/>
        </p:xfrm>
        <a:graphic>
          <a:graphicData uri="http://schemas.openxmlformats.org/drawingml/2006/table">
            <a:tbl>
              <a:tblPr firstRow="1" bandRow="1">
                <a:tableStyleId>{5C22544A-7EE6-4342-B048-85BDC9FD1C3A}</a:tableStyleId>
              </a:tblPr>
              <a:tblGrid>
                <a:gridCol w="1920240"/>
                <a:gridCol w="2240280"/>
                <a:gridCol w="4617720"/>
                <a:gridCol w="2057400"/>
              </a:tblGrid>
              <a:tr h="630936">
                <a:tc>
                  <a:txBody>
                    <a:bodyPr/>
                    <a:lstStyle/>
                    <a:p>
                      <a:r>
                        <a:rPr sz="1100" b="0">
                          <a:solidFill>
                            <a:srgbClr val="1F2621"/>
                          </a:solidFill>
                          <a:latin typeface="Aptos"/>
                        </a:rPr>
                        <a:t>Risk</a:t>
                      </a:r>
                    </a:p>
                  </a:txBody>
                  <a:tcPr>
                    <a:solidFill>
                      <a:srgbClr val="355C47"/>
                    </a:solidFill>
                  </a:tcPr>
                </a:tc>
                <a:tc>
                  <a:txBody>
                    <a:bodyPr/>
                    <a:lstStyle/>
                    <a:p>
                      <a:r>
                        <a:rPr sz="1100" b="0">
                          <a:solidFill>
                            <a:srgbClr val="1F2621"/>
                          </a:solidFill>
                          <a:latin typeface="Aptos"/>
                        </a:rPr>
                        <a:t>Trigger</a:t>
                      </a:r>
                    </a:p>
                  </a:txBody>
                  <a:tcPr>
                    <a:solidFill>
                      <a:srgbClr val="355C47"/>
                    </a:solidFill>
                  </a:tcPr>
                </a:tc>
                <a:tc>
                  <a:txBody>
                    <a:bodyPr/>
                    <a:lstStyle/>
                    <a:p>
                      <a:r>
                        <a:rPr sz="1100" b="0">
                          <a:solidFill>
                            <a:srgbClr val="1F2621"/>
                          </a:solidFill>
                          <a:latin typeface="Aptos"/>
                        </a:rPr>
                        <a:t>Countermeasure</a:t>
                      </a:r>
                    </a:p>
                  </a:txBody>
                  <a:tcPr>
                    <a:solidFill>
                      <a:srgbClr val="355C47"/>
                    </a:solidFill>
                  </a:tcPr>
                </a:tc>
                <a:tc>
                  <a:txBody>
                    <a:bodyPr/>
                    <a:lstStyle/>
                    <a:p>
                      <a:r>
                        <a:rPr sz="1100" b="0">
                          <a:solidFill>
                            <a:srgbClr val="1F2621"/>
                          </a:solidFill>
                          <a:latin typeface="Aptos"/>
                        </a:rPr>
                        <a:t>Owner</a:t>
                      </a:r>
                    </a:p>
                  </a:txBody>
                  <a:tcPr>
                    <a:solidFill>
                      <a:srgbClr val="355C47"/>
                    </a:solidFill>
                  </a:tcPr>
                </a:tc>
              </a:tr>
              <a:tr h="630936">
                <a:tc>
                  <a:txBody>
                    <a:bodyPr/>
                    <a:lstStyle/>
                    <a:p>
                      <a:r>
                        <a:rPr sz="1100" b="0">
                          <a:solidFill>
                            <a:srgbClr val="1F2621"/>
                          </a:solidFill>
                          <a:latin typeface="Aptos"/>
                        </a:rPr>
                        <a:t>Freight spikes</a:t>
                      </a:r>
                    </a:p>
                  </a:txBody>
                  <a:tcPr>
                    <a:solidFill>
                      <a:srgbClr val="FCFAF5"/>
                    </a:solidFill>
                  </a:tcPr>
                </a:tc>
                <a:tc>
                  <a:txBody>
                    <a:bodyPr/>
                    <a:lstStyle/>
                    <a:p>
                      <a:r>
                        <a:rPr sz="1100" b="0">
                          <a:solidFill>
                            <a:srgbClr val="1F2621"/>
                          </a:solidFill>
                          <a:latin typeface="Aptos"/>
                        </a:rPr>
                        <a:t>Peak-season lane tightness</a:t>
                      </a:r>
                    </a:p>
                  </a:txBody>
                  <a:tcPr>
                    <a:solidFill>
                      <a:srgbClr val="FCFAF5"/>
                    </a:solidFill>
                  </a:tcPr>
                </a:tc>
                <a:tc>
                  <a:txBody>
                    <a:bodyPr/>
                    <a:lstStyle/>
                    <a:p>
                      <a:r>
                        <a:rPr sz="1100" b="0">
                          <a:solidFill>
                            <a:srgbClr val="1F2621"/>
                          </a:solidFill>
                          <a:latin typeface="Aptos"/>
                        </a:rPr>
                        <a:t>Lock core carrier capacity and maintain alternate lanes.</a:t>
                      </a:r>
                    </a:p>
                  </a:txBody>
                  <a:tcPr>
                    <a:solidFill>
                      <a:srgbClr val="FCFAF5"/>
                    </a:solidFill>
                  </a:tcPr>
                </a:tc>
                <a:tc>
                  <a:txBody>
                    <a:bodyPr/>
                    <a:lstStyle/>
                    <a:p>
                      <a:r>
                        <a:rPr sz="1100" b="0">
                          <a:solidFill>
                            <a:srgbClr val="1F2621"/>
                          </a:solidFill>
                          <a:latin typeface="Aptos"/>
                        </a:rPr>
                        <a:t>Logistics lead</a:t>
                      </a:r>
                    </a:p>
                  </a:txBody>
                  <a:tcPr>
                    <a:solidFill>
                      <a:srgbClr val="FCFAF5"/>
                    </a:solidFill>
                  </a:tcPr>
                </a:tc>
              </a:tr>
              <a:tr h="630936">
                <a:tc>
                  <a:txBody>
                    <a:bodyPr/>
                    <a:lstStyle/>
                    <a:p>
                      <a:r>
                        <a:rPr sz="1100" b="0">
                          <a:solidFill>
                            <a:srgbClr val="1F2621"/>
                          </a:solidFill>
                          <a:latin typeface="Aptos"/>
                        </a:rPr>
                        <a:t>Import or supply disruption</a:t>
                      </a:r>
                    </a:p>
                  </a:txBody>
                  <a:tcPr>
                    <a:solidFill>
                      <a:srgbClr val="F7F3EC"/>
                    </a:solidFill>
                  </a:tcPr>
                </a:tc>
                <a:tc>
                  <a:txBody>
                    <a:bodyPr/>
                    <a:lstStyle/>
                    <a:p>
                      <a:r>
                        <a:rPr sz="1100" b="0">
                          <a:solidFill>
                            <a:srgbClr val="1F2621"/>
                          </a:solidFill>
                          <a:latin typeface="Aptos"/>
                        </a:rPr>
                        <a:t>Supply interruption or customs delay</a:t>
                      </a:r>
                    </a:p>
                  </a:txBody>
                  <a:tcPr>
                    <a:solidFill>
                      <a:srgbClr val="F7F3EC"/>
                    </a:solidFill>
                  </a:tcPr>
                </a:tc>
                <a:tc>
                  <a:txBody>
                    <a:bodyPr/>
                    <a:lstStyle/>
                    <a:p>
                      <a:r>
                        <a:rPr sz="1100" b="0">
                          <a:solidFill>
                            <a:srgbClr val="1F2621"/>
                          </a:solidFill>
                          <a:latin typeface="Aptos"/>
                        </a:rPr>
                        <a:t>Use flexible grower contracts and staggered commitments.</a:t>
                      </a:r>
                    </a:p>
                  </a:txBody>
                  <a:tcPr>
                    <a:solidFill>
                      <a:srgbClr val="F7F3EC"/>
                    </a:solidFill>
                  </a:tcPr>
                </a:tc>
                <a:tc>
                  <a:txBody>
                    <a:bodyPr/>
                    <a:lstStyle/>
                    <a:p>
                      <a:r>
                        <a:rPr sz="1100" b="0">
                          <a:solidFill>
                            <a:srgbClr val="1F2621"/>
                          </a:solidFill>
                          <a:latin typeface="Aptos"/>
                        </a:rPr>
                        <a:t>Sourcing lead</a:t>
                      </a:r>
                    </a:p>
                  </a:txBody>
                  <a:tcPr>
                    <a:solidFill>
                      <a:srgbClr val="F7F3EC"/>
                    </a:solidFill>
                  </a:tcPr>
                </a:tc>
              </a:tr>
              <a:tr h="630936">
                <a:tc>
                  <a:txBody>
                    <a:bodyPr/>
                    <a:lstStyle/>
                    <a:p>
                      <a:r>
                        <a:rPr sz="1100" b="0">
                          <a:solidFill>
                            <a:srgbClr val="1F2621"/>
                          </a:solidFill>
                          <a:latin typeface="Aptos"/>
                        </a:rPr>
                        <a:t>Spoilage / service failures</a:t>
                      </a:r>
                    </a:p>
                  </a:txBody>
                  <a:tcPr>
                    <a:solidFill>
                      <a:srgbClr val="FCFAF5"/>
                    </a:solidFill>
                  </a:tcPr>
                </a:tc>
                <a:tc>
                  <a:txBody>
                    <a:bodyPr/>
                    <a:lstStyle/>
                    <a:p>
                      <a:r>
                        <a:rPr sz="1100" b="0">
                          <a:solidFill>
                            <a:srgbClr val="1F2621"/>
                          </a:solidFill>
                          <a:latin typeface="Aptos"/>
                        </a:rPr>
                        <a:t>Shrink or weak fill-rate trend</a:t>
                      </a:r>
                    </a:p>
                  </a:txBody>
                  <a:tcPr>
                    <a:solidFill>
                      <a:srgbClr val="FCFAF5"/>
                    </a:solidFill>
                  </a:tcPr>
                </a:tc>
                <a:tc>
                  <a:txBody>
                    <a:bodyPr/>
                    <a:lstStyle/>
                    <a:p>
                      <a:r>
                        <a:rPr sz="1100" b="0">
                          <a:solidFill>
                            <a:srgbClr val="1F2621"/>
                          </a:solidFill>
                          <a:latin typeface="Aptos"/>
                        </a:rPr>
                        <a:t>Tighten cold-chain controls and receiving discipline.</a:t>
                      </a:r>
                    </a:p>
                  </a:txBody>
                  <a:tcPr>
                    <a:solidFill>
                      <a:srgbClr val="FCFAF5"/>
                    </a:solidFill>
                  </a:tcPr>
                </a:tc>
                <a:tc>
                  <a:txBody>
                    <a:bodyPr/>
                    <a:lstStyle/>
                    <a:p>
                      <a:r>
                        <a:rPr sz="1100" b="0">
                          <a:solidFill>
                            <a:srgbClr val="1F2621"/>
                          </a:solidFill>
                          <a:latin typeface="Aptos"/>
                        </a:rPr>
                        <a:t>Operations lead</a:t>
                      </a:r>
                    </a:p>
                  </a:txBody>
                  <a:tcPr>
                    <a:solidFill>
                      <a:srgbClr val="FCFAF5"/>
                    </a:solidFill>
                  </a:tcPr>
                </a:tc>
              </a:tr>
              <a:tr h="630936">
                <a:tc>
                  <a:txBody>
                    <a:bodyPr/>
                    <a:lstStyle/>
                    <a:p>
                      <a:r>
                        <a:rPr sz="1100" b="0">
                          <a:solidFill>
                            <a:srgbClr val="1F2621"/>
                          </a:solidFill>
                          <a:latin typeface="Aptos"/>
                        </a:rPr>
                        <a:t>Forecast error</a:t>
                      </a:r>
                    </a:p>
                  </a:txBody>
                  <a:tcPr>
                    <a:solidFill>
                      <a:srgbClr val="F7F3EC"/>
                    </a:solidFill>
                  </a:tcPr>
                </a:tc>
                <a:tc>
                  <a:txBody>
                    <a:bodyPr/>
                    <a:lstStyle/>
                    <a:p>
                      <a:r>
                        <a:rPr sz="1100" b="0">
                          <a:solidFill>
                            <a:srgbClr val="1F2621"/>
                          </a:solidFill>
                          <a:latin typeface="Aptos"/>
                        </a:rPr>
                        <a:t>Demand misses by city</a:t>
                      </a:r>
                    </a:p>
                  </a:txBody>
                  <a:tcPr>
                    <a:solidFill>
                      <a:srgbClr val="F7F3EC"/>
                    </a:solidFill>
                  </a:tcPr>
                </a:tc>
                <a:tc>
                  <a:txBody>
                    <a:bodyPr/>
                    <a:lstStyle/>
                    <a:p>
                      <a:r>
                        <a:rPr sz="1100" b="0">
                          <a:solidFill>
                            <a:srgbClr val="1F2621"/>
                          </a:solidFill>
                          <a:latin typeface="Aptos"/>
                        </a:rPr>
                        <a:t>Run monthly S&amp;OP and reallocate by city using realized demand.</a:t>
                      </a:r>
                    </a:p>
                  </a:txBody>
                  <a:tcPr>
                    <a:solidFill>
                      <a:srgbClr val="F7F3EC"/>
                    </a:solidFill>
                  </a:tcPr>
                </a:tc>
                <a:tc>
                  <a:txBody>
                    <a:bodyPr/>
                    <a:lstStyle/>
                    <a:p>
                      <a:r>
                        <a:rPr sz="1100" b="0">
                          <a:solidFill>
                            <a:srgbClr val="1F2621"/>
                          </a:solidFill>
                          <a:latin typeface="Aptos"/>
                        </a:rPr>
                        <a:t>Commercial lead</a:t>
                      </a:r>
                    </a:p>
                  </a:txBody>
                  <a:tcPr>
                    <a:solidFill>
                      <a:srgbClr val="F7F3EC"/>
                    </a:solidFill>
                  </a:tcPr>
                </a:tc>
              </a:tr>
              <a:tr h="630936">
                <a:tc>
                  <a:txBody>
                    <a:bodyPr/>
                    <a:lstStyle/>
                    <a:p>
                      <a:r>
                        <a:rPr sz="1100" b="0">
                          <a:solidFill>
                            <a:srgbClr val="1F2621"/>
                          </a:solidFill>
                          <a:latin typeface="Aptos"/>
                        </a:rPr>
                        <a:t>Retailer uptake risk</a:t>
                      </a:r>
                    </a:p>
                  </a:txBody>
                  <a:tcPr>
                    <a:solidFill>
                      <a:srgbClr val="FCFAF5"/>
                    </a:solidFill>
                  </a:tcPr>
                </a:tc>
                <a:tc>
                  <a:txBody>
                    <a:bodyPr/>
                    <a:lstStyle/>
                    <a:p>
                      <a:r>
                        <a:rPr sz="1100" b="0">
                          <a:solidFill>
                            <a:srgbClr val="1F2621"/>
                          </a:solidFill>
                          <a:latin typeface="Aptos"/>
                        </a:rPr>
                        <a:t>Weak reorder behavior</a:t>
                      </a:r>
                    </a:p>
                  </a:txBody>
                  <a:tcPr>
                    <a:solidFill>
                      <a:srgbClr val="FCFAF5"/>
                    </a:solidFill>
                  </a:tcPr>
                </a:tc>
                <a:tc>
                  <a:txBody>
                    <a:bodyPr/>
                    <a:lstStyle/>
                    <a:p>
                      <a:r>
                        <a:rPr sz="1100" b="0">
                          <a:solidFill>
                            <a:srgbClr val="1F2621"/>
                          </a:solidFill>
                          <a:latin typeface="Aptos"/>
                        </a:rPr>
                        <a:t>Require stage gates before expanding beyond the pilot.</a:t>
                      </a:r>
                    </a:p>
                  </a:txBody>
                  <a:tcPr>
                    <a:solidFill>
                      <a:srgbClr val="FCFAF5"/>
                    </a:solidFill>
                  </a:tcPr>
                </a:tc>
                <a:tc>
                  <a:txBody>
                    <a:bodyPr/>
                    <a:lstStyle/>
                    <a:p>
                      <a:r>
                        <a:rPr sz="1100" b="0">
                          <a:solidFill>
                            <a:srgbClr val="1F2621"/>
                          </a:solidFill>
                          <a:latin typeface="Aptos"/>
                        </a:rPr>
                        <a:t>General manager</a:t>
                      </a:r>
                    </a:p>
                  </a:txBody>
                  <a:tcPr>
                    <a:solidFill>
                      <a:srgbClr val="FCFAF5"/>
                    </a:solidFill>
                  </a:tcPr>
                </a:tc>
              </a:tr>
            </a:tbl>
          </a:graphicData>
        </a:graphic>
      </p:graphicFrame>
      <p:sp>
        <p:nvSpPr>
          <p:cNvPr id="11" name="Rounded Rectangle 10"/>
          <p:cNvSpPr/>
          <p:nvPr/>
        </p:nvSpPr>
        <p:spPr>
          <a:xfrm>
            <a:off x="868680" y="5650992"/>
            <a:ext cx="9966960" cy="56692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5833872"/>
            <a:ext cx="9601200" cy="146304"/>
          </a:xfrm>
          <a:prstGeom prst="rect">
            <a:avLst/>
          </a:prstGeom>
          <a:noFill/>
        </p:spPr>
        <p:txBody>
          <a:bodyPr wrap="square" lIns="27432" rIns="27432" tIns="27432" bIns="27432" anchor="t">
            <a:spAutoFit/>
          </a:bodyPr>
          <a:lstStyle/>
          <a:p>
            <a:pPr algn="l"/>
            <a:r>
              <a:rPr sz="1200" b="0">
                <a:solidFill>
                  <a:srgbClr val="1F2621"/>
                </a:solidFill>
                <a:latin typeface="Aptos"/>
              </a:rPr>
              <a:t>Operating principle: the pilot should never carry an unmanaged risk; every major threat must already have a trigger, action, and owner before scale decisions are made.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LIMITATIONS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38</a:t>
            </a:r>
          </a:p>
        </p:txBody>
      </p:sp>
      <p:sp>
        <p:nvSpPr>
          <p:cNvPr id="8" name="Rounded Rectangle 7"/>
          <p:cNvSpPr/>
          <p:nvPr/>
        </p:nvSpPr>
        <p:spPr>
          <a:xfrm>
            <a:off x="10314432" y="256032"/>
            <a:ext cx="1170432" cy="274320"/>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0" y="260604"/>
            <a:ext cx="1133856" cy="219456"/>
          </a:xfrm>
          <a:prstGeom prst="rect">
            <a:avLst/>
          </a:prstGeom>
          <a:noFill/>
        </p:spPr>
        <p:txBody>
          <a:bodyPr wrap="square" lIns="27432" rIns="27432" tIns="27432" bIns="27432" anchor="ctr">
            <a:spAutoFit/>
          </a:bodyPr>
          <a:lstStyle/>
          <a:p>
            <a:pPr algn="ctr"/>
            <a:r>
              <a:rPr sz="1100" b="1">
                <a:solidFill>
                  <a:srgbClr val="FCFAF5"/>
                </a:solidFill>
                <a:latin typeface="Aptos"/>
              </a:rPr>
              <a:t>CAVEAT</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current model is strong enough for city selection but not yet for exact allocation</a:t>
            </a:r>
          </a:p>
        </p:txBody>
      </p:sp>
      <p:sp>
        <p:nvSpPr>
          <p:cNvPr id="11" name="Rounded Rectangle 10"/>
          <p:cNvSpPr/>
          <p:nvPr/>
        </p:nvSpPr>
        <p:spPr>
          <a:xfrm>
            <a:off x="731520" y="1737360"/>
            <a:ext cx="5212080" cy="33832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1737360"/>
            <a:ext cx="5212080" cy="33832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38528"/>
            <a:ext cx="2103120" cy="228600"/>
          </a:xfrm>
          <a:prstGeom prst="rect">
            <a:avLst/>
          </a:prstGeom>
          <a:noFill/>
        </p:spPr>
        <p:txBody>
          <a:bodyPr wrap="square" lIns="27432" rIns="27432" tIns="27432" bIns="27432" anchor="t">
            <a:spAutoFit/>
          </a:bodyPr>
          <a:lstStyle/>
          <a:p>
            <a:pPr algn="l"/>
            <a:r>
              <a:rPr sz="1500" b="1">
                <a:solidFill>
                  <a:srgbClr val="355C47"/>
                </a:solidFill>
                <a:latin typeface="Aptos Display"/>
              </a:rPr>
              <a:t>What we can defend now</a:t>
            </a:r>
          </a:p>
        </p:txBody>
      </p:sp>
      <p:sp>
        <p:nvSpPr>
          <p:cNvPr id="14" name="TextBox 13"/>
          <p:cNvSpPr txBox="1"/>
          <p:nvPr/>
        </p:nvSpPr>
        <p:spPr>
          <a:xfrm>
            <a:off x="914400" y="2240280"/>
            <a:ext cx="4663440" cy="2606040"/>
          </a:xfrm>
          <a:prstGeom prst="rect">
            <a:avLst/>
          </a:prstGeom>
          <a:noFill/>
        </p:spPr>
        <p:txBody>
          <a:bodyPr wrap="square" lIns="27432" rIns="27432" tIns="18288" bIns="18288">
            <a:spAutoFit/>
          </a:bodyPr>
          <a:lstStyle/>
          <a:p>
            <a:pPr algn="l">
              <a:lnSpc>
                <a:spcPct val="115000"/>
              </a:lnSpc>
            </a:pPr>
            <a:r>
              <a:rPr sz="1400">
                <a:solidFill>
                  <a:srgbClr val="1F2621"/>
                </a:solidFill>
                <a:latin typeface="Aptos"/>
              </a:rPr>
              <a:t>- The cleaned dataset resolves to 40 city markets even though the case text references 41 metro regions.</a:t>
            </a:r>
          </a:p>
          <a:p>
            <a:pPr algn="l">
              <a:lnSpc>
                <a:spcPct val="115000"/>
              </a:lnSpc>
            </a:pPr>
            <a:r>
              <a:rPr sz="1400">
                <a:solidFill>
                  <a:srgbClr val="1F2621"/>
                </a:solidFill>
                <a:latin typeface="Aptos"/>
              </a:rPr>
              <a:t>- The model is useful for choosing where to test because it compares cities on a consistent 20,000-unit scorecard.</a:t>
            </a:r>
          </a:p>
          <a:p>
            <a:pPr algn="l">
              <a:lnSpc>
                <a:spcPct val="115000"/>
              </a:lnSpc>
            </a:pPr>
            <a:r>
              <a:rPr sz="1400">
                <a:solidFill>
                  <a:srgbClr val="1F2621"/>
                </a:solidFill>
                <a:latin typeface="Aptos"/>
              </a:rPr>
              <a:t>- The ranking is resilient: all 40 cities remain profitable even at +50% shipping, so this is an optimization problem.</a:t>
            </a:r>
          </a:p>
        </p:txBody>
      </p:sp>
      <p:sp>
        <p:nvSpPr>
          <p:cNvPr id="15" name="TextBox 14"/>
          <p:cNvSpPr txBox="1"/>
          <p:nvPr/>
        </p:nvSpPr>
        <p:spPr>
          <a:xfrm>
            <a:off x="6446520" y="1938528"/>
            <a:ext cx="2286000" cy="228600"/>
          </a:xfrm>
          <a:prstGeom prst="rect">
            <a:avLst/>
          </a:prstGeom>
          <a:noFill/>
        </p:spPr>
        <p:txBody>
          <a:bodyPr wrap="square" lIns="27432" rIns="27432" tIns="27432" bIns="27432" anchor="t">
            <a:spAutoFit/>
          </a:bodyPr>
          <a:lstStyle/>
          <a:p>
            <a:pPr algn="l"/>
            <a:r>
              <a:rPr sz="1500" b="1">
                <a:solidFill>
                  <a:srgbClr val="B5533A"/>
                </a:solidFill>
                <a:latin typeface="Aptos Display"/>
              </a:rPr>
              <a:t>What still needs more data</a:t>
            </a:r>
          </a:p>
        </p:txBody>
      </p:sp>
      <p:sp>
        <p:nvSpPr>
          <p:cNvPr id="16" name="TextBox 15"/>
          <p:cNvSpPr txBox="1"/>
          <p:nvPr/>
        </p:nvSpPr>
        <p:spPr>
          <a:xfrm>
            <a:off x="6446520" y="2240280"/>
            <a:ext cx="4663440" cy="2606040"/>
          </a:xfrm>
          <a:prstGeom prst="rect">
            <a:avLst/>
          </a:prstGeom>
          <a:noFill/>
        </p:spPr>
        <p:txBody>
          <a:bodyPr wrap="square" lIns="27432" rIns="27432" tIns="18288" bIns="18288">
            <a:spAutoFit/>
          </a:bodyPr>
          <a:lstStyle/>
          <a:p>
            <a:pPr algn="l">
              <a:lnSpc>
                <a:spcPct val="115000"/>
              </a:lnSpc>
            </a:pPr>
            <a:r>
              <a:rPr sz="1400">
                <a:solidFill>
                  <a:srgbClr val="1F2621"/>
                </a:solidFill>
                <a:latin typeface="Aptos"/>
              </a:rPr>
              <a:t>- 2025 is partial-year data only and June 2025 retail price is used as the simple proxy for June 2026 retail price.</a:t>
            </a:r>
          </a:p>
          <a:p>
            <a:pPr algn="l">
              <a:lnSpc>
                <a:spcPct val="115000"/>
              </a:lnSpc>
            </a:pPr>
            <a:r>
              <a:rPr sz="1400">
                <a:solidFill>
                  <a:srgbClr val="1F2621"/>
                </a:solidFill>
                <a:latin typeface="Aptos"/>
              </a:rPr>
              <a:t>- The model does not include spoilage shrink, retailer-level demand curves, or a fully expanded operating cost stack.</a:t>
            </a:r>
          </a:p>
          <a:p>
            <a:pPr algn="l">
              <a:lnSpc>
                <a:spcPct val="115000"/>
              </a:lnSpc>
            </a:pPr>
            <a:r>
              <a:rPr sz="1400">
                <a:solidFill>
                  <a:srgbClr val="1F2621"/>
                </a:solidFill>
                <a:latin typeface="Aptos"/>
              </a:rPr>
              <a:t>- That means the deck can defend city selection today, but not an exact retailer-by-retailer allocation plan yet.</a:t>
            </a:r>
          </a:p>
        </p:txBody>
      </p:sp>
      <p:sp>
        <p:nvSpPr>
          <p:cNvPr id="17" name="Rounded Rectangle 16"/>
          <p:cNvSpPr/>
          <p:nvPr/>
        </p:nvSpPr>
        <p:spPr>
          <a:xfrm>
            <a:off x="1005840" y="5440680"/>
            <a:ext cx="10012680" cy="65836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5650992"/>
            <a:ext cx="2011680" cy="146304"/>
          </a:xfrm>
          <a:prstGeom prst="rect">
            <a:avLst/>
          </a:prstGeom>
          <a:noFill/>
        </p:spPr>
        <p:txBody>
          <a:bodyPr wrap="square" lIns="27432" rIns="27432" tIns="27432" bIns="27432" anchor="t">
            <a:spAutoFit/>
          </a:bodyPr>
          <a:lstStyle/>
          <a:p>
            <a:pPr algn="l"/>
            <a:r>
              <a:rPr sz="1000" b="1">
                <a:solidFill>
                  <a:srgbClr val="5F6B63"/>
                </a:solidFill>
                <a:latin typeface="Aptos"/>
              </a:rPr>
              <a:t>NEXT DATA TO COLLECT</a:t>
            </a:r>
          </a:p>
        </p:txBody>
      </p:sp>
      <p:sp>
        <p:nvSpPr>
          <p:cNvPr id="19" name="TextBox 18"/>
          <p:cNvSpPr txBox="1"/>
          <p:nvPr/>
        </p:nvSpPr>
        <p:spPr>
          <a:xfrm>
            <a:off x="2926080" y="5596128"/>
            <a:ext cx="7726679" cy="201168"/>
          </a:xfrm>
          <a:prstGeom prst="rect">
            <a:avLst/>
          </a:prstGeom>
          <a:noFill/>
        </p:spPr>
        <p:txBody>
          <a:bodyPr wrap="square" lIns="27432" rIns="27432" tIns="27432" bIns="27432" anchor="t">
            <a:spAutoFit/>
          </a:bodyPr>
          <a:lstStyle/>
          <a:p>
            <a:pPr algn="l"/>
            <a:r>
              <a:rPr sz="1300" b="0">
                <a:solidFill>
                  <a:srgbClr val="1F2621"/>
                </a:solidFill>
                <a:latin typeface="Aptos"/>
              </a:rPr>
              <a:t>Pilot reorder behavior, spoilage by lane, and retailer-level demand response would let West Valley move from city selection to exact allocation logic.</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CONCLUSION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39</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Launch the 5-city pilot, then scale only where the pilot confirms the model</a:t>
            </a:r>
          </a:p>
        </p:txBody>
      </p:sp>
      <p:sp>
        <p:nvSpPr>
          <p:cNvPr id="9" name="Rounded Rectangle 8"/>
          <p:cNvSpPr/>
          <p:nvPr/>
        </p:nvSpPr>
        <p:spPr>
          <a:xfrm>
            <a:off x="713232" y="1627632"/>
            <a:ext cx="6400800" cy="443484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65376"/>
            <a:ext cx="2377440" cy="182880"/>
          </a:xfrm>
          <a:prstGeom prst="rect">
            <a:avLst/>
          </a:prstGeom>
          <a:noFill/>
        </p:spPr>
        <p:txBody>
          <a:bodyPr wrap="square" lIns="27432" rIns="27432" tIns="27432" bIns="27432" anchor="t">
            <a:spAutoFit/>
          </a:bodyPr>
          <a:lstStyle/>
          <a:p>
            <a:pPr algn="l"/>
            <a:r>
              <a:rPr sz="1100" b="1">
                <a:solidFill>
                  <a:srgbClr val="5F6B63"/>
                </a:solidFill>
                <a:latin typeface="Aptos"/>
              </a:rPr>
              <a:t>FINAL RECOMMENDATION</a:t>
            </a:r>
          </a:p>
        </p:txBody>
      </p:sp>
      <p:sp>
        <p:nvSpPr>
          <p:cNvPr id="11" name="TextBox 10"/>
          <p:cNvSpPr txBox="1"/>
          <p:nvPr/>
        </p:nvSpPr>
        <p:spPr>
          <a:xfrm>
            <a:off x="932688" y="2157984"/>
            <a:ext cx="5212080" cy="658368"/>
          </a:xfrm>
          <a:prstGeom prst="rect">
            <a:avLst/>
          </a:prstGeom>
          <a:noFill/>
        </p:spPr>
        <p:txBody>
          <a:bodyPr wrap="square" lIns="27432" rIns="27432" tIns="27432" bIns="27432" anchor="t">
            <a:spAutoFit/>
          </a:bodyPr>
          <a:lstStyle/>
          <a:p>
            <a:pPr algn="l"/>
            <a:r>
              <a:rPr sz="2600" b="1">
                <a:solidFill>
                  <a:srgbClr val="355C47"/>
                </a:solidFill>
                <a:latin typeface="Aptos Display"/>
              </a:rPr>
              <a:t>Launch Seattle, Boise, Portland, Spokane, and San Diego first.</a:t>
            </a:r>
          </a:p>
        </p:txBody>
      </p:sp>
      <p:sp>
        <p:nvSpPr>
          <p:cNvPr id="12" name="TextBox 11"/>
          <p:cNvSpPr txBox="1"/>
          <p:nvPr/>
        </p:nvSpPr>
        <p:spPr>
          <a:xfrm>
            <a:off x="932688" y="2834640"/>
            <a:ext cx="5440680" cy="438912"/>
          </a:xfrm>
          <a:prstGeom prst="rect">
            <a:avLst/>
          </a:prstGeom>
          <a:noFill/>
        </p:spPr>
        <p:txBody>
          <a:bodyPr wrap="square" lIns="27432" rIns="27432" tIns="27432" bIns="27432" anchor="t">
            <a:spAutoFit/>
          </a:bodyPr>
          <a:lstStyle/>
          <a:p>
            <a:pPr algn="l"/>
            <a:r>
              <a:rPr sz="1500" b="0">
                <a:solidFill>
                  <a:srgbClr val="1F2621"/>
                </a:solidFill>
                <a:latin typeface="Aptos"/>
              </a:rPr>
              <a:t>The recommendation is robust because premium city pricing stays stronger than modeled freight swings and seasonality can be managed operationally.</a:t>
            </a:r>
          </a:p>
        </p:txBody>
      </p:sp>
      <p:sp>
        <p:nvSpPr>
          <p:cNvPr id="13" name="Rounded Rectangle 12"/>
          <p:cNvSpPr/>
          <p:nvPr/>
        </p:nvSpPr>
        <p:spPr>
          <a:xfrm>
            <a:off x="932688" y="3547872"/>
            <a:ext cx="1060704"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3552444"/>
            <a:ext cx="1024128"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5" name="Rounded Rectangle 14"/>
          <p:cNvSpPr/>
          <p:nvPr/>
        </p:nvSpPr>
        <p:spPr>
          <a:xfrm>
            <a:off x="2084831" y="3547872"/>
            <a:ext cx="950976"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03119" y="3552444"/>
            <a:ext cx="914400" cy="219456"/>
          </a:xfrm>
          <a:prstGeom prst="rect">
            <a:avLst/>
          </a:prstGeom>
          <a:noFill/>
        </p:spPr>
        <p:txBody>
          <a:bodyPr wrap="square" lIns="27432" rIns="27432" tIns="27432" bIns="27432" anchor="ctr">
            <a:spAutoFit/>
          </a:bodyPr>
          <a:lstStyle/>
          <a:p>
            <a:pPr algn="ctr"/>
            <a:r>
              <a:rPr sz="1100" b="1">
                <a:solidFill>
                  <a:srgbClr val="FCFAF5"/>
                </a:solidFill>
                <a:latin typeface="Aptos"/>
              </a:rPr>
              <a:t>BOISE</a:t>
            </a:r>
          </a:p>
        </p:txBody>
      </p:sp>
      <p:sp>
        <p:nvSpPr>
          <p:cNvPr id="17" name="Rounded Rectangle 16"/>
          <p:cNvSpPr/>
          <p:nvPr/>
        </p:nvSpPr>
        <p:spPr>
          <a:xfrm>
            <a:off x="3127248" y="3547872"/>
            <a:ext cx="1115568"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45536" y="3552444"/>
            <a:ext cx="1078992" cy="219456"/>
          </a:xfrm>
          <a:prstGeom prst="rect">
            <a:avLst/>
          </a:prstGeom>
          <a:noFill/>
        </p:spPr>
        <p:txBody>
          <a:bodyPr wrap="square" lIns="27432" rIns="27432" tIns="27432" bIns="27432" anchor="ctr">
            <a:spAutoFit/>
          </a:bodyPr>
          <a:lstStyle/>
          <a:p>
            <a:pPr algn="ctr"/>
            <a:r>
              <a:rPr sz="1100" b="1">
                <a:solidFill>
                  <a:srgbClr val="FCFAF5"/>
                </a:solidFill>
                <a:latin typeface="Aptos"/>
              </a:rPr>
              <a:t>PORTLAND</a:t>
            </a:r>
          </a:p>
        </p:txBody>
      </p:sp>
      <p:sp>
        <p:nvSpPr>
          <p:cNvPr id="19" name="Rounded Rectangle 18"/>
          <p:cNvSpPr/>
          <p:nvPr/>
        </p:nvSpPr>
        <p:spPr>
          <a:xfrm>
            <a:off x="4334256" y="3547872"/>
            <a:ext cx="1069848"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52544" y="3552444"/>
            <a:ext cx="1033272" cy="219456"/>
          </a:xfrm>
          <a:prstGeom prst="rect">
            <a:avLst/>
          </a:prstGeom>
          <a:noFill/>
        </p:spPr>
        <p:txBody>
          <a:bodyPr wrap="square" lIns="27432" rIns="27432" tIns="27432" bIns="27432" anchor="ctr">
            <a:spAutoFit/>
          </a:bodyPr>
          <a:lstStyle/>
          <a:p>
            <a:pPr algn="ctr"/>
            <a:r>
              <a:rPr sz="1100" b="1">
                <a:solidFill>
                  <a:srgbClr val="FCFAF5"/>
                </a:solidFill>
                <a:latin typeface="Aptos"/>
              </a:rPr>
              <a:t>SPOKANE</a:t>
            </a:r>
          </a:p>
        </p:txBody>
      </p:sp>
      <p:sp>
        <p:nvSpPr>
          <p:cNvPr id="21" name="Rounded Rectangle 20"/>
          <p:cNvSpPr/>
          <p:nvPr/>
        </p:nvSpPr>
        <p:spPr>
          <a:xfrm>
            <a:off x="5495544" y="3547872"/>
            <a:ext cx="1271016"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13832" y="3552444"/>
            <a:ext cx="1234440" cy="219456"/>
          </a:xfrm>
          <a:prstGeom prst="rect">
            <a:avLst/>
          </a:prstGeom>
          <a:noFill/>
        </p:spPr>
        <p:txBody>
          <a:bodyPr wrap="square" lIns="27432" rIns="27432" tIns="27432" bIns="27432" anchor="ctr">
            <a:spAutoFit/>
          </a:bodyPr>
          <a:lstStyle/>
          <a:p>
            <a:pPr algn="ctr"/>
            <a:r>
              <a:rPr sz="1100" b="1">
                <a:solidFill>
                  <a:srgbClr val="FCFAF5"/>
                </a:solidFill>
                <a:latin typeface="Aptos"/>
              </a:rPr>
              <a:t>SAN DIEGO</a:t>
            </a:r>
          </a:p>
        </p:txBody>
      </p:sp>
      <p:sp>
        <p:nvSpPr>
          <p:cNvPr id="23" name="Rounded Rectangle 22"/>
          <p:cNvSpPr/>
          <p:nvPr/>
        </p:nvSpPr>
        <p:spPr>
          <a:xfrm>
            <a:off x="914400" y="4315968"/>
            <a:ext cx="1682496"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2416" y="4425696"/>
            <a:ext cx="1426464" cy="164592"/>
          </a:xfrm>
          <a:prstGeom prst="rect">
            <a:avLst/>
          </a:prstGeom>
          <a:noFill/>
        </p:spPr>
        <p:txBody>
          <a:bodyPr wrap="square" lIns="27432" rIns="27432" tIns="27432" bIns="27432" anchor="t">
            <a:spAutoFit/>
          </a:bodyPr>
          <a:lstStyle/>
          <a:p>
            <a:pPr algn="l"/>
            <a:r>
              <a:rPr sz="1000" b="1">
                <a:solidFill>
                  <a:srgbClr val="5F6B63"/>
                </a:solidFill>
                <a:latin typeface="Aptos"/>
              </a:rPr>
              <a:t>AVG PROFIT</a:t>
            </a:r>
          </a:p>
        </p:txBody>
      </p:sp>
      <p:sp>
        <p:nvSpPr>
          <p:cNvPr id="25" name="TextBox 24"/>
          <p:cNvSpPr txBox="1"/>
          <p:nvPr/>
        </p:nvSpPr>
        <p:spPr>
          <a:xfrm>
            <a:off x="1042416" y="4626864"/>
            <a:ext cx="1426464" cy="548640"/>
          </a:xfrm>
          <a:prstGeom prst="rect">
            <a:avLst/>
          </a:prstGeom>
          <a:noFill/>
        </p:spPr>
        <p:txBody>
          <a:bodyPr wrap="square" lIns="27432" rIns="27432" tIns="27432" bIns="27432" anchor="ctr">
            <a:spAutoFit/>
          </a:bodyPr>
          <a:lstStyle/>
          <a:p>
            <a:pPr algn="l"/>
            <a:r>
              <a:rPr sz="1900" b="1">
                <a:solidFill>
                  <a:srgbClr val="355C47"/>
                </a:solidFill>
                <a:latin typeface="Aptos Display"/>
              </a:rPr>
              <a:t>$13.7k</a:t>
            </a:r>
          </a:p>
        </p:txBody>
      </p:sp>
      <p:sp>
        <p:nvSpPr>
          <p:cNvPr id="26" name="Rounded Rectangle 25"/>
          <p:cNvSpPr/>
          <p:nvPr/>
        </p:nvSpPr>
        <p:spPr>
          <a:xfrm>
            <a:off x="2798064" y="4315968"/>
            <a:ext cx="1682496"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0" y="4425696"/>
            <a:ext cx="1426464" cy="164592"/>
          </a:xfrm>
          <a:prstGeom prst="rect">
            <a:avLst/>
          </a:prstGeom>
          <a:noFill/>
        </p:spPr>
        <p:txBody>
          <a:bodyPr wrap="square" lIns="27432" rIns="27432" tIns="27432" bIns="27432" anchor="t">
            <a:spAutoFit/>
          </a:bodyPr>
          <a:lstStyle/>
          <a:p>
            <a:pPr algn="l"/>
            <a:r>
              <a:rPr sz="1000" b="1">
                <a:solidFill>
                  <a:srgbClr val="5F6B63"/>
                </a:solidFill>
                <a:latin typeface="Aptos"/>
              </a:rPr>
              <a:t>TOP-5 MARGIN</a:t>
            </a:r>
          </a:p>
        </p:txBody>
      </p:sp>
      <p:sp>
        <p:nvSpPr>
          <p:cNvPr id="28" name="TextBox 27"/>
          <p:cNvSpPr txBox="1"/>
          <p:nvPr/>
        </p:nvSpPr>
        <p:spPr>
          <a:xfrm>
            <a:off x="2926080" y="4626864"/>
            <a:ext cx="1426464" cy="548640"/>
          </a:xfrm>
          <a:prstGeom prst="rect">
            <a:avLst/>
          </a:prstGeom>
          <a:noFill/>
        </p:spPr>
        <p:txBody>
          <a:bodyPr wrap="square" lIns="27432" rIns="27432" tIns="27432" bIns="27432" anchor="ctr">
            <a:spAutoFit/>
          </a:bodyPr>
          <a:lstStyle/>
          <a:p>
            <a:pPr algn="l"/>
            <a:r>
              <a:rPr sz="1900" b="1">
                <a:solidFill>
                  <a:srgbClr val="3F728A"/>
                </a:solidFill>
                <a:latin typeface="Aptos Display"/>
              </a:rPr>
              <a:t>69.7%</a:t>
            </a:r>
          </a:p>
        </p:txBody>
      </p:sp>
      <p:sp>
        <p:nvSpPr>
          <p:cNvPr id="29" name="Rounded Rectangle 28"/>
          <p:cNvSpPr/>
          <p:nvPr/>
        </p:nvSpPr>
        <p:spPr>
          <a:xfrm>
            <a:off x="4681728" y="4315968"/>
            <a:ext cx="1682496"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09744" y="4425696"/>
            <a:ext cx="1426464" cy="164592"/>
          </a:xfrm>
          <a:prstGeom prst="rect">
            <a:avLst/>
          </a:prstGeom>
          <a:noFill/>
        </p:spPr>
        <p:txBody>
          <a:bodyPr wrap="square" lIns="27432" rIns="27432" tIns="27432" bIns="27432" anchor="t">
            <a:spAutoFit/>
          </a:bodyPr>
          <a:lstStyle/>
          <a:p>
            <a:pPr algn="l"/>
            <a:r>
              <a:rPr sz="1000" b="1">
                <a:solidFill>
                  <a:srgbClr val="5F6B63"/>
                </a:solidFill>
                <a:latin typeface="Aptos"/>
              </a:rPr>
              <a:t>FREIGHT RESULT</a:t>
            </a:r>
          </a:p>
        </p:txBody>
      </p:sp>
      <p:sp>
        <p:nvSpPr>
          <p:cNvPr id="31" name="TextBox 30"/>
          <p:cNvSpPr txBox="1"/>
          <p:nvPr/>
        </p:nvSpPr>
        <p:spPr>
          <a:xfrm>
            <a:off x="4809744" y="4626864"/>
            <a:ext cx="1426464" cy="548640"/>
          </a:xfrm>
          <a:prstGeom prst="rect">
            <a:avLst/>
          </a:prstGeom>
          <a:noFill/>
        </p:spPr>
        <p:txBody>
          <a:bodyPr wrap="square" lIns="27432" rIns="27432" tIns="27432" bIns="27432" anchor="ctr">
            <a:spAutoFit/>
          </a:bodyPr>
          <a:lstStyle/>
          <a:p>
            <a:pPr algn="l"/>
            <a:r>
              <a:rPr sz="1900" b="1">
                <a:solidFill>
                  <a:srgbClr val="C58A2A"/>
                </a:solidFill>
                <a:latin typeface="Aptos Display"/>
              </a:rPr>
              <a:t>Same 5 cities</a:t>
            </a:r>
          </a:p>
        </p:txBody>
      </p:sp>
      <p:sp>
        <p:nvSpPr>
          <p:cNvPr id="32" name="Rounded Rectangle 31"/>
          <p:cNvSpPr/>
          <p:nvPr/>
        </p:nvSpPr>
        <p:spPr>
          <a:xfrm>
            <a:off x="7452360" y="1773936"/>
            <a:ext cx="4069080" cy="1152144"/>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98664" y="1911096"/>
            <a:ext cx="3776472" cy="219456"/>
          </a:xfrm>
          <a:prstGeom prst="rect">
            <a:avLst/>
          </a:prstGeom>
          <a:noFill/>
        </p:spPr>
        <p:txBody>
          <a:bodyPr wrap="square" lIns="27432" rIns="27432" tIns="27432" bIns="27432" anchor="t">
            <a:spAutoFit/>
          </a:bodyPr>
          <a:lstStyle/>
          <a:p>
            <a:pPr algn="l"/>
            <a:r>
              <a:rPr sz="1100" b="1">
                <a:solidFill>
                  <a:srgbClr val="5F6B63"/>
                </a:solidFill>
                <a:latin typeface="Aptos"/>
              </a:rPr>
              <a:t>ECONOMICS</a:t>
            </a:r>
          </a:p>
        </p:txBody>
      </p:sp>
      <p:sp>
        <p:nvSpPr>
          <p:cNvPr id="34" name="TextBox 33"/>
          <p:cNvSpPr txBox="1"/>
          <p:nvPr/>
        </p:nvSpPr>
        <p:spPr>
          <a:xfrm>
            <a:off x="7598664" y="2157984"/>
            <a:ext cx="3776472" cy="502920"/>
          </a:xfrm>
          <a:prstGeom prst="rect">
            <a:avLst/>
          </a:prstGeom>
          <a:noFill/>
        </p:spPr>
        <p:txBody>
          <a:bodyPr wrap="square" lIns="27432" rIns="27432" tIns="27432" bIns="27432" anchor="t">
            <a:spAutoFit/>
          </a:bodyPr>
          <a:lstStyle/>
          <a:p>
            <a:pPr algn="l"/>
            <a:r>
              <a:rPr sz="2400" b="1">
                <a:solidFill>
                  <a:srgbClr val="355C47"/>
                </a:solidFill>
                <a:latin typeface="Aptos Display"/>
              </a:rPr>
              <a:t>$13.7k avg profit</a:t>
            </a:r>
          </a:p>
        </p:txBody>
      </p:sp>
      <p:sp>
        <p:nvSpPr>
          <p:cNvPr id="35" name="TextBox 34"/>
          <p:cNvSpPr txBox="1"/>
          <p:nvPr/>
        </p:nvSpPr>
        <p:spPr>
          <a:xfrm>
            <a:off x="7598664" y="2651760"/>
            <a:ext cx="3776472" cy="128016"/>
          </a:xfrm>
          <a:prstGeom prst="rect">
            <a:avLst/>
          </a:prstGeom>
          <a:noFill/>
        </p:spPr>
        <p:txBody>
          <a:bodyPr wrap="square" lIns="27432" rIns="27432" tIns="27432" bIns="27432" anchor="t">
            <a:spAutoFit/>
          </a:bodyPr>
          <a:lstStyle/>
          <a:p>
            <a:pPr algn="l"/>
            <a:r>
              <a:rPr sz="1500" b="0">
                <a:solidFill>
                  <a:srgbClr val="1F2621"/>
                </a:solidFill>
                <a:latin typeface="Aptos"/>
              </a:rPr>
              <a:t>The top five produce a materially stronger average profit than the next tier.</a:t>
            </a:r>
          </a:p>
        </p:txBody>
      </p:sp>
      <p:sp>
        <p:nvSpPr>
          <p:cNvPr id="36" name="Rounded Rectangle 35"/>
          <p:cNvSpPr/>
          <p:nvPr/>
        </p:nvSpPr>
        <p:spPr>
          <a:xfrm>
            <a:off x="7452360" y="3127248"/>
            <a:ext cx="4069080" cy="1152144"/>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98664" y="3264408"/>
            <a:ext cx="3776472" cy="219456"/>
          </a:xfrm>
          <a:prstGeom prst="rect">
            <a:avLst/>
          </a:prstGeom>
          <a:noFill/>
        </p:spPr>
        <p:txBody>
          <a:bodyPr wrap="square" lIns="27432" rIns="27432" tIns="27432" bIns="27432" anchor="t">
            <a:spAutoFit/>
          </a:bodyPr>
          <a:lstStyle/>
          <a:p>
            <a:pPr algn="l"/>
            <a:r>
              <a:rPr sz="1100" b="1">
                <a:solidFill>
                  <a:srgbClr val="5F6B63"/>
                </a:solidFill>
                <a:latin typeface="Aptos"/>
              </a:rPr>
              <a:t>RESILIENCE</a:t>
            </a:r>
          </a:p>
        </p:txBody>
      </p:sp>
      <p:sp>
        <p:nvSpPr>
          <p:cNvPr id="38" name="TextBox 37"/>
          <p:cNvSpPr txBox="1"/>
          <p:nvPr/>
        </p:nvSpPr>
        <p:spPr>
          <a:xfrm>
            <a:off x="7598664" y="3511296"/>
            <a:ext cx="3776472" cy="502920"/>
          </a:xfrm>
          <a:prstGeom prst="rect">
            <a:avLst/>
          </a:prstGeom>
          <a:noFill/>
        </p:spPr>
        <p:txBody>
          <a:bodyPr wrap="square" lIns="27432" rIns="27432" tIns="27432" bIns="27432" anchor="t">
            <a:spAutoFit/>
          </a:bodyPr>
          <a:lstStyle/>
          <a:p>
            <a:pPr algn="l"/>
            <a:r>
              <a:rPr sz="2400" b="1">
                <a:solidFill>
                  <a:srgbClr val="3F728A"/>
                </a:solidFill>
                <a:latin typeface="Aptos Display"/>
              </a:rPr>
              <a:t>Same 5 cities</a:t>
            </a:r>
          </a:p>
        </p:txBody>
      </p:sp>
      <p:sp>
        <p:nvSpPr>
          <p:cNvPr id="39" name="TextBox 38"/>
          <p:cNvSpPr txBox="1"/>
          <p:nvPr/>
        </p:nvSpPr>
        <p:spPr>
          <a:xfrm>
            <a:off x="7598664" y="4005072"/>
            <a:ext cx="3776472" cy="128016"/>
          </a:xfrm>
          <a:prstGeom prst="rect">
            <a:avLst/>
          </a:prstGeom>
          <a:noFill/>
        </p:spPr>
        <p:txBody>
          <a:bodyPr wrap="square" lIns="27432" rIns="27432" tIns="27432" bIns="27432" anchor="t">
            <a:spAutoFit/>
          </a:bodyPr>
          <a:lstStyle/>
          <a:p>
            <a:pPr algn="l"/>
            <a:r>
              <a:rPr sz="1500" b="0">
                <a:solidFill>
                  <a:srgbClr val="1F2621"/>
                </a:solidFill>
                <a:latin typeface="Aptos"/>
              </a:rPr>
              <a:t>The ranking is unchanged in the base, +50%, and -50% freight cases.</a:t>
            </a:r>
          </a:p>
        </p:txBody>
      </p:sp>
      <p:sp>
        <p:nvSpPr>
          <p:cNvPr id="40" name="Rounded Rectangle 39"/>
          <p:cNvSpPr/>
          <p:nvPr/>
        </p:nvSpPr>
        <p:spPr>
          <a:xfrm>
            <a:off x="7452360" y="4480560"/>
            <a:ext cx="4069080" cy="1152144"/>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98664" y="4617720"/>
            <a:ext cx="3776472" cy="219456"/>
          </a:xfrm>
          <a:prstGeom prst="rect">
            <a:avLst/>
          </a:prstGeom>
          <a:noFill/>
        </p:spPr>
        <p:txBody>
          <a:bodyPr wrap="square" lIns="27432" rIns="27432" tIns="27432" bIns="27432" anchor="t">
            <a:spAutoFit/>
          </a:bodyPr>
          <a:lstStyle/>
          <a:p>
            <a:pPr algn="l"/>
            <a:r>
              <a:rPr sz="1100" b="1">
                <a:solidFill>
                  <a:srgbClr val="5F6B63"/>
                </a:solidFill>
                <a:latin typeface="Aptos"/>
              </a:rPr>
              <a:t>OPERATING DISCIPLINE</a:t>
            </a:r>
          </a:p>
        </p:txBody>
      </p:sp>
      <p:sp>
        <p:nvSpPr>
          <p:cNvPr id="42" name="TextBox 41"/>
          <p:cNvSpPr txBox="1"/>
          <p:nvPr/>
        </p:nvSpPr>
        <p:spPr>
          <a:xfrm>
            <a:off x="7598664" y="4864608"/>
            <a:ext cx="3776472" cy="502920"/>
          </a:xfrm>
          <a:prstGeom prst="rect">
            <a:avLst/>
          </a:prstGeom>
          <a:noFill/>
        </p:spPr>
        <p:txBody>
          <a:bodyPr wrap="square" lIns="27432" rIns="27432" tIns="27432" bIns="27432" anchor="t">
            <a:spAutoFit/>
          </a:bodyPr>
          <a:lstStyle/>
          <a:p>
            <a:pPr algn="l"/>
            <a:r>
              <a:rPr sz="2400" b="1">
                <a:solidFill>
                  <a:srgbClr val="C58A2A"/>
                </a:solidFill>
                <a:latin typeface="Aptos Display"/>
              </a:rPr>
              <a:t>Pilot before scale</a:t>
            </a:r>
          </a:p>
        </p:txBody>
      </p:sp>
      <p:sp>
        <p:nvSpPr>
          <p:cNvPr id="43" name="TextBox 42"/>
          <p:cNvSpPr txBox="1"/>
          <p:nvPr/>
        </p:nvSpPr>
        <p:spPr>
          <a:xfrm>
            <a:off x="7598664" y="5358384"/>
            <a:ext cx="3776472" cy="128016"/>
          </a:xfrm>
          <a:prstGeom prst="rect">
            <a:avLst/>
          </a:prstGeom>
          <a:noFill/>
        </p:spPr>
        <p:txBody>
          <a:bodyPr wrap="square" lIns="27432" rIns="27432" tIns="27432" bIns="27432" anchor="t">
            <a:spAutoFit/>
          </a:bodyPr>
          <a:lstStyle/>
          <a:p>
            <a:pPr algn="l"/>
            <a:r>
              <a:rPr sz="1500" b="0">
                <a:solidFill>
                  <a:srgbClr val="1F2621"/>
                </a:solidFill>
                <a:latin typeface="Aptos"/>
              </a:rPr>
              <a:t>Run the pilot first, then expand only where realized margin and service hold.</a:t>
            </a:r>
          </a:p>
        </p:txBody>
      </p:sp>
      <p:sp>
        <p:nvSpPr>
          <p:cNvPr id="44" name="Rounded Rectangle 43"/>
          <p:cNvSpPr/>
          <p:nvPr/>
        </p:nvSpPr>
        <p:spPr>
          <a:xfrm>
            <a:off x="7452360" y="5522976"/>
            <a:ext cx="4069080" cy="566928"/>
          </a:xfrm>
          <a:prstGeom prst="roundRect">
            <a:avLst/>
          </a:prstGeom>
          <a:solidFill>
            <a:srgbClr val="F7F3EC"/>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5669280"/>
            <a:ext cx="3657600" cy="164592"/>
          </a:xfrm>
          <a:prstGeom prst="rect">
            <a:avLst/>
          </a:prstGeom>
          <a:noFill/>
        </p:spPr>
        <p:txBody>
          <a:bodyPr wrap="square" lIns="27432" rIns="27432" tIns="27432" bIns="27432" anchor="t">
            <a:spAutoFit/>
          </a:bodyPr>
          <a:lstStyle/>
          <a:p>
            <a:pPr algn="l"/>
            <a:r>
              <a:rPr sz="1100" b="0">
                <a:solidFill>
                  <a:srgbClr val="1F2621"/>
                </a:solidFill>
                <a:latin typeface="Aptos"/>
              </a:rPr>
              <a:t>Next step: launch, measure realized economics, and scale selectively rather than assuming the full model is already proven.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APPENDIX</a:t>
            </a:r>
          </a:p>
        </p:txBody>
      </p:sp>
      <p:sp>
        <p:nvSpPr>
          <p:cNvPr id="7" name="TextBox 6"/>
          <p:cNvSpPr txBox="1"/>
          <p:nvPr/>
        </p:nvSpPr>
        <p:spPr>
          <a:xfrm>
            <a:off x="548640" y="6519672"/>
            <a:ext cx="3108960" cy="164592"/>
          </a:xfrm>
          <a:prstGeom prst="rect">
            <a:avLst/>
          </a:prstGeom>
          <a:noFill/>
        </p:spPr>
        <p:txBody>
          <a:bodyPr wrap="square" lIns="27432" rIns="27432" tIns="27432" bIns="27432" anchor="t">
            <a:spAutoFit/>
          </a:bodyPr>
          <a:lstStyle/>
          <a:p>
            <a:pPr algn="l"/>
            <a:r>
              <a:rPr sz="900" b="0">
                <a:solidFill>
                  <a:srgbClr val="5F6B63"/>
                </a:solidFill>
                <a:latin typeface="Aptos"/>
              </a:rPr>
              <a:t>SOURCES AND BACKUP</a:t>
            </a:r>
          </a:p>
        </p:txBody>
      </p:sp>
      <p:sp>
        <p:nvSpPr>
          <p:cNvPr id="8" name="TextBox 7"/>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40</a:t>
            </a:r>
          </a:p>
        </p:txBody>
      </p:sp>
      <p:sp>
        <p:nvSpPr>
          <p:cNvPr id="9" name="TextBox 8"/>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Backup map: sources, assumptions, and appendix exhibits</a:t>
            </a:r>
          </a:p>
        </p:txBody>
      </p:sp>
      <p:sp>
        <p:nvSpPr>
          <p:cNvPr id="10" name="Rounded Rectangle 9"/>
          <p:cNvSpPr/>
          <p:nvPr/>
        </p:nvSpPr>
        <p:spPr>
          <a:xfrm>
            <a:off x="713232" y="1664208"/>
            <a:ext cx="3657600" cy="42062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35424" y="1664208"/>
            <a:ext cx="3090672" cy="42062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90688" y="1664208"/>
            <a:ext cx="3657600" cy="42062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01952"/>
            <a:ext cx="2377440" cy="219456"/>
          </a:xfrm>
          <a:prstGeom prst="rect">
            <a:avLst/>
          </a:prstGeom>
          <a:noFill/>
        </p:spPr>
        <p:txBody>
          <a:bodyPr wrap="square" lIns="27432" rIns="27432" tIns="27432" bIns="27432" anchor="t">
            <a:spAutoFit/>
          </a:bodyPr>
          <a:lstStyle/>
          <a:p>
            <a:pPr algn="l"/>
            <a:r>
              <a:rPr sz="1500" b="1">
                <a:solidFill>
                  <a:srgbClr val="355C47"/>
                </a:solidFill>
                <a:latin typeface="Aptos Display"/>
              </a:rPr>
              <a:t>Primary sources</a:t>
            </a:r>
          </a:p>
        </p:txBody>
      </p:sp>
      <p:sp>
        <p:nvSpPr>
          <p:cNvPr id="14" name="TextBox 13"/>
          <p:cNvSpPr txBox="1"/>
          <p:nvPr/>
        </p:nvSpPr>
        <p:spPr>
          <a:xfrm>
            <a:off x="914400" y="2240280"/>
            <a:ext cx="3200400" cy="31546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case_full.md and case_context.md</a:t>
            </a:r>
          </a:p>
          <a:p>
            <a:pPr algn="l">
              <a:lnSpc>
                <a:spcPct val="115000"/>
              </a:lnSpc>
            </a:pPr>
            <a:r>
              <a:rPr sz="1300">
                <a:solidFill>
                  <a:srgbClr val="1F2621"/>
                </a:solidFill>
                <a:latin typeface="Aptos"/>
              </a:rPr>
              <a:t>- case_comp_data.csv</a:t>
            </a:r>
          </a:p>
          <a:p>
            <a:pPr algn="l">
              <a:lnSpc>
                <a:spcPct val="115000"/>
              </a:lnSpc>
            </a:pPr>
            <a:r>
              <a:rPr sz="1300">
                <a:solidFill>
                  <a:srgbClr val="1F2621"/>
                </a:solidFill>
                <a:latin typeface="Aptos"/>
              </a:rPr>
              <a:t>- outputs/question_1.md through outputs/question_9.md</a:t>
            </a:r>
          </a:p>
          <a:p>
            <a:pPr algn="l">
              <a:lnSpc>
                <a:spcPct val="115000"/>
              </a:lnSpc>
            </a:pPr>
            <a:r>
              <a:rPr sz="1300">
                <a:solidFill>
                  <a:srgbClr val="1F2621"/>
                </a:solidFill>
                <a:latin typeface="Aptos"/>
              </a:rPr>
              <a:t>- q5 to q7 profitability scenario CSVs</a:t>
            </a:r>
          </a:p>
          <a:p>
            <a:pPr algn="l">
              <a:lnSpc>
                <a:spcPct val="115000"/>
              </a:lnSpc>
            </a:pPr>
            <a:r>
              <a:rPr sz="1300">
                <a:solidFill>
                  <a:srgbClr val="1F2621"/>
                </a:solidFill>
                <a:latin typeface="Aptos"/>
              </a:rPr>
              <a:t>- q8 seasonality CSVs and charts</a:t>
            </a:r>
          </a:p>
        </p:txBody>
      </p:sp>
      <p:sp>
        <p:nvSpPr>
          <p:cNvPr id="15" name="TextBox 14"/>
          <p:cNvSpPr txBox="1"/>
          <p:nvPr/>
        </p:nvSpPr>
        <p:spPr>
          <a:xfrm>
            <a:off x="4736592" y="1901952"/>
            <a:ext cx="2194560" cy="219456"/>
          </a:xfrm>
          <a:prstGeom prst="rect">
            <a:avLst/>
          </a:prstGeom>
          <a:noFill/>
        </p:spPr>
        <p:txBody>
          <a:bodyPr wrap="square" lIns="27432" rIns="27432" tIns="27432" bIns="27432" anchor="t">
            <a:spAutoFit/>
          </a:bodyPr>
          <a:lstStyle/>
          <a:p>
            <a:pPr algn="l"/>
            <a:r>
              <a:rPr sz="1500" b="1">
                <a:solidFill>
                  <a:srgbClr val="355C47"/>
                </a:solidFill>
                <a:latin typeface="Aptos Display"/>
              </a:rPr>
              <a:t>Core assumptions</a:t>
            </a:r>
          </a:p>
        </p:txBody>
      </p:sp>
      <p:sp>
        <p:nvSpPr>
          <p:cNvPr id="16" name="TextBox 15"/>
          <p:cNvSpPr txBox="1"/>
          <p:nvPr/>
        </p:nvSpPr>
        <p:spPr>
          <a:xfrm>
            <a:off x="4736592" y="2240280"/>
            <a:ext cx="2670048" cy="31546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- 20,000-unit comparable city scorecards</a:t>
            </a:r>
          </a:p>
          <a:p>
            <a:pPr algn="l">
              <a:lnSpc>
                <a:spcPct val="115000"/>
              </a:lnSpc>
            </a:pPr>
            <a:r>
              <a:rPr sz="1300">
                <a:solidFill>
                  <a:srgbClr val="1F2621"/>
                </a:solidFill>
                <a:latin typeface="Aptos"/>
              </a:rPr>
              <a:t>- June 2025 retail price used as June 2026 proxy</a:t>
            </a:r>
          </a:p>
          <a:p>
            <a:pPr algn="l">
              <a:lnSpc>
                <a:spcPct val="115000"/>
              </a:lnSpc>
            </a:pPr>
            <a:r>
              <a:rPr sz="1300">
                <a:solidFill>
                  <a:srgbClr val="1F2621"/>
                </a:solidFill>
                <a:latin typeface="Aptos"/>
              </a:rPr>
              <a:t>- Wholesale price modeled at 40% of retail</a:t>
            </a:r>
          </a:p>
          <a:p>
            <a:pPr algn="l">
              <a:lnSpc>
                <a:spcPct val="115000"/>
              </a:lnSpc>
            </a:pPr>
            <a:r>
              <a:rPr sz="1300">
                <a:solidFill>
                  <a:srgbClr val="1F2621"/>
                </a:solidFill>
                <a:latin typeface="Aptos"/>
              </a:rPr>
              <a:t>- $0.20 acquisition cost per avocado</a:t>
            </a:r>
          </a:p>
          <a:p>
            <a:pPr algn="l">
              <a:lnSpc>
                <a:spcPct val="115000"/>
              </a:lnSpc>
            </a:pPr>
            <a:r>
              <a:rPr sz="1300">
                <a:solidFill>
                  <a:srgbClr val="1F2621"/>
                </a:solidFill>
                <a:latin typeface="Aptos"/>
              </a:rPr>
              <a:t>- Shipping = $1,500 fixed + $50 per 100 miles</a:t>
            </a:r>
          </a:p>
        </p:txBody>
      </p:sp>
      <p:sp>
        <p:nvSpPr>
          <p:cNvPr id="17" name="TextBox 16"/>
          <p:cNvSpPr txBox="1"/>
          <p:nvPr/>
        </p:nvSpPr>
        <p:spPr>
          <a:xfrm>
            <a:off x="8001000" y="1901952"/>
            <a:ext cx="2560320" cy="219456"/>
          </a:xfrm>
          <a:prstGeom prst="rect">
            <a:avLst/>
          </a:prstGeom>
          <a:noFill/>
        </p:spPr>
        <p:txBody>
          <a:bodyPr wrap="square" lIns="27432" rIns="27432" tIns="27432" bIns="27432" anchor="t">
            <a:spAutoFit/>
          </a:bodyPr>
          <a:lstStyle/>
          <a:p>
            <a:pPr algn="l"/>
            <a:r>
              <a:rPr sz="1500" b="1">
                <a:solidFill>
                  <a:srgbClr val="355C47"/>
                </a:solidFill>
                <a:latin typeface="Aptos Display"/>
              </a:rPr>
              <a:t>Backup exhibits available</a:t>
            </a:r>
          </a:p>
        </p:txBody>
      </p:sp>
      <p:sp>
        <p:nvSpPr>
          <p:cNvPr id="18" name="TextBox 17"/>
          <p:cNvSpPr txBox="1"/>
          <p:nvPr/>
        </p:nvSpPr>
        <p:spPr>
          <a:xfrm>
            <a:off x="8001000" y="2240280"/>
            <a:ext cx="3154680" cy="31546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Winner matrix and city trend lines</a:t>
            </a:r>
          </a:p>
          <a:p>
            <a:pPr algn="l">
              <a:lnSpc>
                <a:spcPct val="115000"/>
              </a:lnSpc>
            </a:pPr>
            <a:r>
              <a:rPr sz="1300">
                <a:solidFill>
                  <a:srgbClr val="1F2621"/>
                </a:solidFill>
                <a:latin typeface="Aptos"/>
              </a:rPr>
              <a:t>- Growth/share bridge and elasticity visuals</a:t>
            </a:r>
          </a:p>
          <a:p>
            <a:pPr algn="l">
              <a:lnSpc>
                <a:spcPct val="115000"/>
              </a:lnSpc>
            </a:pPr>
            <a:r>
              <a:rPr sz="1300">
                <a:solidFill>
                  <a:srgbClr val="1F2621"/>
                </a:solidFill>
                <a:latin typeface="Aptos"/>
              </a:rPr>
              <a:t>- Selection matrix, frontier zoom, and freight sensitivity</a:t>
            </a:r>
          </a:p>
          <a:p>
            <a:pPr algn="l">
              <a:lnSpc>
                <a:spcPct val="115000"/>
              </a:lnSpc>
            </a:pPr>
            <a:r>
              <a:rPr sz="1300">
                <a:solidFill>
                  <a:srgbClr val="1F2621"/>
                </a:solidFill>
                <a:latin typeface="Aptos"/>
              </a:rPr>
              <a:t>- Seasonality price and volume charts</a:t>
            </a:r>
          </a:p>
          <a:p>
            <a:pPr algn="l">
              <a:lnSpc>
                <a:spcPct val="115000"/>
              </a:lnSpc>
            </a:pPr>
            <a:r>
              <a:rPr sz="1300">
                <a:solidFill>
                  <a:srgbClr val="1F2621"/>
                </a:solidFill>
                <a:latin typeface="Aptos"/>
              </a:rPr>
              <a:t>- Model caveats and implementation stage gates</a:t>
            </a:r>
          </a:p>
        </p:txBody>
      </p:sp>
      <p:sp>
        <p:nvSpPr>
          <p:cNvPr id="19" name="TextBox 18"/>
          <p:cNvSpPr txBox="1"/>
          <p:nvPr/>
        </p:nvSpPr>
        <p:spPr>
          <a:xfrm>
            <a:off x="896112" y="6071616"/>
            <a:ext cx="10058400" cy="219456"/>
          </a:xfrm>
          <a:prstGeom prst="rect">
            <a:avLst/>
          </a:prstGeom>
          <a:noFill/>
        </p:spPr>
        <p:txBody>
          <a:bodyPr wrap="square" lIns="27432" rIns="27432" tIns="27432" bIns="27432" anchor="t">
            <a:spAutoFit/>
          </a:bodyPr>
          <a:lstStyle/>
          <a:p>
            <a:pPr algn="l"/>
            <a:r>
              <a:rPr sz="1200" b="0">
                <a:solidFill>
                  <a:srgbClr val="5F6B63"/>
                </a:solidFill>
                <a:latin typeface="Aptos"/>
              </a:rPr>
              <a:t>Use this appendix to answer questions on data scope, scenario assumptions, seasonality, or why the five-city recommendation stays stable under freight stress.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