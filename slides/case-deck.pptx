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6766560" cy="2011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3100" b="1">
                <a:solidFill>
                  <a:srgbClr val="355C47"/>
                </a:solidFill>
                <a:latin typeface="Aptos Display"/>
              </a:rPr>
              <a:t>Entering the Organic Hass
Avocado Market With Disciplined
Pilot Economics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56432"/>
            <a:ext cx="5303520" cy="7132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700" b="0">
                <a:solidFill>
                  <a:srgbClr val="1F2621"/>
                </a:solidFill>
                <a:latin typeface="Aptos"/>
              </a:rPr>
              <a:t>West Valley Fresh Distribution Company
2026 IMA Student Case Competition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315968"/>
            <a:ext cx="1783080" cy="30175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4325112"/>
            <a:ext cx="1709928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20,000 ORGANIC UNITS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9735" y="4315968"/>
            <a:ext cx="2834640" cy="30175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96311" y="4325112"/>
            <a:ext cx="2761488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40 CITY MARKETS IN SUPPLIED DATA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22391" y="4315968"/>
            <a:ext cx="2423160" cy="30175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58967" y="4325112"/>
            <a:ext cx="2350008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2019 TO JUNE 2025 HAB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892040"/>
            <a:ext cx="530352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0">
                <a:solidFill>
                  <a:srgbClr val="5F6B63"/>
                </a:solidFill>
                <a:latin typeface="Aptos"/>
              </a:rPr>
              <a:t>Prepared as an anonymized submission. The deck is designed to stand alone without speaker notes and focuses on profitability, volatility, and disciplined market entry.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"/>
            <a:ext cx="4114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EXECUTIVE 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A selective 5-city pilot is the strongest entry path for the 20,000-unit organic order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993392"/>
            <a:ext cx="2880360" cy="20574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130552"/>
            <a:ext cx="258775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RECOMMENDATION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377440"/>
            <a:ext cx="258775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355C47"/>
                </a:solidFill>
                <a:latin typeface="Aptos Display"/>
              </a:rPr>
              <a:t>5-city launch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2871216"/>
            <a:ext cx="2587752" cy="10332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Seattle, Boise, Portland, Spokane, and San Diego maximize expected profit under the June 2026 pricing assumption.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77639" y="1993392"/>
            <a:ext cx="2880360" cy="20574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23943" y="2130552"/>
            <a:ext cx="258775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BASE-CASE ECONOMICS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23943" y="2377440"/>
            <a:ext cx="258775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1F2621"/>
                </a:solidFill>
                <a:latin typeface="Aptos Display"/>
              </a:rPr>
              <a:t>$13.7k avg profit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23943" y="2871216"/>
            <a:ext cx="2587752" cy="10332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The selected cities pair premium June pricing with manageable miles, producing a top-five average margin of 69.7%.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06640" y="1993392"/>
            <a:ext cx="2880360" cy="20574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52944" y="2130552"/>
            <a:ext cx="258775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WHY IT IS RESILIENT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52944" y="2377440"/>
            <a:ext cx="258775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3F728A"/>
                </a:solidFill>
                <a:latin typeface="Aptos Display"/>
              </a:rPr>
              <a:t>Same 5 cities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52944" y="2871216"/>
            <a:ext cx="2587752" cy="10332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The recommendation does not change when shipping costs move up 50% or down 50%.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224528"/>
            <a:ext cx="1088136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5F6B63"/>
                </a:solidFill>
                <a:latin typeface="Aptos"/>
              </a:rPr>
              <a:t>Model note: each city is scored as a comparable 20,000-unit scenario using June 2025 retail price as the June 2026 proxy.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"/>
            <a:ext cx="4114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Seasonality creates a timing gap between volume and price</a:t>
            </a:r>
          </a:p>
        </p:txBody>
      </p:sp>
      <p:pic>
        <p:nvPicPr>
          <p:cNvPr id="12" name="Picture 11" descr="q8_seasonality_volu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06" y="1417320"/>
            <a:ext cx="4845403" cy="2834640"/>
          </a:xfrm>
          <a:prstGeom prst="rect">
            <a:avLst/>
          </a:prstGeom>
        </p:spPr>
      </p:pic>
      <p:pic>
        <p:nvPicPr>
          <p:cNvPr id="13" name="Picture 12" descr="q8_seasonality_pr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7299" y="1417320"/>
            <a:ext cx="4832777" cy="2834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407408"/>
            <a:ext cx="534924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Volume arrives early. Organic volume peaks in January, conventional peaks in May, and both soften into November.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4407408"/>
            <a:ext cx="534924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Price crests later. Both organic and conventional prices peak in July and bottom in February.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919472"/>
            <a:ext cx="10835640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700" b="0">
                <a:solidFill>
                  <a:srgbClr val="5F6B63"/>
                </a:solidFill>
                <a:latin typeface="Aptos"/>
              </a:rPr>
              <a:t>The market absorbs more units before it offers peak pricing, so timing affects margin capture, promotions, and inventory allocation.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"/>
            <a:ext cx="4114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4</a:t>
            </a:r>
          </a:p>
        </p:txBody>
      </p:sp>
      <p:pic>
        <p:nvPicPr>
          <p:cNvPr id="11" name="Picture 10" descr="deck_q2_growth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888580"/>
            <a:ext cx="11384280" cy="50259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"/>
            <a:ext cx="4114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The pilot screen should be price support, organic readiness, and route efficiency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1847088"/>
            <a:ext cx="2788920" cy="202996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984248"/>
            <a:ext cx="249631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PRICE SUPPORT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2231136"/>
            <a:ext cx="249631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355C47"/>
                </a:solidFill>
                <a:latin typeface="Aptos Display"/>
              </a:rPr>
              <a:t>$2.09 to $2.66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2724912"/>
            <a:ext cx="2496312" cy="10058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The selected five cities are also the five highest-price June 2025 organic markets in the model.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33087" y="1847088"/>
            <a:ext cx="2788920" cy="202996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9391" y="1984248"/>
            <a:ext cx="249631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ORGANIC READINESS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9391" y="2231136"/>
            <a:ext cx="249631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3F728A"/>
                </a:solidFill>
                <a:latin typeface="Aptos Display"/>
              </a:rPr>
              <a:t>Seattle leads 5 of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9391" y="2724912"/>
            <a:ext cx="2496312" cy="10058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Organic adoption is uneven by city, so total sales scale alone is not enough to pick the best launch markets.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52944" y="1847088"/>
            <a:ext cx="2788920" cy="202996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99248" y="1984248"/>
            <a:ext cx="249631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ROUTE EFFICIENCY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99248" y="2231136"/>
            <a:ext cx="249631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B5533A"/>
                </a:solidFill>
                <a:latin typeface="Aptos Display"/>
              </a:rPr>
              <a:t>$813 to $1.0k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99248" y="2724912"/>
            <a:ext cx="2496312" cy="10058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Even after a 50% freight increase, the recommended cities lose only about $0.8k to $1.0k each and keep the same ranking.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169663"/>
            <a:ext cx="1078992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5F6B63"/>
                </a:solidFill>
                <a:latin typeface="Aptos"/>
              </a:rPr>
              <a:t>This deck tests those three filters against sales leadership, organic mix, profitability, freight sensitivity, and seasonality.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"/>
            <a:ext cx="4114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MARKET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6</a:t>
            </a:r>
          </a:p>
        </p:txBody>
      </p:sp>
      <p:pic>
        <p:nvPicPr>
          <p:cNvPr id="11" name="Picture 10" descr="deck_q1_winner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69707"/>
            <a:ext cx="11384280" cy="386372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"/>
            <a:ext cx="4114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MARKET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7</a:t>
            </a:r>
          </a:p>
        </p:txBody>
      </p:sp>
      <p:pic>
        <p:nvPicPr>
          <p:cNvPr id="11" name="Picture 10" descr="deck_q1_conventional_top5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963" y="658368"/>
            <a:ext cx="10679313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"/>
            <a:ext cx="4114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MARKET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8</a:t>
            </a:r>
          </a:p>
        </p:txBody>
      </p:sp>
      <p:pic>
        <p:nvPicPr>
          <p:cNvPr id="11" name="Picture 10" descr="deck_q1_organic_top5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963" y="658368"/>
            <a:ext cx="10679313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"/>
            <a:ext cx="4114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MARKET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9</a:t>
            </a:r>
          </a:p>
        </p:txBody>
      </p:sp>
      <p:pic>
        <p:nvPicPr>
          <p:cNvPr id="11" name="Picture 10" descr="deck_q2_winner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422" y="658368"/>
            <a:ext cx="11336395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"/>
            <a:ext cx="4114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MARKET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10</a:t>
            </a:r>
          </a:p>
        </p:txBody>
      </p:sp>
      <p:pic>
        <p:nvPicPr>
          <p:cNvPr id="11" name="Picture 10" descr="deck_q2_growth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888580"/>
            <a:ext cx="11384280" cy="502597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"/>
            <a:ext cx="4114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MARKET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11</a:t>
            </a:r>
          </a:p>
        </p:txBody>
      </p:sp>
      <p:pic>
        <p:nvPicPr>
          <p:cNvPr id="11" name="Picture 10" descr="q3_price_volume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1813" y="658368"/>
            <a:ext cx="8983613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"/>
            <a:ext cx="4114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MARKET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12</a:t>
            </a:r>
          </a:p>
        </p:txBody>
      </p:sp>
      <p:pic>
        <p:nvPicPr>
          <p:cNvPr id="11" name="Picture 10" descr="deck_q3_within_type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800523"/>
            <a:ext cx="11384280" cy="520208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"/>
            <a:ext cx="4114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MARKET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87000" y="256032"/>
            <a:ext cx="1234440" cy="274320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05288" y="260604"/>
            <a:ext cx="119786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CONTEXT</a:t>
            </a:r>
          </a:p>
        </p:txBody>
      </p:sp>
      <p:pic>
        <p:nvPicPr>
          <p:cNvPr id="13" name="Picture 12" descr="deck_q4_macro_drive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87242"/>
            <a:ext cx="11384280" cy="402865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"/>
            <a:ext cx="4114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MARKET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87000" y="256032"/>
            <a:ext cx="1234440" cy="274320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05288" y="260604"/>
            <a:ext cx="119786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CONTEXT</a:t>
            </a:r>
          </a:p>
        </p:txBody>
      </p:sp>
      <p:pic>
        <p:nvPicPr>
          <p:cNvPr id="13" name="Picture 12" descr="deck_q4_city_micro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64991"/>
            <a:ext cx="11384280" cy="447315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"/>
            <a:ext cx="4114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MARKET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15</a:t>
            </a:r>
          </a:p>
        </p:txBody>
      </p:sp>
      <p:pic>
        <p:nvPicPr>
          <p:cNvPr id="11" name="Picture 10" descr="deck_q5_price_vs_m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810822"/>
            <a:ext cx="11384280" cy="518149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"/>
            <a:ext cx="4114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RECOMMENDATION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16</a:t>
            </a:r>
          </a:p>
        </p:txBody>
      </p:sp>
      <p:pic>
        <p:nvPicPr>
          <p:cNvPr id="11" name="Picture 10" descr="deck_q5_unit_economics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770746"/>
            <a:ext cx="11384280" cy="526164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"/>
            <a:ext cx="4114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RECOMMENDATION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17</a:t>
            </a:r>
          </a:p>
        </p:txBody>
      </p:sp>
      <p:pic>
        <p:nvPicPr>
          <p:cNvPr id="11" name="Picture 10" descr="deck_q5_price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883112"/>
            <a:ext cx="11384280" cy="503691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"/>
            <a:ext cx="4114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RECOMMENDATION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18</a:t>
            </a:r>
          </a:p>
        </p:txBody>
      </p:sp>
      <p:pic>
        <p:nvPicPr>
          <p:cNvPr id="11" name="Picture 10" descr="deck_q5_profit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631" y="658368"/>
            <a:ext cx="10165976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"/>
            <a:ext cx="4114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RECOMMENDATION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19</a:t>
            </a:r>
          </a:p>
        </p:txBody>
      </p:sp>
      <p:pic>
        <p:nvPicPr>
          <p:cNvPr id="11" name="Picture 10" descr="deck_q5_selec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798584"/>
            <a:ext cx="11384280" cy="520596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"/>
            <a:ext cx="4114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RECOMMENDATION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20</a:t>
            </a:r>
          </a:p>
        </p:txBody>
      </p:sp>
      <p:pic>
        <p:nvPicPr>
          <p:cNvPr id="11" name="Picture 10" descr="deck_q5_frontier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178" y="658368"/>
            <a:ext cx="10642882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"/>
            <a:ext cx="4114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RECOMMENDATION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21</a:t>
            </a:r>
          </a:p>
        </p:txBody>
      </p:sp>
      <p:pic>
        <p:nvPicPr>
          <p:cNvPr id="11" name="Picture 10" descr="deck_q6_up50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37677"/>
            <a:ext cx="11384280" cy="47277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"/>
            <a:ext cx="4114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RECOMMENDATION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22</a:t>
            </a:r>
          </a:p>
        </p:txBody>
      </p:sp>
      <p:pic>
        <p:nvPicPr>
          <p:cNvPr id="11" name="Picture 10" descr="deck_q6_down50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861" y="658368"/>
            <a:ext cx="10885516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"/>
            <a:ext cx="4114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RECOMMENDATION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23</a:t>
            </a:r>
          </a:p>
        </p:txBody>
      </p:sp>
      <p:pic>
        <p:nvPicPr>
          <p:cNvPr id="11" name="Picture 10" descr="deck_q7_rank_stability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808263"/>
            <a:ext cx="11384280" cy="5186609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"/>
            <a:ext cx="4114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RECOMMENDATION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24</a:t>
            </a:r>
          </a:p>
        </p:txBody>
      </p:sp>
      <p:pic>
        <p:nvPicPr>
          <p:cNvPr id="11" name="Picture 10" descr="deck_q7_shipping_torn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2308"/>
            <a:ext cx="11384280" cy="469851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"/>
            <a:ext cx="4114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RECOMMENDATION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25</a:t>
            </a:r>
          </a:p>
        </p:txBody>
      </p:sp>
      <p:pic>
        <p:nvPicPr>
          <p:cNvPr id="11" name="Picture 10" descr="deck_q7_price_vs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42913"/>
            <a:ext cx="11384280" cy="491730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"/>
            <a:ext cx="4114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SEASONALITY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26</a:t>
            </a:r>
          </a:p>
        </p:txBody>
      </p:sp>
      <p:pic>
        <p:nvPicPr>
          <p:cNvPr id="11" name="Picture 10" descr="q8_seasonality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738" y="658368"/>
            <a:ext cx="9353762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"/>
            <a:ext cx="4114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SEASONALITY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27</a:t>
            </a:r>
          </a:p>
        </p:txBody>
      </p:sp>
      <p:pic>
        <p:nvPicPr>
          <p:cNvPr id="11" name="Picture 10" descr="q8_seasonality_volu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519" y="658368"/>
            <a:ext cx="9378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"/>
            <a:ext cx="4114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SEASONALITY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56032"/>
            <a:ext cx="1280160" cy="274320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59568" y="260604"/>
            <a:ext cx="124358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INFERENCE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Seasonality should change when West Valley pushes volume and when it protects margin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1993392"/>
            <a:ext cx="713232" cy="43891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084832"/>
            <a:ext cx="71323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Jan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17904" y="1993392"/>
            <a:ext cx="713232" cy="43891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17904" y="2084832"/>
            <a:ext cx="71323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Feb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50008" y="1993392"/>
            <a:ext cx="713232" cy="43891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50008" y="2084832"/>
            <a:ext cx="71323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Mar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82112" y="1993392"/>
            <a:ext cx="713232" cy="43891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82112" y="2084832"/>
            <a:ext cx="71323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Apr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14216" y="1993392"/>
            <a:ext cx="713232" cy="43891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14216" y="2084832"/>
            <a:ext cx="71323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May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46320" y="1993392"/>
            <a:ext cx="713232" cy="438912"/>
          </a:xfrm>
          <a:prstGeom prst="roundRect">
            <a:avLst/>
          </a:prstGeom>
          <a:solidFill>
            <a:srgbClr val="FCFAF5"/>
          </a:solidFill>
          <a:ln>
            <a:solidFill>
              <a:srgbClr val="FCF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0" y="2084832"/>
            <a:ext cx="71323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1F2621"/>
                </a:solidFill>
                <a:latin typeface="Aptos"/>
              </a:rPr>
              <a:t>Jun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78424" y="1993392"/>
            <a:ext cx="713232" cy="438912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78424" y="2084832"/>
            <a:ext cx="71323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Jul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10528" y="1993392"/>
            <a:ext cx="713232" cy="438912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2084832"/>
            <a:ext cx="71323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Aug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42632" y="1993392"/>
            <a:ext cx="713232" cy="438912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42632" y="2084832"/>
            <a:ext cx="71323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Sep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74736" y="1993392"/>
            <a:ext cx="713232" cy="438912"/>
          </a:xfrm>
          <a:prstGeom prst="roundRect">
            <a:avLst/>
          </a:prstGeom>
          <a:solidFill>
            <a:srgbClr val="D8D1C6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74736" y="2084832"/>
            <a:ext cx="71323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1F2621"/>
                </a:solidFill>
                <a:latin typeface="Aptos"/>
              </a:rPr>
              <a:t>Oct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06840" y="1993392"/>
            <a:ext cx="713232" cy="438912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06840" y="2084832"/>
            <a:ext cx="71323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Nov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838944" y="1993392"/>
            <a:ext cx="713232" cy="438912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38944" y="2084832"/>
            <a:ext cx="71323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Dec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" y="2880360"/>
            <a:ext cx="3337560" cy="18288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536" y="3017520"/>
            <a:ext cx="304495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PUSH VOLUME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6" y="3264408"/>
            <a:ext cx="304495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355C47"/>
                </a:solidFill>
                <a:latin typeface="Aptos Display"/>
              </a:rPr>
              <a:t>Jan to May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9536" y="3758184"/>
            <a:ext cx="3044952" cy="8046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Prioritize service, retailer availability, and flow discipline while market volume is naturally strongest.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425696" y="2880360"/>
            <a:ext cx="3337560" cy="18288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0" y="3017520"/>
            <a:ext cx="304495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PROTECT MARGIN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3264408"/>
            <a:ext cx="304495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C58A2A"/>
                </a:solidFill>
                <a:latin typeface="Aptos Display"/>
              </a:rPr>
              <a:t>Jul to Sep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3758184"/>
            <a:ext cx="3044952" cy="8046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Hold pricing discipline and allocate the strongest fruit to the best-paying markets while price support is highest.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38160" y="2880360"/>
            <a:ext cx="3337560" cy="18288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84464" y="3017520"/>
            <a:ext cx="304495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STIMULATE DEMAND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84464" y="3264408"/>
            <a:ext cx="304495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3F728A"/>
                </a:solidFill>
                <a:latin typeface="Aptos Display"/>
              </a:rPr>
              <a:t>Nov to Feb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84464" y="3758184"/>
            <a:ext cx="3044952" cy="8046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Use promotions, alternate channels, and tighter inventory planning when both types face softer volume months.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5074920"/>
            <a:ext cx="1078992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5F6B63"/>
                </a:solidFill>
                <a:latin typeface="Aptos"/>
              </a:rPr>
              <a:t>Organic volume peaks in Jan while price peaks in Jul; that gap is the operating lever.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"/>
            <a:ext cx="4114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SEASONALITY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56032"/>
            <a:ext cx="1280160" cy="274320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59568" y="260604"/>
            <a:ext cx="124358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INFERENCE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A monthly operating calendar can convert seasonality from risk into advantage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0080" y="1554480"/>
          <a:ext cx="10506456" cy="3182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749808"/>
                <a:gridCol w="749808"/>
                <a:gridCol w="749808"/>
                <a:gridCol w="749808"/>
                <a:gridCol w="749808"/>
                <a:gridCol w="749808"/>
                <a:gridCol w="749808"/>
                <a:gridCol w="749808"/>
                <a:gridCol w="749808"/>
                <a:gridCol w="749808"/>
                <a:gridCol w="749808"/>
                <a:gridCol w="749808"/>
              </a:tblGrid>
              <a:tr h="795528">
                <a:tc>
                  <a:txBody>
                    <a:bodyPr/>
                    <a:lstStyle/>
                    <a:p>
                      <a:pPr algn="ct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621"/>
                          </a:solidFill>
                          <a:latin typeface="Aptos"/>
                        </a:rPr>
                        <a:t>Jan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621"/>
                          </a:solidFill>
                          <a:latin typeface="Aptos"/>
                        </a:rPr>
                        <a:t>Feb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621"/>
                          </a:solidFill>
                          <a:latin typeface="Aptos"/>
                        </a:rPr>
                        <a:t>Mar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621"/>
                          </a:solidFill>
                          <a:latin typeface="Aptos"/>
                        </a:rPr>
                        <a:t>Apr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621"/>
                          </a:solidFill>
                          <a:latin typeface="Aptos"/>
                        </a:rPr>
                        <a:t>May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621"/>
                          </a:solidFill>
                          <a:latin typeface="Aptos"/>
                        </a:rPr>
                        <a:t>Jun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621"/>
                          </a:solidFill>
                          <a:latin typeface="Aptos"/>
                        </a:rPr>
                        <a:t>Jul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621"/>
                          </a:solidFill>
                          <a:latin typeface="Aptos"/>
                        </a:rPr>
                        <a:t>Aug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621"/>
                          </a:solidFill>
                          <a:latin typeface="Aptos"/>
                        </a:rPr>
                        <a:t>Sep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621"/>
                          </a:solidFill>
                          <a:latin typeface="Aptos"/>
                        </a:rPr>
                        <a:t>Oct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621"/>
                          </a:solidFill>
                          <a:latin typeface="Aptos"/>
                        </a:rPr>
                        <a:t>Nov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621"/>
                          </a:solidFill>
                          <a:latin typeface="Aptos"/>
                        </a:rPr>
                        <a:t>Dec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621"/>
                          </a:solidFill>
                          <a:latin typeface="Aptos"/>
                        </a:rPr>
                        <a:t>Commercial posture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Stimulate</a:t>
                      </a:r>
                    </a:p>
                  </a:txBody>
                  <a:tcPr>
                    <a:solidFill>
                      <a:srgbClr val="3F72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Stimulate</a:t>
                      </a:r>
                    </a:p>
                  </a:txBody>
                  <a:tcPr>
                    <a:solidFill>
                      <a:srgbClr val="3F72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Support</a:t>
                      </a:r>
                    </a:p>
                  </a:txBody>
                  <a:tcPr>
                    <a:solidFill>
                      <a:srgbClr val="889A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Support</a:t>
                      </a:r>
                    </a:p>
                  </a:txBody>
                  <a:tcPr>
                    <a:solidFill>
                      <a:srgbClr val="889A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Service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621"/>
                          </a:solidFill>
                          <a:latin typeface="Aptos"/>
                        </a:rPr>
                        <a:t>Balance</a:t>
                      </a:r>
                    </a:p>
                  </a:txBody>
                  <a:tcPr>
                    <a:solidFill>
                      <a:srgbClr val="D8D1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Protect</a:t>
                      </a:r>
                    </a:p>
                  </a:txBody>
                  <a:tcPr>
                    <a:solidFill>
                      <a:srgbClr val="C58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Protect</a:t>
                      </a:r>
                    </a:p>
                  </a:txBody>
                  <a:tcPr>
                    <a:solidFill>
                      <a:srgbClr val="C58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Protect</a:t>
                      </a:r>
                    </a:p>
                  </a:txBody>
                  <a:tcPr>
                    <a:solidFill>
                      <a:srgbClr val="C58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Rebalance</a:t>
                      </a:r>
                    </a:p>
                  </a:txBody>
                  <a:tcPr>
                    <a:solidFill>
                      <a:srgbClr val="B553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Stimulate</a:t>
                      </a:r>
                    </a:p>
                  </a:txBody>
                  <a:tcPr>
                    <a:solidFill>
                      <a:srgbClr val="3F72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Stimulate</a:t>
                      </a:r>
                    </a:p>
                  </a:txBody>
                  <a:tcPr>
                    <a:solidFill>
                      <a:srgbClr val="3F728A"/>
                    </a:solidFill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621"/>
                          </a:solidFill>
                          <a:latin typeface="Aptos"/>
                        </a:rPr>
                        <a:t>Supply posture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Flex up</a:t>
                      </a:r>
                    </a:p>
                  </a:txBody>
                  <a:tcPr>
                    <a:solidFill>
                      <a:srgbClr val="889A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Flex up</a:t>
                      </a:r>
                    </a:p>
                  </a:txBody>
                  <a:tcPr>
                    <a:solidFill>
                      <a:srgbClr val="889A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Flex up</a:t>
                      </a:r>
                    </a:p>
                  </a:txBody>
                  <a:tcPr>
                    <a:solidFill>
                      <a:srgbClr val="889A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Flex up</a:t>
                      </a:r>
                    </a:p>
                  </a:txBody>
                  <a:tcPr>
                    <a:solidFill>
                      <a:srgbClr val="889A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Peak flow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621"/>
                          </a:solidFill>
                          <a:latin typeface="Aptos"/>
                        </a:rPr>
                        <a:t>Normalize</a:t>
                      </a:r>
                    </a:p>
                  </a:txBody>
                  <a:tcPr>
                    <a:solidFill>
                      <a:srgbClr val="D8D1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Tighten mix</a:t>
                      </a:r>
                    </a:p>
                  </a:txBody>
                  <a:tcPr>
                    <a:solidFill>
                      <a:srgbClr val="C58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Tighten mix</a:t>
                      </a:r>
                    </a:p>
                  </a:txBody>
                  <a:tcPr>
                    <a:solidFill>
                      <a:srgbClr val="C58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Tighten mix</a:t>
                      </a:r>
                    </a:p>
                  </a:txBody>
                  <a:tcPr>
                    <a:solidFill>
                      <a:srgbClr val="C58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Reset</a:t>
                      </a:r>
                    </a:p>
                  </a:txBody>
                  <a:tcPr>
                    <a:solidFill>
                      <a:srgbClr val="B553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Flex down</a:t>
                      </a:r>
                    </a:p>
                  </a:txBody>
                  <a:tcPr>
                    <a:solidFill>
                      <a:srgbClr val="3F72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Flex down</a:t>
                      </a:r>
                    </a:p>
                  </a:txBody>
                  <a:tcPr>
                    <a:solidFill>
                      <a:srgbClr val="3F728A"/>
                    </a:solidFill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621"/>
                          </a:solidFill>
                          <a:latin typeface="Aptos"/>
                        </a:rPr>
                        <a:t>Operating focus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Forecast</a:t>
                      </a:r>
                    </a:p>
                  </a:txBody>
                  <a:tcPr>
                    <a:solidFill>
                      <a:srgbClr val="889A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Promote</a:t>
                      </a:r>
                    </a:p>
                  </a:txBody>
                  <a:tcPr>
                    <a:solidFill>
                      <a:srgbClr val="3F72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Allocate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Allocate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Service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F2621"/>
                          </a:solidFill>
                          <a:latin typeface="Aptos"/>
                        </a:rPr>
                        <a:t>Audit</a:t>
                      </a:r>
                    </a:p>
                  </a:txBody>
                  <a:tcPr>
                    <a:solidFill>
                      <a:srgbClr val="D8D1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Margin</a:t>
                      </a:r>
                    </a:p>
                  </a:txBody>
                  <a:tcPr>
                    <a:solidFill>
                      <a:srgbClr val="C58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Margin</a:t>
                      </a:r>
                    </a:p>
                  </a:txBody>
                  <a:tcPr>
                    <a:solidFill>
                      <a:srgbClr val="C58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Margin</a:t>
                      </a:r>
                    </a:p>
                  </a:txBody>
                  <a:tcPr>
                    <a:solidFill>
                      <a:srgbClr val="C58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Plan</a:t>
                      </a:r>
                    </a:p>
                  </a:txBody>
                  <a:tcPr>
                    <a:solidFill>
                      <a:srgbClr val="B553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Clear</a:t>
                      </a:r>
                    </a:p>
                  </a:txBody>
                  <a:tcPr>
                    <a:solidFill>
                      <a:srgbClr val="3F72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Review</a:t>
                      </a:r>
                    </a:p>
                  </a:txBody>
                  <a:tcPr>
                    <a:solidFill>
                      <a:srgbClr val="889A83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48640" y="5047488"/>
            <a:ext cx="1069848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5F6B63"/>
                </a:solidFill>
                <a:latin typeface="Aptos"/>
              </a:rPr>
              <a:t>Suggested cadence: Jan-May prioritize service and flow, Jul-Sep protect margin, and Nov-Feb stimulate demand while tightening inventory.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"/>
            <a:ext cx="4114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SEASONALITY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56032"/>
            <a:ext cx="1280160" cy="274320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59568" y="260604"/>
            <a:ext cx="124358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INFERENCE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Growers need flexible contracts, better cold-chain readiness, and alternate lanes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828800"/>
            <a:ext cx="3154680" cy="242316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1965960"/>
            <a:ext cx="286207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CONTRACT TIERS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2212848"/>
            <a:ext cx="286207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355C47"/>
                </a:solidFill>
                <a:latin typeface="Aptos Display"/>
              </a:rPr>
              <a:t>Base + flex volume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2706624"/>
            <a:ext cx="2862072" cy="1399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Lock a stable base volume, then add seasonal flex tiers so supply expands without overcommitting year-round.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1828800"/>
            <a:ext cx="3154680" cy="242316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1144" y="1965960"/>
            <a:ext cx="286207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COLD-CHAIN READINESS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2212848"/>
            <a:ext cx="286207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3F728A"/>
                </a:solidFill>
                <a:latin typeface="Aptos Display"/>
              </a:rPr>
              <a:t>Protect service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1144" y="2706624"/>
            <a:ext cx="2862072" cy="1399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Use better storage, transit monitoring, and receiving discipline during peak months to cut spoilage and stockouts.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19872" y="1828800"/>
            <a:ext cx="3154680" cy="242316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6176" y="1965960"/>
            <a:ext cx="286207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ALTERNATE LANES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6176" y="2212848"/>
            <a:ext cx="286207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B5533A"/>
                </a:solidFill>
                <a:latin typeface="Aptos Display"/>
              </a:rPr>
              <a:t>Reduce disruption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6" y="2706624"/>
            <a:ext cx="2862072" cy="1399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Build backup carriers and routes so freight volatility or lane disruption does not force reactive city choices.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498848"/>
            <a:ext cx="1051560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5F6B63"/>
                </a:solidFill>
                <a:latin typeface="Aptos"/>
              </a:rPr>
              <a:t>These actions translate Q9 into supply-side discipline rather than generic risk language.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"/>
            <a:ext cx="4114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SEASONALITY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56032"/>
            <a:ext cx="1280160" cy="274320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59568" y="260604"/>
            <a:ext cx="124358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INFERENCE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Trade associations should smooth demand in off-peak months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783080"/>
            <a:ext cx="4663440" cy="150876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" y="1920240"/>
            <a:ext cx="437083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CONSUMER MESSAGING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2167128"/>
            <a:ext cx="437083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355C47"/>
                </a:solidFill>
                <a:latin typeface="Aptos Display"/>
              </a:rPr>
              <a:t>Recipes + health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2660904"/>
            <a:ext cx="4370832" cy="4846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Use recipe content and health messaging in softer months to keep avocados visible in weekly shopping decisions.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81344" y="1783080"/>
            <a:ext cx="4663440" cy="150876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920240"/>
            <a:ext cx="437083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CHANNEL MIX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2167128"/>
            <a:ext cx="437083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3F728A"/>
                </a:solidFill>
                <a:latin typeface="Aptos Display"/>
              </a:rPr>
              <a:t>Food-service + institutional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7648" y="2660904"/>
            <a:ext cx="4370832" cy="4846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Shift more volume through restaurants, prepared foods, and institutional buyers when retail pull weakens.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703320"/>
            <a:ext cx="4663440" cy="150876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840480"/>
            <a:ext cx="437083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PROMO TIMING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" y="4087368"/>
            <a:ext cx="437083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C58A2A"/>
                </a:solidFill>
                <a:latin typeface="Aptos Display"/>
              </a:rPr>
              <a:t>Promote when the market is soft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" y="4581144"/>
            <a:ext cx="4370832" cy="4846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Reserve the strongest promotional calendar for low-volume months instead of discounting away naturally strong demand.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1344" y="3703320"/>
            <a:ext cx="4663440" cy="150876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7648" y="3840480"/>
            <a:ext cx="437083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TRADE SUPPORT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7648" y="4087368"/>
            <a:ext cx="437083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B5533A"/>
                </a:solidFill>
                <a:latin typeface="Aptos Display"/>
              </a:rPr>
              <a:t>Joint campaigns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7648" y="4581144"/>
            <a:ext cx="4370832" cy="4846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Coordinate with trade associations on seasonal education campaigns so promotions align with the month-by-month operating calendar.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"/>
            <a:ext cx="4114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SEASONALITY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56032"/>
            <a:ext cx="1280160" cy="274320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59568" y="260604"/>
            <a:ext cx="124358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INFERENCE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A shared monthly S&amp;OP cadence can align growers, West Valley, and retail partners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1828800"/>
            <a:ext cx="3063240" cy="169164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1965960"/>
            <a:ext cx="277063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GROWERS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" y="2212848"/>
            <a:ext cx="277063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355C47"/>
                </a:solidFill>
                <a:latin typeface="Aptos Display"/>
              </a:rPr>
              <a:t>Supply commitment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" y="2706624"/>
            <a:ext cx="2770632" cy="6675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Set base volume, flex volume, and harvest timing updates by month.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26279" y="1828800"/>
            <a:ext cx="3063240" cy="169164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2583" y="1965960"/>
            <a:ext cx="277063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WEST VALLEY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72583" y="2212848"/>
            <a:ext cx="277063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3F728A"/>
                </a:solidFill>
                <a:latin typeface="Aptos Display"/>
              </a:rPr>
              <a:t>Control tower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72583" y="2706624"/>
            <a:ext cx="2770632" cy="6675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Translate price, demand, and freight signals into allocation decisions.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75319" y="1828800"/>
            <a:ext cx="3063240" cy="169164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21623" y="1965960"/>
            <a:ext cx="277063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RETAILERS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21623" y="2212848"/>
            <a:ext cx="277063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C58A2A"/>
                </a:solidFill>
                <a:latin typeface="Aptos Display"/>
              </a:rPr>
              <a:t>Demand signal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1623" y="2706624"/>
            <a:ext cx="2770632" cy="6675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Provide promo calendars, replenishment risk, and reorder visibility.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886200" y="2697480"/>
            <a:ext cx="411480" cy="0"/>
          </a:xfrm>
          <a:prstGeom prst="line">
            <a:avLst/>
          </a:prstGeom>
          <a:ln w="254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635240" y="2697480"/>
            <a:ext cx="411479" cy="0"/>
          </a:xfrm>
          <a:prstGeom prst="line">
            <a:avLst/>
          </a:prstGeom>
          <a:ln w="254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1234440" y="3977639"/>
            <a:ext cx="9738360" cy="141732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63040" y="4206240"/>
            <a:ext cx="928116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700" b="1">
                <a:solidFill>
                  <a:srgbClr val="355C47"/>
                </a:solidFill>
                <a:latin typeface="Aptos Display"/>
              </a:rPr>
              <a:t>Monthly cadence: Forecast demand -&gt; lock commitments -&gt; allocate by city -&gt; review realized margin and service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4553712"/>
            <a:ext cx="914400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1F2621"/>
                </a:solidFill>
                <a:latin typeface="Aptos"/>
              </a:rPr>
              <a:t>- Run the review monthly, not quarterly, because the volume-price gap changes within the season.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1F2621"/>
                </a:solidFill>
                <a:latin typeface="Aptos"/>
              </a:rPr>
              <a:t>- Use the same cycle to adjust grower commitments, routing, and retailer promotion timing.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"/>
            <a:ext cx="4114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IMPLEMENTATION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Launch the 2026 pilot first, then scale what the market confirms</a:t>
            </a:r>
          </a:p>
        </p:txBody>
      </p:sp>
      <p:sp>
        <p:nvSpPr>
          <p:cNvPr id="12" name="Oval 11"/>
          <p:cNvSpPr/>
          <p:nvPr/>
        </p:nvSpPr>
        <p:spPr>
          <a:xfrm>
            <a:off x="1737360" y="1828800"/>
            <a:ext cx="914400" cy="914400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83080" y="2057400"/>
            <a:ext cx="8229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FCFAF5"/>
                </a:solidFill>
                <a:latin typeface="Aptos Display"/>
              </a:rPr>
              <a:t>2026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880360"/>
            <a:ext cx="2880360" cy="169164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017520"/>
            <a:ext cx="258775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" y="3264408"/>
            <a:ext cx="258775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355C47"/>
                </a:solidFill>
                <a:latin typeface="Aptos Display"/>
              </a:rPr>
              <a:t>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" y="3758184"/>
            <a:ext cx="2587752" cy="6675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Launch the five-city test, validate realized margin, and refine routing assumptions.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85032" y="2286000"/>
            <a:ext cx="804671" cy="0"/>
          </a:xfrm>
          <a:prstGeom prst="line">
            <a:avLst/>
          </a:prstGeom>
          <a:ln w="254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486399" y="1828800"/>
            <a:ext cx="914400" cy="914400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32119" y="2057400"/>
            <a:ext cx="8229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FCFAF5"/>
                </a:solidFill>
                <a:latin typeface="Aptos Display"/>
              </a:rPr>
              <a:t>2027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26279" y="2880360"/>
            <a:ext cx="2880360" cy="169164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72583" y="3017520"/>
            <a:ext cx="258775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EXPAND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72583" y="3264408"/>
            <a:ext cx="258775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3F728A"/>
                </a:solidFill>
                <a:latin typeface="Aptos Display"/>
              </a:rPr>
              <a:t>2027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72583" y="3758184"/>
            <a:ext cx="2587752" cy="6675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Add retailer coverage only where realized economics and service levels hold.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434071" y="2286000"/>
            <a:ext cx="804671" cy="0"/>
          </a:xfrm>
          <a:prstGeom prst="line">
            <a:avLst/>
          </a:prstGeom>
          <a:ln w="254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9235439" y="1828800"/>
            <a:ext cx="914400" cy="914400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81159" y="2057400"/>
            <a:ext cx="8229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600" b="1">
                <a:solidFill>
                  <a:srgbClr val="FCFAF5"/>
                </a:solidFill>
                <a:latin typeface="Aptos Display"/>
              </a:rPr>
              <a:t>2028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75319" y="2880360"/>
            <a:ext cx="2880360" cy="169164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21623" y="3017520"/>
            <a:ext cx="258775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OPTIMIZE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21623" y="3264408"/>
            <a:ext cx="258775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C58A2A"/>
                </a:solidFill>
                <a:latin typeface="Aptos Display"/>
              </a:rPr>
              <a:t>2028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21623" y="3758184"/>
            <a:ext cx="2587752" cy="6675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Tighten contracts, allocation logic, and seasonal operating rules.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"/>
            <a:ext cx="4114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IMPLEMENTATION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Pilot KPIs should focus on margin, service, spoilage, and repeat orders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1691640"/>
            <a:ext cx="3108960" cy="157276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828800"/>
            <a:ext cx="281635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MARGIN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075688"/>
            <a:ext cx="281635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355C47"/>
                </a:solidFill>
                <a:latin typeface="Aptos Display"/>
              </a:rPr>
              <a:t>Realized gross margin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2569464"/>
            <a:ext cx="2816352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Confirms whether forecast economics survive execution.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53128" y="1691640"/>
            <a:ext cx="3108960" cy="157276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9432" y="1828800"/>
            <a:ext cx="281635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FREIGHT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9432" y="2075688"/>
            <a:ext cx="281635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3F728A"/>
                </a:solidFill>
                <a:latin typeface="Aptos Display"/>
              </a:rPr>
              <a:t>Freight per unit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9432" y="2569464"/>
            <a:ext cx="2816352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Shows whether routing and lane discipline are improving.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56448" y="1691640"/>
            <a:ext cx="3108960" cy="157276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2752" y="1828800"/>
            <a:ext cx="281635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SERVICE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2752" y="2075688"/>
            <a:ext cx="281635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889A83"/>
                </a:solidFill>
                <a:latin typeface="Aptos Display"/>
              </a:rPr>
              <a:t>Fill rate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2752" y="2569464"/>
            <a:ext cx="2816352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Measures retailer execution quality during seasonal peaks.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3657600"/>
            <a:ext cx="3108960" cy="157276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3794760"/>
            <a:ext cx="281635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SHRINK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4041648"/>
            <a:ext cx="281635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B5533A"/>
                </a:solidFill>
                <a:latin typeface="Aptos Display"/>
              </a:rPr>
              <a:t>Spoilage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" y="4535424"/>
            <a:ext cx="2816352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Captures cold-chain and freshness failures directly.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53128" y="3657600"/>
            <a:ext cx="3108960" cy="157276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99432" y="3794760"/>
            <a:ext cx="281635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DEMAND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99432" y="4041648"/>
            <a:ext cx="281635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C58A2A"/>
                </a:solidFill>
                <a:latin typeface="Aptos Display"/>
              </a:rPr>
              <a:t>Reorder 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99432" y="4535424"/>
            <a:ext cx="2816352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Tests whether pilot demand is repeatable, not one-off.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56448" y="3657600"/>
            <a:ext cx="3108960" cy="157276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02752" y="3794760"/>
            <a:ext cx="281635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PLANNING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02752" y="4041648"/>
            <a:ext cx="281635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3F728A"/>
                </a:solidFill>
                <a:latin typeface="Aptos Display"/>
              </a:rPr>
              <a:t>Forecast accuracy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2752" y="4535424"/>
            <a:ext cx="2816352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Shows whether monthly S&amp;OP is improving allocation decisions.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"/>
            <a:ext cx="4114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IMPLEMENTATION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Expansion should follow stage gates, not automatic geography growth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057400"/>
            <a:ext cx="2331720" cy="201168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2194560"/>
            <a:ext cx="203911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GATE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441448"/>
            <a:ext cx="203911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355C47"/>
                </a:solidFill>
                <a:latin typeface="Aptos Display"/>
              </a:rPr>
              <a:t>Pilot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935224"/>
            <a:ext cx="2039112" cy="9875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Launch and collect clean economics by city.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99232" y="3035808"/>
            <a:ext cx="402336" cy="0"/>
          </a:xfrm>
          <a:prstGeom prst="line">
            <a:avLst/>
          </a:prstGeom>
          <a:ln w="254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474720" y="2057400"/>
            <a:ext cx="2331720" cy="201168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2194560"/>
            <a:ext cx="203911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GATE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1024" y="2441448"/>
            <a:ext cx="203911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355C47"/>
                </a:solidFill>
                <a:latin typeface="Aptos Display"/>
              </a:rPr>
              <a:t>Economics verified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21024" y="2935224"/>
            <a:ext cx="2039112" cy="9875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Confirm realized margin and freight per unit.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833872" y="3035808"/>
            <a:ext cx="402336" cy="0"/>
          </a:xfrm>
          <a:prstGeom prst="line">
            <a:avLst/>
          </a:prstGeom>
          <a:ln w="254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09360" y="2057400"/>
            <a:ext cx="2331720" cy="201168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55664" y="2194560"/>
            <a:ext cx="203911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GATE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2441448"/>
            <a:ext cx="203911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3F728A"/>
                </a:solidFill>
                <a:latin typeface="Aptos Display"/>
              </a:rPr>
              <a:t>Service verified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2935224"/>
            <a:ext cx="2039112" cy="9875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Confirm fill rate, spoilage control, and retailer reorder behavior.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68512" y="3035808"/>
            <a:ext cx="402336" cy="0"/>
          </a:xfrm>
          <a:prstGeom prst="line">
            <a:avLst/>
          </a:prstGeom>
          <a:ln w="254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144000" y="2057400"/>
            <a:ext cx="2331720" cy="201168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90304" y="2194560"/>
            <a:ext cx="203911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DECISION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90304" y="2441448"/>
            <a:ext cx="203911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C58A2A"/>
                </a:solidFill>
                <a:latin typeface="Aptos Display"/>
              </a:rPr>
              <a:t>Scale selectively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90304" y="2935224"/>
            <a:ext cx="2039112" cy="9875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Expand only where pilot evidence remains strong.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736592"/>
            <a:ext cx="1069848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5F6B63"/>
                </a:solidFill>
                <a:latin typeface="Aptos"/>
              </a:rPr>
              <a:t>This avoids pretending the current model can allocate the full 20,000-unit order with exact retailer-level precision.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"/>
            <a:ext cx="4114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RISKS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56032"/>
            <a:ext cx="1280160" cy="274320"/>
          </a:xfrm>
          <a:prstGeom prst="roundRect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59568" y="260604"/>
            <a:ext cx="124358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INFERENCE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The highest-risk threats are freight spikes, import disruptions, and forecast error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1600200"/>
            <a:ext cx="8869680" cy="402336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5394960" y="1783080"/>
            <a:ext cx="0" cy="3630168"/>
          </a:xfrm>
          <a:prstGeom prst="line">
            <a:avLst/>
          </a:prstGeom>
          <a:ln w="2032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88720" y="3611880"/>
            <a:ext cx="8366760" cy="0"/>
          </a:xfrm>
          <a:prstGeom prst="line">
            <a:avLst/>
          </a:prstGeom>
          <a:ln w="2032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251960" y="1673352"/>
            <a:ext cx="22860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5F6B63"/>
                </a:solidFill>
                <a:latin typeface="Aptos"/>
              </a:rPr>
              <a:t>High impact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5440680"/>
            <a:ext cx="22860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5F6B63"/>
                </a:solidFill>
                <a:latin typeface="Aptos"/>
              </a:rPr>
              <a:t>Low impact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37560"/>
            <a:ext cx="82296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5F6B63"/>
                </a:solidFill>
                <a:latin typeface="Aptos"/>
              </a:rPr>
              <a:t>Low
prob.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3337560"/>
            <a:ext cx="82296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5F6B63"/>
                </a:solidFill>
                <a:latin typeface="Aptos"/>
              </a:rPr>
              <a:t>High
prob.</a:t>
            </a:r>
          </a:p>
        </p:txBody>
      </p:sp>
      <p:sp>
        <p:nvSpPr>
          <p:cNvPr id="21" name="Oval 20"/>
          <p:cNvSpPr/>
          <p:nvPr/>
        </p:nvSpPr>
        <p:spPr>
          <a:xfrm>
            <a:off x="7863840" y="2377440"/>
            <a:ext cx="749808" cy="74980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19" y="3145536"/>
            <a:ext cx="132588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0">
                <a:solidFill>
                  <a:srgbClr val="1F2621"/>
                </a:solidFill>
                <a:latin typeface="Aptos"/>
              </a:rPr>
              <a:t>Freight spikes</a:t>
            </a:r>
          </a:p>
        </p:txBody>
      </p:sp>
      <p:sp>
        <p:nvSpPr>
          <p:cNvPr id="23" name="Oval 22"/>
          <p:cNvSpPr/>
          <p:nvPr/>
        </p:nvSpPr>
        <p:spPr>
          <a:xfrm>
            <a:off x="6217920" y="2148840"/>
            <a:ext cx="749808" cy="74980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0" y="2916936"/>
            <a:ext cx="132588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0">
                <a:solidFill>
                  <a:srgbClr val="1F2621"/>
                </a:solidFill>
                <a:latin typeface="Aptos"/>
              </a:rPr>
              <a:t>Import disruption</a:t>
            </a:r>
          </a:p>
        </p:txBody>
      </p:sp>
      <p:sp>
        <p:nvSpPr>
          <p:cNvPr id="25" name="Oval 24"/>
          <p:cNvSpPr/>
          <p:nvPr/>
        </p:nvSpPr>
        <p:spPr>
          <a:xfrm>
            <a:off x="7223760" y="3017520"/>
            <a:ext cx="749808" cy="74980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0" y="3785615"/>
            <a:ext cx="132588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0">
                <a:solidFill>
                  <a:srgbClr val="1F2621"/>
                </a:solidFill>
                <a:latin typeface="Aptos"/>
              </a:rPr>
              <a:t>Forecast error</a:t>
            </a:r>
          </a:p>
        </p:txBody>
      </p:sp>
      <p:sp>
        <p:nvSpPr>
          <p:cNvPr id="27" name="Oval 26"/>
          <p:cNvSpPr/>
          <p:nvPr/>
        </p:nvSpPr>
        <p:spPr>
          <a:xfrm>
            <a:off x="6583680" y="4023360"/>
            <a:ext cx="749808" cy="74980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4791456"/>
            <a:ext cx="132588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0">
                <a:solidFill>
                  <a:srgbClr val="1F2621"/>
                </a:solidFill>
                <a:latin typeface="Aptos"/>
              </a:rPr>
              <a:t>Retailer uptake</a:t>
            </a:r>
          </a:p>
        </p:txBody>
      </p:sp>
      <p:sp>
        <p:nvSpPr>
          <p:cNvPr id="29" name="Oval 28"/>
          <p:cNvSpPr/>
          <p:nvPr/>
        </p:nvSpPr>
        <p:spPr>
          <a:xfrm>
            <a:off x="5486400" y="3840480"/>
            <a:ext cx="749808" cy="74980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2080" y="4608576"/>
            <a:ext cx="132588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0">
                <a:solidFill>
                  <a:srgbClr val="1F2621"/>
                </a:solidFill>
                <a:latin typeface="Aptos"/>
              </a:rPr>
              <a:t>Spoilage</a:t>
            </a:r>
          </a:p>
        </p:txBody>
      </p:sp>
      <p:sp>
        <p:nvSpPr>
          <p:cNvPr id="31" name="Oval 30"/>
          <p:cNvSpPr/>
          <p:nvPr/>
        </p:nvSpPr>
        <p:spPr>
          <a:xfrm>
            <a:off x="4754880" y="2926080"/>
            <a:ext cx="749808" cy="74980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60" y="3694176"/>
            <a:ext cx="132588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0">
                <a:solidFill>
                  <a:srgbClr val="1F2621"/>
                </a:solidFill>
                <a:latin typeface="Aptos"/>
              </a:rPr>
              <a:t>Labor pressure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"/>
            <a:ext cx="4114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RISKS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Each major risk has a specific operational countermeasure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58368" y="1600200"/>
          <a:ext cx="108356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6400800"/>
                <a:gridCol w="2240280"/>
              </a:tblGrid>
              <a:tr h="65836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621"/>
                          </a:solidFill>
                          <a:latin typeface="Aptos"/>
                        </a:rPr>
                        <a:t>Risk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621"/>
                          </a:solidFill>
                          <a:latin typeface="Aptos"/>
                        </a:rPr>
                        <a:t>Countermeasure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621"/>
                          </a:solidFill>
                          <a:latin typeface="Aptos"/>
                        </a:rPr>
                        <a:t>Owner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621"/>
                          </a:solidFill>
                          <a:latin typeface="Aptos"/>
                        </a:rPr>
                        <a:t>Freight spikes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621"/>
                          </a:solidFill>
                          <a:latin typeface="Aptos"/>
                        </a:rPr>
                        <a:t>Lock core carrier capacity and maintain alternate lanes.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621"/>
                          </a:solidFill>
                          <a:latin typeface="Aptos"/>
                        </a:rPr>
                        <a:t>Logistics lead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621"/>
                          </a:solidFill>
                          <a:latin typeface="Aptos"/>
                        </a:rPr>
                        <a:t>Import or supply disruption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621"/>
                          </a:solidFill>
                          <a:latin typeface="Aptos"/>
                        </a:rPr>
                        <a:t>Use flexible grower contracts and staggered commitments.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621"/>
                          </a:solidFill>
                          <a:latin typeface="Aptos"/>
                        </a:rPr>
                        <a:t>Sourcing lead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621"/>
                          </a:solidFill>
                          <a:latin typeface="Aptos"/>
                        </a:rPr>
                        <a:t>Spoilage / service failures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621"/>
                          </a:solidFill>
                          <a:latin typeface="Aptos"/>
                        </a:rPr>
                        <a:t>Tighten cold-chain controls and receiving discipline.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621"/>
                          </a:solidFill>
                          <a:latin typeface="Aptos"/>
                        </a:rPr>
                        <a:t>Operations lead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621"/>
                          </a:solidFill>
                          <a:latin typeface="Aptos"/>
                        </a:rPr>
                        <a:t>Forecast error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621"/>
                          </a:solidFill>
                          <a:latin typeface="Aptos"/>
                        </a:rPr>
                        <a:t>Run monthly S&amp;OP and reallocate by city using realized demand.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621"/>
                          </a:solidFill>
                          <a:latin typeface="Aptos"/>
                        </a:rPr>
                        <a:t>Commercial lead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621"/>
                          </a:solidFill>
                          <a:latin typeface="Aptos"/>
                        </a:rPr>
                        <a:t>Retailer uptake risk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621"/>
                          </a:solidFill>
                          <a:latin typeface="Aptos"/>
                        </a:rPr>
                        <a:t>Require stage gates before expanding beyond the pilot.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621"/>
                          </a:solidFill>
                          <a:latin typeface="Aptos"/>
                        </a:rPr>
                        <a:t>General manager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"/>
            <a:ext cx="4114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14432" y="256032"/>
            <a:ext cx="1170432" cy="274320"/>
          </a:xfrm>
          <a:prstGeom prst="roundRect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0" y="260604"/>
            <a:ext cx="1133856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CAVEAT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The current model is strong enough for city selection but not yet for exact allocation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737360"/>
            <a:ext cx="5212080" cy="361188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1737360"/>
            <a:ext cx="5212080" cy="361188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1938528"/>
            <a:ext cx="18288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1">
                <a:solidFill>
                  <a:srgbClr val="355C47"/>
                </a:solidFill>
                <a:latin typeface="Aptos Display"/>
              </a:rPr>
              <a:t>What the model does well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240280"/>
            <a:ext cx="4663440" cy="2743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>
                <a:solidFill>
                  <a:srgbClr val="1F2621"/>
                </a:solidFill>
                <a:latin typeface="Aptos"/>
              </a:rPr>
              <a:t>- The case text references 41 metro regions, but the cleaned dataset resolves to 40 city markets.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1F2621"/>
                </a:solidFill>
                <a:latin typeface="Aptos"/>
              </a:rPr>
              <a:t>- 2025 data is partial year only and should not be read as a full-year comparison period.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1F2621"/>
                </a:solidFill>
                <a:latin typeface="Aptos"/>
              </a:rPr>
              <a:t>- The city ranking uses comparable 20,000-unit scorecards for selection, not a retailer-level allocation model.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21031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1">
                <a:solidFill>
                  <a:srgbClr val="B5533A"/>
                </a:solidFill>
                <a:latin typeface="Aptos Display"/>
              </a:rPr>
              <a:t>What it does not do yet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40280"/>
            <a:ext cx="4663440" cy="2743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>
                <a:solidFill>
                  <a:srgbClr val="1F2621"/>
                </a:solidFill>
                <a:latin typeface="Aptos"/>
              </a:rPr>
              <a:t>- The model uses June 2025 retail price as the simple forecast for June 2026 retail price.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1F2621"/>
                </a:solidFill>
                <a:latin typeface="Aptos"/>
              </a:rPr>
              <a:t>- It does not include spoilage shrink, retailer-specific demand curves, or a fully expanded operating cost stack.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1F2621"/>
                </a:solidFill>
                <a:latin typeface="Aptos"/>
              </a:rPr>
              <a:t>- All 40 city scenarios remain profitable even at +50% shipping, so the choice is about optimization, not survival.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"/>
            <a:ext cx="4114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CONCLUSION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West Valley should pursue a 5-city organic entry with structured discipline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1737360"/>
            <a:ext cx="3840480" cy="347472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93392"/>
            <a:ext cx="33832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RECOMMENDATION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304288"/>
            <a:ext cx="320040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355C47"/>
                </a:solidFill>
                <a:latin typeface="Aptos Display"/>
              </a:rPr>
              <a:t>Launch the 5-city pilot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3246120" cy="1645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>
                <a:solidFill>
                  <a:srgbClr val="1F2621"/>
                </a:solidFill>
                <a:latin typeface="Aptos"/>
              </a:rPr>
              <a:t>- Seattle, Boise, Portland, Spokane, and San Diego maximize expected profit.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1F2621"/>
                </a:solidFill>
                <a:latin typeface="Aptos"/>
              </a:rPr>
              <a:t>- The same five remain top-ranked in the base, +50%, and -50% shipping scenarios.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1F2621"/>
                </a:solidFill>
                <a:latin typeface="Aptos"/>
              </a:rPr>
              <a:t>- Seasonality requires monthly operating discipline, not a static annual plan.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10912" y="1828800"/>
            <a:ext cx="5486400" cy="96012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7216" y="1965960"/>
            <a:ext cx="519379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ECONOMICS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2212848"/>
            <a:ext cx="519379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355C47"/>
                </a:solidFill>
                <a:latin typeface="Aptos Display"/>
              </a:rPr>
              <a:t>$13.7k avg profit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2706624"/>
            <a:ext cx="5193792" cy="-640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Base case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10912" y="2971800"/>
            <a:ext cx="5486400" cy="96012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57216" y="3108960"/>
            <a:ext cx="519379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RESILIENCE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57216" y="3355848"/>
            <a:ext cx="519379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3F728A"/>
                </a:solidFill>
                <a:latin typeface="Aptos Display"/>
              </a:rPr>
              <a:t>Same 5 cities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3849624"/>
            <a:ext cx="5193792" cy="-640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All three shipping scenarios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10912" y="4114800"/>
            <a:ext cx="5486400" cy="96012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57216" y="4251960"/>
            <a:ext cx="519379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OPERATING DISCIPLINE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57216" y="4498848"/>
            <a:ext cx="519379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C58A2A"/>
                </a:solidFill>
                <a:latin typeface="Aptos Display"/>
              </a:rPr>
              <a:t>Volume before price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57216" y="4992624"/>
            <a:ext cx="5193792" cy="-640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Plan by month, not by annual average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559552"/>
            <a:ext cx="1069848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5F6B63"/>
                </a:solidFill>
                <a:latin typeface="Aptos"/>
              </a:rPr>
              <a:t>Next decision: run the pilot, measure realized economics, and scale only where the pilot confirms the model.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235440" cy="128016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235440" y="0"/>
            <a:ext cx="2956255" cy="128016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18288"/>
            <a:ext cx="2377440" cy="2377440"/>
          </a:xfrm>
          <a:prstGeom prst="ellipse">
            <a:avLst/>
          </a:prstGeom>
          <a:noFill/>
          <a:ln w="508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64040" y="18288"/>
            <a:ext cx="1783080" cy="1783080"/>
          </a:xfrm>
          <a:prstGeom prst="ellipse">
            <a:avLst/>
          </a:prstGeom>
          <a:noFill/>
          <a:ln w="38100"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64040" y="18288"/>
            <a:ext cx="1051560" cy="1051560"/>
          </a:xfrm>
          <a:prstGeom prst="ellipse">
            <a:avLst/>
          </a:prstGeom>
          <a:noFill/>
          <a:ln w="381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"/>
            <a:ext cx="4114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APPENDIX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SOURCES AND BACKUP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Q&amp;A / backup: sources, assumptions, and supporting tables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1719072"/>
            <a:ext cx="5212080" cy="384048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1719072"/>
            <a:ext cx="5212080" cy="384048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1938528"/>
            <a:ext cx="237744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1">
                <a:solidFill>
                  <a:srgbClr val="355C47"/>
                </a:solidFill>
                <a:latin typeface="Aptos Display"/>
              </a:rPr>
              <a:t>Primary sources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240280"/>
            <a:ext cx="4572000" cy="2834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>
                <a:solidFill>
                  <a:srgbClr val="1F2621"/>
                </a:solidFill>
                <a:latin typeface="Aptos"/>
              </a:rPr>
              <a:t>- case_full.md and case_context.md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1F2621"/>
                </a:solidFill>
                <a:latin typeface="Aptos"/>
              </a:rPr>
              <a:t>- case_comp_data.csv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1F2621"/>
                </a:solidFill>
                <a:latin typeface="Aptos"/>
              </a:rPr>
              <a:t>- outputs/question_1.md through outputs/question_9.md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1F2621"/>
                </a:solidFill>
                <a:latin typeface="Aptos"/>
              </a:rPr>
              <a:t>- outputs/q5_city_profitability_base.csv and scenario variants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1F2621"/>
                </a:solidFill>
                <a:latin typeface="Aptos"/>
              </a:rPr>
              <a:t>- outputs/q8_monthly_seasonality.csv and supporting charts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1938528"/>
            <a:ext cx="25603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1">
                <a:solidFill>
                  <a:srgbClr val="355C47"/>
                </a:solidFill>
                <a:latin typeface="Aptos Display"/>
              </a:rPr>
              <a:t>Backup exhibits available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240280"/>
            <a:ext cx="4572000" cy="2834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>
                <a:solidFill>
                  <a:srgbClr val="1F2621"/>
                </a:solidFill>
                <a:latin typeface="Aptos"/>
              </a:rPr>
              <a:t>- Winner matrix and city trend lines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1F2621"/>
                </a:solidFill>
                <a:latin typeface="Aptos"/>
              </a:rPr>
              <a:t>- Growth/share bridge and elasticity visuals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1F2621"/>
                </a:solidFill>
                <a:latin typeface="Aptos"/>
              </a:rPr>
              <a:t>- Selection matrix, frontier zoom, and freight sensitivity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1F2621"/>
                </a:solidFill>
                <a:latin typeface="Aptos"/>
              </a:rPr>
              <a:t>- Seasonality price and volume charts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1F2621"/>
                </a:solidFill>
                <a:latin typeface="Aptos"/>
              </a:rPr>
              <a:t>- Model caveats and implementation stage gates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