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55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46920" y="0"/>
            <a:ext cx="2542032" cy="73152"/>
          </a:xfrm>
          <a:prstGeom prst="rect">
            <a:avLst/>
          </a:prstGeom>
          <a:solidFill>
            <a:srgbClr val="C58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519672"/>
            <a:ext cx="3108960" cy="164592"/>
          </a:xfrm>
          <a:prstGeom prst="rect">
            <a:avLst/>
          </a:prstGeom>
          <a:noFill/>
        </p:spPr>
        <p:txBody>
          <a:bodyPr wrap="square" lIns="27432" rIns="27432" tIns="27432" bIns="27432" anchor="t">
            <a:spAutoFit/>
          </a:bodyPr>
          <a:lstStyle/>
          <a:p>
            <a:pPr algn="l"/>
            <a:r>
              <a:rPr sz="900" b="0">
                <a:solidFill>
                  <a:srgbClr val="5F6B63"/>
                </a:solidFill>
                <a:latin typeface="Aptos"/>
              </a:rPr>
              <a:t>ANONYMIZED TEAM SUBMISSION</a:t>
            </a:r>
          </a:p>
        </p:txBody>
      </p:sp>
      <p:sp>
        <p:nvSpPr>
          <p:cNvPr id="6" name="TextBox 5"/>
          <p:cNvSpPr txBox="1"/>
          <p:nvPr/>
        </p:nvSpPr>
        <p:spPr>
          <a:xfrm>
            <a:off x="11631168" y="6519672"/>
            <a:ext cx="274320" cy="164592"/>
          </a:xfrm>
          <a:prstGeom prst="rect">
            <a:avLst/>
          </a:prstGeom>
          <a:noFill/>
        </p:spPr>
        <p:txBody>
          <a:bodyPr wrap="square" lIns="27432" rIns="27432" tIns="27432" bIns="27432" anchor="t">
            <a:spAutoFit/>
          </a:bodyPr>
          <a:lstStyle/>
          <a:p>
            <a:pPr algn="r"/>
            <a:r>
              <a:rPr sz="900" b="0">
                <a:solidFill>
                  <a:srgbClr val="5F6B63"/>
                </a:solidFill>
                <a:latin typeface="Aptos"/>
              </a:rPr>
              <a:t>1</a:t>
            </a:r>
          </a:p>
        </p:txBody>
      </p:sp>
      <p:sp>
        <p:nvSpPr>
          <p:cNvPr id="7" name="Rounded Rectangle 6"/>
          <p:cNvSpPr/>
          <p:nvPr/>
        </p:nvSpPr>
        <p:spPr>
          <a:xfrm>
            <a:off x="10021824" y="256032"/>
            <a:ext cx="1353312" cy="274320"/>
          </a:xfrm>
          <a:prstGeom prst="roundRect">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40112" y="260604"/>
            <a:ext cx="1316736" cy="219456"/>
          </a:xfrm>
          <a:prstGeom prst="rect">
            <a:avLst/>
          </a:prstGeom>
          <a:noFill/>
        </p:spPr>
        <p:txBody>
          <a:bodyPr wrap="square" lIns="27432" rIns="27432" tIns="27432" bIns="27432" anchor="ctr">
            <a:spAutoFit/>
          </a:bodyPr>
          <a:lstStyle/>
          <a:p>
            <a:pPr algn="ctr"/>
            <a:r>
              <a:rPr sz="1100" b="1">
                <a:solidFill>
                  <a:srgbClr val="FCFAF5"/>
                </a:solidFill>
                <a:latin typeface="Aptos"/>
              </a:rPr>
              <a:t>DECISION DECK</a:t>
            </a:r>
          </a:p>
        </p:txBody>
      </p:sp>
      <p:sp>
        <p:nvSpPr>
          <p:cNvPr id="9" name="TextBox 8"/>
          <p:cNvSpPr txBox="1"/>
          <p:nvPr/>
        </p:nvSpPr>
        <p:spPr>
          <a:xfrm>
            <a:off x="548640" y="859536"/>
            <a:ext cx="5349240" cy="182880"/>
          </a:xfrm>
          <a:prstGeom prst="rect">
            <a:avLst/>
          </a:prstGeom>
          <a:noFill/>
        </p:spPr>
        <p:txBody>
          <a:bodyPr wrap="square" lIns="27432" rIns="27432" tIns="27432" bIns="27432" anchor="t">
            <a:spAutoFit/>
          </a:bodyPr>
          <a:lstStyle/>
          <a:p>
            <a:pPr algn="l"/>
            <a:r>
              <a:rPr sz="1100" b="1">
                <a:solidFill>
                  <a:srgbClr val="5F6B63"/>
                </a:solidFill>
                <a:latin typeface="Aptos"/>
              </a:rPr>
              <a:t>WEST VALLEY FRESH DISTRIBUTION COMPANY</a:t>
            </a:r>
          </a:p>
        </p:txBody>
      </p:sp>
      <p:sp>
        <p:nvSpPr>
          <p:cNvPr id="10" name="TextBox 9"/>
          <p:cNvSpPr txBox="1"/>
          <p:nvPr/>
        </p:nvSpPr>
        <p:spPr>
          <a:xfrm>
            <a:off x="548640" y="1133856"/>
            <a:ext cx="6583680" cy="1737360"/>
          </a:xfrm>
          <a:prstGeom prst="rect">
            <a:avLst/>
          </a:prstGeom>
          <a:noFill/>
        </p:spPr>
        <p:txBody>
          <a:bodyPr wrap="square" lIns="27432" rIns="27432" tIns="27432" bIns="27432" anchor="t">
            <a:spAutoFit/>
          </a:bodyPr>
          <a:lstStyle/>
          <a:p>
            <a:pPr algn="l"/>
            <a:r>
              <a:rPr sz="2900" b="1">
                <a:solidFill>
                  <a:srgbClr val="355C47"/>
                </a:solidFill>
                <a:latin typeface="Aptos Display"/>
              </a:rPr>
              <a:t>A disciplined 5-city pilot is the right way to enter organic Hass avocados</a:t>
            </a:r>
          </a:p>
        </p:txBody>
      </p:sp>
      <p:sp>
        <p:nvSpPr>
          <p:cNvPr id="11" name="TextBox 10"/>
          <p:cNvSpPr txBox="1"/>
          <p:nvPr/>
        </p:nvSpPr>
        <p:spPr>
          <a:xfrm>
            <a:off x="548640" y="2907792"/>
            <a:ext cx="6309360" cy="585216"/>
          </a:xfrm>
          <a:prstGeom prst="rect">
            <a:avLst/>
          </a:prstGeom>
          <a:noFill/>
        </p:spPr>
        <p:txBody>
          <a:bodyPr wrap="square" lIns="27432" rIns="27432" tIns="27432" bIns="27432" anchor="t">
            <a:spAutoFit/>
          </a:bodyPr>
          <a:lstStyle/>
          <a:p>
            <a:pPr algn="l"/>
            <a:r>
              <a:rPr sz="1500" b="0">
                <a:solidFill>
                  <a:srgbClr val="1F2621"/>
                </a:solidFill>
                <a:latin typeface="Aptos"/>
              </a:rPr>
              <a:t>This deck argues for a selective launch, not a broad rollout, by testing price support, organic readiness, freight resilience, and seasonality in the supplied city data.</a:t>
            </a:r>
          </a:p>
        </p:txBody>
      </p:sp>
      <p:sp>
        <p:nvSpPr>
          <p:cNvPr id="12" name="Rounded Rectangle 11"/>
          <p:cNvSpPr/>
          <p:nvPr/>
        </p:nvSpPr>
        <p:spPr>
          <a:xfrm>
            <a:off x="548640" y="3822191"/>
            <a:ext cx="2011680" cy="841248"/>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6656" y="3931919"/>
            <a:ext cx="1755648" cy="164592"/>
          </a:xfrm>
          <a:prstGeom prst="rect">
            <a:avLst/>
          </a:prstGeom>
          <a:noFill/>
        </p:spPr>
        <p:txBody>
          <a:bodyPr wrap="square" lIns="27432" rIns="27432" tIns="27432" bIns="27432" anchor="t">
            <a:spAutoFit/>
          </a:bodyPr>
          <a:lstStyle/>
          <a:p>
            <a:pPr algn="l"/>
            <a:r>
              <a:rPr sz="1000" b="1">
                <a:solidFill>
                  <a:srgbClr val="5F6B63"/>
                </a:solidFill>
                <a:latin typeface="Aptos"/>
              </a:rPr>
              <a:t>PILOT ORDER</a:t>
            </a:r>
          </a:p>
        </p:txBody>
      </p:sp>
      <p:sp>
        <p:nvSpPr>
          <p:cNvPr id="14" name="TextBox 13"/>
          <p:cNvSpPr txBox="1"/>
          <p:nvPr/>
        </p:nvSpPr>
        <p:spPr>
          <a:xfrm>
            <a:off x="676656" y="4133087"/>
            <a:ext cx="1755648" cy="420624"/>
          </a:xfrm>
          <a:prstGeom prst="rect">
            <a:avLst/>
          </a:prstGeom>
          <a:noFill/>
        </p:spPr>
        <p:txBody>
          <a:bodyPr wrap="square" lIns="27432" rIns="27432" tIns="27432" bIns="27432" anchor="ctr">
            <a:spAutoFit/>
          </a:bodyPr>
          <a:lstStyle/>
          <a:p>
            <a:pPr algn="l"/>
            <a:r>
              <a:rPr sz="1900" b="1">
                <a:solidFill>
                  <a:srgbClr val="355C47"/>
                </a:solidFill>
                <a:latin typeface="Aptos Display"/>
              </a:rPr>
              <a:t>20,000 organic units</a:t>
            </a:r>
          </a:p>
        </p:txBody>
      </p:sp>
      <p:sp>
        <p:nvSpPr>
          <p:cNvPr id="15" name="Rounded Rectangle 14"/>
          <p:cNvSpPr/>
          <p:nvPr/>
        </p:nvSpPr>
        <p:spPr>
          <a:xfrm>
            <a:off x="2724912" y="3822191"/>
            <a:ext cx="1828800" cy="841248"/>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852928" y="3931919"/>
            <a:ext cx="1572768" cy="164592"/>
          </a:xfrm>
          <a:prstGeom prst="rect">
            <a:avLst/>
          </a:prstGeom>
          <a:noFill/>
        </p:spPr>
        <p:txBody>
          <a:bodyPr wrap="square" lIns="27432" rIns="27432" tIns="27432" bIns="27432" anchor="t">
            <a:spAutoFit/>
          </a:bodyPr>
          <a:lstStyle/>
          <a:p>
            <a:pPr algn="l"/>
            <a:r>
              <a:rPr sz="1000" b="1">
                <a:solidFill>
                  <a:srgbClr val="5F6B63"/>
                </a:solidFill>
                <a:latin typeface="Aptos"/>
              </a:rPr>
              <a:t>MARKET SCOPE</a:t>
            </a:r>
          </a:p>
        </p:txBody>
      </p:sp>
      <p:sp>
        <p:nvSpPr>
          <p:cNvPr id="17" name="TextBox 16"/>
          <p:cNvSpPr txBox="1"/>
          <p:nvPr/>
        </p:nvSpPr>
        <p:spPr>
          <a:xfrm>
            <a:off x="2852928" y="4133087"/>
            <a:ext cx="1572768" cy="420624"/>
          </a:xfrm>
          <a:prstGeom prst="rect">
            <a:avLst/>
          </a:prstGeom>
          <a:noFill/>
        </p:spPr>
        <p:txBody>
          <a:bodyPr wrap="square" lIns="27432" rIns="27432" tIns="27432" bIns="27432" anchor="ctr">
            <a:spAutoFit/>
          </a:bodyPr>
          <a:lstStyle/>
          <a:p>
            <a:pPr algn="l"/>
            <a:r>
              <a:rPr sz="1900" b="1">
                <a:solidFill>
                  <a:srgbClr val="355C47"/>
                </a:solidFill>
                <a:latin typeface="Aptos Display"/>
              </a:rPr>
              <a:t>40 city markets</a:t>
            </a:r>
          </a:p>
        </p:txBody>
      </p:sp>
      <p:sp>
        <p:nvSpPr>
          <p:cNvPr id="18" name="Rounded Rectangle 17"/>
          <p:cNvSpPr/>
          <p:nvPr/>
        </p:nvSpPr>
        <p:spPr>
          <a:xfrm>
            <a:off x="4901184" y="3822191"/>
            <a:ext cx="1965960" cy="841248"/>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0" y="3931919"/>
            <a:ext cx="1709928" cy="164592"/>
          </a:xfrm>
          <a:prstGeom prst="rect">
            <a:avLst/>
          </a:prstGeom>
          <a:noFill/>
        </p:spPr>
        <p:txBody>
          <a:bodyPr wrap="square" lIns="27432" rIns="27432" tIns="27432" bIns="27432" anchor="t">
            <a:spAutoFit/>
          </a:bodyPr>
          <a:lstStyle/>
          <a:p>
            <a:pPr algn="l"/>
            <a:r>
              <a:rPr sz="1000" b="1">
                <a:solidFill>
                  <a:srgbClr val="5F6B63"/>
                </a:solidFill>
                <a:latin typeface="Aptos"/>
              </a:rPr>
              <a:t>HISTORY</a:t>
            </a:r>
          </a:p>
        </p:txBody>
      </p:sp>
      <p:sp>
        <p:nvSpPr>
          <p:cNvPr id="20" name="TextBox 19"/>
          <p:cNvSpPr txBox="1"/>
          <p:nvPr/>
        </p:nvSpPr>
        <p:spPr>
          <a:xfrm>
            <a:off x="5029200" y="4133087"/>
            <a:ext cx="1709928" cy="420624"/>
          </a:xfrm>
          <a:prstGeom prst="rect">
            <a:avLst/>
          </a:prstGeom>
          <a:noFill/>
        </p:spPr>
        <p:txBody>
          <a:bodyPr wrap="square" lIns="27432" rIns="27432" tIns="27432" bIns="27432" anchor="ctr">
            <a:spAutoFit/>
          </a:bodyPr>
          <a:lstStyle/>
          <a:p>
            <a:pPr algn="l"/>
            <a:r>
              <a:rPr sz="1900" b="1">
                <a:solidFill>
                  <a:srgbClr val="3F728A"/>
                </a:solidFill>
                <a:latin typeface="Aptos Display"/>
              </a:rPr>
              <a:t>2019 to Jun 2025</a:t>
            </a:r>
          </a:p>
        </p:txBody>
      </p:sp>
      <p:sp>
        <p:nvSpPr>
          <p:cNvPr id="21" name="Rounded Rectangle 20"/>
          <p:cNvSpPr/>
          <p:nvPr/>
        </p:nvSpPr>
        <p:spPr>
          <a:xfrm>
            <a:off x="7818120" y="1170432"/>
            <a:ext cx="3611880" cy="4315968"/>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65008" y="1444752"/>
            <a:ext cx="2560320" cy="182880"/>
          </a:xfrm>
          <a:prstGeom prst="rect">
            <a:avLst/>
          </a:prstGeom>
          <a:noFill/>
        </p:spPr>
        <p:txBody>
          <a:bodyPr wrap="square" lIns="27432" rIns="27432" tIns="27432" bIns="27432" anchor="t">
            <a:spAutoFit/>
          </a:bodyPr>
          <a:lstStyle/>
          <a:p>
            <a:pPr algn="l"/>
            <a:r>
              <a:rPr sz="1100" b="1">
                <a:solidFill>
                  <a:srgbClr val="5F6B63"/>
                </a:solidFill>
                <a:latin typeface="Aptos"/>
              </a:rPr>
              <a:t>DECISION TO PROVE</a:t>
            </a:r>
          </a:p>
        </p:txBody>
      </p:sp>
      <p:sp>
        <p:nvSpPr>
          <p:cNvPr id="23" name="TextBox 22"/>
          <p:cNvSpPr txBox="1"/>
          <p:nvPr/>
        </p:nvSpPr>
        <p:spPr>
          <a:xfrm>
            <a:off x="8065008" y="1737360"/>
            <a:ext cx="2999232" cy="786384"/>
          </a:xfrm>
          <a:prstGeom prst="rect">
            <a:avLst/>
          </a:prstGeom>
          <a:noFill/>
        </p:spPr>
        <p:txBody>
          <a:bodyPr wrap="square" lIns="27432" rIns="27432" tIns="27432" bIns="27432" anchor="t">
            <a:spAutoFit/>
          </a:bodyPr>
          <a:lstStyle/>
          <a:p>
            <a:pPr algn="l"/>
            <a:r>
              <a:rPr sz="2100" b="1">
                <a:solidFill>
                  <a:srgbClr val="355C47"/>
                </a:solidFill>
                <a:latin typeface="Aptos Display"/>
              </a:rPr>
              <a:t>Win the right five cities first, then earn the right to scale.</a:t>
            </a:r>
          </a:p>
        </p:txBody>
      </p:sp>
      <p:sp>
        <p:nvSpPr>
          <p:cNvPr id="24" name="TextBox 23"/>
          <p:cNvSpPr txBox="1"/>
          <p:nvPr/>
        </p:nvSpPr>
        <p:spPr>
          <a:xfrm>
            <a:off x="8065008" y="2697480"/>
            <a:ext cx="2880360" cy="164592"/>
          </a:xfrm>
          <a:prstGeom prst="rect">
            <a:avLst/>
          </a:prstGeom>
          <a:noFill/>
        </p:spPr>
        <p:txBody>
          <a:bodyPr wrap="square" lIns="27432" rIns="27432" tIns="27432" bIns="27432" anchor="t">
            <a:spAutoFit/>
          </a:bodyPr>
          <a:lstStyle/>
          <a:p>
            <a:pPr algn="l"/>
            <a:r>
              <a:rPr sz="1000" b="1">
                <a:solidFill>
                  <a:srgbClr val="5F6B63"/>
                </a:solidFill>
                <a:latin typeface="Aptos"/>
              </a:rPr>
              <a:t>THIS DECK TESTS</a:t>
            </a:r>
          </a:p>
        </p:txBody>
      </p:sp>
      <p:sp>
        <p:nvSpPr>
          <p:cNvPr id="25" name="TextBox 24"/>
          <p:cNvSpPr txBox="1"/>
          <p:nvPr/>
        </p:nvSpPr>
        <p:spPr>
          <a:xfrm>
            <a:off x="8065008" y="2926080"/>
            <a:ext cx="2852928" cy="1298448"/>
          </a:xfrm>
          <a:prstGeom prst="rect">
            <a:avLst/>
          </a:prstGeom>
          <a:noFill/>
        </p:spPr>
        <p:txBody>
          <a:bodyPr wrap="square" lIns="27432" rIns="27432" tIns="18288" bIns="18288">
            <a:spAutoFit/>
          </a:bodyPr>
          <a:lstStyle/>
          <a:p>
            <a:pPr algn="l">
              <a:lnSpc>
                <a:spcPct val="115000"/>
              </a:lnSpc>
            </a:pPr>
            <a:r>
              <a:rPr sz="1300">
                <a:solidFill>
                  <a:srgbClr val="1F2621"/>
                </a:solidFill>
                <a:latin typeface="Aptos"/>
              </a:rPr>
              <a:t>- Price support beats raw market size.</a:t>
            </a:r>
          </a:p>
          <a:p>
            <a:pPr algn="l">
              <a:lnSpc>
                <a:spcPct val="115000"/>
              </a:lnSpc>
            </a:pPr>
            <a:r>
              <a:rPr sz="1300">
                <a:solidFill>
                  <a:srgbClr val="1F2621"/>
                </a:solidFill>
                <a:latin typeface="Aptos"/>
              </a:rPr>
              <a:t>- The top cities hold through freight shocks.</a:t>
            </a:r>
          </a:p>
          <a:p>
            <a:pPr algn="l">
              <a:lnSpc>
                <a:spcPct val="115000"/>
              </a:lnSpc>
            </a:pPr>
            <a:r>
              <a:rPr sz="1300">
                <a:solidFill>
                  <a:srgbClr val="1F2621"/>
                </a:solidFill>
                <a:latin typeface="Aptos"/>
              </a:rPr>
              <a:t>- Seasonality changes how the pilot should run.</a:t>
            </a:r>
          </a:p>
        </p:txBody>
      </p:sp>
      <p:sp>
        <p:nvSpPr>
          <p:cNvPr id="26" name="TextBox 25"/>
          <p:cNvSpPr txBox="1"/>
          <p:nvPr/>
        </p:nvSpPr>
        <p:spPr>
          <a:xfrm>
            <a:off x="548640" y="5029200"/>
            <a:ext cx="6400800" cy="411480"/>
          </a:xfrm>
          <a:prstGeom prst="rect">
            <a:avLst/>
          </a:prstGeom>
          <a:noFill/>
        </p:spPr>
        <p:txBody>
          <a:bodyPr wrap="square" lIns="27432" rIns="27432" tIns="27432" bIns="27432" anchor="t">
            <a:spAutoFit/>
          </a:bodyPr>
          <a:lstStyle/>
          <a:p>
            <a:pPr algn="l"/>
            <a:r>
              <a:rPr sz="1200" b="0">
                <a:solidFill>
                  <a:srgbClr val="5F6B63"/>
                </a:solidFill>
                <a:latin typeface="Aptos"/>
              </a:rPr>
              <a:t>Prepared as an anonymized submission for the 2026 IMA Student Case Competition. The deck is designed to stand alone without speaker notes.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55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46920" y="0"/>
            <a:ext cx="2542032" cy="73152"/>
          </a:xfrm>
          <a:prstGeom prst="rect">
            <a:avLst/>
          </a:prstGeom>
          <a:solidFill>
            <a:srgbClr val="C58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01168"/>
            <a:ext cx="1554480" cy="256032"/>
          </a:xfrm>
          <a:prstGeom prst="roundRect">
            <a:avLst/>
          </a:prstGeom>
          <a:solidFill>
            <a:srgbClr val="FCFAF5"/>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224028"/>
            <a:ext cx="1517904" cy="182880"/>
          </a:xfrm>
          <a:prstGeom prst="rect">
            <a:avLst/>
          </a:prstGeom>
          <a:noFill/>
        </p:spPr>
        <p:txBody>
          <a:bodyPr wrap="square" lIns="27432" rIns="27432" tIns="27432" bIns="27432" anchor="t">
            <a:spAutoFit/>
          </a:bodyPr>
          <a:lstStyle/>
          <a:p>
            <a:pPr algn="ctr"/>
            <a:r>
              <a:rPr sz="1000" b="1">
                <a:solidFill>
                  <a:srgbClr val="355C47"/>
                </a:solidFill>
                <a:latin typeface="Aptos"/>
              </a:rPr>
              <a:t>EXECUTIVE SUMMARY</a:t>
            </a:r>
          </a:p>
        </p:txBody>
      </p:sp>
      <p:sp>
        <p:nvSpPr>
          <p:cNvPr id="7" name="TextBox 6"/>
          <p:cNvSpPr txBox="1"/>
          <p:nvPr/>
        </p:nvSpPr>
        <p:spPr>
          <a:xfrm>
            <a:off x="11631168" y="6519672"/>
            <a:ext cx="274320" cy="164592"/>
          </a:xfrm>
          <a:prstGeom prst="rect">
            <a:avLst/>
          </a:prstGeom>
          <a:noFill/>
        </p:spPr>
        <p:txBody>
          <a:bodyPr wrap="square" lIns="27432" rIns="27432" tIns="27432" bIns="27432" anchor="t">
            <a:spAutoFit/>
          </a:bodyPr>
          <a:lstStyle/>
          <a:p>
            <a:pPr algn="r"/>
            <a:r>
              <a:rPr sz="900" b="0">
                <a:solidFill>
                  <a:srgbClr val="5F6B63"/>
                </a:solidFill>
                <a:latin typeface="Aptos"/>
              </a:rPr>
              <a:t>2</a:t>
            </a:r>
          </a:p>
        </p:txBody>
      </p:sp>
      <p:sp>
        <p:nvSpPr>
          <p:cNvPr id="8" name="TextBox 7"/>
          <p:cNvSpPr txBox="1"/>
          <p:nvPr/>
        </p:nvSpPr>
        <p:spPr>
          <a:xfrm>
            <a:off x="548640" y="658368"/>
            <a:ext cx="10332720" cy="868680"/>
          </a:xfrm>
          <a:prstGeom prst="rect">
            <a:avLst/>
          </a:prstGeom>
          <a:noFill/>
        </p:spPr>
        <p:txBody>
          <a:bodyPr wrap="square" lIns="27432" rIns="27432" tIns="27432" bIns="27432" anchor="t">
            <a:spAutoFit/>
          </a:bodyPr>
          <a:lstStyle/>
          <a:p>
            <a:pPr algn="l"/>
            <a:r>
              <a:rPr sz="2700" b="1">
                <a:solidFill>
                  <a:srgbClr val="355C47"/>
                </a:solidFill>
                <a:latin typeface="Aptos Display"/>
              </a:rPr>
              <a:t>Launch a disciplined 5-city organic pilot</a:t>
            </a:r>
          </a:p>
        </p:txBody>
      </p:sp>
      <p:sp>
        <p:nvSpPr>
          <p:cNvPr id="9" name="Rounded Rectangle 8"/>
          <p:cNvSpPr/>
          <p:nvPr/>
        </p:nvSpPr>
        <p:spPr>
          <a:xfrm>
            <a:off x="658368" y="1627632"/>
            <a:ext cx="6537960" cy="4370832"/>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901952"/>
            <a:ext cx="2194560" cy="182880"/>
          </a:xfrm>
          <a:prstGeom prst="rect">
            <a:avLst/>
          </a:prstGeom>
          <a:noFill/>
        </p:spPr>
        <p:txBody>
          <a:bodyPr wrap="square" lIns="27432" rIns="27432" tIns="27432" bIns="27432" anchor="t">
            <a:spAutoFit/>
          </a:bodyPr>
          <a:lstStyle/>
          <a:p>
            <a:pPr algn="l"/>
            <a:r>
              <a:rPr sz="1100" b="1">
                <a:solidFill>
                  <a:srgbClr val="5F6B63"/>
                </a:solidFill>
                <a:latin typeface="Aptos"/>
              </a:rPr>
              <a:t>RECOMMENDATION</a:t>
            </a:r>
          </a:p>
        </p:txBody>
      </p:sp>
      <p:sp>
        <p:nvSpPr>
          <p:cNvPr id="11" name="TextBox 10"/>
          <p:cNvSpPr txBox="1"/>
          <p:nvPr/>
        </p:nvSpPr>
        <p:spPr>
          <a:xfrm>
            <a:off x="914400" y="2212848"/>
            <a:ext cx="5577840" cy="713232"/>
          </a:xfrm>
          <a:prstGeom prst="rect">
            <a:avLst/>
          </a:prstGeom>
          <a:noFill/>
        </p:spPr>
        <p:txBody>
          <a:bodyPr wrap="square" lIns="27432" rIns="27432" tIns="27432" bIns="27432" anchor="t">
            <a:spAutoFit/>
          </a:bodyPr>
          <a:lstStyle/>
          <a:p>
            <a:pPr algn="l"/>
            <a:r>
              <a:rPr sz="2500" b="1">
                <a:solidFill>
                  <a:srgbClr val="355C47"/>
                </a:solidFill>
                <a:latin typeface="Aptos Display"/>
              </a:rPr>
              <a:t>Launch Seattle, Boise, Portland, Spokane, and San Diego first.</a:t>
            </a:r>
          </a:p>
        </p:txBody>
      </p:sp>
      <p:sp>
        <p:nvSpPr>
          <p:cNvPr id="12" name="TextBox 11"/>
          <p:cNvSpPr txBox="1"/>
          <p:nvPr/>
        </p:nvSpPr>
        <p:spPr>
          <a:xfrm>
            <a:off x="914400" y="2889504"/>
            <a:ext cx="5440680" cy="475488"/>
          </a:xfrm>
          <a:prstGeom prst="rect">
            <a:avLst/>
          </a:prstGeom>
          <a:noFill/>
        </p:spPr>
        <p:txBody>
          <a:bodyPr wrap="square" lIns="27432" rIns="27432" tIns="27432" bIns="27432" anchor="t">
            <a:spAutoFit/>
          </a:bodyPr>
          <a:lstStyle/>
          <a:p>
            <a:pPr algn="l"/>
            <a:r>
              <a:rPr sz="1500" b="0">
                <a:solidFill>
                  <a:srgbClr val="1F2621"/>
                </a:solidFill>
                <a:latin typeface="Aptos"/>
              </a:rPr>
              <a:t>These five cities combine premium June pricing, organic readiness, and manageable freight better than a broad national rollout.</a:t>
            </a:r>
          </a:p>
        </p:txBody>
      </p:sp>
      <p:sp>
        <p:nvSpPr>
          <p:cNvPr id="13" name="Rounded Rectangle 12"/>
          <p:cNvSpPr/>
          <p:nvPr/>
        </p:nvSpPr>
        <p:spPr>
          <a:xfrm>
            <a:off x="914400" y="3611880"/>
            <a:ext cx="1051560" cy="274320"/>
          </a:xfrm>
          <a:prstGeom prst="roundRect">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3616452"/>
            <a:ext cx="1014984" cy="219456"/>
          </a:xfrm>
          <a:prstGeom prst="rect">
            <a:avLst/>
          </a:prstGeom>
          <a:noFill/>
        </p:spPr>
        <p:txBody>
          <a:bodyPr wrap="square" lIns="27432" rIns="27432" tIns="27432" bIns="27432" anchor="ctr">
            <a:spAutoFit/>
          </a:bodyPr>
          <a:lstStyle/>
          <a:p>
            <a:pPr algn="ctr"/>
            <a:r>
              <a:rPr sz="1100" b="1">
                <a:solidFill>
                  <a:srgbClr val="FCFAF5"/>
                </a:solidFill>
                <a:latin typeface="Aptos"/>
              </a:rPr>
              <a:t>SEATTLE</a:t>
            </a:r>
          </a:p>
        </p:txBody>
      </p:sp>
      <p:sp>
        <p:nvSpPr>
          <p:cNvPr id="15" name="Rounded Rectangle 14"/>
          <p:cNvSpPr/>
          <p:nvPr/>
        </p:nvSpPr>
        <p:spPr>
          <a:xfrm>
            <a:off x="2048256" y="3611880"/>
            <a:ext cx="960120" cy="274320"/>
          </a:xfrm>
          <a:prstGeom prst="roundRect">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066544" y="3616452"/>
            <a:ext cx="923544" cy="219456"/>
          </a:xfrm>
          <a:prstGeom prst="rect">
            <a:avLst/>
          </a:prstGeom>
          <a:noFill/>
        </p:spPr>
        <p:txBody>
          <a:bodyPr wrap="square" lIns="27432" rIns="27432" tIns="27432" bIns="27432" anchor="ctr">
            <a:spAutoFit/>
          </a:bodyPr>
          <a:lstStyle/>
          <a:p>
            <a:pPr algn="ctr"/>
            <a:r>
              <a:rPr sz="1100" b="1">
                <a:solidFill>
                  <a:srgbClr val="FCFAF5"/>
                </a:solidFill>
                <a:latin typeface="Aptos"/>
              </a:rPr>
              <a:t>BOISE</a:t>
            </a:r>
          </a:p>
        </p:txBody>
      </p:sp>
      <p:sp>
        <p:nvSpPr>
          <p:cNvPr id="17" name="Rounded Rectangle 16"/>
          <p:cNvSpPr/>
          <p:nvPr/>
        </p:nvSpPr>
        <p:spPr>
          <a:xfrm>
            <a:off x="3081528" y="3611880"/>
            <a:ext cx="1124712" cy="274320"/>
          </a:xfrm>
          <a:prstGeom prst="roundRect">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99816" y="3616452"/>
            <a:ext cx="1088136" cy="219456"/>
          </a:xfrm>
          <a:prstGeom prst="rect">
            <a:avLst/>
          </a:prstGeom>
          <a:noFill/>
        </p:spPr>
        <p:txBody>
          <a:bodyPr wrap="square" lIns="27432" rIns="27432" tIns="27432" bIns="27432" anchor="ctr">
            <a:spAutoFit/>
          </a:bodyPr>
          <a:lstStyle/>
          <a:p>
            <a:pPr algn="ctr"/>
            <a:r>
              <a:rPr sz="1100" b="1">
                <a:solidFill>
                  <a:srgbClr val="FCFAF5"/>
                </a:solidFill>
                <a:latin typeface="Aptos"/>
              </a:rPr>
              <a:t>PORTLAND</a:t>
            </a:r>
          </a:p>
        </p:txBody>
      </p:sp>
      <p:sp>
        <p:nvSpPr>
          <p:cNvPr id="19" name="Rounded Rectangle 18"/>
          <p:cNvSpPr/>
          <p:nvPr/>
        </p:nvSpPr>
        <p:spPr>
          <a:xfrm>
            <a:off x="4279392" y="3611880"/>
            <a:ext cx="1078992" cy="274320"/>
          </a:xfrm>
          <a:prstGeom prst="roundRect">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97680" y="3616452"/>
            <a:ext cx="1042416" cy="219456"/>
          </a:xfrm>
          <a:prstGeom prst="rect">
            <a:avLst/>
          </a:prstGeom>
          <a:noFill/>
        </p:spPr>
        <p:txBody>
          <a:bodyPr wrap="square" lIns="27432" rIns="27432" tIns="27432" bIns="27432" anchor="ctr">
            <a:spAutoFit/>
          </a:bodyPr>
          <a:lstStyle/>
          <a:p>
            <a:pPr algn="ctr"/>
            <a:r>
              <a:rPr sz="1100" b="1">
                <a:solidFill>
                  <a:srgbClr val="FCFAF5"/>
                </a:solidFill>
                <a:latin typeface="Aptos"/>
              </a:rPr>
              <a:t>SPOKANE</a:t>
            </a:r>
          </a:p>
        </p:txBody>
      </p:sp>
      <p:sp>
        <p:nvSpPr>
          <p:cNvPr id="21" name="Rounded Rectangle 20"/>
          <p:cNvSpPr/>
          <p:nvPr/>
        </p:nvSpPr>
        <p:spPr>
          <a:xfrm>
            <a:off x="5431536" y="3611880"/>
            <a:ext cx="1298448" cy="274320"/>
          </a:xfrm>
          <a:prstGeom prst="roundRect">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49824" y="3616452"/>
            <a:ext cx="1261872" cy="219456"/>
          </a:xfrm>
          <a:prstGeom prst="rect">
            <a:avLst/>
          </a:prstGeom>
          <a:noFill/>
        </p:spPr>
        <p:txBody>
          <a:bodyPr wrap="square" lIns="27432" rIns="27432" tIns="27432" bIns="27432" anchor="ctr">
            <a:spAutoFit/>
          </a:bodyPr>
          <a:lstStyle/>
          <a:p>
            <a:pPr algn="ctr"/>
            <a:r>
              <a:rPr sz="1100" b="1">
                <a:solidFill>
                  <a:srgbClr val="FCFAF5"/>
                </a:solidFill>
                <a:latin typeface="Aptos"/>
              </a:rPr>
              <a:t>SAN DIEGO</a:t>
            </a:r>
          </a:p>
        </p:txBody>
      </p:sp>
      <p:sp>
        <p:nvSpPr>
          <p:cNvPr id="23" name="Rounded Rectangle 22"/>
          <p:cNvSpPr/>
          <p:nvPr/>
        </p:nvSpPr>
        <p:spPr>
          <a:xfrm>
            <a:off x="896112" y="4315968"/>
            <a:ext cx="1828800" cy="987552"/>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24128" y="4425696"/>
            <a:ext cx="1572768" cy="164592"/>
          </a:xfrm>
          <a:prstGeom prst="rect">
            <a:avLst/>
          </a:prstGeom>
          <a:noFill/>
        </p:spPr>
        <p:txBody>
          <a:bodyPr wrap="square" lIns="27432" rIns="27432" tIns="27432" bIns="27432" anchor="t">
            <a:spAutoFit/>
          </a:bodyPr>
          <a:lstStyle/>
          <a:p>
            <a:pPr algn="l"/>
            <a:r>
              <a:rPr sz="1000" b="1">
                <a:solidFill>
                  <a:srgbClr val="5F6B63"/>
                </a:solidFill>
                <a:latin typeface="Aptos"/>
              </a:rPr>
              <a:t>AVG PROFIT</a:t>
            </a:r>
          </a:p>
        </p:txBody>
      </p:sp>
      <p:sp>
        <p:nvSpPr>
          <p:cNvPr id="25" name="TextBox 24"/>
          <p:cNvSpPr txBox="1"/>
          <p:nvPr/>
        </p:nvSpPr>
        <p:spPr>
          <a:xfrm>
            <a:off x="1024128" y="4626864"/>
            <a:ext cx="1572768" cy="566928"/>
          </a:xfrm>
          <a:prstGeom prst="rect">
            <a:avLst/>
          </a:prstGeom>
          <a:noFill/>
        </p:spPr>
        <p:txBody>
          <a:bodyPr wrap="square" lIns="27432" rIns="27432" tIns="27432" bIns="27432" anchor="ctr">
            <a:spAutoFit/>
          </a:bodyPr>
          <a:lstStyle/>
          <a:p>
            <a:pPr algn="l"/>
            <a:r>
              <a:rPr sz="1900" b="1">
                <a:solidFill>
                  <a:srgbClr val="355C47"/>
                </a:solidFill>
                <a:latin typeface="Aptos Display"/>
              </a:rPr>
              <a:t>$13.7k</a:t>
            </a:r>
          </a:p>
        </p:txBody>
      </p:sp>
      <p:sp>
        <p:nvSpPr>
          <p:cNvPr id="26" name="Rounded Rectangle 25"/>
          <p:cNvSpPr/>
          <p:nvPr/>
        </p:nvSpPr>
        <p:spPr>
          <a:xfrm>
            <a:off x="2944368" y="4315968"/>
            <a:ext cx="1828800" cy="987552"/>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72384" y="4425696"/>
            <a:ext cx="1572768" cy="164592"/>
          </a:xfrm>
          <a:prstGeom prst="rect">
            <a:avLst/>
          </a:prstGeom>
          <a:noFill/>
        </p:spPr>
        <p:txBody>
          <a:bodyPr wrap="square" lIns="27432" rIns="27432" tIns="27432" bIns="27432" anchor="t">
            <a:spAutoFit/>
          </a:bodyPr>
          <a:lstStyle/>
          <a:p>
            <a:pPr algn="l"/>
            <a:r>
              <a:rPr sz="1000" b="1">
                <a:solidFill>
                  <a:srgbClr val="5F6B63"/>
                </a:solidFill>
                <a:latin typeface="Aptos"/>
              </a:rPr>
              <a:t>AVG MARGIN</a:t>
            </a:r>
          </a:p>
        </p:txBody>
      </p:sp>
      <p:sp>
        <p:nvSpPr>
          <p:cNvPr id="28" name="TextBox 27"/>
          <p:cNvSpPr txBox="1"/>
          <p:nvPr/>
        </p:nvSpPr>
        <p:spPr>
          <a:xfrm>
            <a:off x="3072384" y="4626864"/>
            <a:ext cx="1572768" cy="566928"/>
          </a:xfrm>
          <a:prstGeom prst="rect">
            <a:avLst/>
          </a:prstGeom>
          <a:noFill/>
        </p:spPr>
        <p:txBody>
          <a:bodyPr wrap="square" lIns="27432" rIns="27432" tIns="27432" bIns="27432" anchor="ctr">
            <a:spAutoFit/>
          </a:bodyPr>
          <a:lstStyle/>
          <a:p>
            <a:pPr algn="l"/>
            <a:r>
              <a:rPr sz="1900" b="1">
                <a:solidFill>
                  <a:srgbClr val="3F728A"/>
                </a:solidFill>
                <a:latin typeface="Aptos Display"/>
              </a:rPr>
              <a:t>69.7%</a:t>
            </a:r>
          </a:p>
        </p:txBody>
      </p:sp>
      <p:sp>
        <p:nvSpPr>
          <p:cNvPr id="29" name="Rounded Rectangle 28"/>
          <p:cNvSpPr/>
          <p:nvPr/>
        </p:nvSpPr>
        <p:spPr>
          <a:xfrm>
            <a:off x="4992624" y="4315968"/>
            <a:ext cx="1828800" cy="987552"/>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120640" y="4425696"/>
            <a:ext cx="1572768" cy="164592"/>
          </a:xfrm>
          <a:prstGeom prst="rect">
            <a:avLst/>
          </a:prstGeom>
          <a:noFill/>
        </p:spPr>
        <p:txBody>
          <a:bodyPr wrap="square" lIns="27432" rIns="27432" tIns="27432" bIns="27432" anchor="t">
            <a:spAutoFit/>
          </a:bodyPr>
          <a:lstStyle/>
          <a:p>
            <a:pPr algn="l"/>
            <a:r>
              <a:rPr sz="1000" b="1">
                <a:solidFill>
                  <a:srgbClr val="5F6B63"/>
                </a:solidFill>
                <a:latin typeface="Aptos"/>
              </a:rPr>
              <a:t>RANK-5 GAP</a:t>
            </a:r>
          </a:p>
        </p:txBody>
      </p:sp>
      <p:sp>
        <p:nvSpPr>
          <p:cNvPr id="31" name="TextBox 30"/>
          <p:cNvSpPr txBox="1"/>
          <p:nvPr/>
        </p:nvSpPr>
        <p:spPr>
          <a:xfrm>
            <a:off x="5120640" y="4626864"/>
            <a:ext cx="1572768" cy="566928"/>
          </a:xfrm>
          <a:prstGeom prst="rect">
            <a:avLst/>
          </a:prstGeom>
          <a:noFill/>
        </p:spPr>
        <p:txBody>
          <a:bodyPr wrap="square" lIns="27432" rIns="27432" tIns="27432" bIns="27432" anchor="ctr">
            <a:spAutoFit/>
          </a:bodyPr>
          <a:lstStyle/>
          <a:p>
            <a:pPr algn="l"/>
            <a:r>
              <a:rPr sz="1900" b="1">
                <a:solidFill>
                  <a:srgbClr val="C58A2A"/>
                </a:solidFill>
                <a:latin typeface="Aptos Display"/>
              </a:rPr>
              <a:t>$1k</a:t>
            </a:r>
          </a:p>
        </p:txBody>
      </p:sp>
      <p:sp>
        <p:nvSpPr>
          <p:cNvPr id="32" name="Rounded Rectangle 31"/>
          <p:cNvSpPr/>
          <p:nvPr/>
        </p:nvSpPr>
        <p:spPr>
          <a:xfrm>
            <a:off x="7479792" y="1737360"/>
            <a:ext cx="4023360" cy="1170432"/>
          </a:xfrm>
          <a:prstGeom prst="roundRect">
            <a:avLst/>
          </a:prstGeom>
          <a:solidFill>
            <a:srgbClr val="FFFDF9"/>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626096" y="1837944"/>
            <a:ext cx="3730752" cy="164592"/>
          </a:xfrm>
          <a:prstGeom prst="rect">
            <a:avLst/>
          </a:prstGeom>
          <a:noFill/>
        </p:spPr>
        <p:txBody>
          <a:bodyPr wrap="square" lIns="27432" rIns="27432" tIns="27432" bIns="27432" anchor="t">
            <a:spAutoFit/>
          </a:bodyPr>
          <a:lstStyle/>
          <a:p>
            <a:pPr algn="l"/>
            <a:r>
              <a:rPr sz="1100" b="1">
                <a:solidFill>
                  <a:srgbClr val="5F6B63"/>
                </a:solidFill>
                <a:latin typeface="Aptos"/>
              </a:rPr>
              <a:t>WHY THESE CITIES</a:t>
            </a:r>
          </a:p>
        </p:txBody>
      </p:sp>
      <p:sp>
        <p:nvSpPr>
          <p:cNvPr id="34" name="TextBox 33"/>
          <p:cNvSpPr txBox="1"/>
          <p:nvPr/>
        </p:nvSpPr>
        <p:spPr>
          <a:xfrm>
            <a:off x="7626096" y="2020824"/>
            <a:ext cx="3730752" cy="256032"/>
          </a:xfrm>
          <a:prstGeom prst="rect">
            <a:avLst/>
          </a:prstGeom>
          <a:noFill/>
        </p:spPr>
        <p:txBody>
          <a:bodyPr wrap="square" lIns="27432" rIns="27432" tIns="27432" bIns="27432" anchor="t">
            <a:spAutoFit/>
          </a:bodyPr>
          <a:lstStyle/>
          <a:p>
            <a:pPr algn="l"/>
            <a:r>
              <a:rPr sz="1600" b="1">
                <a:solidFill>
                  <a:srgbClr val="355C47"/>
                </a:solidFill>
                <a:latin typeface="Aptos Display"/>
              </a:rPr>
              <a:t>Premium price markets</a:t>
            </a:r>
          </a:p>
        </p:txBody>
      </p:sp>
      <p:sp>
        <p:nvSpPr>
          <p:cNvPr id="35" name="TextBox 34"/>
          <p:cNvSpPr txBox="1"/>
          <p:nvPr/>
        </p:nvSpPr>
        <p:spPr>
          <a:xfrm>
            <a:off x="7626096" y="2322576"/>
            <a:ext cx="3730752" cy="457200"/>
          </a:xfrm>
          <a:prstGeom prst="rect">
            <a:avLst/>
          </a:prstGeom>
          <a:noFill/>
        </p:spPr>
        <p:txBody>
          <a:bodyPr wrap="square" lIns="27432" rIns="27432" tIns="27432" bIns="27432" anchor="t">
            <a:spAutoFit/>
          </a:bodyPr>
          <a:lstStyle/>
          <a:p>
            <a:pPr algn="l"/>
            <a:r>
              <a:rPr sz="1000" b="0">
                <a:solidFill>
                  <a:srgbClr val="1F2621"/>
                </a:solidFill>
                <a:latin typeface="Aptos"/>
              </a:rPr>
              <a:t>The top five also rank as the strongest June organic price markets in the model.</a:t>
            </a:r>
          </a:p>
        </p:txBody>
      </p:sp>
      <p:sp>
        <p:nvSpPr>
          <p:cNvPr id="36" name="Rounded Rectangle 35"/>
          <p:cNvSpPr/>
          <p:nvPr/>
        </p:nvSpPr>
        <p:spPr>
          <a:xfrm>
            <a:off x="7479792" y="3127248"/>
            <a:ext cx="4023360" cy="1170432"/>
          </a:xfrm>
          <a:prstGeom prst="roundRect">
            <a:avLst/>
          </a:prstGeom>
          <a:solidFill>
            <a:srgbClr val="FFFDF9"/>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26096" y="3227832"/>
            <a:ext cx="3730752" cy="164592"/>
          </a:xfrm>
          <a:prstGeom prst="rect">
            <a:avLst/>
          </a:prstGeom>
          <a:noFill/>
        </p:spPr>
        <p:txBody>
          <a:bodyPr wrap="square" lIns="27432" rIns="27432" tIns="27432" bIns="27432" anchor="t">
            <a:spAutoFit/>
          </a:bodyPr>
          <a:lstStyle/>
          <a:p>
            <a:pPr algn="l"/>
            <a:r>
              <a:rPr sz="1100" b="1">
                <a:solidFill>
                  <a:srgbClr val="5F6B63"/>
                </a:solidFill>
                <a:latin typeface="Aptos"/>
              </a:rPr>
              <a:t>WHY THE LIST HOLDS</a:t>
            </a:r>
          </a:p>
        </p:txBody>
      </p:sp>
      <p:sp>
        <p:nvSpPr>
          <p:cNvPr id="38" name="TextBox 37"/>
          <p:cNvSpPr txBox="1"/>
          <p:nvPr/>
        </p:nvSpPr>
        <p:spPr>
          <a:xfrm>
            <a:off x="7626096" y="3410712"/>
            <a:ext cx="3730752" cy="256032"/>
          </a:xfrm>
          <a:prstGeom prst="rect">
            <a:avLst/>
          </a:prstGeom>
          <a:noFill/>
        </p:spPr>
        <p:txBody>
          <a:bodyPr wrap="square" lIns="27432" rIns="27432" tIns="27432" bIns="27432" anchor="t">
            <a:spAutoFit/>
          </a:bodyPr>
          <a:lstStyle/>
          <a:p>
            <a:pPr algn="l"/>
            <a:r>
              <a:rPr sz="1600" b="1">
                <a:solidFill>
                  <a:srgbClr val="3F728A"/>
                </a:solidFill>
                <a:latin typeface="Aptos Display"/>
              </a:rPr>
              <a:t>Same 5 cities</a:t>
            </a:r>
          </a:p>
        </p:txBody>
      </p:sp>
      <p:sp>
        <p:nvSpPr>
          <p:cNvPr id="39" name="TextBox 38"/>
          <p:cNvSpPr txBox="1"/>
          <p:nvPr/>
        </p:nvSpPr>
        <p:spPr>
          <a:xfrm>
            <a:off x="7626096" y="3712464"/>
            <a:ext cx="3730752" cy="457200"/>
          </a:xfrm>
          <a:prstGeom prst="rect">
            <a:avLst/>
          </a:prstGeom>
          <a:noFill/>
        </p:spPr>
        <p:txBody>
          <a:bodyPr wrap="square" lIns="27432" rIns="27432" tIns="27432" bIns="27432" anchor="t">
            <a:spAutoFit/>
          </a:bodyPr>
          <a:lstStyle/>
          <a:p>
            <a:pPr algn="l"/>
            <a:r>
              <a:rPr sz="1000" b="0">
                <a:solidFill>
                  <a:srgbClr val="1F2621"/>
                </a:solidFill>
                <a:latin typeface="Aptos"/>
              </a:rPr>
              <a:t>The city set does not change in the base, +50%, or -50% freight cases.</a:t>
            </a:r>
          </a:p>
        </p:txBody>
      </p:sp>
      <p:sp>
        <p:nvSpPr>
          <p:cNvPr id="40" name="Rounded Rectangle 39"/>
          <p:cNvSpPr/>
          <p:nvPr/>
        </p:nvSpPr>
        <p:spPr>
          <a:xfrm>
            <a:off x="7479792" y="4517136"/>
            <a:ext cx="4023360" cy="1170432"/>
          </a:xfrm>
          <a:prstGeom prst="roundRect">
            <a:avLst/>
          </a:prstGeom>
          <a:solidFill>
            <a:srgbClr val="FFFDF9"/>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626096" y="4617720"/>
            <a:ext cx="3730752" cy="164592"/>
          </a:xfrm>
          <a:prstGeom prst="rect">
            <a:avLst/>
          </a:prstGeom>
          <a:noFill/>
        </p:spPr>
        <p:txBody>
          <a:bodyPr wrap="square" lIns="27432" rIns="27432" tIns="27432" bIns="27432" anchor="t">
            <a:spAutoFit/>
          </a:bodyPr>
          <a:lstStyle/>
          <a:p>
            <a:pPr algn="l"/>
            <a:r>
              <a:rPr sz="1100" b="1">
                <a:solidFill>
                  <a:srgbClr val="5F6B63"/>
                </a:solidFill>
                <a:latin typeface="Aptos"/>
              </a:rPr>
              <a:t>HOW TO OPERATE IT</a:t>
            </a:r>
          </a:p>
        </p:txBody>
      </p:sp>
      <p:sp>
        <p:nvSpPr>
          <p:cNvPr id="42" name="TextBox 41"/>
          <p:cNvSpPr txBox="1"/>
          <p:nvPr/>
        </p:nvSpPr>
        <p:spPr>
          <a:xfrm>
            <a:off x="7626096" y="4800600"/>
            <a:ext cx="3730752" cy="256032"/>
          </a:xfrm>
          <a:prstGeom prst="rect">
            <a:avLst/>
          </a:prstGeom>
          <a:noFill/>
        </p:spPr>
        <p:txBody>
          <a:bodyPr wrap="square" lIns="27432" rIns="27432" tIns="27432" bIns="27432" anchor="t">
            <a:spAutoFit/>
          </a:bodyPr>
          <a:lstStyle/>
          <a:p>
            <a:pPr algn="l"/>
            <a:r>
              <a:rPr sz="1600" b="1">
                <a:solidFill>
                  <a:srgbClr val="C58A2A"/>
                </a:solidFill>
                <a:latin typeface="Aptos Display"/>
              </a:rPr>
              <a:t>Pilot before scale</a:t>
            </a:r>
          </a:p>
        </p:txBody>
      </p:sp>
      <p:sp>
        <p:nvSpPr>
          <p:cNvPr id="43" name="TextBox 42"/>
          <p:cNvSpPr txBox="1"/>
          <p:nvPr/>
        </p:nvSpPr>
        <p:spPr>
          <a:xfrm>
            <a:off x="7626096" y="5102352"/>
            <a:ext cx="3730752" cy="457200"/>
          </a:xfrm>
          <a:prstGeom prst="rect">
            <a:avLst/>
          </a:prstGeom>
          <a:noFill/>
        </p:spPr>
        <p:txBody>
          <a:bodyPr wrap="square" lIns="27432" rIns="27432" tIns="27432" bIns="27432" anchor="t">
            <a:spAutoFit/>
          </a:bodyPr>
          <a:lstStyle/>
          <a:p>
            <a:pPr algn="l"/>
            <a:r>
              <a:rPr sz="1000" b="0">
                <a:solidFill>
                  <a:srgbClr val="1F2621"/>
                </a:solidFill>
                <a:latin typeface="Aptos"/>
              </a:rPr>
              <a:t>Launch narrowly, learn fast, then scale only where margin and service hold.</a:t>
            </a:r>
          </a:p>
        </p:txBody>
      </p:sp>
      <p:sp>
        <p:nvSpPr>
          <p:cNvPr id="44" name="TextBox 43"/>
          <p:cNvSpPr txBox="1"/>
          <p:nvPr/>
        </p:nvSpPr>
        <p:spPr>
          <a:xfrm>
            <a:off x="548640" y="5577840"/>
            <a:ext cx="10972800" cy="320040"/>
          </a:xfrm>
          <a:prstGeom prst="rect">
            <a:avLst/>
          </a:prstGeom>
          <a:noFill/>
        </p:spPr>
        <p:txBody>
          <a:bodyPr wrap="square" lIns="27432" rIns="27432" tIns="27432" bIns="27432" anchor="t">
            <a:spAutoFit/>
          </a:bodyPr>
          <a:lstStyle/>
          <a:p>
            <a:pPr algn="l"/>
            <a:r>
              <a:rPr sz="1300" b="0">
                <a:solidFill>
                  <a:srgbClr val="5F6B63"/>
                </a:solidFill>
                <a:latin typeface="Aptos"/>
              </a:rPr>
              <a:t>Model note: each city is scored on the same 20,000-unit scenario using June 2025 price as the June 2026 proxy.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55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46920" y="0"/>
            <a:ext cx="2542032" cy="73152"/>
          </a:xfrm>
          <a:prstGeom prst="rect">
            <a:avLst/>
          </a:prstGeom>
          <a:solidFill>
            <a:srgbClr val="C58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01168"/>
            <a:ext cx="1554480" cy="256032"/>
          </a:xfrm>
          <a:prstGeom prst="roundRect">
            <a:avLst/>
          </a:prstGeom>
          <a:solidFill>
            <a:srgbClr val="FCFAF5"/>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224028"/>
            <a:ext cx="1517904" cy="182880"/>
          </a:xfrm>
          <a:prstGeom prst="rect">
            <a:avLst/>
          </a:prstGeom>
          <a:noFill/>
        </p:spPr>
        <p:txBody>
          <a:bodyPr wrap="square" lIns="27432" rIns="27432" tIns="27432" bIns="27432" anchor="t">
            <a:spAutoFit/>
          </a:bodyPr>
          <a:lstStyle/>
          <a:p>
            <a:pPr algn="ctr"/>
            <a:r>
              <a:rPr sz="1000" b="1">
                <a:solidFill>
                  <a:srgbClr val="355C47"/>
                </a:solidFill>
                <a:latin typeface="Aptos"/>
              </a:rPr>
              <a:t>FOUNDATION</a:t>
            </a:r>
          </a:p>
        </p:txBody>
      </p:sp>
      <p:sp>
        <p:nvSpPr>
          <p:cNvPr id="7" name="TextBox 6"/>
          <p:cNvSpPr txBox="1"/>
          <p:nvPr/>
        </p:nvSpPr>
        <p:spPr>
          <a:xfrm>
            <a:off x="11631168" y="6519672"/>
            <a:ext cx="274320" cy="164592"/>
          </a:xfrm>
          <a:prstGeom prst="rect">
            <a:avLst/>
          </a:prstGeom>
          <a:noFill/>
        </p:spPr>
        <p:txBody>
          <a:bodyPr wrap="square" lIns="27432" rIns="27432" tIns="27432" bIns="27432" anchor="t">
            <a:spAutoFit/>
          </a:bodyPr>
          <a:lstStyle/>
          <a:p>
            <a:pPr algn="r"/>
            <a:r>
              <a:rPr sz="900" b="0">
                <a:solidFill>
                  <a:srgbClr val="5F6B63"/>
                </a:solidFill>
                <a:latin typeface="Aptos"/>
              </a:rPr>
              <a:t>3</a:t>
            </a:r>
          </a:p>
        </p:txBody>
      </p:sp>
      <p:sp>
        <p:nvSpPr>
          <p:cNvPr id="8" name="TextBox 7"/>
          <p:cNvSpPr txBox="1"/>
          <p:nvPr/>
        </p:nvSpPr>
        <p:spPr>
          <a:xfrm>
            <a:off x="548640" y="658368"/>
            <a:ext cx="10332720" cy="868680"/>
          </a:xfrm>
          <a:prstGeom prst="rect">
            <a:avLst/>
          </a:prstGeom>
          <a:noFill/>
        </p:spPr>
        <p:txBody>
          <a:bodyPr wrap="square" lIns="27432" rIns="27432" tIns="27432" bIns="27432" anchor="t">
            <a:spAutoFit/>
          </a:bodyPr>
          <a:lstStyle/>
          <a:p>
            <a:pPr algn="l"/>
            <a:r>
              <a:rPr sz="2700" b="1">
                <a:solidFill>
                  <a:srgbClr val="355C47"/>
                </a:solidFill>
                <a:latin typeface="Aptos Display"/>
              </a:rPr>
              <a:t>Volume peaks before price</a:t>
            </a:r>
          </a:p>
        </p:txBody>
      </p:sp>
      <p:sp>
        <p:nvSpPr>
          <p:cNvPr id="9" name="TextBox 8"/>
          <p:cNvSpPr txBox="1"/>
          <p:nvPr/>
        </p:nvSpPr>
        <p:spPr>
          <a:xfrm>
            <a:off x="548640" y="1078992"/>
            <a:ext cx="10698480" cy="320040"/>
          </a:xfrm>
          <a:prstGeom prst="rect">
            <a:avLst/>
          </a:prstGeom>
          <a:noFill/>
        </p:spPr>
        <p:txBody>
          <a:bodyPr wrap="square" lIns="27432" rIns="27432" tIns="27432" bIns="27432" anchor="t">
            <a:spAutoFit/>
          </a:bodyPr>
          <a:lstStyle/>
          <a:p>
            <a:pPr algn="l"/>
            <a:r>
              <a:rPr sz="1300" b="0">
                <a:solidFill>
                  <a:srgbClr val="5F6B63"/>
                </a:solidFill>
                <a:latin typeface="Aptos"/>
              </a:rPr>
              <a:t>Seasonality is not symmetrical: product arrives before the market pays peak price.</a:t>
            </a:r>
          </a:p>
        </p:txBody>
      </p:sp>
      <p:sp>
        <p:nvSpPr>
          <p:cNvPr id="10" name="Rounded Rectangle 9"/>
          <p:cNvSpPr/>
          <p:nvPr/>
        </p:nvSpPr>
        <p:spPr>
          <a:xfrm>
            <a:off x="749808" y="1664208"/>
            <a:ext cx="5230368" cy="3840480"/>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1901952"/>
            <a:ext cx="2011680" cy="164592"/>
          </a:xfrm>
          <a:prstGeom prst="rect">
            <a:avLst/>
          </a:prstGeom>
          <a:noFill/>
        </p:spPr>
        <p:txBody>
          <a:bodyPr wrap="square" lIns="27432" rIns="27432" tIns="27432" bIns="27432" anchor="t">
            <a:spAutoFit/>
          </a:bodyPr>
          <a:lstStyle/>
          <a:p>
            <a:pPr algn="l"/>
            <a:r>
              <a:rPr sz="1000" b="1">
                <a:solidFill>
                  <a:srgbClr val="5F6B63"/>
                </a:solidFill>
                <a:latin typeface="Aptos"/>
              </a:rPr>
              <a:t>MONTHLY VOLUME PROFILE</a:t>
            </a:r>
          </a:p>
        </p:txBody>
      </p:sp>
      <p:cxnSp>
        <p:nvCxnSpPr>
          <p:cNvPr id="12" name="Connector 11"/>
          <p:cNvCxnSpPr/>
          <p:nvPr/>
        </p:nvCxnSpPr>
        <p:spPr>
          <a:xfrm>
            <a:off x="1645920" y="3959352"/>
            <a:ext cx="3941064" cy="0"/>
          </a:xfrm>
          <a:prstGeom prst="line">
            <a:avLst/>
          </a:prstGeom>
          <a:ln w="15240">
            <a:solidFill>
              <a:srgbClr val="D8D1C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645920" y="2432304"/>
            <a:ext cx="0" cy="1527048"/>
          </a:xfrm>
          <a:prstGeom prst="line">
            <a:avLst/>
          </a:prstGeom>
          <a:ln w="15240">
            <a:solidFill>
              <a:srgbClr val="D8D1C6"/>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005840" y="3886200"/>
            <a:ext cx="530352" cy="128016"/>
          </a:xfrm>
          <a:prstGeom prst="rect">
            <a:avLst/>
          </a:prstGeom>
          <a:noFill/>
        </p:spPr>
        <p:txBody>
          <a:bodyPr wrap="square" lIns="27432" rIns="27432" tIns="27432" bIns="27432" anchor="t">
            <a:spAutoFit/>
          </a:bodyPr>
          <a:lstStyle/>
          <a:p>
            <a:pPr algn="r"/>
            <a:r>
              <a:rPr sz="800" b="0">
                <a:solidFill>
                  <a:srgbClr val="5F6B63"/>
                </a:solidFill>
                <a:latin typeface="Aptos"/>
              </a:rPr>
              <a:t>0</a:t>
            </a:r>
          </a:p>
        </p:txBody>
      </p:sp>
      <p:cxnSp>
        <p:nvCxnSpPr>
          <p:cNvPr id="15" name="Connector 14"/>
          <p:cNvCxnSpPr/>
          <p:nvPr/>
        </p:nvCxnSpPr>
        <p:spPr>
          <a:xfrm>
            <a:off x="1645920" y="3502152"/>
            <a:ext cx="3941064" cy="0"/>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05840" y="3429000"/>
            <a:ext cx="530352" cy="128016"/>
          </a:xfrm>
          <a:prstGeom prst="rect">
            <a:avLst/>
          </a:prstGeom>
          <a:noFill/>
        </p:spPr>
        <p:txBody>
          <a:bodyPr wrap="square" lIns="27432" rIns="27432" tIns="27432" bIns="27432" anchor="t">
            <a:spAutoFit/>
          </a:bodyPr>
          <a:lstStyle/>
          <a:p>
            <a:pPr algn="r"/>
            <a:r>
              <a:rPr sz="800" b="0">
                <a:solidFill>
                  <a:srgbClr val="5F6B63"/>
                </a:solidFill>
                <a:latin typeface="Aptos"/>
              </a:rPr>
              <a:t>50,000,000</a:t>
            </a:r>
          </a:p>
        </p:txBody>
      </p:sp>
      <p:cxnSp>
        <p:nvCxnSpPr>
          <p:cNvPr id="17" name="Connector 16"/>
          <p:cNvCxnSpPr/>
          <p:nvPr/>
        </p:nvCxnSpPr>
        <p:spPr>
          <a:xfrm>
            <a:off x="1645920" y="3044952"/>
            <a:ext cx="3941064" cy="0"/>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005840" y="2971800"/>
            <a:ext cx="530352" cy="128016"/>
          </a:xfrm>
          <a:prstGeom prst="rect">
            <a:avLst/>
          </a:prstGeom>
          <a:noFill/>
        </p:spPr>
        <p:txBody>
          <a:bodyPr wrap="square" lIns="27432" rIns="27432" tIns="27432" bIns="27432" anchor="t">
            <a:spAutoFit/>
          </a:bodyPr>
          <a:lstStyle/>
          <a:p>
            <a:pPr algn="r"/>
            <a:r>
              <a:rPr sz="800" b="0">
                <a:solidFill>
                  <a:srgbClr val="5F6B63"/>
                </a:solidFill>
                <a:latin typeface="Aptos"/>
              </a:rPr>
              <a:t>100,000,000</a:t>
            </a:r>
          </a:p>
        </p:txBody>
      </p:sp>
      <p:cxnSp>
        <p:nvCxnSpPr>
          <p:cNvPr id="19" name="Connector 18"/>
          <p:cNvCxnSpPr/>
          <p:nvPr/>
        </p:nvCxnSpPr>
        <p:spPr>
          <a:xfrm>
            <a:off x="1645920" y="2587752"/>
            <a:ext cx="3941064" cy="0"/>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005840" y="2514600"/>
            <a:ext cx="530352" cy="128016"/>
          </a:xfrm>
          <a:prstGeom prst="rect">
            <a:avLst/>
          </a:prstGeom>
          <a:noFill/>
        </p:spPr>
        <p:txBody>
          <a:bodyPr wrap="square" lIns="27432" rIns="27432" tIns="27432" bIns="27432" anchor="t">
            <a:spAutoFit/>
          </a:bodyPr>
          <a:lstStyle/>
          <a:p>
            <a:pPr algn="r"/>
            <a:r>
              <a:rPr sz="800" b="0">
                <a:solidFill>
                  <a:srgbClr val="5F6B63"/>
                </a:solidFill>
                <a:latin typeface="Aptos"/>
              </a:rPr>
              <a:t>150,000,000</a:t>
            </a:r>
          </a:p>
        </p:txBody>
      </p:sp>
      <p:cxnSp>
        <p:nvCxnSpPr>
          <p:cNvPr id="21" name="Connector 20"/>
          <p:cNvCxnSpPr/>
          <p:nvPr/>
        </p:nvCxnSpPr>
        <p:spPr>
          <a:xfrm>
            <a:off x="1645920" y="2130552"/>
            <a:ext cx="3941064" cy="0"/>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005840" y="2057400"/>
            <a:ext cx="530352" cy="128016"/>
          </a:xfrm>
          <a:prstGeom prst="rect">
            <a:avLst/>
          </a:prstGeom>
          <a:noFill/>
        </p:spPr>
        <p:txBody>
          <a:bodyPr wrap="square" lIns="27432" rIns="27432" tIns="27432" bIns="27432" anchor="t">
            <a:spAutoFit/>
          </a:bodyPr>
          <a:lstStyle/>
          <a:p>
            <a:pPr algn="r"/>
            <a:r>
              <a:rPr sz="800" b="0">
                <a:solidFill>
                  <a:srgbClr val="5F6B63"/>
                </a:solidFill>
                <a:latin typeface="Aptos"/>
              </a:rPr>
              <a:t>200,000,000</a:t>
            </a:r>
          </a:p>
        </p:txBody>
      </p:sp>
      <p:sp>
        <p:nvSpPr>
          <p:cNvPr id="23" name="Oval 22"/>
          <p:cNvSpPr/>
          <p:nvPr/>
        </p:nvSpPr>
        <p:spPr>
          <a:xfrm>
            <a:off x="1591056" y="2901767"/>
            <a:ext cx="109728" cy="109728"/>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a:off x="1645920" y="2956631"/>
            <a:ext cx="351628" cy="60860"/>
          </a:xfrm>
          <a:prstGeom prst="line">
            <a:avLst/>
          </a:prstGeom>
          <a:ln w="25400">
            <a:solidFill>
              <a:srgbClr val="355C47"/>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1942684" y="2962627"/>
            <a:ext cx="109728" cy="109728"/>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Connector 25"/>
          <p:cNvCxnSpPr/>
          <p:nvPr/>
        </p:nvCxnSpPr>
        <p:spPr>
          <a:xfrm flipV="1">
            <a:off x="1997548" y="2968071"/>
            <a:ext cx="351629" cy="49420"/>
          </a:xfrm>
          <a:prstGeom prst="line">
            <a:avLst/>
          </a:prstGeom>
          <a:ln w="25400">
            <a:solidFill>
              <a:srgbClr val="355C47"/>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2294313" y="2913207"/>
            <a:ext cx="109728" cy="109728"/>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Connector 27"/>
          <p:cNvCxnSpPr/>
          <p:nvPr/>
        </p:nvCxnSpPr>
        <p:spPr>
          <a:xfrm>
            <a:off x="2349177" y="2968071"/>
            <a:ext cx="351628" cy="81900"/>
          </a:xfrm>
          <a:prstGeom prst="line">
            <a:avLst/>
          </a:prstGeom>
          <a:ln w="25400">
            <a:solidFill>
              <a:srgbClr val="355C47"/>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2645941" y="2995107"/>
            <a:ext cx="109728" cy="109728"/>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flipV="1">
            <a:off x="2700805" y="2940730"/>
            <a:ext cx="351628" cy="109241"/>
          </a:xfrm>
          <a:prstGeom prst="line">
            <a:avLst/>
          </a:prstGeom>
          <a:ln w="25400">
            <a:solidFill>
              <a:srgbClr val="355C47"/>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2997569" y="2885866"/>
            <a:ext cx="109728" cy="109728"/>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2" name="Connector 31"/>
          <p:cNvCxnSpPr/>
          <p:nvPr/>
        </p:nvCxnSpPr>
        <p:spPr>
          <a:xfrm>
            <a:off x="3052433" y="2940730"/>
            <a:ext cx="351629" cy="101912"/>
          </a:xfrm>
          <a:prstGeom prst="line">
            <a:avLst/>
          </a:prstGeom>
          <a:ln w="25400">
            <a:solidFill>
              <a:srgbClr val="355C47"/>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3349198" y="2987778"/>
            <a:ext cx="109728" cy="109728"/>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3404062" y="3042642"/>
            <a:ext cx="351628" cy="24229"/>
          </a:xfrm>
          <a:prstGeom prst="line">
            <a:avLst/>
          </a:prstGeom>
          <a:ln w="25400">
            <a:solidFill>
              <a:srgbClr val="355C47"/>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3700826" y="3012007"/>
            <a:ext cx="109728" cy="109728"/>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a:off x="3755690" y="3066871"/>
            <a:ext cx="351629" cy="4508"/>
          </a:xfrm>
          <a:prstGeom prst="line">
            <a:avLst/>
          </a:prstGeom>
          <a:ln w="25400">
            <a:solidFill>
              <a:srgbClr val="355C47"/>
            </a:solidFill>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4052455" y="3016515"/>
            <a:ext cx="109728" cy="109728"/>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8" name="Connector 37"/>
          <p:cNvCxnSpPr/>
          <p:nvPr/>
        </p:nvCxnSpPr>
        <p:spPr>
          <a:xfrm>
            <a:off x="4107319" y="3071379"/>
            <a:ext cx="351628" cy="8960"/>
          </a:xfrm>
          <a:prstGeom prst="line">
            <a:avLst/>
          </a:prstGeom>
          <a:ln w="25400">
            <a:solidFill>
              <a:srgbClr val="355C47"/>
            </a:solidFill>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4404083" y="3025475"/>
            <a:ext cx="109728" cy="109728"/>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 name="Connector 39"/>
          <p:cNvCxnSpPr/>
          <p:nvPr/>
        </p:nvCxnSpPr>
        <p:spPr>
          <a:xfrm flipV="1">
            <a:off x="4458947" y="3070761"/>
            <a:ext cx="351628" cy="9578"/>
          </a:xfrm>
          <a:prstGeom prst="line">
            <a:avLst/>
          </a:prstGeom>
          <a:ln w="25400">
            <a:solidFill>
              <a:srgbClr val="355C47"/>
            </a:solidFill>
          </a:ln>
        </p:spPr>
        <p:style>
          <a:lnRef idx="2">
            <a:schemeClr val="accent1"/>
          </a:lnRef>
          <a:fillRef idx="0">
            <a:schemeClr val="accent1"/>
          </a:fillRef>
          <a:effectRef idx="1">
            <a:schemeClr val="accent1"/>
          </a:effectRef>
          <a:fontRef idx="minor">
            <a:schemeClr val="tx1"/>
          </a:fontRef>
        </p:style>
      </p:cxnSp>
      <p:sp>
        <p:nvSpPr>
          <p:cNvPr id="41" name="Oval 40"/>
          <p:cNvSpPr/>
          <p:nvPr/>
        </p:nvSpPr>
        <p:spPr>
          <a:xfrm>
            <a:off x="4755711" y="3015897"/>
            <a:ext cx="109728" cy="109728"/>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 name="Connector 41"/>
          <p:cNvCxnSpPr/>
          <p:nvPr/>
        </p:nvCxnSpPr>
        <p:spPr>
          <a:xfrm>
            <a:off x="4810575" y="3070761"/>
            <a:ext cx="351629" cy="99637"/>
          </a:xfrm>
          <a:prstGeom prst="line">
            <a:avLst/>
          </a:prstGeom>
          <a:ln w="25400">
            <a:solidFill>
              <a:srgbClr val="355C47"/>
            </a:solidFill>
          </a:ln>
        </p:spPr>
        <p:style>
          <a:lnRef idx="2">
            <a:schemeClr val="accent1"/>
          </a:lnRef>
          <a:fillRef idx="0">
            <a:schemeClr val="accent1"/>
          </a:fillRef>
          <a:effectRef idx="1">
            <a:schemeClr val="accent1"/>
          </a:effectRef>
          <a:fontRef idx="minor">
            <a:schemeClr val="tx1"/>
          </a:fontRef>
        </p:style>
      </p:cxnSp>
      <p:sp>
        <p:nvSpPr>
          <p:cNvPr id="43" name="Oval 42"/>
          <p:cNvSpPr/>
          <p:nvPr/>
        </p:nvSpPr>
        <p:spPr>
          <a:xfrm>
            <a:off x="5107340" y="3115534"/>
            <a:ext cx="109728" cy="109728"/>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4" name="Connector 43"/>
          <p:cNvCxnSpPr/>
          <p:nvPr/>
        </p:nvCxnSpPr>
        <p:spPr>
          <a:xfrm flipV="1">
            <a:off x="5162204" y="3094196"/>
            <a:ext cx="351628" cy="76202"/>
          </a:xfrm>
          <a:prstGeom prst="line">
            <a:avLst/>
          </a:prstGeom>
          <a:ln w="25400">
            <a:solidFill>
              <a:srgbClr val="355C47"/>
            </a:solidFill>
          </a:ln>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5458968" y="3039332"/>
            <a:ext cx="109728" cy="109728"/>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591056" y="3851170"/>
            <a:ext cx="109728" cy="109728"/>
          </a:xfrm>
          <a:prstGeom prst="ellipse">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7" name="Connector 46"/>
          <p:cNvCxnSpPr/>
          <p:nvPr/>
        </p:nvCxnSpPr>
        <p:spPr>
          <a:xfrm>
            <a:off x="1645920" y="3906034"/>
            <a:ext cx="351628" cy="7228"/>
          </a:xfrm>
          <a:prstGeom prst="line">
            <a:avLst/>
          </a:prstGeom>
          <a:ln w="25400">
            <a:solidFill>
              <a:srgbClr val="C58A2A"/>
            </a:solidFill>
          </a:ln>
        </p:spPr>
        <p:style>
          <a:lnRef idx="2">
            <a:schemeClr val="accent1"/>
          </a:lnRef>
          <a:fillRef idx="0">
            <a:schemeClr val="accent1"/>
          </a:fillRef>
          <a:effectRef idx="1">
            <a:schemeClr val="accent1"/>
          </a:effectRef>
          <a:fontRef idx="minor">
            <a:schemeClr val="tx1"/>
          </a:fontRef>
        </p:style>
      </p:cxnSp>
      <p:sp>
        <p:nvSpPr>
          <p:cNvPr id="48" name="Oval 47"/>
          <p:cNvSpPr/>
          <p:nvPr/>
        </p:nvSpPr>
        <p:spPr>
          <a:xfrm>
            <a:off x="1942684" y="3858398"/>
            <a:ext cx="109728" cy="109728"/>
          </a:xfrm>
          <a:prstGeom prst="ellipse">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9" name="Connector 48"/>
          <p:cNvCxnSpPr/>
          <p:nvPr/>
        </p:nvCxnSpPr>
        <p:spPr>
          <a:xfrm flipV="1">
            <a:off x="1997548" y="3907714"/>
            <a:ext cx="351629" cy="5548"/>
          </a:xfrm>
          <a:prstGeom prst="line">
            <a:avLst/>
          </a:prstGeom>
          <a:ln w="25400">
            <a:solidFill>
              <a:srgbClr val="C58A2A"/>
            </a:solidFill>
          </a:ln>
        </p:spPr>
        <p:style>
          <a:lnRef idx="2">
            <a:schemeClr val="accent1"/>
          </a:lnRef>
          <a:fillRef idx="0">
            <a:schemeClr val="accent1"/>
          </a:fillRef>
          <a:effectRef idx="1">
            <a:schemeClr val="accent1"/>
          </a:effectRef>
          <a:fontRef idx="minor">
            <a:schemeClr val="tx1"/>
          </a:fontRef>
        </p:style>
      </p:cxnSp>
      <p:sp>
        <p:nvSpPr>
          <p:cNvPr id="50" name="Oval 49"/>
          <p:cNvSpPr/>
          <p:nvPr/>
        </p:nvSpPr>
        <p:spPr>
          <a:xfrm>
            <a:off x="2294313" y="3852850"/>
            <a:ext cx="109728" cy="109728"/>
          </a:xfrm>
          <a:prstGeom prst="ellipse">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1" name="Connector 50"/>
          <p:cNvCxnSpPr/>
          <p:nvPr/>
        </p:nvCxnSpPr>
        <p:spPr>
          <a:xfrm>
            <a:off x="2349177" y="3907714"/>
            <a:ext cx="351628" cy="3885"/>
          </a:xfrm>
          <a:prstGeom prst="line">
            <a:avLst/>
          </a:prstGeom>
          <a:ln w="25400">
            <a:solidFill>
              <a:srgbClr val="C58A2A"/>
            </a:solidFill>
          </a:ln>
        </p:spPr>
        <p:style>
          <a:lnRef idx="2">
            <a:schemeClr val="accent1"/>
          </a:lnRef>
          <a:fillRef idx="0">
            <a:schemeClr val="accent1"/>
          </a:fillRef>
          <a:effectRef idx="1">
            <a:schemeClr val="accent1"/>
          </a:effectRef>
          <a:fontRef idx="minor">
            <a:schemeClr val="tx1"/>
          </a:fontRef>
        </p:style>
      </p:cxnSp>
      <p:sp>
        <p:nvSpPr>
          <p:cNvPr id="52" name="Oval 51"/>
          <p:cNvSpPr/>
          <p:nvPr/>
        </p:nvSpPr>
        <p:spPr>
          <a:xfrm>
            <a:off x="2645941" y="3856735"/>
            <a:ext cx="109728" cy="109728"/>
          </a:xfrm>
          <a:prstGeom prst="ellipse">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 name="Connector 52"/>
          <p:cNvCxnSpPr/>
          <p:nvPr/>
        </p:nvCxnSpPr>
        <p:spPr>
          <a:xfrm flipV="1">
            <a:off x="2700805" y="3908417"/>
            <a:ext cx="351628" cy="3182"/>
          </a:xfrm>
          <a:prstGeom prst="line">
            <a:avLst/>
          </a:prstGeom>
          <a:ln w="25400">
            <a:solidFill>
              <a:srgbClr val="C58A2A"/>
            </a:solidFill>
          </a:ln>
        </p:spPr>
        <p:style>
          <a:lnRef idx="2">
            <a:schemeClr val="accent1"/>
          </a:lnRef>
          <a:fillRef idx="0">
            <a:schemeClr val="accent1"/>
          </a:fillRef>
          <a:effectRef idx="1">
            <a:schemeClr val="accent1"/>
          </a:effectRef>
          <a:fontRef idx="minor">
            <a:schemeClr val="tx1"/>
          </a:fontRef>
        </p:style>
      </p:cxnSp>
      <p:sp>
        <p:nvSpPr>
          <p:cNvPr id="54" name="Oval 53"/>
          <p:cNvSpPr/>
          <p:nvPr/>
        </p:nvSpPr>
        <p:spPr>
          <a:xfrm>
            <a:off x="2997569" y="3853553"/>
            <a:ext cx="109728" cy="109728"/>
          </a:xfrm>
          <a:prstGeom prst="ellipse">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5" name="Connector 54"/>
          <p:cNvCxnSpPr/>
          <p:nvPr/>
        </p:nvCxnSpPr>
        <p:spPr>
          <a:xfrm>
            <a:off x="3052433" y="3908417"/>
            <a:ext cx="351629" cy="5539"/>
          </a:xfrm>
          <a:prstGeom prst="line">
            <a:avLst/>
          </a:prstGeom>
          <a:ln w="25400">
            <a:solidFill>
              <a:srgbClr val="C58A2A"/>
            </a:solidFill>
          </a:ln>
        </p:spPr>
        <p:style>
          <a:lnRef idx="2">
            <a:schemeClr val="accent1"/>
          </a:lnRef>
          <a:fillRef idx="0">
            <a:schemeClr val="accent1"/>
          </a:fillRef>
          <a:effectRef idx="1">
            <a:schemeClr val="accent1"/>
          </a:effectRef>
          <a:fontRef idx="minor">
            <a:schemeClr val="tx1"/>
          </a:fontRef>
        </p:style>
      </p:cxnSp>
      <p:sp>
        <p:nvSpPr>
          <p:cNvPr id="56" name="Oval 55"/>
          <p:cNvSpPr/>
          <p:nvPr/>
        </p:nvSpPr>
        <p:spPr>
          <a:xfrm>
            <a:off x="3349198" y="3859092"/>
            <a:ext cx="109728" cy="109728"/>
          </a:xfrm>
          <a:prstGeom prst="ellipse">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7" name="Connector 56"/>
          <p:cNvCxnSpPr/>
          <p:nvPr/>
        </p:nvCxnSpPr>
        <p:spPr>
          <a:xfrm>
            <a:off x="3404062" y="3913956"/>
            <a:ext cx="351628" cy="3845"/>
          </a:xfrm>
          <a:prstGeom prst="line">
            <a:avLst/>
          </a:prstGeom>
          <a:ln w="25400">
            <a:solidFill>
              <a:srgbClr val="C58A2A"/>
            </a:solidFill>
          </a:ln>
        </p:spPr>
        <p:style>
          <a:lnRef idx="2">
            <a:schemeClr val="accent1"/>
          </a:lnRef>
          <a:fillRef idx="0">
            <a:schemeClr val="accent1"/>
          </a:fillRef>
          <a:effectRef idx="1">
            <a:schemeClr val="accent1"/>
          </a:effectRef>
          <a:fontRef idx="minor">
            <a:schemeClr val="tx1"/>
          </a:fontRef>
        </p:style>
      </p:cxnSp>
      <p:sp>
        <p:nvSpPr>
          <p:cNvPr id="58" name="Oval 57"/>
          <p:cNvSpPr/>
          <p:nvPr/>
        </p:nvSpPr>
        <p:spPr>
          <a:xfrm>
            <a:off x="3700826" y="3862937"/>
            <a:ext cx="109728" cy="109728"/>
          </a:xfrm>
          <a:prstGeom prst="ellipse">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9" name="Connector 58"/>
          <p:cNvCxnSpPr/>
          <p:nvPr/>
        </p:nvCxnSpPr>
        <p:spPr>
          <a:xfrm flipV="1">
            <a:off x="3755690" y="3917661"/>
            <a:ext cx="351629" cy="140"/>
          </a:xfrm>
          <a:prstGeom prst="line">
            <a:avLst/>
          </a:prstGeom>
          <a:ln w="25400">
            <a:solidFill>
              <a:srgbClr val="C58A2A"/>
            </a:solidFill>
          </a:ln>
        </p:spPr>
        <p:style>
          <a:lnRef idx="2">
            <a:schemeClr val="accent1"/>
          </a:lnRef>
          <a:fillRef idx="0">
            <a:schemeClr val="accent1"/>
          </a:fillRef>
          <a:effectRef idx="1">
            <a:schemeClr val="accent1"/>
          </a:effectRef>
          <a:fontRef idx="minor">
            <a:schemeClr val="tx1"/>
          </a:fontRef>
        </p:style>
      </p:cxnSp>
      <p:sp>
        <p:nvSpPr>
          <p:cNvPr id="60" name="Oval 59"/>
          <p:cNvSpPr/>
          <p:nvPr/>
        </p:nvSpPr>
        <p:spPr>
          <a:xfrm>
            <a:off x="4052455" y="3862797"/>
            <a:ext cx="109728" cy="109728"/>
          </a:xfrm>
          <a:prstGeom prst="ellipse">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1" name="Connector 60"/>
          <p:cNvCxnSpPr/>
          <p:nvPr/>
        </p:nvCxnSpPr>
        <p:spPr>
          <a:xfrm flipV="1">
            <a:off x="4107319" y="3916401"/>
            <a:ext cx="351628" cy="1260"/>
          </a:xfrm>
          <a:prstGeom prst="line">
            <a:avLst/>
          </a:prstGeom>
          <a:ln w="25400">
            <a:solidFill>
              <a:srgbClr val="C58A2A"/>
            </a:solidFill>
          </a:ln>
        </p:spPr>
        <p:style>
          <a:lnRef idx="2">
            <a:schemeClr val="accent1"/>
          </a:lnRef>
          <a:fillRef idx="0">
            <a:schemeClr val="accent1"/>
          </a:fillRef>
          <a:effectRef idx="1">
            <a:schemeClr val="accent1"/>
          </a:effectRef>
          <a:fontRef idx="minor">
            <a:schemeClr val="tx1"/>
          </a:fontRef>
        </p:style>
      </p:cxnSp>
      <p:sp>
        <p:nvSpPr>
          <p:cNvPr id="62" name="Oval 61"/>
          <p:cNvSpPr/>
          <p:nvPr/>
        </p:nvSpPr>
        <p:spPr>
          <a:xfrm>
            <a:off x="4404083" y="3861537"/>
            <a:ext cx="109728" cy="109728"/>
          </a:xfrm>
          <a:prstGeom prst="ellipse">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3" name="Connector 62"/>
          <p:cNvCxnSpPr/>
          <p:nvPr/>
        </p:nvCxnSpPr>
        <p:spPr>
          <a:xfrm flipV="1">
            <a:off x="4458947" y="3915754"/>
            <a:ext cx="351628" cy="647"/>
          </a:xfrm>
          <a:prstGeom prst="line">
            <a:avLst/>
          </a:prstGeom>
          <a:ln w="25400">
            <a:solidFill>
              <a:srgbClr val="C58A2A"/>
            </a:solidFill>
          </a:ln>
        </p:spPr>
        <p:style>
          <a:lnRef idx="2">
            <a:schemeClr val="accent1"/>
          </a:lnRef>
          <a:fillRef idx="0">
            <a:schemeClr val="accent1"/>
          </a:fillRef>
          <a:effectRef idx="1">
            <a:schemeClr val="accent1"/>
          </a:effectRef>
          <a:fontRef idx="minor">
            <a:schemeClr val="tx1"/>
          </a:fontRef>
        </p:style>
      </p:cxnSp>
      <p:sp>
        <p:nvSpPr>
          <p:cNvPr id="64" name="Oval 63"/>
          <p:cNvSpPr/>
          <p:nvPr/>
        </p:nvSpPr>
        <p:spPr>
          <a:xfrm>
            <a:off x="4755711" y="3860890"/>
            <a:ext cx="109728" cy="109728"/>
          </a:xfrm>
          <a:prstGeom prst="ellipse">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5" name="Connector 64"/>
          <p:cNvCxnSpPr/>
          <p:nvPr/>
        </p:nvCxnSpPr>
        <p:spPr>
          <a:xfrm>
            <a:off x="4810575" y="3915754"/>
            <a:ext cx="351629" cy="2874"/>
          </a:xfrm>
          <a:prstGeom prst="line">
            <a:avLst/>
          </a:prstGeom>
          <a:ln w="25400">
            <a:solidFill>
              <a:srgbClr val="C58A2A"/>
            </a:solidFill>
          </a:ln>
        </p:spPr>
        <p:style>
          <a:lnRef idx="2">
            <a:schemeClr val="accent1"/>
          </a:lnRef>
          <a:fillRef idx="0">
            <a:schemeClr val="accent1"/>
          </a:fillRef>
          <a:effectRef idx="1">
            <a:schemeClr val="accent1"/>
          </a:effectRef>
          <a:fontRef idx="minor">
            <a:schemeClr val="tx1"/>
          </a:fontRef>
        </p:style>
      </p:cxnSp>
      <p:sp>
        <p:nvSpPr>
          <p:cNvPr id="66" name="Oval 65"/>
          <p:cNvSpPr/>
          <p:nvPr/>
        </p:nvSpPr>
        <p:spPr>
          <a:xfrm>
            <a:off x="5107340" y="3863764"/>
            <a:ext cx="109728" cy="109728"/>
          </a:xfrm>
          <a:prstGeom prst="ellipse">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7" name="Connector 66"/>
          <p:cNvCxnSpPr/>
          <p:nvPr/>
        </p:nvCxnSpPr>
        <p:spPr>
          <a:xfrm flipV="1">
            <a:off x="5162204" y="3912746"/>
            <a:ext cx="351628" cy="5882"/>
          </a:xfrm>
          <a:prstGeom prst="line">
            <a:avLst/>
          </a:prstGeom>
          <a:ln w="25400">
            <a:solidFill>
              <a:srgbClr val="C58A2A"/>
            </a:solidFill>
          </a:ln>
        </p:spPr>
        <p:style>
          <a:lnRef idx="2">
            <a:schemeClr val="accent1"/>
          </a:lnRef>
          <a:fillRef idx="0">
            <a:schemeClr val="accent1"/>
          </a:fillRef>
          <a:effectRef idx="1">
            <a:schemeClr val="accent1"/>
          </a:effectRef>
          <a:fontRef idx="minor">
            <a:schemeClr val="tx1"/>
          </a:fontRef>
        </p:style>
      </p:cxnSp>
      <p:sp>
        <p:nvSpPr>
          <p:cNvPr id="68" name="Oval 67"/>
          <p:cNvSpPr/>
          <p:nvPr/>
        </p:nvSpPr>
        <p:spPr>
          <a:xfrm>
            <a:off x="5458968" y="3857882"/>
            <a:ext cx="109728" cy="109728"/>
          </a:xfrm>
          <a:prstGeom prst="ellipse">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426464" y="4032504"/>
            <a:ext cx="438912" cy="146304"/>
          </a:xfrm>
          <a:prstGeom prst="rect">
            <a:avLst/>
          </a:prstGeom>
          <a:noFill/>
        </p:spPr>
        <p:txBody>
          <a:bodyPr wrap="square" lIns="27432" rIns="27432" tIns="27432" bIns="27432" anchor="t">
            <a:spAutoFit/>
          </a:bodyPr>
          <a:lstStyle/>
          <a:p>
            <a:pPr algn="ctr"/>
            <a:r>
              <a:rPr sz="900" b="0">
                <a:solidFill>
                  <a:srgbClr val="5F6B63"/>
                </a:solidFill>
                <a:latin typeface="Aptos"/>
              </a:rPr>
              <a:t>Jan</a:t>
            </a:r>
          </a:p>
        </p:txBody>
      </p:sp>
      <p:sp>
        <p:nvSpPr>
          <p:cNvPr id="70" name="TextBox 69"/>
          <p:cNvSpPr txBox="1"/>
          <p:nvPr/>
        </p:nvSpPr>
        <p:spPr>
          <a:xfrm>
            <a:off x="1778092" y="4032504"/>
            <a:ext cx="438912" cy="146304"/>
          </a:xfrm>
          <a:prstGeom prst="rect">
            <a:avLst/>
          </a:prstGeom>
          <a:noFill/>
        </p:spPr>
        <p:txBody>
          <a:bodyPr wrap="square" lIns="27432" rIns="27432" tIns="27432" bIns="27432" anchor="t">
            <a:spAutoFit/>
          </a:bodyPr>
          <a:lstStyle/>
          <a:p>
            <a:pPr algn="ctr"/>
            <a:r>
              <a:rPr sz="900" b="0">
                <a:solidFill>
                  <a:srgbClr val="5F6B63"/>
                </a:solidFill>
                <a:latin typeface="Aptos"/>
              </a:rPr>
              <a:t>Feb</a:t>
            </a:r>
          </a:p>
        </p:txBody>
      </p:sp>
      <p:sp>
        <p:nvSpPr>
          <p:cNvPr id="71" name="TextBox 70"/>
          <p:cNvSpPr txBox="1"/>
          <p:nvPr/>
        </p:nvSpPr>
        <p:spPr>
          <a:xfrm>
            <a:off x="2129721" y="4032504"/>
            <a:ext cx="438912" cy="146304"/>
          </a:xfrm>
          <a:prstGeom prst="rect">
            <a:avLst/>
          </a:prstGeom>
          <a:noFill/>
        </p:spPr>
        <p:txBody>
          <a:bodyPr wrap="square" lIns="27432" rIns="27432" tIns="27432" bIns="27432" anchor="t">
            <a:spAutoFit/>
          </a:bodyPr>
          <a:lstStyle/>
          <a:p>
            <a:pPr algn="ctr"/>
            <a:r>
              <a:rPr sz="900" b="0">
                <a:solidFill>
                  <a:srgbClr val="5F6B63"/>
                </a:solidFill>
                <a:latin typeface="Aptos"/>
              </a:rPr>
              <a:t>Mar</a:t>
            </a:r>
          </a:p>
        </p:txBody>
      </p:sp>
      <p:sp>
        <p:nvSpPr>
          <p:cNvPr id="72" name="TextBox 71"/>
          <p:cNvSpPr txBox="1"/>
          <p:nvPr/>
        </p:nvSpPr>
        <p:spPr>
          <a:xfrm>
            <a:off x="2481349" y="4032504"/>
            <a:ext cx="438912" cy="146304"/>
          </a:xfrm>
          <a:prstGeom prst="rect">
            <a:avLst/>
          </a:prstGeom>
          <a:noFill/>
        </p:spPr>
        <p:txBody>
          <a:bodyPr wrap="square" lIns="27432" rIns="27432" tIns="27432" bIns="27432" anchor="t">
            <a:spAutoFit/>
          </a:bodyPr>
          <a:lstStyle/>
          <a:p>
            <a:pPr algn="ctr"/>
            <a:r>
              <a:rPr sz="900" b="0">
                <a:solidFill>
                  <a:srgbClr val="5F6B63"/>
                </a:solidFill>
                <a:latin typeface="Aptos"/>
              </a:rPr>
              <a:t>Apr</a:t>
            </a:r>
          </a:p>
        </p:txBody>
      </p:sp>
      <p:sp>
        <p:nvSpPr>
          <p:cNvPr id="73" name="TextBox 72"/>
          <p:cNvSpPr txBox="1"/>
          <p:nvPr/>
        </p:nvSpPr>
        <p:spPr>
          <a:xfrm>
            <a:off x="2832977" y="4032504"/>
            <a:ext cx="438912" cy="146304"/>
          </a:xfrm>
          <a:prstGeom prst="rect">
            <a:avLst/>
          </a:prstGeom>
          <a:noFill/>
        </p:spPr>
        <p:txBody>
          <a:bodyPr wrap="square" lIns="27432" rIns="27432" tIns="27432" bIns="27432" anchor="t">
            <a:spAutoFit/>
          </a:bodyPr>
          <a:lstStyle/>
          <a:p>
            <a:pPr algn="ctr"/>
            <a:r>
              <a:rPr sz="900" b="0">
                <a:solidFill>
                  <a:srgbClr val="5F6B63"/>
                </a:solidFill>
                <a:latin typeface="Aptos"/>
              </a:rPr>
              <a:t>May</a:t>
            </a:r>
          </a:p>
        </p:txBody>
      </p:sp>
      <p:sp>
        <p:nvSpPr>
          <p:cNvPr id="74" name="TextBox 73"/>
          <p:cNvSpPr txBox="1"/>
          <p:nvPr/>
        </p:nvSpPr>
        <p:spPr>
          <a:xfrm>
            <a:off x="3184606" y="4032504"/>
            <a:ext cx="438912" cy="146304"/>
          </a:xfrm>
          <a:prstGeom prst="rect">
            <a:avLst/>
          </a:prstGeom>
          <a:noFill/>
        </p:spPr>
        <p:txBody>
          <a:bodyPr wrap="square" lIns="27432" rIns="27432" tIns="27432" bIns="27432" anchor="t">
            <a:spAutoFit/>
          </a:bodyPr>
          <a:lstStyle/>
          <a:p>
            <a:pPr algn="ctr"/>
            <a:r>
              <a:rPr sz="900" b="0">
                <a:solidFill>
                  <a:srgbClr val="5F6B63"/>
                </a:solidFill>
                <a:latin typeface="Aptos"/>
              </a:rPr>
              <a:t>Jun</a:t>
            </a:r>
          </a:p>
        </p:txBody>
      </p:sp>
      <p:sp>
        <p:nvSpPr>
          <p:cNvPr id="75" name="TextBox 74"/>
          <p:cNvSpPr txBox="1"/>
          <p:nvPr/>
        </p:nvSpPr>
        <p:spPr>
          <a:xfrm>
            <a:off x="3536234" y="4032504"/>
            <a:ext cx="438912" cy="146304"/>
          </a:xfrm>
          <a:prstGeom prst="rect">
            <a:avLst/>
          </a:prstGeom>
          <a:noFill/>
        </p:spPr>
        <p:txBody>
          <a:bodyPr wrap="square" lIns="27432" rIns="27432" tIns="27432" bIns="27432" anchor="t">
            <a:spAutoFit/>
          </a:bodyPr>
          <a:lstStyle/>
          <a:p>
            <a:pPr algn="ctr"/>
            <a:r>
              <a:rPr sz="900" b="0">
                <a:solidFill>
                  <a:srgbClr val="5F6B63"/>
                </a:solidFill>
                <a:latin typeface="Aptos"/>
              </a:rPr>
              <a:t>Jul</a:t>
            </a:r>
          </a:p>
        </p:txBody>
      </p:sp>
      <p:sp>
        <p:nvSpPr>
          <p:cNvPr id="76" name="TextBox 75"/>
          <p:cNvSpPr txBox="1"/>
          <p:nvPr/>
        </p:nvSpPr>
        <p:spPr>
          <a:xfrm>
            <a:off x="3887863" y="4032504"/>
            <a:ext cx="438912" cy="146304"/>
          </a:xfrm>
          <a:prstGeom prst="rect">
            <a:avLst/>
          </a:prstGeom>
          <a:noFill/>
        </p:spPr>
        <p:txBody>
          <a:bodyPr wrap="square" lIns="27432" rIns="27432" tIns="27432" bIns="27432" anchor="t">
            <a:spAutoFit/>
          </a:bodyPr>
          <a:lstStyle/>
          <a:p>
            <a:pPr algn="ctr"/>
            <a:r>
              <a:rPr sz="900" b="0">
                <a:solidFill>
                  <a:srgbClr val="5F6B63"/>
                </a:solidFill>
                <a:latin typeface="Aptos"/>
              </a:rPr>
              <a:t>Aug</a:t>
            </a:r>
          </a:p>
        </p:txBody>
      </p:sp>
      <p:sp>
        <p:nvSpPr>
          <p:cNvPr id="77" name="TextBox 76"/>
          <p:cNvSpPr txBox="1"/>
          <p:nvPr/>
        </p:nvSpPr>
        <p:spPr>
          <a:xfrm>
            <a:off x="4239491" y="4032504"/>
            <a:ext cx="438912" cy="146304"/>
          </a:xfrm>
          <a:prstGeom prst="rect">
            <a:avLst/>
          </a:prstGeom>
          <a:noFill/>
        </p:spPr>
        <p:txBody>
          <a:bodyPr wrap="square" lIns="27432" rIns="27432" tIns="27432" bIns="27432" anchor="t">
            <a:spAutoFit/>
          </a:bodyPr>
          <a:lstStyle/>
          <a:p>
            <a:pPr algn="ctr"/>
            <a:r>
              <a:rPr sz="900" b="0">
                <a:solidFill>
                  <a:srgbClr val="5F6B63"/>
                </a:solidFill>
                <a:latin typeface="Aptos"/>
              </a:rPr>
              <a:t>Sep</a:t>
            </a:r>
          </a:p>
        </p:txBody>
      </p:sp>
      <p:sp>
        <p:nvSpPr>
          <p:cNvPr id="78" name="TextBox 77"/>
          <p:cNvSpPr txBox="1"/>
          <p:nvPr/>
        </p:nvSpPr>
        <p:spPr>
          <a:xfrm>
            <a:off x="4591119" y="4032504"/>
            <a:ext cx="438912" cy="146304"/>
          </a:xfrm>
          <a:prstGeom prst="rect">
            <a:avLst/>
          </a:prstGeom>
          <a:noFill/>
        </p:spPr>
        <p:txBody>
          <a:bodyPr wrap="square" lIns="27432" rIns="27432" tIns="27432" bIns="27432" anchor="t">
            <a:spAutoFit/>
          </a:bodyPr>
          <a:lstStyle/>
          <a:p>
            <a:pPr algn="ctr"/>
            <a:r>
              <a:rPr sz="900" b="0">
                <a:solidFill>
                  <a:srgbClr val="5F6B63"/>
                </a:solidFill>
                <a:latin typeface="Aptos"/>
              </a:rPr>
              <a:t>Oct</a:t>
            </a:r>
          </a:p>
        </p:txBody>
      </p:sp>
      <p:sp>
        <p:nvSpPr>
          <p:cNvPr id="79" name="TextBox 78"/>
          <p:cNvSpPr txBox="1"/>
          <p:nvPr/>
        </p:nvSpPr>
        <p:spPr>
          <a:xfrm>
            <a:off x="4942748" y="4032504"/>
            <a:ext cx="438912" cy="146304"/>
          </a:xfrm>
          <a:prstGeom prst="rect">
            <a:avLst/>
          </a:prstGeom>
          <a:noFill/>
        </p:spPr>
        <p:txBody>
          <a:bodyPr wrap="square" lIns="27432" rIns="27432" tIns="27432" bIns="27432" anchor="t">
            <a:spAutoFit/>
          </a:bodyPr>
          <a:lstStyle/>
          <a:p>
            <a:pPr algn="ctr"/>
            <a:r>
              <a:rPr sz="900" b="0">
                <a:solidFill>
                  <a:srgbClr val="5F6B63"/>
                </a:solidFill>
                <a:latin typeface="Aptos"/>
              </a:rPr>
              <a:t>Nov</a:t>
            </a:r>
          </a:p>
        </p:txBody>
      </p:sp>
      <p:sp>
        <p:nvSpPr>
          <p:cNvPr id="80" name="TextBox 79"/>
          <p:cNvSpPr txBox="1"/>
          <p:nvPr/>
        </p:nvSpPr>
        <p:spPr>
          <a:xfrm>
            <a:off x="5294376" y="4032504"/>
            <a:ext cx="438912" cy="146304"/>
          </a:xfrm>
          <a:prstGeom prst="rect">
            <a:avLst/>
          </a:prstGeom>
          <a:noFill/>
        </p:spPr>
        <p:txBody>
          <a:bodyPr wrap="square" lIns="27432" rIns="27432" tIns="27432" bIns="27432" anchor="t">
            <a:spAutoFit/>
          </a:bodyPr>
          <a:lstStyle/>
          <a:p>
            <a:pPr algn="ctr"/>
            <a:r>
              <a:rPr sz="900" b="0">
                <a:solidFill>
                  <a:srgbClr val="5F6B63"/>
                </a:solidFill>
                <a:latin typeface="Aptos"/>
              </a:rPr>
              <a:t>Dec</a:t>
            </a:r>
          </a:p>
        </p:txBody>
      </p:sp>
      <p:sp>
        <p:nvSpPr>
          <p:cNvPr id="81" name="TextBox 80"/>
          <p:cNvSpPr txBox="1"/>
          <p:nvPr/>
        </p:nvSpPr>
        <p:spPr>
          <a:xfrm>
            <a:off x="1005840" y="2121408"/>
            <a:ext cx="585216" cy="128016"/>
          </a:xfrm>
          <a:prstGeom prst="rect">
            <a:avLst/>
          </a:prstGeom>
          <a:noFill/>
        </p:spPr>
        <p:txBody>
          <a:bodyPr wrap="square" lIns="27432" rIns="27432" tIns="27432" bIns="27432" anchor="t">
            <a:spAutoFit/>
          </a:bodyPr>
          <a:lstStyle/>
          <a:p>
            <a:pPr algn="l"/>
            <a:r>
              <a:rPr sz="900" b="1">
                <a:solidFill>
                  <a:srgbClr val="5F6B63"/>
                </a:solidFill>
                <a:latin typeface="Aptos"/>
              </a:rPr>
              <a:t>VOLUME</a:t>
            </a:r>
          </a:p>
        </p:txBody>
      </p:sp>
      <p:sp>
        <p:nvSpPr>
          <p:cNvPr id="82" name="TextBox 81"/>
          <p:cNvSpPr txBox="1"/>
          <p:nvPr/>
        </p:nvSpPr>
        <p:spPr>
          <a:xfrm>
            <a:off x="1773936" y="2121408"/>
            <a:ext cx="1143000" cy="128016"/>
          </a:xfrm>
          <a:prstGeom prst="rect">
            <a:avLst/>
          </a:prstGeom>
          <a:noFill/>
        </p:spPr>
        <p:txBody>
          <a:bodyPr wrap="square" lIns="27432" rIns="27432" tIns="27432" bIns="27432" anchor="t">
            <a:spAutoFit/>
          </a:bodyPr>
          <a:lstStyle/>
          <a:p>
            <a:pPr algn="l"/>
            <a:r>
              <a:rPr sz="1000" b="1">
                <a:solidFill>
                  <a:srgbClr val="355C47"/>
                </a:solidFill>
                <a:latin typeface="Aptos"/>
              </a:rPr>
              <a:t>CONVENTIONAL</a:t>
            </a:r>
          </a:p>
        </p:txBody>
      </p:sp>
      <p:sp>
        <p:nvSpPr>
          <p:cNvPr id="83" name="TextBox 82"/>
          <p:cNvSpPr txBox="1"/>
          <p:nvPr/>
        </p:nvSpPr>
        <p:spPr>
          <a:xfrm>
            <a:off x="2999232" y="2121408"/>
            <a:ext cx="1143000" cy="128016"/>
          </a:xfrm>
          <a:prstGeom prst="rect">
            <a:avLst/>
          </a:prstGeom>
          <a:noFill/>
        </p:spPr>
        <p:txBody>
          <a:bodyPr wrap="square" lIns="27432" rIns="27432" tIns="27432" bIns="27432" anchor="t">
            <a:spAutoFit/>
          </a:bodyPr>
          <a:lstStyle/>
          <a:p>
            <a:pPr algn="l"/>
            <a:r>
              <a:rPr sz="1000" b="1">
                <a:solidFill>
                  <a:srgbClr val="C58A2A"/>
                </a:solidFill>
                <a:latin typeface="Aptos"/>
              </a:rPr>
              <a:t>ORGANIC</a:t>
            </a:r>
          </a:p>
        </p:txBody>
      </p:sp>
      <p:sp>
        <p:nvSpPr>
          <p:cNvPr id="84" name="Rounded Rectangle 83"/>
          <p:cNvSpPr/>
          <p:nvPr/>
        </p:nvSpPr>
        <p:spPr>
          <a:xfrm>
            <a:off x="987552" y="4663440"/>
            <a:ext cx="1481328" cy="731520"/>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1115568" y="4773168"/>
            <a:ext cx="1225296" cy="164592"/>
          </a:xfrm>
          <a:prstGeom prst="rect">
            <a:avLst/>
          </a:prstGeom>
          <a:noFill/>
        </p:spPr>
        <p:txBody>
          <a:bodyPr wrap="square" lIns="27432" rIns="27432" tIns="27432" bIns="27432" anchor="t">
            <a:spAutoFit/>
          </a:bodyPr>
          <a:lstStyle/>
          <a:p>
            <a:pPr algn="ctr"/>
            <a:r>
              <a:rPr sz="1000" b="1">
                <a:solidFill>
                  <a:srgbClr val="5F6B63"/>
                </a:solidFill>
                <a:latin typeface="Aptos"/>
              </a:rPr>
              <a:t>CONV. PEAK</a:t>
            </a:r>
          </a:p>
        </p:txBody>
      </p:sp>
      <p:sp>
        <p:nvSpPr>
          <p:cNvPr id="86" name="TextBox 85"/>
          <p:cNvSpPr txBox="1"/>
          <p:nvPr/>
        </p:nvSpPr>
        <p:spPr>
          <a:xfrm>
            <a:off x="1115568" y="4974336"/>
            <a:ext cx="1225296" cy="310896"/>
          </a:xfrm>
          <a:prstGeom prst="rect">
            <a:avLst/>
          </a:prstGeom>
          <a:noFill/>
        </p:spPr>
        <p:txBody>
          <a:bodyPr wrap="square" lIns="27432" rIns="27432" tIns="27432" bIns="27432" anchor="ctr">
            <a:spAutoFit/>
          </a:bodyPr>
          <a:lstStyle/>
          <a:p>
            <a:pPr algn="ctr"/>
            <a:r>
              <a:rPr sz="1900" b="1">
                <a:solidFill>
                  <a:srgbClr val="355C47"/>
                </a:solidFill>
                <a:latin typeface="Aptos Display"/>
              </a:rPr>
              <a:t>May</a:t>
            </a:r>
          </a:p>
        </p:txBody>
      </p:sp>
      <p:sp>
        <p:nvSpPr>
          <p:cNvPr id="87" name="Rounded Rectangle 86"/>
          <p:cNvSpPr/>
          <p:nvPr/>
        </p:nvSpPr>
        <p:spPr>
          <a:xfrm>
            <a:off x="2615184" y="4663440"/>
            <a:ext cx="1481328" cy="731520"/>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2743200" y="4773168"/>
            <a:ext cx="1225296" cy="164592"/>
          </a:xfrm>
          <a:prstGeom prst="rect">
            <a:avLst/>
          </a:prstGeom>
          <a:noFill/>
        </p:spPr>
        <p:txBody>
          <a:bodyPr wrap="square" lIns="27432" rIns="27432" tIns="27432" bIns="27432" anchor="t">
            <a:spAutoFit/>
          </a:bodyPr>
          <a:lstStyle/>
          <a:p>
            <a:pPr algn="ctr"/>
            <a:r>
              <a:rPr sz="1000" b="1">
                <a:solidFill>
                  <a:srgbClr val="5F6B63"/>
                </a:solidFill>
                <a:latin typeface="Aptos"/>
              </a:rPr>
              <a:t>ORG. PEAK</a:t>
            </a:r>
          </a:p>
        </p:txBody>
      </p:sp>
      <p:sp>
        <p:nvSpPr>
          <p:cNvPr id="89" name="TextBox 88"/>
          <p:cNvSpPr txBox="1"/>
          <p:nvPr/>
        </p:nvSpPr>
        <p:spPr>
          <a:xfrm>
            <a:off x="2743200" y="4974336"/>
            <a:ext cx="1225296" cy="310896"/>
          </a:xfrm>
          <a:prstGeom prst="rect">
            <a:avLst/>
          </a:prstGeom>
          <a:noFill/>
        </p:spPr>
        <p:txBody>
          <a:bodyPr wrap="square" lIns="27432" rIns="27432" tIns="27432" bIns="27432" anchor="ctr">
            <a:spAutoFit/>
          </a:bodyPr>
          <a:lstStyle/>
          <a:p>
            <a:pPr algn="ctr"/>
            <a:r>
              <a:rPr sz="1900" b="1">
                <a:solidFill>
                  <a:srgbClr val="3F728A"/>
                </a:solidFill>
                <a:latin typeface="Aptos Display"/>
              </a:rPr>
              <a:t>Jan</a:t>
            </a:r>
          </a:p>
        </p:txBody>
      </p:sp>
      <p:sp>
        <p:nvSpPr>
          <p:cNvPr id="90" name="TextBox 89"/>
          <p:cNvSpPr txBox="1"/>
          <p:nvPr/>
        </p:nvSpPr>
        <p:spPr>
          <a:xfrm>
            <a:off x="4261104" y="4718304"/>
            <a:ext cx="1353312" cy="402336"/>
          </a:xfrm>
          <a:prstGeom prst="rect">
            <a:avLst/>
          </a:prstGeom>
          <a:noFill/>
        </p:spPr>
        <p:txBody>
          <a:bodyPr wrap="square" lIns="27432" rIns="27432" tIns="27432" bIns="27432" anchor="t">
            <a:spAutoFit/>
          </a:bodyPr>
          <a:lstStyle/>
          <a:p>
            <a:pPr algn="l"/>
            <a:r>
              <a:rPr sz="1000" b="0">
                <a:solidFill>
                  <a:srgbClr val="1F2621"/>
                </a:solidFill>
                <a:latin typeface="Aptos"/>
              </a:rPr>
              <a:t>Supply arrives earliest in organic, then broadens into the spring conventional peak.</a:t>
            </a:r>
          </a:p>
        </p:txBody>
      </p:sp>
      <p:sp>
        <p:nvSpPr>
          <p:cNvPr id="91" name="Rounded Rectangle 90"/>
          <p:cNvSpPr/>
          <p:nvPr/>
        </p:nvSpPr>
        <p:spPr>
          <a:xfrm>
            <a:off x="6217920" y="1664208"/>
            <a:ext cx="5230368" cy="3840480"/>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6455664" y="1901952"/>
            <a:ext cx="1828800" cy="164592"/>
          </a:xfrm>
          <a:prstGeom prst="rect">
            <a:avLst/>
          </a:prstGeom>
          <a:noFill/>
        </p:spPr>
        <p:txBody>
          <a:bodyPr wrap="square" lIns="27432" rIns="27432" tIns="27432" bIns="27432" anchor="t">
            <a:spAutoFit/>
          </a:bodyPr>
          <a:lstStyle/>
          <a:p>
            <a:pPr algn="l"/>
            <a:r>
              <a:rPr sz="1000" b="1">
                <a:solidFill>
                  <a:srgbClr val="5F6B63"/>
                </a:solidFill>
                <a:latin typeface="Aptos"/>
              </a:rPr>
              <a:t>MONTHLY PRICE PROFILE</a:t>
            </a:r>
          </a:p>
        </p:txBody>
      </p:sp>
      <p:cxnSp>
        <p:nvCxnSpPr>
          <p:cNvPr id="93" name="Connector 92"/>
          <p:cNvCxnSpPr/>
          <p:nvPr/>
        </p:nvCxnSpPr>
        <p:spPr>
          <a:xfrm>
            <a:off x="7114032" y="3959352"/>
            <a:ext cx="3941064" cy="0"/>
          </a:xfrm>
          <a:prstGeom prst="line">
            <a:avLst/>
          </a:prstGeom>
          <a:ln w="15240">
            <a:solidFill>
              <a:srgbClr val="D8D1C6"/>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7114032" y="2432304"/>
            <a:ext cx="0" cy="1527048"/>
          </a:xfrm>
          <a:prstGeom prst="line">
            <a:avLst/>
          </a:prstGeom>
          <a:ln w="15240">
            <a:solidFill>
              <a:srgbClr val="D8D1C6"/>
            </a:solidFill>
          </a:ln>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6473952" y="3886200"/>
            <a:ext cx="530352" cy="128016"/>
          </a:xfrm>
          <a:prstGeom prst="rect">
            <a:avLst/>
          </a:prstGeom>
          <a:noFill/>
        </p:spPr>
        <p:txBody>
          <a:bodyPr wrap="square" lIns="27432" rIns="27432" tIns="27432" bIns="27432" anchor="t">
            <a:spAutoFit/>
          </a:bodyPr>
          <a:lstStyle/>
          <a:p>
            <a:pPr algn="r"/>
            <a:r>
              <a:rPr sz="800" b="0">
                <a:solidFill>
                  <a:srgbClr val="5F6B63"/>
                </a:solidFill>
                <a:latin typeface="Aptos"/>
              </a:rPr>
              <a:t>$1.00</a:t>
            </a:r>
          </a:p>
        </p:txBody>
      </p:sp>
      <p:cxnSp>
        <p:nvCxnSpPr>
          <p:cNvPr id="96" name="Connector 95"/>
          <p:cNvCxnSpPr/>
          <p:nvPr/>
        </p:nvCxnSpPr>
        <p:spPr>
          <a:xfrm>
            <a:off x="7114032" y="3685032"/>
            <a:ext cx="3941064" cy="0"/>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97" name="TextBox 96"/>
          <p:cNvSpPr txBox="1"/>
          <p:nvPr/>
        </p:nvSpPr>
        <p:spPr>
          <a:xfrm>
            <a:off x="6473952" y="3611880"/>
            <a:ext cx="530352" cy="128016"/>
          </a:xfrm>
          <a:prstGeom prst="rect">
            <a:avLst/>
          </a:prstGeom>
          <a:noFill/>
        </p:spPr>
        <p:txBody>
          <a:bodyPr wrap="square" lIns="27432" rIns="27432" tIns="27432" bIns="27432" anchor="t">
            <a:spAutoFit/>
          </a:bodyPr>
          <a:lstStyle/>
          <a:p>
            <a:pPr algn="r"/>
            <a:r>
              <a:rPr sz="800" b="0">
                <a:solidFill>
                  <a:srgbClr val="5F6B63"/>
                </a:solidFill>
                <a:latin typeface="Aptos"/>
              </a:rPr>
              <a:t>$1.20</a:t>
            </a:r>
          </a:p>
        </p:txBody>
      </p:sp>
      <p:cxnSp>
        <p:nvCxnSpPr>
          <p:cNvPr id="98" name="Connector 97"/>
          <p:cNvCxnSpPr/>
          <p:nvPr/>
        </p:nvCxnSpPr>
        <p:spPr>
          <a:xfrm>
            <a:off x="7114032" y="3410712"/>
            <a:ext cx="3941064" cy="0"/>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6473952" y="3337560"/>
            <a:ext cx="530352" cy="128016"/>
          </a:xfrm>
          <a:prstGeom prst="rect">
            <a:avLst/>
          </a:prstGeom>
          <a:noFill/>
        </p:spPr>
        <p:txBody>
          <a:bodyPr wrap="square" lIns="27432" rIns="27432" tIns="27432" bIns="27432" anchor="t">
            <a:spAutoFit/>
          </a:bodyPr>
          <a:lstStyle/>
          <a:p>
            <a:pPr algn="r"/>
            <a:r>
              <a:rPr sz="800" b="0">
                <a:solidFill>
                  <a:srgbClr val="5F6B63"/>
                </a:solidFill>
                <a:latin typeface="Aptos"/>
              </a:rPr>
              <a:t>$1.40</a:t>
            </a:r>
          </a:p>
        </p:txBody>
      </p:sp>
      <p:cxnSp>
        <p:nvCxnSpPr>
          <p:cNvPr id="100" name="Connector 99"/>
          <p:cNvCxnSpPr/>
          <p:nvPr/>
        </p:nvCxnSpPr>
        <p:spPr>
          <a:xfrm>
            <a:off x="7114032" y="3136392"/>
            <a:ext cx="3941064" cy="0"/>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6473952" y="3063240"/>
            <a:ext cx="530352" cy="128016"/>
          </a:xfrm>
          <a:prstGeom prst="rect">
            <a:avLst/>
          </a:prstGeom>
          <a:noFill/>
        </p:spPr>
        <p:txBody>
          <a:bodyPr wrap="square" lIns="27432" rIns="27432" tIns="27432" bIns="27432" anchor="t">
            <a:spAutoFit/>
          </a:bodyPr>
          <a:lstStyle/>
          <a:p>
            <a:pPr algn="r"/>
            <a:r>
              <a:rPr sz="800" b="0">
                <a:solidFill>
                  <a:srgbClr val="5F6B63"/>
                </a:solidFill>
                <a:latin typeface="Aptos"/>
              </a:rPr>
              <a:t>$1.60</a:t>
            </a:r>
          </a:p>
        </p:txBody>
      </p:sp>
      <p:cxnSp>
        <p:nvCxnSpPr>
          <p:cNvPr id="102" name="Connector 101"/>
          <p:cNvCxnSpPr/>
          <p:nvPr/>
        </p:nvCxnSpPr>
        <p:spPr>
          <a:xfrm>
            <a:off x="7114032" y="2862072"/>
            <a:ext cx="3941064" cy="0"/>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6473952" y="2788920"/>
            <a:ext cx="530352" cy="128016"/>
          </a:xfrm>
          <a:prstGeom prst="rect">
            <a:avLst/>
          </a:prstGeom>
          <a:noFill/>
        </p:spPr>
        <p:txBody>
          <a:bodyPr wrap="square" lIns="27432" rIns="27432" tIns="27432" bIns="27432" anchor="t">
            <a:spAutoFit/>
          </a:bodyPr>
          <a:lstStyle/>
          <a:p>
            <a:pPr algn="r"/>
            <a:r>
              <a:rPr sz="800" b="0">
                <a:solidFill>
                  <a:srgbClr val="5F6B63"/>
                </a:solidFill>
                <a:latin typeface="Aptos"/>
              </a:rPr>
              <a:t>$1.80</a:t>
            </a:r>
          </a:p>
        </p:txBody>
      </p:sp>
      <p:sp>
        <p:nvSpPr>
          <p:cNvPr id="104" name="Oval 103"/>
          <p:cNvSpPr/>
          <p:nvPr/>
        </p:nvSpPr>
        <p:spPr>
          <a:xfrm>
            <a:off x="7059168" y="3804870"/>
            <a:ext cx="109728" cy="109728"/>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5" name="Connector 104"/>
          <p:cNvCxnSpPr/>
          <p:nvPr/>
        </p:nvCxnSpPr>
        <p:spPr>
          <a:xfrm>
            <a:off x="7114032" y="3859734"/>
            <a:ext cx="351628" cy="6221"/>
          </a:xfrm>
          <a:prstGeom prst="line">
            <a:avLst/>
          </a:prstGeom>
          <a:ln w="25400">
            <a:solidFill>
              <a:srgbClr val="355C47"/>
            </a:solidFill>
          </a:ln>
        </p:spPr>
        <p:style>
          <a:lnRef idx="2">
            <a:schemeClr val="accent1"/>
          </a:lnRef>
          <a:fillRef idx="0">
            <a:schemeClr val="accent1"/>
          </a:fillRef>
          <a:effectRef idx="1">
            <a:schemeClr val="accent1"/>
          </a:effectRef>
          <a:fontRef idx="minor">
            <a:schemeClr val="tx1"/>
          </a:fontRef>
        </p:style>
      </p:cxnSp>
      <p:sp>
        <p:nvSpPr>
          <p:cNvPr id="106" name="Oval 105"/>
          <p:cNvSpPr/>
          <p:nvPr/>
        </p:nvSpPr>
        <p:spPr>
          <a:xfrm>
            <a:off x="7410796" y="3811091"/>
            <a:ext cx="109728" cy="109728"/>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7" name="Connector 106"/>
          <p:cNvCxnSpPr/>
          <p:nvPr/>
        </p:nvCxnSpPr>
        <p:spPr>
          <a:xfrm flipV="1">
            <a:off x="7465660" y="3747017"/>
            <a:ext cx="351629" cy="118938"/>
          </a:xfrm>
          <a:prstGeom prst="line">
            <a:avLst/>
          </a:prstGeom>
          <a:ln w="25400">
            <a:solidFill>
              <a:srgbClr val="355C47"/>
            </a:solidFill>
          </a:ln>
        </p:spPr>
        <p:style>
          <a:lnRef idx="2">
            <a:schemeClr val="accent1"/>
          </a:lnRef>
          <a:fillRef idx="0">
            <a:schemeClr val="accent1"/>
          </a:fillRef>
          <a:effectRef idx="1">
            <a:schemeClr val="accent1"/>
          </a:effectRef>
          <a:fontRef idx="minor">
            <a:schemeClr val="tx1"/>
          </a:fontRef>
        </p:style>
      </p:cxnSp>
      <p:sp>
        <p:nvSpPr>
          <p:cNvPr id="108" name="Oval 107"/>
          <p:cNvSpPr/>
          <p:nvPr/>
        </p:nvSpPr>
        <p:spPr>
          <a:xfrm>
            <a:off x="7762425" y="3692153"/>
            <a:ext cx="109728" cy="109728"/>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9" name="Connector 108"/>
          <p:cNvCxnSpPr/>
          <p:nvPr/>
        </p:nvCxnSpPr>
        <p:spPr>
          <a:xfrm flipV="1">
            <a:off x="7817289" y="3621538"/>
            <a:ext cx="351628" cy="125479"/>
          </a:xfrm>
          <a:prstGeom prst="line">
            <a:avLst/>
          </a:prstGeom>
          <a:ln w="25400">
            <a:solidFill>
              <a:srgbClr val="355C47"/>
            </a:solidFill>
          </a:ln>
        </p:spPr>
        <p:style>
          <a:lnRef idx="2">
            <a:schemeClr val="accent1"/>
          </a:lnRef>
          <a:fillRef idx="0">
            <a:schemeClr val="accent1"/>
          </a:fillRef>
          <a:effectRef idx="1">
            <a:schemeClr val="accent1"/>
          </a:effectRef>
          <a:fontRef idx="minor">
            <a:schemeClr val="tx1"/>
          </a:fontRef>
        </p:style>
      </p:cxnSp>
      <p:sp>
        <p:nvSpPr>
          <p:cNvPr id="110" name="Oval 109"/>
          <p:cNvSpPr/>
          <p:nvPr/>
        </p:nvSpPr>
        <p:spPr>
          <a:xfrm>
            <a:off x="8114053" y="3566674"/>
            <a:ext cx="109728" cy="109728"/>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1" name="Connector 110"/>
          <p:cNvCxnSpPr/>
          <p:nvPr/>
        </p:nvCxnSpPr>
        <p:spPr>
          <a:xfrm flipV="1">
            <a:off x="8168917" y="3592612"/>
            <a:ext cx="351628" cy="28926"/>
          </a:xfrm>
          <a:prstGeom prst="line">
            <a:avLst/>
          </a:prstGeom>
          <a:ln w="25400">
            <a:solidFill>
              <a:srgbClr val="355C47"/>
            </a:solidFill>
          </a:ln>
        </p:spPr>
        <p:style>
          <a:lnRef idx="2">
            <a:schemeClr val="accent1"/>
          </a:lnRef>
          <a:fillRef idx="0">
            <a:schemeClr val="accent1"/>
          </a:fillRef>
          <a:effectRef idx="1">
            <a:schemeClr val="accent1"/>
          </a:effectRef>
          <a:fontRef idx="minor">
            <a:schemeClr val="tx1"/>
          </a:fontRef>
        </p:style>
      </p:cxnSp>
      <p:sp>
        <p:nvSpPr>
          <p:cNvPr id="112" name="Oval 111"/>
          <p:cNvSpPr/>
          <p:nvPr/>
        </p:nvSpPr>
        <p:spPr>
          <a:xfrm>
            <a:off x="8465681" y="3537748"/>
            <a:ext cx="109728" cy="109728"/>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3" name="Connector 112"/>
          <p:cNvCxnSpPr/>
          <p:nvPr/>
        </p:nvCxnSpPr>
        <p:spPr>
          <a:xfrm flipV="1">
            <a:off x="8520545" y="3564766"/>
            <a:ext cx="351629" cy="27846"/>
          </a:xfrm>
          <a:prstGeom prst="line">
            <a:avLst/>
          </a:prstGeom>
          <a:ln w="25400">
            <a:solidFill>
              <a:srgbClr val="355C47"/>
            </a:solidFill>
          </a:ln>
        </p:spPr>
        <p:style>
          <a:lnRef idx="2">
            <a:schemeClr val="accent1"/>
          </a:lnRef>
          <a:fillRef idx="0">
            <a:schemeClr val="accent1"/>
          </a:fillRef>
          <a:effectRef idx="1">
            <a:schemeClr val="accent1"/>
          </a:effectRef>
          <a:fontRef idx="minor">
            <a:schemeClr val="tx1"/>
          </a:fontRef>
        </p:style>
      </p:cxnSp>
      <p:sp>
        <p:nvSpPr>
          <p:cNvPr id="114" name="Oval 113"/>
          <p:cNvSpPr/>
          <p:nvPr/>
        </p:nvSpPr>
        <p:spPr>
          <a:xfrm>
            <a:off x="8817310" y="3509902"/>
            <a:ext cx="109728" cy="109728"/>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5" name="Connector 114"/>
          <p:cNvCxnSpPr/>
          <p:nvPr/>
        </p:nvCxnSpPr>
        <p:spPr>
          <a:xfrm flipV="1">
            <a:off x="8872174" y="3552281"/>
            <a:ext cx="351628" cy="12485"/>
          </a:xfrm>
          <a:prstGeom prst="line">
            <a:avLst/>
          </a:prstGeom>
          <a:ln w="25400">
            <a:solidFill>
              <a:srgbClr val="355C47"/>
            </a:solidFill>
          </a:ln>
        </p:spPr>
        <p:style>
          <a:lnRef idx="2">
            <a:schemeClr val="accent1"/>
          </a:lnRef>
          <a:fillRef idx="0">
            <a:schemeClr val="accent1"/>
          </a:fillRef>
          <a:effectRef idx="1">
            <a:schemeClr val="accent1"/>
          </a:effectRef>
          <a:fontRef idx="minor">
            <a:schemeClr val="tx1"/>
          </a:fontRef>
        </p:style>
      </p:cxnSp>
      <p:sp>
        <p:nvSpPr>
          <p:cNvPr id="116" name="Oval 115"/>
          <p:cNvSpPr/>
          <p:nvPr/>
        </p:nvSpPr>
        <p:spPr>
          <a:xfrm>
            <a:off x="9168938" y="3497417"/>
            <a:ext cx="109728" cy="109728"/>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7" name="Connector 116"/>
          <p:cNvCxnSpPr/>
          <p:nvPr/>
        </p:nvCxnSpPr>
        <p:spPr>
          <a:xfrm>
            <a:off x="9223802" y="3552281"/>
            <a:ext cx="351629" cy="90394"/>
          </a:xfrm>
          <a:prstGeom prst="line">
            <a:avLst/>
          </a:prstGeom>
          <a:ln w="25400">
            <a:solidFill>
              <a:srgbClr val="355C47"/>
            </a:solidFill>
          </a:ln>
        </p:spPr>
        <p:style>
          <a:lnRef idx="2">
            <a:schemeClr val="accent1"/>
          </a:lnRef>
          <a:fillRef idx="0">
            <a:schemeClr val="accent1"/>
          </a:fillRef>
          <a:effectRef idx="1">
            <a:schemeClr val="accent1"/>
          </a:effectRef>
          <a:fontRef idx="minor">
            <a:schemeClr val="tx1"/>
          </a:fontRef>
        </p:style>
      </p:cxnSp>
      <p:sp>
        <p:nvSpPr>
          <p:cNvPr id="118" name="Oval 117"/>
          <p:cNvSpPr/>
          <p:nvPr/>
        </p:nvSpPr>
        <p:spPr>
          <a:xfrm>
            <a:off x="9520567" y="3587811"/>
            <a:ext cx="109728" cy="109728"/>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9" name="Connector 118"/>
          <p:cNvCxnSpPr/>
          <p:nvPr/>
        </p:nvCxnSpPr>
        <p:spPr>
          <a:xfrm>
            <a:off x="9575431" y="3642675"/>
            <a:ext cx="351628" cy="42391"/>
          </a:xfrm>
          <a:prstGeom prst="line">
            <a:avLst/>
          </a:prstGeom>
          <a:ln w="25400">
            <a:solidFill>
              <a:srgbClr val="355C47"/>
            </a:solidFill>
          </a:ln>
        </p:spPr>
        <p:style>
          <a:lnRef idx="2">
            <a:schemeClr val="accent1"/>
          </a:lnRef>
          <a:fillRef idx="0">
            <a:schemeClr val="accent1"/>
          </a:fillRef>
          <a:effectRef idx="1">
            <a:schemeClr val="accent1"/>
          </a:effectRef>
          <a:fontRef idx="minor">
            <a:schemeClr val="tx1"/>
          </a:fontRef>
        </p:style>
      </p:cxnSp>
      <p:sp>
        <p:nvSpPr>
          <p:cNvPr id="120" name="Oval 119"/>
          <p:cNvSpPr/>
          <p:nvPr/>
        </p:nvSpPr>
        <p:spPr>
          <a:xfrm>
            <a:off x="9872195" y="3630202"/>
            <a:ext cx="109728" cy="109728"/>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1" name="Connector 120"/>
          <p:cNvCxnSpPr/>
          <p:nvPr/>
        </p:nvCxnSpPr>
        <p:spPr>
          <a:xfrm>
            <a:off x="9927059" y="3685066"/>
            <a:ext cx="351628" cy="43911"/>
          </a:xfrm>
          <a:prstGeom prst="line">
            <a:avLst/>
          </a:prstGeom>
          <a:ln w="25400">
            <a:solidFill>
              <a:srgbClr val="355C47"/>
            </a:solidFill>
          </a:ln>
        </p:spPr>
        <p:style>
          <a:lnRef idx="2">
            <a:schemeClr val="accent1"/>
          </a:lnRef>
          <a:fillRef idx="0">
            <a:schemeClr val="accent1"/>
          </a:fillRef>
          <a:effectRef idx="1">
            <a:schemeClr val="accent1"/>
          </a:effectRef>
          <a:fontRef idx="minor">
            <a:schemeClr val="tx1"/>
          </a:fontRef>
        </p:style>
      </p:cxnSp>
      <p:sp>
        <p:nvSpPr>
          <p:cNvPr id="122" name="Oval 121"/>
          <p:cNvSpPr/>
          <p:nvPr/>
        </p:nvSpPr>
        <p:spPr>
          <a:xfrm>
            <a:off x="10223823" y="3674113"/>
            <a:ext cx="109728" cy="109728"/>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3" name="Connector 122"/>
          <p:cNvCxnSpPr/>
          <p:nvPr/>
        </p:nvCxnSpPr>
        <p:spPr>
          <a:xfrm>
            <a:off x="10278687" y="3728977"/>
            <a:ext cx="351629" cy="39565"/>
          </a:xfrm>
          <a:prstGeom prst="line">
            <a:avLst/>
          </a:prstGeom>
          <a:ln w="25400">
            <a:solidFill>
              <a:srgbClr val="355C47"/>
            </a:solidFill>
          </a:ln>
        </p:spPr>
        <p:style>
          <a:lnRef idx="2">
            <a:schemeClr val="accent1"/>
          </a:lnRef>
          <a:fillRef idx="0">
            <a:schemeClr val="accent1"/>
          </a:fillRef>
          <a:effectRef idx="1">
            <a:schemeClr val="accent1"/>
          </a:effectRef>
          <a:fontRef idx="minor">
            <a:schemeClr val="tx1"/>
          </a:fontRef>
        </p:style>
      </p:cxnSp>
      <p:sp>
        <p:nvSpPr>
          <p:cNvPr id="124" name="Oval 123"/>
          <p:cNvSpPr/>
          <p:nvPr/>
        </p:nvSpPr>
        <p:spPr>
          <a:xfrm>
            <a:off x="10575452" y="3713678"/>
            <a:ext cx="109728" cy="109728"/>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5" name="Connector 124"/>
          <p:cNvCxnSpPr/>
          <p:nvPr/>
        </p:nvCxnSpPr>
        <p:spPr>
          <a:xfrm>
            <a:off x="10630316" y="3768542"/>
            <a:ext cx="351628" cy="53256"/>
          </a:xfrm>
          <a:prstGeom prst="line">
            <a:avLst/>
          </a:prstGeom>
          <a:ln w="25400">
            <a:solidFill>
              <a:srgbClr val="355C47"/>
            </a:solidFill>
          </a:ln>
        </p:spPr>
        <p:style>
          <a:lnRef idx="2">
            <a:schemeClr val="accent1"/>
          </a:lnRef>
          <a:fillRef idx="0">
            <a:schemeClr val="accent1"/>
          </a:fillRef>
          <a:effectRef idx="1">
            <a:schemeClr val="accent1"/>
          </a:effectRef>
          <a:fontRef idx="minor">
            <a:schemeClr val="tx1"/>
          </a:fontRef>
        </p:style>
      </p:cxnSp>
      <p:sp>
        <p:nvSpPr>
          <p:cNvPr id="126" name="Oval 125"/>
          <p:cNvSpPr/>
          <p:nvPr/>
        </p:nvSpPr>
        <p:spPr>
          <a:xfrm>
            <a:off x="10927080" y="3766934"/>
            <a:ext cx="109728" cy="109728"/>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val 126"/>
          <p:cNvSpPr/>
          <p:nvPr/>
        </p:nvSpPr>
        <p:spPr>
          <a:xfrm>
            <a:off x="7059168" y="3147142"/>
            <a:ext cx="109728" cy="109728"/>
          </a:xfrm>
          <a:prstGeom prst="ellipse">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8" name="Connector 127"/>
          <p:cNvCxnSpPr/>
          <p:nvPr/>
        </p:nvCxnSpPr>
        <p:spPr>
          <a:xfrm>
            <a:off x="7114032" y="3202006"/>
            <a:ext cx="351628" cy="5795"/>
          </a:xfrm>
          <a:prstGeom prst="line">
            <a:avLst/>
          </a:prstGeom>
          <a:ln w="25400">
            <a:solidFill>
              <a:srgbClr val="C58A2A"/>
            </a:solidFill>
          </a:ln>
        </p:spPr>
        <p:style>
          <a:lnRef idx="2">
            <a:schemeClr val="accent1"/>
          </a:lnRef>
          <a:fillRef idx="0">
            <a:schemeClr val="accent1"/>
          </a:fillRef>
          <a:effectRef idx="1">
            <a:schemeClr val="accent1"/>
          </a:effectRef>
          <a:fontRef idx="minor">
            <a:schemeClr val="tx1"/>
          </a:fontRef>
        </p:style>
      </p:cxnSp>
      <p:sp>
        <p:nvSpPr>
          <p:cNvPr id="129" name="Oval 128"/>
          <p:cNvSpPr/>
          <p:nvPr/>
        </p:nvSpPr>
        <p:spPr>
          <a:xfrm>
            <a:off x="7410796" y="3152937"/>
            <a:ext cx="109728" cy="109728"/>
          </a:xfrm>
          <a:prstGeom prst="ellipse">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0" name="Connector 129"/>
          <p:cNvCxnSpPr/>
          <p:nvPr/>
        </p:nvCxnSpPr>
        <p:spPr>
          <a:xfrm flipV="1">
            <a:off x="7465660" y="3134280"/>
            <a:ext cx="351629" cy="73521"/>
          </a:xfrm>
          <a:prstGeom prst="line">
            <a:avLst/>
          </a:prstGeom>
          <a:ln w="25400">
            <a:solidFill>
              <a:srgbClr val="C58A2A"/>
            </a:solidFill>
          </a:ln>
        </p:spPr>
        <p:style>
          <a:lnRef idx="2">
            <a:schemeClr val="accent1"/>
          </a:lnRef>
          <a:fillRef idx="0">
            <a:schemeClr val="accent1"/>
          </a:fillRef>
          <a:effectRef idx="1">
            <a:schemeClr val="accent1"/>
          </a:effectRef>
          <a:fontRef idx="minor">
            <a:schemeClr val="tx1"/>
          </a:fontRef>
        </p:style>
      </p:cxnSp>
      <p:sp>
        <p:nvSpPr>
          <p:cNvPr id="131" name="Oval 130"/>
          <p:cNvSpPr/>
          <p:nvPr/>
        </p:nvSpPr>
        <p:spPr>
          <a:xfrm>
            <a:off x="7762425" y="3079416"/>
            <a:ext cx="109728" cy="109728"/>
          </a:xfrm>
          <a:prstGeom prst="ellipse">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2" name="Connector 131"/>
          <p:cNvCxnSpPr/>
          <p:nvPr/>
        </p:nvCxnSpPr>
        <p:spPr>
          <a:xfrm flipV="1">
            <a:off x="7817289" y="2995006"/>
            <a:ext cx="351628" cy="139274"/>
          </a:xfrm>
          <a:prstGeom prst="line">
            <a:avLst/>
          </a:prstGeom>
          <a:ln w="25400">
            <a:solidFill>
              <a:srgbClr val="C58A2A"/>
            </a:solidFill>
          </a:ln>
        </p:spPr>
        <p:style>
          <a:lnRef idx="2">
            <a:schemeClr val="accent1"/>
          </a:lnRef>
          <a:fillRef idx="0">
            <a:schemeClr val="accent1"/>
          </a:fillRef>
          <a:effectRef idx="1">
            <a:schemeClr val="accent1"/>
          </a:effectRef>
          <a:fontRef idx="minor">
            <a:schemeClr val="tx1"/>
          </a:fontRef>
        </p:style>
      </p:cxnSp>
      <p:sp>
        <p:nvSpPr>
          <p:cNvPr id="133" name="Oval 132"/>
          <p:cNvSpPr/>
          <p:nvPr/>
        </p:nvSpPr>
        <p:spPr>
          <a:xfrm>
            <a:off x="8114053" y="2940142"/>
            <a:ext cx="109728" cy="109728"/>
          </a:xfrm>
          <a:prstGeom prst="ellipse">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4" name="Connector 133"/>
          <p:cNvCxnSpPr/>
          <p:nvPr/>
        </p:nvCxnSpPr>
        <p:spPr>
          <a:xfrm flipV="1">
            <a:off x="8168917" y="2905332"/>
            <a:ext cx="351628" cy="89674"/>
          </a:xfrm>
          <a:prstGeom prst="line">
            <a:avLst/>
          </a:prstGeom>
          <a:ln w="25400">
            <a:solidFill>
              <a:srgbClr val="C58A2A"/>
            </a:solidFill>
          </a:ln>
        </p:spPr>
        <p:style>
          <a:lnRef idx="2">
            <a:schemeClr val="accent1"/>
          </a:lnRef>
          <a:fillRef idx="0">
            <a:schemeClr val="accent1"/>
          </a:fillRef>
          <a:effectRef idx="1">
            <a:schemeClr val="accent1"/>
          </a:effectRef>
          <a:fontRef idx="minor">
            <a:schemeClr val="tx1"/>
          </a:fontRef>
        </p:style>
      </p:cxnSp>
      <p:sp>
        <p:nvSpPr>
          <p:cNvPr id="135" name="Oval 134"/>
          <p:cNvSpPr/>
          <p:nvPr/>
        </p:nvSpPr>
        <p:spPr>
          <a:xfrm>
            <a:off x="8465681" y="2850468"/>
            <a:ext cx="109728" cy="109728"/>
          </a:xfrm>
          <a:prstGeom prst="ellipse">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6" name="Connector 135"/>
          <p:cNvCxnSpPr/>
          <p:nvPr/>
        </p:nvCxnSpPr>
        <p:spPr>
          <a:xfrm flipV="1">
            <a:off x="8520545" y="2865555"/>
            <a:ext cx="351629" cy="39777"/>
          </a:xfrm>
          <a:prstGeom prst="line">
            <a:avLst/>
          </a:prstGeom>
          <a:ln w="25400">
            <a:solidFill>
              <a:srgbClr val="C58A2A"/>
            </a:solidFill>
          </a:ln>
        </p:spPr>
        <p:style>
          <a:lnRef idx="2">
            <a:schemeClr val="accent1"/>
          </a:lnRef>
          <a:fillRef idx="0">
            <a:schemeClr val="accent1"/>
          </a:fillRef>
          <a:effectRef idx="1">
            <a:schemeClr val="accent1"/>
          </a:effectRef>
          <a:fontRef idx="minor">
            <a:schemeClr val="tx1"/>
          </a:fontRef>
        </p:style>
      </p:cxnSp>
      <p:sp>
        <p:nvSpPr>
          <p:cNvPr id="137" name="Oval 136"/>
          <p:cNvSpPr/>
          <p:nvPr/>
        </p:nvSpPr>
        <p:spPr>
          <a:xfrm>
            <a:off x="8817310" y="2810691"/>
            <a:ext cx="109728" cy="109728"/>
          </a:xfrm>
          <a:prstGeom prst="ellipse">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8" name="Connector 137"/>
          <p:cNvCxnSpPr/>
          <p:nvPr/>
        </p:nvCxnSpPr>
        <p:spPr>
          <a:xfrm flipV="1">
            <a:off x="8872174" y="2771684"/>
            <a:ext cx="351628" cy="93871"/>
          </a:xfrm>
          <a:prstGeom prst="line">
            <a:avLst/>
          </a:prstGeom>
          <a:ln w="25400">
            <a:solidFill>
              <a:srgbClr val="C58A2A"/>
            </a:solidFill>
          </a:ln>
        </p:spPr>
        <p:style>
          <a:lnRef idx="2">
            <a:schemeClr val="accent1"/>
          </a:lnRef>
          <a:fillRef idx="0">
            <a:schemeClr val="accent1"/>
          </a:fillRef>
          <a:effectRef idx="1">
            <a:schemeClr val="accent1"/>
          </a:effectRef>
          <a:fontRef idx="minor">
            <a:schemeClr val="tx1"/>
          </a:fontRef>
        </p:style>
      </p:cxnSp>
      <p:sp>
        <p:nvSpPr>
          <p:cNvPr id="139" name="Oval 138"/>
          <p:cNvSpPr/>
          <p:nvPr/>
        </p:nvSpPr>
        <p:spPr>
          <a:xfrm>
            <a:off x="9168938" y="2716820"/>
            <a:ext cx="109728" cy="109728"/>
          </a:xfrm>
          <a:prstGeom prst="ellipse">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0" name="Connector 139"/>
          <p:cNvCxnSpPr/>
          <p:nvPr/>
        </p:nvCxnSpPr>
        <p:spPr>
          <a:xfrm>
            <a:off x="9223802" y="2771684"/>
            <a:ext cx="351629" cy="19673"/>
          </a:xfrm>
          <a:prstGeom prst="line">
            <a:avLst/>
          </a:prstGeom>
          <a:ln w="25400">
            <a:solidFill>
              <a:srgbClr val="C58A2A"/>
            </a:solidFill>
          </a:ln>
        </p:spPr>
        <p:style>
          <a:lnRef idx="2">
            <a:schemeClr val="accent1"/>
          </a:lnRef>
          <a:fillRef idx="0">
            <a:schemeClr val="accent1"/>
          </a:fillRef>
          <a:effectRef idx="1">
            <a:schemeClr val="accent1"/>
          </a:effectRef>
          <a:fontRef idx="minor">
            <a:schemeClr val="tx1"/>
          </a:fontRef>
        </p:style>
      </p:cxnSp>
      <p:sp>
        <p:nvSpPr>
          <p:cNvPr id="141" name="Oval 140"/>
          <p:cNvSpPr/>
          <p:nvPr/>
        </p:nvSpPr>
        <p:spPr>
          <a:xfrm>
            <a:off x="9520567" y="2736493"/>
            <a:ext cx="109728" cy="109728"/>
          </a:xfrm>
          <a:prstGeom prst="ellipse">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2" name="Connector 141"/>
          <p:cNvCxnSpPr/>
          <p:nvPr/>
        </p:nvCxnSpPr>
        <p:spPr>
          <a:xfrm>
            <a:off x="9575431" y="2791357"/>
            <a:ext cx="351628" cy="70009"/>
          </a:xfrm>
          <a:prstGeom prst="line">
            <a:avLst/>
          </a:prstGeom>
          <a:ln w="25400">
            <a:solidFill>
              <a:srgbClr val="C58A2A"/>
            </a:solidFill>
          </a:ln>
        </p:spPr>
        <p:style>
          <a:lnRef idx="2">
            <a:schemeClr val="accent1"/>
          </a:lnRef>
          <a:fillRef idx="0">
            <a:schemeClr val="accent1"/>
          </a:fillRef>
          <a:effectRef idx="1">
            <a:schemeClr val="accent1"/>
          </a:effectRef>
          <a:fontRef idx="minor">
            <a:schemeClr val="tx1"/>
          </a:fontRef>
        </p:style>
      </p:cxnSp>
      <p:sp>
        <p:nvSpPr>
          <p:cNvPr id="143" name="Oval 142"/>
          <p:cNvSpPr/>
          <p:nvPr/>
        </p:nvSpPr>
        <p:spPr>
          <a:xfrm>
            <a:off x="9872195" y="2806502"/>
            <a:ext cx="109728" cy="109728"/>
          </a:xfrm>
          <a:prstGeom prst="ellipse">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4" name="Connector 143"/>
          <p:cNvCxnSpPr/>
          <p:nvPr/>
        </p:nvCxnSpPr>
        <p:spPr>
          <a:xfrm>
            <a:off x="9927059" y="2861366"/>
            <a:ext cx="351628" cy="106005"/>
          </a:xfrm>
          <a:prstGeom prst="line">
            <a:avLst/>
          </a:prstGeom>
          <a:ln w="25400">
            <a:solidFill>
              <a:srgbClr val="C58A2A"/>
            </a:solidFill>
          </a:ln>
        </p:spPr>
        <p:style>
          <a:lnRef idx="2">
            <a:schemeClr val="accent1"/>
          </a:lnRef>
          <a:fillRef idx="0">
            <a:schemeClr val="accent1"/>
          </a:fillRef>
          <a:effectRef idx="1">
            <a:schemeClr val="accent1"/>
          </a:effectRef>
          <a:fontRef idx="minor">
            <a:schemeClr val="tx1"/>
          </a:fontRef>
        </p:style>
      </p:cxnSp>
      <p:sp>
        <p:nvSpPr>
          <p:cNvPr id="145" name="Oval 144"/>
          <p:cNvSpPr/>
          <p:nvPr/>
        </p:nvSpPr>
        <p:spPr>
          <a:xfrm>
            <a:off x="10223823" y="2912507"/>
            <a:ext cx="109728" cy="109728"/>
          </a:xfrm>
          <a:prstGeom prst="ellipse">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6" name="Connector 145"/>
          <p:cNvCxnSpPr/>
          <p:nvPr/>
        </p:nvCxnSpPr>
        <p:spPr>
          <a:xfrm>
            <a:off x="10278687" y="2967371"/>
            <a:ext cx="351629" cy="58247"/>
          </a:xfrm>
          <a:prstGeom prst="line">
            <a:avLst/>
          </a:prstGeom>
          <a:ln w="25400">
            <a:solidFill>
              <a:srgbClr val="C58A2A"/>
            </a:solidFill>
          </a:ln>
        </p:spPr>
        <p:style>
          <a:lnRef idx="2">
            <a:schemeClr val="accent1"/>
          </a:lnRef>
          <a:fillRef idx="0">
            <a:schemeClr val="accent1"/>
          </a:fillRef>
          <a:effectRef idx="1">
            <a:schemeClr val="accent1"/>
          </a:effectRef>
          <a:fontRef idx="minor">
            <a:schemeClr val="tx1"/>
          </a:fontRef>
        </p:style>
      </p:cxnSp>
      <p:sp>
        <p:nvSpPr>
          <p:cNvPr id="147" name="Oval 146"/>
          <p:cNvSpPr/>
          <p:nvPr/>
        </p:nvSpPr>
        <p:spPr>
          <a:xfrm>
            <a:off x="10575452" y="2970754"/>
            <a:ext cx="109728" cy="109728"/>
          </a:xfrm>
          <a:prstGeom prst="ellipse">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8" name="Connector 147"/>
          <p:cNvCxnSpPr/>
          <p:nvPr/>
        </p:nvCxnSpPr>
        <p:spPr>
          <a:xfrm>
            <a:off x="10630316" y="3025618"/>
            <a:ext cx="351628" cy="81668"/>
          </a:xfrm>
          <a:prstGeom prst="line">
            <a:avLst/>
          </a:prstGeom>
          <a:ln w="25400">
            <a:solidFill>
              <a:srgbClr val="C58A2A"/>
            </a:solidFill>
          </a:ln>
        </p:spPr>
        <p:style>
          <a:lnRef idx="2">
            <a:schemeClr val="accent1"/>
          </a:lnRef>
          <a:fillRef idx="0">
            <a:schemeClr val="accent1"/>
          </a:fillRef>
          <a:effectRef idx="1">
            <a:schemeClr val="accent1"/>
          </a:effectRef>
          <a:fontRef idx="minor">
            <a:schemeClr val="tx1"/>
          </a:fontRef>
        </p:style>
      </p:cxnSp>
      <p:sp>
        <p:nvSpPr>
          <p:cNvPr id="149" name="Oval 148"/>
          <p:cNvSpPr/>
          <p:nvPr/>
        </p:nvSpPr>
        <p:spPr>
          <a:xfrm>
            <a:off x="10927080" y="3052422"/>
            <a:ext cx="109728" cy="109728"/>
          </a:xfrm>
          <a:prstGeom prst="ellipse">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6894576" y="4032504"/>
            <a:ext cx="438912" cy="146304"/>
          </a:xfrm>
          <a:prstGeom prst="rect">
            <a:avLst/>
          </a:prstGeom>
          <a:noFill/>
        </p:spPr>
        <p:txBody>
          <a:bodyPr wrap="square" lIns="27432" rIns="27432" tIns="27432" bIns="27432" anchor="t">
            <a:spAutoFit/>
          </a:bodyPr>
          <a:lstStyle/>
          <a:p>
            <a:pPr algn="ctr"/>
            <a:r>
              <a:rPr sz="900" b="0">
                <a:solidFill>
                  <a:srgbClr val="5F6B63"/>
                </a:solidFill>
                <a:latin typeface="Aptos"/>
              </a:rPr>
              <a:t>Jan</a:t>
            </a:r>
          </a:p>
        </p:txBody>
      </p:sp>
      <p:sp>
        <p:nvSpPr>
          <p:cNvPr id="151" name="TextBox 150"/>
          <p:cNvSpPr txBox="1"/>
          <p:nvPr/>
        </p:nvSpPr>
        <p:spPr>
          <a:xfrm>
            <a:off x="7246204" y="4032504"/>
            <a:ext cx="438912" cy="146304"/>
          </a:xfrm>
          <a:prstGeom prst="rect">
            <a:avLst/>
          </a:prstGeom>
          <a:noFill/>
        </p:spPr>
        <p:txBody>
          <a:bodyPr wrap="square" lIns="27432" rIns="27432" tIns="27432" bIns="27432" anchor="t">
            <a:spAutoFit/>
          </a:bodyPr>
          <a:lstStyle/>
          <a:p>
            <a:pPr algn="ctr"/>
            <a:r>
              <a:rPr sz="900" b="0">
                <a:solidFill>
                  <a:srgbClr val="5F6B63"/>
                </a:solidFill>
                <a:latin typeface="Aptos"/>
              </a:rPr>
              <a:t>Feb</a:t>
            </a:r>
          </a:p>
        </p:txBody>
      </p:sp>
      <p:sp>
        <p:nvSpPr>
          <p:cNvPr id="152" name="TextBox 151"/>
          <p:cNvSpPr txBox="1"/>
          <p:nvPr/>
        </p:nvSpPr>
        <p:spPr>
          <a:xfrm>
            <a:off x="7597833" y="4032504"/>
            <a:ext cx="438912" cy="146304"/>
          </a:xfrm>
          <a:prstGeom prst="rect">
            <a:avLst/>
          </a:prstGeom>
          <a:noFill/>
        </p:spPr>
        <p:txBody>
          <a:bodyPr wrap="square" lIns="27432" rIns="27432" tIns="27432" bIns="27432" anchor="t">
            <a:spAutoFit/>
          </a:bodyPr>
          <a:lstStyle/>
          <a:p>
            <a:pPr algn="ctr"/>
            <a:r>
              <a:rPr sz="900" b="0">
                <a:solidFill>
                  <a:srgbClr val="5F6B63"/>
                </a:solidFill>
                <a:latin typeface="Aptos"/>
              </a:rPr>
              <a:t>Mar</a:t>
            </a:r>
          </a:p>
        </p:txBody>
      </p:sp>
      <p:sp>
        <p:nvSpPr>
          <p:cNvPr id="153" name="TextBox 152"/>
          <p:cNvSpPr txBox="1"/>
          <p:nvPr/>
        </p:nvSpPr>
        <p:spPr>
          <a:xfrm>
            <a:off x="7949461" y="4032504"/>
            <a:ext cx="438912" cy="146304"/>
          </a:xfrm>
          <a:prstGeom prst="rect">
            <a:avLst/>
          </a:prstGeom>
          <a:noFill/>
        </p:spPr>
        <p:txBody>
          <a:bodyPr wrap="square" lIns="27432" rIns="27432" tIns="27432" bIns="27432" anchor="t">
            <a:spAutoFit/>
          </a:bodyPr>
          <a:lstStyle/>
          <a:p>
            <a:pPr algn="ctr"/>
            <a:r>
              <a:rPr sz="900" b="0">
                <a:solidFill>
                  <a:srgbClr val="5F6B63"/>
                </a:solidFill>
                <a:latin typeface="Aptos"/>
              </a:rPr>
              <a:t>Apr</a:t>
            </a:r>
          </a:p>
        </p:txBody>
      </p:sp>
      <p:sp>
        <p:nvSpPr>
          <p:cNvPr id="154" name="TextBox 153"/>
          <p:cNvSpPr txBox="1"/>
          <p:nvPr/>
        </p:nvSpPr>
        <p:spPr>
          <a:xfrm>
            <a:off x="8301089" y="4032504"/>
            <a:ext cx="438912" cy="146304"/>
          </a:xfrm>
          <a:prstGeom prst="rect">
            <a:avLst/>
          </a:prstGeom>
          <a:noFill/>
        </p:spPr>
        <p:txBody>
          <a:bodyPr wrap="square" lIns="27432" rIns="27432" tIns="27432" bIns="27432" anchor="t">
            <a:spAutoFit/>
          </a:bodyPr>
          <a:lstStyle/>
          <a:p>
            <a:pPr algn="ctr"/>
            <a:r>
              <a:rPr sz="900" b="0">
                <a:solidFill>
                  <a:srgbClr val="5F6B63"/>
                </a:solidFill>
                <a:latin typeface="Aptos"/>
              </a:rPr>
              <a:t>May</a:t>
            </a:r>
          </a:p>
        </p:txBody>
      </p:sp>
      <p:sp>
        <p:nvSpPr>
          <p:cNvPr id="155" name="TextBox 154"/>
          <p:cNvSpPr txBox="1"/>
          <p:nvPr/>
        </p:nvSpPr>
        <p:spPr>
          <a:xfrm>
            <a:off x="8652718" y="4032504"/>
            <a:ext cx="438912" cy="146304"/>
          </a:xfrm>
          <a:prstGeom prst="rect">
            <a:avLst/>
          </a:prstGeom>
          <a:noFill/>
        </p:spPr>
        <p:txBody>
          <a:bodyPr wrap="square" lIns="27432" rIns="27432" tIns="27432" bIns="27432" anchor="t">
            <a:spAutoFit/>
          </a:bodyPr>
          <a:lstStyle/>
          <a:p>
            <a:pPr algn="ctr"/>
            <a:r>
              <a:rPr sz="900" b="0">
                <a:solidFill>
                  <a:srgbClr val="5F6B63"/>
                </a:solidFill>
                <a:latin typeface="Aptos"/>
              </a:rPr>
              <a:t>Jun</a:t>
            </a:r>
          </a:p>
        </p:txBody>
      </p:sp>
      <p:sp>
        <p:nvSpPr>
          <p:cNvPr id="156" name="TextBox 155"/>
          <p:cNvSpPr txBox="1"/>
          <p:nvPr/>
        </p:nvSpPr>
        <p:spPr>
          <a:xfrm>
            <a:off x="9004346" y="4032504"/>
            <a:ext cx="438912" cy="146304"/>
          </a:xfrm>
          <a:prstGeom prst="rect">
            <a:avLst/>
          </a:prstGeom>
          <a:noFill/>
        </p:spPr>
        <p:txBody>
          <a:bodyPr wrap="square" lIns="27432" rIns="27432" tIns="27432" bIns="27432" anchor="t">
            <a:spAutoFit/>
          </a:bodyPr>
          <a:lstStyle/>
          <a:p>
            <a:pPr algn="ctr"/>
            <a:r>
              <a:rPr sz="900" b="0">
                <a:solidFill>
                  <a:srgbClr val="5F6B63"/>
                </a:solidFill>
                <a:latin typeface="Aptos"/>
              </a:rPr>
              <a:t>Jul</a:t>
            </a:r>
          </a:p>
        </p:txBody>
      </p:sp>
      <p:sp>
        <p:nvSpPr>
          <p:cNvPr id="157" name="TextBox 156"/>
          <p:cNvSpPr txBox="1"/>
          <p:nvPr/>
        </p:nvSpPr>
        <p:spPr>
          <a:xfrm>
            <a:off x="9355975" y="4032504"/>
            <a:ext cx="438912" cy="146304"/>
          </a:xfrm>
          <a:prstGeom prst="rect">
            <a:avLst/>
          </a:prstGeom>
          <a:noFill/>
        </p:spPr>
        <p:txBody>
          <a:bodyPr wrap="square" lIns="27432" rIns="27432" tIns="27432" bIns="27432" anchor="t">
            <a:spAutoFit/>
          </a:bodyPr>
          <a:lstStyle/>
          <a:p>
            <a:pPr algn="ctr"/>
            <a:r>
              <a:rPr sz="900" b="0">
                <a:solidFill>
                  <a:srgbClr val="5F6B63"/>
                </a:solidFill>
                <a:latin typeface="Aptos"/>
              </a:rPr>
              <a:t>Aug</a:t>
            </a:r>
          </a:p>
        </p:txBody>
      </p:sp>
      <p:sp>
        <p:nvSpPr>
          <p:cNvPr id="158" name="TextBox 157"/>
          <p:cNvSpPr txBox="1"/>
          <p:nvPr/>
        </p:nvSpPr>
        <p:spPr>
          <a:xfrm>
            <a:off x="9707603" y="4032504"/>
            <a:ext cx="438912" cy="146304"/>
          </a:xfrm>
          <a:prstGeom prst="rect">
            <a:avLst/>
          </a:prstGeom>
          <a:noFill/>
        </p:spPr>
        <p:txBody>
          <a:bodyPr wrap="square" lIns="27432" rIns="27432" tIns="27432" bIns="27432" anchor="t">
            <a:spAutoFit/>
          </a:bodyPr>
          <a:lstStyle/>
          <a:p>
            <a:pPr algn="ctr"/>
            <a:r>
              <a:rPr sz="900" b="0">
                <a:solidFill>
                  <a:srgbClr val="5F6B63"/>
                </a:solidFill>
                <a:latin typeface="Aptos"/>
              </a:rPr>
              <a:t>Sep</a:t>
            </a:r>
          </a:p>
        </p:txBody>
      </p:sp>
      <p:sp>
        <p:nvSpPr>
          <p:cNvPr id="159" name="TextBox 158"/>
          <p:cNvSpPr txBox="1"/>
          <p:nvPr/>
        </p:nvSpPr>
        <p:spPr>
          <a:xfrm>
            <a:off x="10059231" y="4032504"/>
            <a:ext cx="438912" cy="146304"/>
          </a:xfrm>
          <a:prstGeom prst="rect">
            <a:avLst/>
          </a:prstGeom>
          <a:noFill/>
        </p:spPr>
        <p:txBody>
          <a:bodyPr wrap="square" lIns="27432" rIns="27432" tIns="27432" bIns="27432" anchor="t">
            <a:spAutoFit/>
          </a:bodyPr>
          <a:lstStyle/>
          <a:p>
            <a:pPr algn="ctr"/>
            <a:r>
              <a:rPr sz="900" b="0">
                <a:solidFill>
                  <a:srgbClr val="5F6B63"/>
                </a:solidFill>
                <a:latin typeface="Aptos"/>
              </a:rPr>
              <a:t>Oct</a:t>
            </a:r>
          </a:p>
        </p:txBody>
      </p:sp>
      <p:sp>
        <p:nvSpPr>
          <p:cNvPr id="160" name="TextBox 159"/>
          <p:cNvSpPr txBox="1"/>
          <p:nvPr/>
        </p:nvSpPr>
        <p:spPr>
          <a:xfrm>
            <a:off x="10410860" y="4032504"/>
            <a:ext cx="438912" cy="146304"/>
          </a:xfrm>
          <a:prstGeom prst="rect">
            <a:avLst/>
          </a:prstGeom>
          <a:noFill/>
        </p:spPr>
        <p:txBody>
          <a:bodyPr wrap="square" lIns="27432" rIns="27432" tIns="27432" bIns="27432" anchor="t">
            <a:spAutoFit/>
          </a:bodyPr>
          <a:lstStyle/>
          <a:p>
            <a:pPr algn="ctr"/>
            <a:r>
              <a:rPr sz="900" b="0">
                <a:solidFill>
                  <a:srgbClr val="5F6B63"/>
                </a:solidFill>
                <a:latin typeface="Aptos"/>
              </a:rPr>
              <a:t>Nov</a:t>
            </a:r>
          </a:p>
        </p:txBody>
      </p:sp>
      <p:sp>
        <p:nvSpPr>
          <p:cNvPr id="161" name="TextBox 160"/>
          <p:cNvSpPr txBox="1"/>
          <p:nvPr/>
        </p:nvSpPr>
        <p:spPr>
          <a:xfrm>
            <a:off x="10762488" y="4032504"/>
            <a:ext cx="438912" cy="146304"/>
          </a:xfrm>
          <a:prstGeom prst="rect">
            <a:avLst/>
          </a:prstGeom>
          <a:noFill/>
        </p:spPr>
        <p:txBody>
          <a:bodyPr wrap="square" lIns="27432" rIns="27432" tIns="27432" bIns="27432" anchor="t">
            <a:spAutoFit/>
          </a:bodyPr>
          <a:lstStyle/>
          <a:p>
            <a:pPr algn="ctr"/>
            <a:r>
              <a:rPr sz="900" b="0">
                <a:solidFill>
                  <a:srgbClr val="5F6B63"/>
                </a:solidFill>
                <a:latin typeface="Aptos"/>
              </a:rPr>
              <a:t>Dec</a:t>
            </a:r>
          </a:p>
        </p:txBody>
      </p:sp>
      <p:sp>
        <p:nvSpPr>
          <p:cNvPr id="162" name="TextBox 161"/>
          <p:cNvSpPr txBox="1"/>
          <p:nvPr/>
        </p:nvSpPr>
        <p:spPr>
          <a:xfrm>
            <a:off x="6473952" y="2121408"/>
            <a:ext cx="585216" cy="128016"/>
          </a:xfrm>
          <a:prstGeom prst="rect">
            <a:avLst/>
          </a:prstGeom>
          <a:noFill/>
        </p:spPr>
        <p:txBody>
          <a:bodyPr wrap="square" lIns="27432" rIns="27432" tIns="27432" bIns="27432" anchor="t">
            <a:spAutoFit/>
          </a:bodyPr>
          <a:lstStyle/>
          <a:p>
            <a:pPr algn="l"/>
            <a:r>
              <a:rPr sz="900" b="1">
                <a:solidFill>
                  <a:srgbClr val="5F6B63"/>
                </a:solidFill>
                <a:latin typeface="Aptos"/>
              </a:rPr>
              <a:t>PRICE</a:t>
            </a:r>
          </a:p>
        </p:txBody>
      </p:sp>
      <p:sp>
        <p:nvSpPr>
          <p:cNvPr id="163" name="TextBox 162"/>
          <p:cNvSpPr txBox="1"/>
          <p:nvPr/>
        </p:nvSpPr>
        <p:spPr>
          <a:xfrm>
            <a:off x="7242048" y="2121408"/>
            <a:ext cx="1143000" cy="128016"/>
          </a:xfrm>
          <a:prstGeom prst="rect">
            <a:avLst/>
          </a:prstGeom>
          <a:noFill/>
        </p:spPr>
        <p:txBody>
          <a:bodyPr wrap="square" lIns="27432" rIns="27432" tIns="27432" bIns="27432" anchor="t">
            <a:spAutoFit/>
          </a:bodyPr>
          <a:lstStyle/>
          <a:p>
            <a:pPr algn="l"/>
            <a:r>
              <a:rPr sz="1000" b="1">
                <a:solidFill>
                  <a:srgbClr val="355C47"/>
                </a:solidFill>
                <a:latin typeface="Aptos"/>
              </a:rPr>
              <a:t>CONVENTIONAL</a:t>
            </a:r>
          </a:p>
        </p:txBody>
      </p:sp>
      <p:sp>
        <p:nvSpPr>
          <p:cNvPr id="164" name="TextBox 163"/>
          <p:cNvSpPr txBox="1"/>
          <p:nvPr/>
        </p:nvSpPr>
        <p:spPr>
          <a:xfrm>
            <a:off x="8467344" y="2121408"/>
            <a:ext cx="1143000" cy="128016"/>
          </a:xfrm>
          <a:prstGeom prst="rect">
            <a:avLst/>
          </a:prstGeom>
          <a:noFill/>
        </p:spPr>
        <p:txBody>
          <a:bodyPr wrap="square" lIns="27432" rIns="27432" tIns="27432" bIns="27432" anchor="t">
            <a:spAutoFit/>
          </a:bodyPr>
          <a:lstStyle/>
          <a:p>
            <a:pPr algn="l"/>
            <a:r>
              <a:rPr sz="1000" b="1">
                <a:solidFill>
                  <a:srgbClr val="C58A2A"/>
                </a:solidFill>
                <a:latin typeface="Aptos"/>
              </a:rPr>
              <a:t>ORGANIC</a:t>
            </a:r>
          </a:p>
        </p:txBody>
      </p:sp>
      <p:sp>
        <p:nvSpPr>
          <p:cNvPr id="165" name="Rounded Rectangle 164"/>
          <p:cNvSpPr/>
          <p:nvPr/>
        </p:nvSpPr>
        <p:spPr>
          <a:xfrm>
            <a:off x="6455664" y="4663440"/>
            <a:ext cx="1481328" cy="731520"/>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TextBox 165"/>
          <p:cNvSpPr txBox="1"/>
          <p:nvPr/>
        </p:nvSpPr>
        <p:spPr>
          <a:xfrm>
            <a:off x="6583680" y="4773168"/>
            <a:ext cx="1225296" cy="164592"/>
          </a:xfrm>
          <a:prstGeom prst="rect">
            <a:avLst/>
          </a:prstGeom>
          <a:noFill/>
        </p:spPr>
        <p:txBody>
          <a:bodyPr wrap="square" lIns="27432" rIns="27432" tIns="27432" bIns="27432" anchor="t">
            <a:spAutoFit/>
          </a:bodyPr>
          <a:lstStyle/>
          <a:p>
            <a:pPr algn="ctr"/>
            <a:r>
              <a:rPr sz="1000" b="1">
                <a:solidFill>
                  <a:srgbClr val="5F6B63"/>
                </a:solidFill>
                <a:latin typeface="Aptos"/>
              </a:rPr>
              <a:t>BOTH PEAK</a:t>
            </a:r>
          </a:p>
        </p:txBody>
      </p:sp>
      <p:sp>
        <p:nvSpPr>
          <p:cNvPr id="167" name="TextBox 166"/>
          <p:cNvSpPr txBox="1"/>
          <p:nvPr/>
        </p:nvSpPr>
        <p:spPr>
          <a:xfrm>
            <a:off x="6583680" y="4974336"/>
            <a:ext cx="1225296" cy="310896"/>
          </a:xfrm>
          <a:prstGeom prst="rect">
            <a:avLst/>
          </a:prstGeom>
          <a:noFill/>
        </p:spPr>
        <p:txBody>
          <a:bodyPr wrap="square" lIns="27432" rIns="27432" tIns="27432" bIns="27432" anchor="ctr">
            <a:spAutoFit/>
          </a:bodyPr>
          <a:lstStyle/>
          <a:p>
            <a:pPr algn="ctr"/>
            <a:r>
              <a:rPr sz="1900" b="1">
                <a:solidFill>
                  <a:srgbClr val="C58A2A"/>
                </a:solidFill>
                <a:latin typeface="Aptos Display"/>
              </a:rPr>
              <a:t>Jul</a:t>
            </a:r>
          </a:p>
        </p:txBody>
      </p:sp>
      <p:sp>
        <p:nvSpPr>
          <p:cNvPr id="168" name="Rounded Rectangle 167"/>
          <p:cNvSpPr/>
          <p:nvPr/>
        </p:nvSpPr>
        <p:spPr>
          <a:xfrm>
            <a:off x="8083296" y="4663440"/>
            <a:ext cx="1481328" cy="731520"/>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8211312" y="4773168"/>
            <a:ext cx="1225296" cy="164592"/>
          </a:xfrm>
          <a:prstGeom prst="rect">
            <a:avLst/>
          </a:prstGeom>
          <a:noFill/>
        </p:spPr>
        <p:txBody>
          <a:bodyPr wrap="square" lIns="27432" rIns="27432" tIns="27432" bIns="27432" anchor="t">
            <a:spAutoFit/>
          </a:bodyPr>
          <a:lstStyle/>
          <a:p>
            <a:pPr algn="ctr"/>
            <a:r>
              <a:rPr sz="1000" b="1">
                <a:solidFill>
                  <a:srgbClr val="5F6B63"/>
                </a:solidFill>
                <a:latin typeface="Aptos"/>
              </a:rPr>
              <a:t>PRICE FLOOR</a:t>
            </a:r>
          </a:p>
        </p:txBody>
      </p:sp>
      <p:sp>
        <p:nvSpPr>
          <p:cNvPr id="170" name="TextBox 169"/>
          <p:cNvSpPr txBox="1"/>
          <p:nvPr/>
        </p:nvSpPr>
        <p:spPr>
          <a:xfrm>
            <a:off x="8211312" y="4974336"/>
            <a:ext cx="1225296" cy="310896"/>
          </a:xfrm>
          <a:prstGeom prst="rect">
            <a:avLst/>
          </a:prstGeom>
          <a:noFill/>
        </p:spPr>
        <p:txBody>
          <a:bodyPr wrap="square" lIns="27432" rIns="27432" tIns="27432" bIns="27432" anchor="ctr">
            <a:spAutoFit/>
          </a:bodyPr>
          <a:lstStyle/>
          <a:p>
            <a:pPr algn="ctr"/>
            <a:r>
              <a:rPr sz="1900" b="1">
                <a:solidFill>
                  <a:srgbClr val="B5533A"/>
                </a:solidFill>
                <a:latin typeface="Aptos Display"/>
              </a:rPr>
              <a:t>Feb</a:t>
            </a:r>
          </a:p>
        </p:txBody>
      </p:sp>
      <p:sp>
        <p:nvSpPr>
          <p:cNvPr id="171" name="TextBox 170"/>
          <p:cNvSpPr txBox="1"/>
          <p:nvPr/>
        </p:nvSpPr>
        <p:spPr>
          <a:xfrm>
            <a:off x="9729216" y="4718304"/>
            <a:ext cx="1353312" cy="402336"/>
          </a:xfrm>
          <a:prstGeom prst="rect">
            <a:avLst/>
          </a:prstGeom>
          <a:noFill/>
        </p:spPr>
        <p:txBody>
          <a:bodyPr wrap="square" lIns="27432" rIns="27432" tIns="27432" bIns="27432" anchor="t">
            <a:spAutoFit/>
          </a:bodyPr>
          <a:lstStyle/>
          <a:p>
            <a:pPr algn="l"/>
            <a:r>
              <a:rPr sz="1000" b="0">
                <a:solidFill>
                  <a:srgbClr val="1F2621"/>
                </a:solidFill>
                <a:latin typeface="Aptos"/>
              </a:rPr>
              <a:t>Both price curves crest in July, months after the main volume build.</a:t>
            </a:r>
          </a:p>
        </p:txBody>
      </p:sp>
      <p:sp>
        <p:nvSpPr>
          <p:cNvPr id="172" name="Rounded Rectangle 171"/>
          <p:cNvSpPr/>
          <p:nvPr/>
        </p:nvSpPr>
        <p:spPr>
          <a:xfrm>
            <a:off x="786384" y="5632704"/>
            <a:ext cx="10625328" cy="457200"/>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Rounded Rectangle 172"/>
          <p:cNvSpPr/>
          <p:nvPr/>
        </p:nvSpPr>
        <p:spPr>
          <a:xfrm>
            <a:off x="914400" y="5742432"/>
            <a:ext cx="1051560" cy="237744"/>
          </a:xfrm>
          <a:prstGeom prst="roundRect">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969264" y="5797296"/>
            <a:ext cx="941832" cy="128016"/>
          </a:xfrm>
          <a:prstGeom prst="rect">
            <a:avLst/>
          </a:prstGeom>
          <a:noFill/>
        </p:spPr>
        <p:txBody>
          <a:bodyPr wrap="square" lIns="27432" rIns="27432" tIns="27432" bIns="27432" anchor="ctr">
            <a:spAutoFit/>
          </a:bodyPr>
          <a:lstStyle/>
          <a:p>
            <a:pPr algn="ctr"/>
            <a:r>
              <a:rPr sz="1000" b="1">
                <a:solidFill>
                  <a:srgbClr val="FCFAF5"/>
                </a:solidFill>
                <a:latin typeface="Aptos"/>
              </a:rPr>
              <a:t>TAKEAWAY</a:t>
            </a:r>
          </a:p>
        </p:txBody>
      </p:sp>
      <p:sp>
        <p:nvSpPr>
          <p:cNvPr id="175" name="TextBox 174"/>
          <p:cNvSpPr txBox="1"/>
          <p:nvPr/>
        </p:nvSpPr>
        <p:spPr>
          <a:xfrm>
            <a:off x="2157984" y="5724144"/>
            <a:ext cx="6830568" cy="274320"/>
          </a:xfrm>
          <a:prstGeom prst="rect">
            <a:avLst/>
          </a:prstGeom>
          <a:noFill/>
        </p:spPr>
        <p:txBody>
          <a:bodyPr wrap="square" lIns="27432" rIns="27432" tIns="27432" bIns="27432" anchor="ctr">
            <a:spAutoFit/>
          </a:bodyPr>
          <a:lstStyle/>
          <a:p>
            <a:pPr algn="l"/>
            <a:r>
              <a:rPr sz="1200" b="1">
                <a:solidFill>
                  <a:srgbClr val="1F2621"/>
                </a:solidFill>
                <a:latin typeface="Aptos"/>
              </a:rPr>
              <a:t>The market absorbs more units before it offers peak pricing, so timing decisions materially affect realized margin.</a:t>
            </a:r>
          </a:p>
        </p:txBody>
      </p:sp>
      <p:cxnSp>
        <p:nvCxnSpPr>
          <p:cNvPr id="176" name="Connector 175"/>
          <p:cNvCxnSpPr/>
          <p:nvPr/>
        </p:nvCxnSpPr>
        <p:spPr>
          <a:xfrm>
            <a:off x="9079992" y="5760720"/>
            <a:ext cx="0" cy="201168"/>
          </a:xfrm>
          <a:prstGeom prst="line">
            <a:avLst/>
          </a:prstGeom>
          <a:ln w="12700">
            <a:solidFill>
              <a:srgbClr val="D8D1C6"/>
            </a:solidFill>
          </a:ln>
        </p:spPr>
        <p:style>
          <a:lnRef idx="2">
            <a:schemeClr val="accent1"/>
          </a:lnRef>
          <a:fillRef idx="0">
            <a:schemeClr val="accent1"/>
          </a:fillRef>
          <a:effectRef idx="1">
            <a:schemeClr val="accent1"/>
          </a:effectRef>
          <a:fontRef idx="minor">
            <a:schemeClr val="tx1"/>
          </a:fontRef>
        </p:style>
      </p:cxnSp>
      <p:sp>
        <p:nvSpPr>
          <p:cNvPr id="177" name="TextBox 176"/>
          <p:cNvSpPr txBox="1"/>
          <p:nvPr/>
        </p:nvSpPr>
        <p:spPr>
          <a:xfrm>
            <a:off x="9244584" y="5724144"/>
            <a:ext cx="1938528" cy="274320"/>
          </a:xfrm>
          <a:prstGeom prst="rect">
            <a:avLst/>
          </a:prstGeom>
          <a:noFill/>
        </p:spPr>
        <p:txBody>
          <a:bodyPr wrap="square" lIns="27432" rIns="27432" tIns="27432" bIns="27432" anchor="ctr">
            <a:spAutoFit/>
          </a:bodyPr>
          <a:lstStyle/>
          <a:p>
            <a:pPr algn="l"/>
            <a:r>
              <a:rPr sz="1000" b="0">
                <a:solidFill>
                  <a:srgbClr val="5F6B63"/>
                </a:solidFill>
                <a:latin typeface="Aptos"/>
              </a:rPr>
              <a:t>This timing gap becomes the operating playbook in the seasonality section later in the deck.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55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46920" y="0"/>
            <a:ext cx="2542032" cy="73152"/>
          </a:xfrm>
          <a:prstGeom prst="rect">
            <a:avLst/>
          </a:prstGeom>
          <a:solidFill>
            <a:srgbClr val="C58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01168"/>
            <a:ext cx="1554480" cy="256032"/>
          </a:xfrm>
          <a:prstGeom prst="roundRect">
            <a:avLst/>
          </a:prstGeom>
          <a:solidFill>
            <a:srgbClr val="FCFAF5"/>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224028"/>
            <a:ext cx="1517904" cy="182880"/>
          </a:xfrm>
          <a:prstGeom prst="rect">
            <a:avLst/>
          </a:prstGeom>
          <a:noFill/>
        </p:spPr>
        <p:txBody>
          <a:bodyPr wrap="square" lIns="27432" rIns="27432" tIns="27432" bIns="27432" anchor="t">
            <a:spAutoFit/>
          </a:bodyPr>
          <a:lstStyle/>
          <a:p>
            <a:pPr algn="ctr"/>
            <a:r>
              <a:rPr sz="1000" b="1">
                <a:solidFill>
                  <a:srgbClr val="355C47"/>
                </a:solidFill>
                <a:latin typeface="Aptos"/>
              </a:rPr>
              <a:t>FOUNDATION</a:t>
            </a:r>
          </a:p>
        </p:txBody>
      </p:sp>
      <p:sp>
        <p:nvSpPr>
          <p:cNvPr id="7" name="TextBox 6"/>
          <p:cNvSpPr txBox="1"/>
          <p:nvPr/>
        </p:nvSpPr>
        <p:spPr>
          <a:xfrm>
            <a:off x="11631168" y="6519672"/>
            <a:ext cx="274320" cy="164592"/>
          </a:xfrm>
          <a:prstGeom prst="rect">
            <a:avLst/>
          </a:prstGeom>
          <a:noFill/>
        </p:spPr>
        <p:txBody>
          <a:bodyPr wrap="square" lIns="27432" rIns="27432" tIns="27432" bIns="27432" anchor="t">
            <a:spAutoFit/>
          </a:bodyPr>
          <a:lstStyle/>
          <a:p>
            <a:pPr algn="r"/>
            <a:r>
              <a:rPr sz="900" b="0">
                <a:solidFill>
                  <a:srgbClr val="5F6B63"/>
                </a:solidFill>
                <a:latin typeface="Aptos"/>
              </a:rPr>
              <a:t>4</a:t>
            </a:r>
          </a:p>
        </p:txBody>
      </p:sp>
      <p:sp>
        <p:nvSpPr>
          <p:cNvPr id="8" name="TextBox 7"/>
          <p:cNvSpPr txBox="1"/>
          <p:nvPr/>
        </p:nvSpPr>
        <p:spPr>
          <a:xfrm>
            <a:off x="548640" y="658368"/>
            <a:ext cx="10332720" cy="868680"/>
          </a:xfrm>
          <a:prstGeom prst="rect">
            <a:avLst/>
          </a:prstGeom>
          <a:noFill/>
        </p:spPr>
        <p:txBody>
          <a:bodyPr wrap="square" lIns="27432" rIns="27432" tIns="27432" bIns="27432" anchor="t">
            <a:spAutoFit/>
          </a:bodyPr>
          <a:lstStyle/>
          <a:p>
            <a:pPr algn="l"/>
            <a:r>
              <a:rPr sz="2700" b="1">
                <a:solidFill>
                  <a:srgbClr val="355C47"/>
                </a:solidFill>
                <a:latin typeface="Aptos Display"/>
              </a:rPr>
              <a:t>Organic is growing faster than the total market</a:t>
            </a:r>
          </a:p>
        </p:txBody>
      </p:sp>
      <p:sp>
        <p:nvSpPr>
          <p:cNvPr id="9" name="Rounded Rectangle 8"/>
          <p:cNvSpPr/>
          <p:nvPr/>
        </p:nvSpPr>
        <p:spPr>
          <a:xfrm>
            <a:off x="749808" y="1664208"/>
            <a:ext cx="10771632" cy="1097280"/>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1764792"/>
            <a:ext cx="2436876" cy="146304"/>
          </a:xfrm>
          <a:prstGeom prst="rect">
            <a:avLst/>
          </a:prstGeom>
          <a:noFill/>
        </p:spPr>
        <p:txBody>
          <a:bodyPr wrap="square" lIns="27432" rIns="27432" tIns="27432" bIns="27432" anchor="t">
            <a:spAutoFit/>
          </a:bodyPr>
          <a:lstStyle/>
          <a:p>
            <a:pPr algn="l"/>
            <a:r>
              <a:rPr sz="1000" b="1">
                <a:solidFill>
                  <a:srgbClr val="5F6B63"/>
                </a:solidFill>
                <a:latin typeface="Aptos"/>
              </a:rPr>
              <a:t>ORGANIC VOLUME GROWTH</a:t>
            </a:r>
          </a:p>
        </p:txBody>
      </p:sp>
      <p:sp>
        <p:nvSpPr>
          <p:cNvPr id="11" name="TextBox 10"/>
          <p:cNvSpPr txBox="1"/>
          <p:nvPr/>
        </p:nvSpPr>
        <p:spPr>
          <a:xfrm>
            <a:off x="877824" y="1920240"/>
            <a:ext cx="2436876" cy="237744"/>
          </a:xfrm>
          <a:prstGeom prst="rect">
            <a:avLst/>
          </a:prstGeom>
          <a:noFill/>
        </p:spPr>
        <p:txBody>
          <a:bodyPr wrap="square" lIns="27432" rIns="27432" tIns="27432" bIns="27432" anchor="t">
            <a:spAutoFit/>
          </a:bodyPr>
          <a:lstStyle/>
          <a:p>
            <a:pPr algn="l"/>
            <a:r>
              <a:rPr sz="1800" b="1">
                <a:solidFill>
                  <a:srgbClr val="355C47"/>
                </a:solidFill>
                <a:latin typeface="Aptos Display"/>
              </a:rPr>
              <a:t>+89.3%</a:t>
            </a:r>
          </a:p>
        </p:txBody>
      </p:sp>
      <p:sp>
        <p:nvSpPr>
          <p:cNvPr id="12" name="TextBox 11"/>
          <p:cNvSpPr txBox="1"/>
          <p:nvPr/>
        </p:nvSpPr>
        <p:spPr>
          <a:xfrm>
            <a:off x="877824" y="2176272"/>
            <a:ext cx="2436876" cy="493776"/>
          </a:xfrm>
          <a:prstGeom prst="rect">
            <a:avLst/>
          </a:prstGeom>
          <a:noFill/>
        </p:spPr>
        <p:txBody>
          <a:bodyPr wrap="square" lIns="27432" rIns="27432" tIns="27432" bIns="27432" anchor="t">
            <a:spAutoFit/>
          </a:bodyPr>
          <a:lstStyle/>
          <a:p>
            <a:pPr algn="l"/>
            <a:r>
              <a:rPr sz="1100" b="0">
                <a:solidFill>
                  <a:srgbClr val="1F2621"/>
                </a:solidFill>
                <a:latin typeface="Aptos"/>
              </a:rPr>
              <a:t>Organic nearly doubled from 2019 to 2024, far outpacing category growth.</a:t>
            </a:r>
          </a:p>
        </p:txBody>
      </p:sp>
      <p:cxnSp>
        <p:nvCxnSpPr>
          <p:cNvPr id="13" name="Connector 12"/>
          <p:cNvCxnSpPr/>
          <p:nvPr/>
        </p:nvCxnSpPr>
        <p:spPr>
          <a:xfrm>
            <a:off x="3442716" y="1828800"/>
            <a:ext cx="0" cy="768096"/>
          </a:xfrm>
          <a:prstGeom prst="line">
            <a:avLst/>
          </a:prstGeom>
          <a:ln w="12700">
            <a:solidFill>
              <a:srgbClr val="D8D1C6"/>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570732" y="1764792"/>
            <a:ext cx="2436876" cy="146304"/>
          </a:xfrm>
          <a:prstGeom prst="rect">
            <a:avLst/>
          </a:prstGeom>
          <a:noFill/>
        </p:spPr>
        <p:txBody>
          <a:bodyPr wrap="square" lIns="27432" rIns="27432" tIns="27432" bIns="27432" anchor="t">
            <a:spAutoFit/>
          </a:bodyPr>
          <a:lstStyle/>
          <a:p>
            <a:pPr algn="l"/>
            <a:r>
              <a:rPr sz="1000" b="1">
                <a:solidFill>
                  <a:srgbClr val="5F6B63"/>
                </a:solidFill>
                <a:latin typeface="Aptos"/>
              </a:rPr>
              <a:t>TOTAL VOLUME GROWTH</a:t>
            </a:r>
          </a:p>
        </p:txBody>
      </p:sp>
      <p:sp>
        <p:nvSpPr>
          <p:cNvPr id="15" name="TextBox 14"/>
          <p:cNvSpPr txBox="1"/>
          <p:nvPr/>
        </p:nvSpPr>
        <p:spPr>
          <a:xfrm>
            <a:off x="3570732" y="1920240"/>
            <a:ext cx="2436876" cy="237744"/>
          </a:xfrm>
          <a:prstGeom prst="rect">
            <a:avLst/>
          </a:prstGeom>
          <a:noFill/>
        </p:spPr>
        <p:txBody>
          <a:bodyPr wrap="square" lIns="27432" rIns="27432" tIns="27432" bIns="27432" anchor="t">
            <a:spAutoFit/>
          </a:bodyPr>
          <a:lstStyle/>
          <a:p>
            <a:pPr algn="l"/>
            <a:r>
              <a:rPr sz="1800" b="1">
                <a:solidFill>
                  <a:srgbClr val="3F728A"/>
                </a:solidFill>
                <a:latin typeface="Aptos Display"/>
              </a:rPr>
              <a:t>+32.8%</a:t>
            </a:r>
          </a:p>
        </p:txBody>
      </p:sp>
      <p:sp>
        <p:nvSpPr>
          <p:cNvPr id="16" name="TextBox 15"/>
          <p:cNvSpPr txBox="1"/>
          <p:nvPr/>
        </p:nvSpPr>
        <p:spPr>
          <a:xfrm>
            <a:off x="3570732" y="2176272"/>
            <a:ext cx="2436876" cy="493776"/>
          </a:xfrm>
          <a:prstGeom prst="rect">
            <a:avLst/>
          </a:prstGeom>
          <a:noFill/>
        </p:spPr>
        <p:txBody>
          <a:bodyPr wrap="square" lIns="27432" rIns="27432" tIns="27432" bIns="27432" anchor="t">
            <a:spAutoFit/>
          </a:bodyPr>
          <a:lstStyle/>
          <a:p>
            <a:pPr algn="l"/>
            <a:r>
              <a:rPr sz="1100" b="0">
                <a:solidFill>
                  <a:srgbClr val="1F2621"/>
                </a:solidFill>
                <a:latin typeface="Aptos"/>
              </a:rPr>
              <a:t>The total Hass market expanded too, but at a materially slower rate.</a:t>
            </a:r>
          </a:p>
        </p:txBody>
      </p:sp>
      <p:cxnSp>
        <p:nvCxnSpPr>
          <p:cNvPr id="17" name="Connector 16"/>
          <p:cNvCxnSpPr/>
          <p:nvPr/>
        </p:nvCxnSpPr>
        <p:spPr>
          <a:xfrm>
            <a:off x="6135624" y="1828800"/>
            <a:ext cx="0" cy="768096"/>
          </a:xfrm>
          <a:prstGeom prst="line">
            <a:avLst/>
          </a:prstGeom>
          <a:ln w="12700">
            <a:solidFill>
              <a:srgbClr val="D8D1C6"/>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263640" y="1764792"/>
            <a:ext cx="2436876" cy="146304"/>
          </a:xfrm>
          <a:prstGeom prst="rect">
            <a:avLst/>
          </a:prstGeom>
          <a:noFill/>
        </p:spPr>
        <p:txBody>
          <a:bodyPr wrap="square" lIns="27432" rIns="27432" tIns="27432" bIns="27432" anchor="t">
            <a:spAutoFit/>
          </a:bodyPr>
          <a:lstStyle/>
          <a:p>
            <a:pPr algn="l"/>
            <a:r>
              <a:rPr sz="1000" b="1">
                <a:solidFill>
                  <a:srgbClr val="5F6B63"/>
                </a:solidFill>
                <a:latin typeface="Aptos"/>
              </a:rPr>
              <a:t>2019 ORGANIC SHARE</a:t>
            </a:r>
          </a:p>
        </p:txBody>
      </p:sp>
      <p:sp>
        <p:nvSpPr>
          <p:cNvPr id="19" name="TextBox 18"/>
          <p:cNvSpPr txBox="1"/>
          <p:nvPr/>
        </p:nvSpPr>
        <p:spPr>
          <a:xfrm>
            <a:off x="6263640" y="1920240"/>
            <a:ext cx="2436876" cy="237744"/>
          </a:xfrm>
          <a:prstGeom prst="rect">
            <a:avLst/>
          </a:prstGeom>
          <a:noFill/>
        </p:spPr>
        <p:txBody>
          <a:bodyPr wrap="square" lIns="27432" rIns="27432" tIns="27432" bIns="27432" anchor="t">
            <a:spAutoFit/>
          </a:bodyPr>
          <a:lstStyle/>
          <a:p>
            <a:pPr algn="l"/>
            <a:r>
              <a:rPr sz="1800" b="1">
                <a:solidFill>
                  <a:srgbClr val="C58A2A"/>
                </a:solidFill>
                <a:latin typeface="Aptos Display"/>
              </a:rPr>
              <a:t>4.15%</a:t>
            </a:r>
          </a:p>
        </p:txBody>
      </p:sp>
      <p:sp>
        <p:nvSpPr>
          <p:cNvPr id="20" name="TextBox 19"/>
          <p:cNvSpPr txBox="1"/>
          <p:nvPr/>
        </p:nvSpPr>
        <p:spPr>
          <a:xfrm>
            <a:off x="6263640" y="2176272"/>
            <a:ext cx="2436876" cy="493776"/>
          </a:xfrm>
          <a:prstGeom prst="rect">
            <a:avLst/>
          </a:prstGeom>
          <a:noFill/>
        </p:spPr>
        <p:txBody>
          <a:bodyPr wrap="square" lIns="27432" rIns="27432" tIns="27432" bIns="27432" anchor="t">
            <a:spAutoFit/>
          </a:bodyPr>
          <a:lstStyle/>
          <a:p>
            <a:pPr algn="l"/>
            <a:r>
              <a:rPr sz="1100" b="0">
                <a:solidFill>
                  <a:srgbClr val="1F2621"/>
                </a:solidFill>
                <a:latin typeface="Aptos"/>
              </a:rPr>
              <a:t>Organic began as a small niche inside the overall market.</a:t>
            </a:r>
          </a:p>
        </p:txBody>
      </p:sp>
      <p:cxnSp>
        <p:nvCxnSpPr>
          <p:cNvPr id="21" name="Connector 20"/>
          <p:cNvCxnSpPr/>
          <p:nvPr/>
        </p:nvCxnSpPr>
        <p:spPr>
          <a:xfrm>
            <a:off x="8828532" y="1828800"/>
            <a:ext cx="0" cy="768096"/>
          </a:xfrm>
          <a:prstGeom prst="line">
            <a:avLst/>
          </a:prstGeom>
          <a:ln w="12700">
            <a:solidFill>
              <a:srgbClr val="D8D1C6"/>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956548" y="1764792"/>
            <a:ext cx="2436876" cy="146304"/>
          </a:xfrm>
          <a:prstGeom prst="rect">
            <a:avLst/>
          </a:prstGeom>
          <a:noFill/>
        </p:spPr>
        <p:txBody>
          <a:bodyPr wrap="square" lIns="27432" rIns="27432" tIns="27432" bIns="27432" anchor="t">
            <a:spAutoFit/>
          </a:bodyPr>
          <a:lstStyle/>
          <a:p>
            <a:pPr algn="l"/>
            <a:r>
              <a:rPr sz="1000" b="1">
                <a:solidFill>
                  <a:srgbClr val="5F6B63"/>
                </a:solidFill>
                <a:latin typeface="Aptos"/>
              </a:rPr>
              <a:t>2024 ORGANIC SHARE</a:t>
            </a:r>
          </a:p>
        </p:txBody>
      </p:sp>
      <p:sp>
        <p:nvSpPr>
          <p:cNvPr id="23" name="TextBox 22"/>
          <p:cNvSpPr txBox="1"/>
          <p:nvPr/>
        </p:nvSpPr>
        <p:spPr>
          <a:xfrm>
            <a:off x="8956548" y="1920240"/>
            <a:ext cx="2436876" cy="237744"/>
          </a:xfrm>
          <a:prstGeom prst="rect">
            <a:avLst/>
          </a:prstGeom>
          <a:noFill/>
        </p:spPr>
        <p:txBody>
          <a:bodyPr wrap="square" lIns="27432" rIns="27432" tIns="27432" bIns="27432" anchor="t">
            <a:spAutoFit/>
          </a:bodyPr>
          <a:lstStyle/>
          <a:p>
            <a:pPr algn="l"/>
            <a:r>
              <a:rPr sz="1800" b="1">
                <a:solidFill>
                  <a:srgbClr val="B5533A"/>
                </a:solidFill>
                <a:latin typeface="Aptos Display"/>
              </a:rPr>
              <a:t>5.91%</a:t>
            </a:r>
          </a:p>
        </p:txBody>
      </p:sp>
      <p:sp>
        <p:nvSpPr>
          <p:cNvPr id="24" name="TextBox 23"/>
          <p:cNvSpPr txBox="1"/>
          <p:nvPr/>
        </p:nvSpPr>
        <p:spPr>
          <a:xfrm>
            <a:off x="8956548" y="2176272"/>
            <a:ext cx="2436876" cy="493776"/>
          </a:xfrm>
          <a:prstGeom prst="rect">
            <a:avLst/>
          </a:prstGeom>
          <a:noFill/>
        </p:spPr>
        <p:txBody>
          <a:bodyPr wrap="square" lIns="27432" rIns="27432" tIns="27432" bIns="27432" anchor="t">
            <a:spAutoFit/>
          </a:bodyPr>
          <a:lstStyle/>
          <a:p>
            <a:pPr algn="l"/>
            <a:r>
              <a:rPr sz="1100" b="0">
                <a:solidFill>
                  <a:srgbClr val="1F2621"/>
                </a:solidFill>
                <a:latin typeface="Aptos"/>
              </a:rPr>
              <a:t>Share is still modest, but the direction of travel is clear.</a:t>
            </a:r>
          </a:p>
        </p:txBody>
      </p:sp>
      <p:sp>
        <p:nvSpPr>
          <p:cNvPr id="25" name="Rounded Rectangle 24"/>
          <p:cNvSpPr/>
          <p:nvPr/>
        </p:nvSpPr>
        <p:spPr>
          <a:xfrm>
            <a:off x="749808" y="3054096"/>
            <a:ext cx="5230368" cy="2450592"/>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87552" y="3291840"/>
            <a:ext cx="2011680" cy="164592"/>
          </a:xfrm>
          <a:prstGeom prst="rect">
            <a:avLst/>
          </a:prstGeom>
          <a:noFill/>
        </p:spPr>
        <p:txBody>
          <a:bodyPr wrap="square" lIns="27432" rIns="27432" tIns="27432" bIns="27432" anchor="t">
            <a:spAutoFit/>
          </a:bodyPr>
          <a:lstStyle/>
          <a:p>
            <a:pPr algn="l"/>
            <a:r>
              <a:rPr sz="1000" b="1">
                <a:solidFill>
                  <a:srgbClr val="5F6B63"/>
                </a:solidFill>
                <a:latin typeface="Aptos"/>
              </a:rPr>
              <a:t>INDEXED VOLUME GROWTH</a:t>
            </a:r>
          </a:p>
        </p:txBody>
      </p:sp>
      <p:sp>
        <p:nvSpPr>
          <p:cNvPr id="27" name="TextBox 26"/>
          <p:cNvSpPr txBox="1"/>
          <p:nvPr/>
        </p:nvSpPr>
        <p:spPr>
          <a:xfrm>
            <a:off x="987552" y="3474720"/>
            <a:ext cx="1097280" cy="146304"/>
          </a:xfrm>
          <a:prstGeom prst="rect">
            <a:avLst/>
          </a:prstGeom>
          <a:noFill/>
        </p:spPr>
        <p:txBody>
          <a:bodyPr wrap="square" lIns="27432" rIns="27432" tIns="27432" bIns="27432" anchor="t">
            <a:spAutoFit/>
          </a:bodyPr>
          <a:lstStyle/>
          <a:p>
            <a:pPr algn="l"/>
            <a:r>
              <a:rPr sz="1000" b="0">
                <a:solidFill>
                  <a:srgbClr val="5F6B63"/>
                </a:solidFill>
                <a:latin typeface="Aptos"/>
              </a:rPr>
              <a:t>2019 = 100</a:t>
            </a:r>
          </a:p>
        </p:txBody>
      </p:sp>
      <p:cxnSp>
        <p:nvCxnSpPr>
          <p:cNvPr id="28" name="Connector 27"/>
          <p:cNvCxnSpPr/>
          <p:nvPr/>
        </p:nvCxnSpPr>
        <p:spPr>
          <a:xfrm>
            <a:off x="1389888" y="5047488"/>
            <a:ext cx="4078224" cy="0"/>
          </a:xfrm>
          <a:prstGeom prst="line">
            <a:avLst/>
          </a:prstGeom>
          <a:ln w="13970">
            <a:solidFill>
              <a:srgbClr val="D8D1C6"/>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389888" y="3803904"/>
            <a:ext cx="0" cy="1243584"/>
          </a:xfrm>
          <a:prstGeom prst="line">
            <a:avLst/>
          </a:prstGeom>
          <a:ln w="13970">
            <a:solidFill>
              <a:srgbClr val="D8D1C6"/>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097280" y="4974336"/>
            <a:ext cx="256032" cy="146304"/>
          </a:xfrm>
          <a:prstGeom prst="rect">
            <a:avLst/>
          </a:prstGeom>
          <a:noFill/>
        </p:spPr>
        <p:txBody>
          <a:bodyPr wrap="square" lIns="27432" rIns="27432" tIns="27432" bIns="27432" anchor="t">
            <a:spAutoFit/>
          </a:bodyPr>
          <a:lstStyle/>
          <a:p>
            <a:pPr algn="r"/>
            <a:r>
              <a:rPr sz="800" b="0">
                <a:solidFill>
                  <a:srgbClr val="5F6B63"/>
                </a:solidFill>
                <a:latin typeface="Aptos"/>
              </a:rPr>
              <a:t>0</a:t>
            </a:r>
          </a:p>
        </p:txBody>
      </p:sp>
      <p:cxnSp>
        <p:nvCxnSpPr>
          <p:cNvPr id="31" name="Connector 30"/>
          <p:cNvCxnSpPr/>
          <p:nvPr/>
        </p:nvCxnSpPr>
        <p:spPr>
          <a:xfrm>
            <a:off x="1389888" y="4736592"/>
            <a:ext cx="4078224" cy="0"/>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097280" y="4663440"/>
            <a:ext cx="256032" cy="146304"/>
          </a:xfrm>
          <a:prstGeom prst="rect">
            <a:avLst/>
          </a:prstGeom>
          <a:noFill/>
        </p:spPr>
        <p:txBody>
          <a:bodyPr wrap="square" lIns="27432" rIns="27432" tIns="27432" bIns="27432" anchor="t">
            <a:spAutoFit/>
          </a:bodyPr>
          <a:lstStyle/>
          <a:p>
            <a:pPr algn="r"/>
            <a:r>
              <a:rPr sz="800" b="0">
                <a:solidFill>
                  <a:srgbClr val="5F6B63"/>
                </a:solidFill>
                <a:latin typeface="Aptos"/>
              </a:rPr>
              <a:t>50</a:t>
            </a:r>
          </a:p>
        </p:txBody>
      </p:sp>
      <p:cxnSp>
        <p:nvCxnSpPr>
          <p:cNvPr id="33" name="Connector 32"/>
          <p:cNvCxnSpPr/>
          <p:nvPr/>
        </p:nvCxnSpPr>
        <p:spPr>
          <a:xfrm>
            <a:off x="1389888" y="4425696"/>
            <a:ext cx="4078224" cy="0"/>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1097280" y="4352544"/>
            <a:ext cx="256032" cy="146304"/>
          </a:xfrm>
          <a:prstGeom prst="rect">
            <a:avLst/>
          </a:prstGeom>
          <a:noFill/>
        </p:spPr>
        <p:txBody>
          <a:bodyPr wrap="square" lIns="27432" rIns="27432" tIns="27432" bIns="27432" anchor="t">
            <a:spAutoFit/>
          </a:bodyPr>
          <a:lstStyle/>
          <a:p>
            <a:pPr algn="r"/>
            <a:r>
              <a:rPr sz="800" b="0">
                <a:solidFill>
                  <a:srgbClr val="5F6B63"/>
                </a:solidFill>
                <a:latin typeface="Aptos"/>
              </a:rPr>
              <a:t>100</a:t>
            </a:r>
          </a:p>
        </p:txBody>
      </p:sp>
      <p:cxnSp>
        <p:nvCxnSpPr>
          <p:cNvPr id="35" name="Connector 34"/>
          <p:cNvCxnSpPr/>
          <p:nvPr/>
        </p:nvCxnSpPr>
        <p:spPr>
          <a:xfrm>
            <a:off x="1389888" y="4114800"/>
            <a:ext cx="4078224" cy="0"/>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1097280" y="4041648"/>
            <a:ext cx="256032" cy="146304"/>
          </a:xfrm>
          <a:prstGeom prst="rect">
            <a:avLst/>
          </a:prstGeom>
          <a:noFill/>
        </p:spPr>
        <p:txBody>
          <a:bodyPr wrap="square" lIns="27432" rIns="27432" tIns="27432" bIns="27432" anchor="t">
            <a:spAutoFit/>
          </a:bodyPr>
          <a:lstStyle/>
          <a:p>
            <a:pPr algn="r"/>
            <a:r>
              <a:rPr sz="800" b="0">
                <a:solidFill>
                  <a:srgbClr val="5F6B63"/>
                </a:solidFill>
                <a:latin typeface="Aptos"/>
              </a:rPr>
              <a:t>150</a:t>
            </a:r>
          </a:p>
        </p:txBody>
      </p:sp>
      <p:cxnSp>
        <p:nvCxnSpPr>
          <p:cNvPr id="37" name="Connector 36"/>
          <p:cNvCxnSpPr/>
          <p:nvPr/>
        </p:nvCxnSpPr>
        <p:spPr>
          <a:xfrm>
            <a:off x="1389888" y="3803904"/>
            <a:ext cx="4078224" cy="0"/>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1097280" y="3730752"/>
            <a:ext cx="256032" cy="146304"/>
          </a:xfrm>
          <a:prstGeom prst="rect">
            <a:avLst/>
          </a:prstGeom>
          <a:noFill/>
        </p:spPr>
        <p:txBody>
          <a:bodyPr wrap="square" lIns="27432" rIns="27432" tIns="27432" bIns="27432" anchor="t">
            <a:spAutoFit/>
          </a:bodyPr>
          <a:lstStyle/>
          <a:p>
            <a:pPr algn="r"/>
            <a:r>
              <a:rPr sz="800" b="0">
                <a:solidFill>
                  <a:srgbClr val="5F6B63"/>
                </a:solidFill>
                <a:latin typeface="Aptos"/>
              </a:rPr>
              <a:t>200</a:t>
            </a:r>
          </a:p>
        </p:txBody>
      </p:sp>
      <p:cxnSp>
        <p:nvCxnSpPr>
          <p:cNvPr id="39" name="Connector 38"/>
          <p:cNvCxnSpPr/>
          <p:nvPr/>
        </p:nvCxnSpPr>
        <p:spPr>
          <a:xfrm>
            <a:off x="1389888" y="4425696"/>
            <a:ext cx="4078224" cy="0"/>
          </a:xfrm>
          <a:prstGeom prst="line">
            <a:avLst/>
          </a:prstGeom>
          <a:ln w="12700">
            <a:solidFill>
              <a:srgbClr val="C58A2A"/>
            </a:solidFill>
            <a:prstDash val="sysDash"/>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1938528" y="4221988"/>
            <a:ext cx="749808" cy="825499"/>
          </a:xfrm>
          <a:prstGeom prst="roundRect">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938528" y="4057396"/>
            <a:ext cx="749808" cy="146304"/>
          </a:xfrm>
          <a:prstGeom prst="rect">
            <a:avLst/>
          </a:prstGeom>
          <a:noFill/>
        </p:spPr>
        <p:txBody>
          <a:bodyPr wrap="square" lIns="27432" rIns="27432" tIns="27432" bIns="27432" anchor="t">
            <a:spAutoFit/>
          </a:bodyPr>
          <a:lstStyle/>
          <a:p>
            <a:pPr algn="ctr"/>
            <a:r>
              <a:rPr sz="1000" b="1">
                <a:solidFill>
                  <a:srgbClr val="3F728A"/>
                </a:solidFill>
                <a:latin typeface="Aptos"/>
              </a:rPr>
              <a:t>132.8</a:t>
            </a:r>
          </a:p>
        </p:txBody>
      </p:sp>
      <p:sp>
        <p:nvSpPr>
          <p:cNvPr id="42" name="TextBox 41"/>
          <p:cNvSpPr txBox="1"/>
          <p:nvPr/>
        </p:nvSpPr>
        <p:spPr>
          <a:xfrm>
            <a:off x="1810512" y="5102352"/>
            <a:ext cx="1005840" cy="256032"/>
          </a:xfrm>
          <a:prstGeom prst="rect">
            <a:avLst/>
          </a:prstGeom>
          <a:noFill/>
        </p:spPr>
        <p:txBody>
          <a:bodyPr wrap="square" lIns="27432" rIns="27432" tIns="27432" bIns="27432" anchor="t">
            <a:spAutoFit/>
          </a:bodyPr>
          <a:lstStyle/>
          <a:p>
            <a:pPr algn="ctr"/>
            <a:r>
              <a:rPr sz="1000" b="1">
                <a:solidFill>
                  <a:srgbClr val="1F2621"/>
                </a:solidFill>
                <a:latin typeface="Aptos"/>
              </a:rPr>
              <a:t>Total market</a:t>
            </a:r>
          </a:p>
        </p:txBody>
      </p:sp>
      <p:sp>
        <p:nvSpPr>
          <p:cNvPr id="43" name="Rounded Rectangle 42"/>
          <p:cNvSpPr/>
          <p:nvPr/>
        </p:nvSpPr>
        <p:spPr>
          <a:xfrm>
            <a:off x="3584448" y="3870386"/>
            <a:ext cx="749808" cy="1177101"/>
          </a:xfrm>
          <a:prstGeom prst="roundRect">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584448" y="3705794"/>
            <a:ext cx="749808" cy="146304"/>
          </a:xfrm>
          <a:prstGeom prst="rect">
            <a:avLst/>
          </a:prstGeom>
          <a:noFill/>
        </p:spPr>
        <p:txBody>
          <a:bodyPr wrap="square" lIns="27432" rIns="27432" tIns="27432" bIns="27432" anchor="t">
            <a:spAutoFit/>
          </a:bodyPr>
          <a:lstStyle/>
          <a:p>
            <a:pPr algn="ctr"/>
            <a:r>
              <a:rPr sz="1000" b="1">
                <a:solidFill>
                  <a:srgbClr val="355C47"/>
                </a:solidFill>
                <a:latin typeface="Aptos"/>
              </a:rPr>
              <a:t>189.3</a:t>
            </a:r>
          </a:p>
        </p:txBody>
      </p:sp>
      <p:sp>
        <p:nvSpPr>
          <p:cNvPr id="45" name="TextBox 44"/>
          <p:cNvSpPr txBox="1"/>
          <p:nvPr/>
        </p:nvSpPr>
        <p:spPr>
          <a:xfrm>
            <a:off x="3456432" y="5102352"/>
            <a:ext cx="1005840" cy="256032"/>
          </a:xfrm>
          <a:prstGeom prst="rect">
            <a:avLst/>
          </a:prstGeom>
          <a:noFill/>
        </p:spPr>
        <p:txBody>
          <a:bodyPr wrap="square" lIns="27432" rIns="27432" tIns="27432" bIns="27432" anchor="t">
            <a:spAutoFit/>
          </a:bodyPr>
          <a:lstStyle/>
          <a:p>
            <a:pPr algn="ctr"/>
            <a:r>
              <a:rPr sz="1000" b="1">
                <a:solidFill>
                  <a:srgbClr val="1F2621"/>
                </a:solidFill>
                <a:latin typeface="Aptos"/>
              </a:rPr>
              <a:t>Organic</a:t>
            </a:r>
          </a:p>
        </p:txBody>
      </p:sp>
      <p:sp>
        <p:nvSpPr>
          <p:cNvPr id="46" name="Rounded Rectangle 45"/>
          <p:cNvSpPr/>
          <p:nvPr/>
        </p:nvSpPr>
        <p:spPr>
          <a:xfrm>
            <a:off x="6217920" y="3054096"/>
            <a:ext cx="5230368" cy="2450592"/>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55664" y="3291840"/>
            <a:ext cx="2011680" cy="164592"/>
          </a:xfrm>
          <a:prstGeom prst="rect">
            <a:avLst/>
          </a:prstGeom>
          <a:noFill/>
        </p:spPr>
        <p:txBody>
          <a:bodyPr wrap="square" lIns="27432" rIns="27432" tIns="27432" bIns="27432" anchor="t">
            <a:spAutoFit/>
          </a:bodyPr>
          <a:lstStyle/>
          <a:p>
            <a:pPr algn="l"/>
            <a:r>
              <a:rPr sz="1000" b="1">
                <a:solidFill>
                  <a:srgbClr val="5F6B63"/>
                </a:solidFill>
                <a:latin typeface="Aptos"/>
              </a:rPr>
              <a:t>ORGANIC SHARE BRIDGE</a:t>
            </a:r>
          </a:p>
        </p:txBody>
      </p:sp>
      <p:sp>
        <p:nvSpPr>
          <p:cNvPr id="48" name="TextBox 47"/>
          <p:cNvSpPr txBox="1"/>
          <p:nvPr/>
        </p:nvSpPr>
        <p:spPr>
          <a:xfrm>
            <a:off x="6455664" y="3474720"/>
            <a:ext cx="1280160" cy="146304"/>
          </a:xfrm>
          <a:prstGeom prst="rect">
            <a:avLst/>
          </a:prstGeom>
          <a:noFill/>
        </p:spPr>
        <p:txBody>
          <a:bodyPr wrap="square" lIns="27432" rIns="27432" tIns="27432" bIns="27432" anchor="t">
            <a:spAutoFit/>
          </a:bodyPr>
          <a:lstStyle/>
          <a:p>
            <a:pPr algn="l"/>
            <a:r>
              <a:rPr sz="1000" b="0">
                <a:solidFill>
                  <a:srgbClr val="5F6B63"/>
                </a:solidFill>
                <a:latin typeface="Aptos"/>
              </a:rPr>
              <a:t>Share of total volume</a:t>
            </a:r>
          </a:p>
        </p:txBody>
      </p:sp>
      <p:cxnSp>
        <p:nvCxnSpPr>
          <p:cNvPr id="49" name="Connector 48"/>
          <p:cNvCxnSpPr/>
          <p:nvPr/>
        </p:nvCxnSpPr>
        <p:spPr>
          <a:xfrm>
            <a:off x="6858000" y="5047488"/>
            <a:ext cx="4114800" cy="0"/>
          </a:xfrm>
          <a:prstGeom prst="line">
            <a:avLst/>
          </a:prstGeom>
          <a:ln w="13970">
            <a:solidFill>
              <a:srgbClr val="D8D1C6"/>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6858000" y="3803904"/>
            <a:ext cx="0" cy="1243584"/>
          </a:xfrm>
          <a:prstGeom prst="line">
            <a:avLst/>
          </a:prstGeom>
          <a:ln w="13970">
            <a:solidFill>
              <a:srgbClr val="D8D1C6"/>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6565392" y="4974336"/>
            <a:ext cx="237744" cy="146304"/>
          </a:xfrm>
          <a:prstGeom prst="rect">
            <a:avLst/>
          </a:prstGeom>
          <a:noFill/>
        </p:spPr>
        <p:txBody>
          <a:bodyPr wrap="square" lIns="27432" rIns="27432" tIns="27432" bIns="27432" anchor="t">
            <a:spAutoFit/>
          </a:bodyPr>
          <a:lstStyle/>
          <a:p>
            <a:pPr algn="r"/>
            <a:r>
              <a:rPr sz="800" b="0">
                <a:solidFill>
                  <a:srgbClr val="5F6B63"/>
                </a:solidFill>
                <a:latin typeface="Aptos"/>
              </a:rPr>
              <a:t>0%</a:t>
            </a:r>
          </a:p>
        </p:txBody>
      </p:sp>
      <p:cxnSp>
        <p:nvCxnSpPr>
          <p:cNvPr id="52" name="Connector 51"/>
          <p:cNvCxnSpPr/>
          <p:nvPr/>
        </p:nvCxnSpPr>
        <p:spPr>
          <a:xfrm>
            <a:off x="6858000" y="4692178"/>
            <a:ext cx="4114800" cy="0"/>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6565392" y="4619026"/>
            <a:ext cx="237744" cy="146304"/>
          </a:xfrm>
          <a:prstGeom prst="rect">
            <a:avLst/>
          </a:prstGeom>
          <a:noFill/>
        </p:spPr>
        <p:txBody>
          <a:bodyPr wrap="square" lIns="27432" rIns="27432" tIns="27432" bIns="27432" anchor="t">
            <a:spAutoFit/>
          </a:bodyPr>
          <a:lstStyle/>
          <a:p>
            <a:pPr algn="r"/>
            <a:r>
              <a:rPr sz="800" b="0">
                <a:solidFill>
                  <a:srgbClr val="5F6B63"/>
                </a:solidFill>
                <a:latin typeface="Aptos"/>
              </a:rPr>
              <a:t>2%</a:t>
            </a:r>
          </a:p>
        </p:txBody>
      </p:sp>
      <p:cxnSp>
        <p:nvCxnSpPr>
          <p:cNvPr id="54" name="Connector 53"/>
          <p:cNvCxnSpPr/>
          <p:nvPr/>
        </p:nvCxnSpPr>
        <p:spPr>
          <a:xfrm>
            <a:off x="6858000" y="4336869"/>
            <a:ext cx="4114800" cy="0"/>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6565392" y="4263717"/>
            <a:ext cx="237744" cy="146304"/>
          </a:xfrm>
          <a:prstGeom prst="rect">
            <a:avLst/>
          </a:prstGeom>
          <a:noFill/>
        </p:spPr>
        <p:txBody>
          <a:bodyPr wrap="square" lIns="27432" rIns="27432" tIns="27432" bIns="27432" anchor="t">
            <a:spAutoFit/>
          </a:bodyPr>
          <a:lstStyle/>
          <a:p>
            <a:pPr algn="r"/>
            <a:r>
              <a:rPr sz="800" b="0">
                <a:solidFill>
                  <a:srgbClr val="5F6B63"/>
                </a:solidFill>
                <a:latin typeface="Aptos"/>
              </a:rPr>
              <a:t>4%</a:t>
            </a:r>
          </a:p>
        </p:txBody>
      </p:sp>
      <p:cxnSp>
        <p:nvCxnSpPr>
          <p:cNvPr id="56" name="Connector 55"/>
          <p:cNvCxnSpPr/>
          <p:nvPr/>
        </p:nvCxnSpPr>
        <p:spPr>
          <a:xfrm>
            <a:off x="6858000" y="3981559"/>
            <a:ext cx="4114800" cy="0"/>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6565392" y="3908407"/>
            <a:ext cx="237744" cy="146304"/>
          </a:xfrm>
          <a:prstGeom prst="rect">
            <a:avLst/>
          </a:prstGeom>
          <a:noFill/>
        </p:spPr>
        <p:txBody>
          <a:bodyPr wrap="square" lIns="27432" rIns="27432" tIns="27432" bIns="27432" anchor="t">
            <a:spAutoFit/>
          </a:bodyPr>
          <a:lstStyle/>
          <a:p>
            <a:pPr algn="r"/>
            <a:r>
              <a:rPr sz="800" b="0">
                <a:solidFill>
                  <a:srgbClr val="5F6B63"/>
                </a:solidFill>
                <a:latin typeface="Aptos"/>
              </a:rPr>
              <a:t>6%</a:t>
            </a:r>
          </a:p>
        </p:txBody>
      </p:sp>
      <p:sp>
        <p:nvSpPr>
          <p:cNvPr id="58" name="Rounded Rectangle 57"/>
          <p:cNvSpPr/>
          <p:nvPr/>
        </p:nvSpPr>
        <p:spPr>
          <a:xfrm>
            <a:off x="7406640" y="4310884"/>
            <a:ext cx="676656" cy="736603"/>
          </a:xfrm>
          <a:prstGeom prst="roundRect">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351776" y="4146292"/>
            <a:ext cx="786384" cy="146304"/>
          </a:xfrm>
          <a:prstGeom prst="rect">
            <a:avLst/>
          </a:prstGeom>
          <a:noFill/>
        </p:spPr>
        <p:txBody>
          <a:bodyPr wrap="square" lIns="27432" rIns="27432" tIns="27432" bIns="27432" anchor="t">
            <a:spAutoFit/>
          </a:bodyPr>
          <a:lstStyle/>
          <a:p>
            <a:pPr algn="ctr"/>
            <a:r>
              <a:rPr sz="1000" b="1">
                <a:solidFill>
                  <a:srgbClr val="3F728A"/>
                </a:solidFill>
                <a:latin typeface="Aptos"/>
              </a:rPr>
              <a:t>4.15%</a:t>
            </a:r>
          </a:p>
        </p:txBody>
      </p:sp>
      <p:sp>
        <p:nvSpPr>
          <p:cNvPr id="60" name="TextBox 59"/>
          <p:cNvSpPr txBox="1"/>
          <p:nvPr/>
        </p:nvSpPr>
        <p:spPr>
          <a:xfrm>
            <a:off x="7296912" y="5102352"/>
            <a:ext cx="896112" cy="256032"/>
          </a:xfrm>
          <a:prstGeom prst="rect">
            <a:avLst/>
          </a:prstGeom>
          <a:noFill/>
        </p:spPr>
        <p:txBody>
          <a:bodyPr wrap="square" lIns="27432" rIns="27432" tIns="27432" bIns="27432" anchor="t">
            <a:spAutoFit/>
          </a:bodyPr>
          <a:lstStyle/>
          <a:p>
            <a:pPr algn="ctr"/>
            <a:r>
              <a:rPr sz="1000" b="1">
                <a:solidFill>
                  <a:srgbClr val="1F2621"/>
                </a:solidFill>
                <a:latin typeface="Aptos"/>
              </a:rPr>
              <a:t>2019 share</a:t>
            </a:r>
          </a:p>
        </p:txBody>
      </p:sp>
      <p:sp>
        <p:nvSpPr>
          <p:cNvPr id="61" name="Rounded Rectangle 60"/>
          <p:cNvSpPr/>
          <p:nvPr/>
        </p:nvSpPr>
        <p:spPr>
          <a:xfrm>
            <a:off x="8531352" y="3997145"/>
            <a:ext cx="676656" cy="313739"/>
          </a:xfrm>
          <a:prstGeom prst="roundRect">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476488" y="3832553"/>
            <a:ext cx="786384" cy="146304"/>
          </a:xfrm>
          <a:prstGeom prst="rect">
            <a:avLst/>
          </a:prstGeom>
          <a:noFill/>
        </p:spPr>
        <p:txBody>
          <a:bodyPr wrap="square" lIns="27432" rIns="27432" tIns="27432" bIns="27432" anchor="t">
            <a:spAutoFit/>
          </a:bodyPr>
          <a:lstStyle/>
          <a:p>
            <a:pPr algn="ctr"/>
            <a:r>
              <a:rPr sz="1000" b="1">
                <a:solidFill>
                  <a:srgbClr val="C58A2A"/>
                </a:solidFill>
                <a:latin typeface="Aptos"/>
              </a:rPr>
              <a:t>+1.77 pts</a:t>
            </a:r>
          </a:p>
        </p:txBody>
      </p:sp>
      <p:sp>
        <p:nvSpPr>
          <p:cNvPr id="63" name="TextBox 62"/>
          <p:cNvSpPr txBox="1"/>
          <p:nvPr/>
        </p:nvSpPr>
        <p:spPr>
          <a:xfrm>
            <a:off x="8421624" y="5102352"/>
            <a:ext cx="896112" cy="256032"/>
          </a:xfrm>
          <a:prstGeom prst="rect">
            <a:avLst/>
          </a:prstGeom>
          <a:noFill/>
        </p:spPr>
        <p:txBody>
          <a:bodyPr wrap="square" lIns="27432" rIns="27432" tIns="27432" bIns="27432" anchor="t">
            <a:spAutoFit/>
          </a:bodyPr>
          <a:lstStyle/>
          <a:p>
            <a:pPr algn="ctr"/>
            <a:r>
              <a:rPr sz="1000" b="1">
                <a:solidFill>
                  <a:srgbClr val="1F2621"/>
                </a:solidFill>
                <a:latin typeface="Aptos"/>
              </a:rPr>
              <a:t>Share gain</a:t>
            </a:r>
          </a:p>
        </p:txBody>
      </p:sp>
      <p:sp>
        <p:nvSpPr>
          <p:cNvPr id="64" name="Rounded Rectangle 63"/>
          <p:cNvSpPr/>
          <p:nvPr/>
        </p:nvSpPr>
        <p:spPr>
          <a:xfrm>
            <a:off x="9656063" y="3997145"/>
            <a:ext cx="676656" cy="1050342"/>
          </a:xfrm>
          <a:prstGeom prst="roundRect">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601199" y="3832553"/>
            <a:ext cx="786384" cy="146304"/>
          </a:xfrm>
          <a:prstGeom prst="rect">
            <a:avLst/>
          </a:prstGeom>
          <a:noFill/>
        </p:spPr>
        <p:txBody>
          <a:bodyPr wrap="square" lIns="27432" rIns="27432" tIns="27432" bIns="27432" anchor="t">
            <a:spAutoFit/>
          </a:bodyPr>
          <a:lstStyle/>
          <a:p>
            <a:pPr algn="ctr"/>
            <a:r>
              <a:rPr sz="1000" b="1">
                <a:solidFill>
                  <a:srgbClr val="355C47"/>
                </a:solidFill>
                <a:latin typeface="Aptos"/>
              </a:rPr>
              <a:t>5.91%</a:t>
            </a:r>
          </a:p>
        </p:txBody>
      </p:sp>
      <p:sp>
        <p:nvSpPr>
          <p:cNvPr id="66" name="TextBox 65"/>
          <p:cNvSpPr txBox="1"/>
          <p:nvPr/>
        </p:nvSpPr>
        <p:spPr>
          <a:xfrm>
            <a:off x="9546335" y="5102352"/>
            <a:ext cx="896112" cy="256032"/>
          </a:xfrm>
          <a:prstGeom prst="rect">
            <a:avLst/>
          </a:prstGeom>
          <a:noFill/>
        </p:spPr>
        <p:txBody>
          <a:bodyPr wrap="square" lIns="27432" rIns="27432" tIns="27432" bIns="27432" anchor="t">
            <a:spAutoFit/>
          </a:bodyPr>
          <a:lstStyle/>
          <a:p>
            <a:pPr algn="ctr"/>
            <a:r>
              <a:rPr sz="1000" b="1">
                <a:solidFill>
                  <a:srgbClr val="1F2621"/>
                </a:solidFill>
                <a:latin typeface="Aptos"/>
              </a:rPr>
              <a:t>2024 share</a:t>
            </a:r>
          </a:p>
        </p:txBody>
      </p:sp>
      <p:sp>
        <p:nvSpPr>
          <p:cNvPr id="67" name="Rounded Rectangle 66"/>
          <p:cNvSpPr/>
          <p:nvPr/>
        </p:nvSpPr>
        <p:spPr>
          <a:xfrm>
            <a:off x="786384" y="5632704"/>
            <a:ext cx="10625328" cy="457200"/>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ounded Rectangle 67"/>
          <p:cNvSpPr/>
          <p:nvPr/>
        </p:nvSpPr>
        <p:spPr>
          <a:xfrm>
            <a:off x="914400" y="5742432"/>
            <a:ext cx="1051560" cy="237744"/>
          </a:xfrm>
          <a:prstGeom prst="roundRect">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69264" y="5797296"/>
            <a:ext cx="941832" cy="128016"/>
          </a:xfrm>
          <a:prstGeom prst="rect">
            <a:avLst/>
          </a:prstGeom>
          <a:noFill/>
        </p:spPr>
        <p:txBody>
          <a:bodyPr wrap="square" lIns="27432" rIns="27432" tIns="27432" bIns="27432" anchor="ctr">
            <a:spAutoFit/>
          </a:bodyPr>
          <a:lstStyle/>
          <a:p>
            <a:pPr algn="ctr"/>
            <a:r>
              <a:rPr sz="1000" b="1">
                <a:solidFill>
                  <a:srgbClr val="FCFAF5"/>
                </a:solidFill>
                <a:latin typeface="Aptos"/>
              </a:rPr>
              <a:t>TAKEAWAY</a:t>
            </a:r>
          </a:p>
        </p:txBody>
      </p:sp>
      <p:sp>
        <p:nvSpPr>
          <p:cNvPr id="70" name="TextBox 69"/>
          <p:cNvSpPr txBox="1"/>
          <p:nvPr/>
        </p:nvSpPr>
        <p:spPr>
          <a:xfrm>
            <a:off x="2157984" y="5724144"/>
            <a:ext cx="6830568" cy="274320"/>
          </a:xfrm>
          <a:prstGeom prst="rect">
            <a:avLst/>
          </a:prstGeom>
          <a:noFill/>
        </p:spPr>
        <p:txBody>
          <a:bodyPr wrap="square" lIns="27432" rIns="27432" tIns="27432" bIns="27432" anchor="ctr">
            <a:spAutoFit/>
          </a:bodyPr>
          <a:lstStyle/>
          <a:p>
            <a:pPr algn="l"/>
            <a:r>
              <a:rPr sz="1200" b="1">
                <a:solidFill>
                  <a:srgbClr val="1F2621"/>
                </a:solidFill>
                <a:latin typeface="Aptos"/>
              </a:rPr>
              <a:t>Organic is still a niche share of the total market, but it is growing materially faster than the overall Hass category.</a:t>
            </a:r>
          </a:p>
        </p:txBody>
      </p:sp>
      <p:cxnSp>
        <p:nvCxnSpPr>
          <p:cNvPr id="71" name="Connector 70"/>
          <p:cNvCxnSpPr/>
          <p:nvPr/>
        </p:nvCxnSpPr>
        <p:spPr>
          <a:xfrm>
            <a:off x="9079992" y="5760720"/>
            <a:ext cx="0" cy="201168"/>
          </a:xfrm>
          <a:prstGeom prst="line">
            <a:avLst/>
          </a:prstGeom>
          <a:ln w="12700">
            <a:solidFill>
              <a:srgbClr val="D8D1C6"/>
            </a:solidFill>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9244584" y="5724144"/>
            <a:ext cx="1938528" cy="274320"/>
          </a:xfrm>
          <a:prstGeom prst="rect">
            <a:avLst/>
          </a:prstGeom>
          <a:noFill/>
        </p:spPr>
        <p:txBody>
          <a:bodyPr wrap="square" lIns="27432" rIns="27432" tIns="27432" bIns="27432" anchor="ctr">
            <a:spAutoFit/>
          </a:bodyPr>
          <a:lstStyle/>
          <a:p>
            <a:pPr algn="l"/>
            <a:r>
              <a:rPr sz="1000" b="0">
                <a:solidFill>
                  <a:srgbClr val="5F6B63"/>
                </a:solidFill>
                <a:latin typeface="Aptos"/>
              </a:rPr>
              <a:t>Use this as market context, not as a launch recommendation by itself.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55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46920" y="0"/>
            <a:ext cx="2542032" cy="73152"/>
          </a:xfrm>
          <a:prstGeom prst="rect">
            <a:avLst/>
          </a:prstGeom>
          <a:solidFill>
            <a:srgbClr val="C58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01168"/>
            <a:ext cx="1554480" cy="256032"/>
          </a:xfrm>
          <a:prstGeom prst="roundRect">
            <a:avLst/>
          </a:prstGeom>
          <a:solidFill>
            <a:srgbClr val="FCFAF5"/>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224028"/>
            <a:ext cx="1517904" cy="182880"/>
          </a:xfrm>
          <a:prstGeom prst="rect">
            <a:avLst/>
          </a:prstGeom>
          <a:noFill/>
        </p:spPr>
        <p:txBody>
          <a:bodyPr wrap="square" lIns="27432" rIns="27432" tIns="27432" bIns="27432" anchor="t">
            <a:spAutoFit/>
          </a:bodyPr>
          <a:lstStyle/>
          <a:p>
            <a:pPr algn="ctr"/>
            <a:r>
              <a:rPr sz="1000" b="1">
                <a:solidFill>
                  <a:srgbClr val="355C47"/>
                </a:solidFill>
                <a:latin typeface="Aptos"/>
              </a:rPr>
              <a:t>FOUNDATION</a:t>
            </a:r>
          </a:p>
        </p:txBody>
      </p:sp>
      <p:sp>
        <p:nvSpPr>
          <p:cNvPr id="7" name="TextBox 6"/>
          <p:cNvSpPr txBox="1"/>
          <p:nvPr/>
        </p:nvSpPr>
        <p:spPr>
          <a:xfrm>
            <a:off x="11631168" y="6519672"/>
            <a:ext cx="274320" cy="164592"/>
          </a:xfrm>
          <a:prstGeom prst="rect">
            <a:avLst/>
          </a:prstGeom>
          <a:noFill/>
        </p:spPr>
        <p:txBody>
          <a:bodyPr wrap="square" lIns="27432" rIns="27432" tIns="27432" bIns="27432" anchor="t">
            <a:spAutoFit/>
          </a:bodyPr>
          <a:lstStyle/>
          <a:p>
            <a:pPr algn="r"/>
            <a:r>
              <a:rPr sz="900" b="0">
                <a:solidFill>
                  <a:srgbClr val="5F6B63"/>
                </a:solidFill>
                <a:latin typeface="Aptos"/>
              </a:rPr>
              <a:t>5</a:t>
            </a:r>
          </a:p>
        </p:txBody>
      </p:sp>
      <p:sp>
        <p:nvSpPr>
          <p:cNvPr id="8" name="TextBox 7"/>
          <p:cNvSpPr txBox="1"/>
          <p:nvPr/>
        </p:nvSpPr>
        <p:spPr>
          <a:xfrm>
            <a:off x="548640" y="658368"/>
            <a:ext cx="10332720" cy="868680"/>
          </a:xfrm>
          <a:prstGeom prst="rect">
            <a:avLst/>
          </a:prstGeom>
          <a:noFill/>
        </p:spPr>
        <p:txBody>
          <a:bodyPr wrap="square" lIns="27432" rIns="27432" tIns="27432" bIns="27432" anchor="t">
            <a:spAutoFit/>
          </a:bodyPr>
          <a:lstStyle/>
          <a:p>
            <a:pPr algn="l"/>
            <a:r>
              <a:rPr sz="2700" b="1">
                <a:solidFill>
                  <a:srgbClr val="355C47"/>
                </a:solidFill>
                <a:latin typeface="Aptos Display"/>
              </a:rPr>
              <a:t>Three filters should decide the pilot</a:t>
            </a:r>
          </a:p>
        </p:txBody>
      </p:sp>
      <p:sp>
        <p:nvSpPr>
          <p:cNvPr id="9" name="Rounded Rectangle 8"/>
          <p:cNvSpPr/>
          <p:nvPr/>
        </p:nvSpPr>
        <p:spPr>
          <a:xfrm>
            <a:off x="713232" y="1682496"/>
            <a:ext cx="10789920" cy="3383280"/>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901952"/>
            <a:ext cx="1463040" cy="164592"/>
          </a:xfrm>
          <a:prstGeom prst="rect">
            <a:avLst/>
          </a:prstGeom>
          <a:noFill/>
        </p:spPr>
        <p:txBody>
          <a:bodyPr wrap="square" lIns="27432" rIns="27432" tIns="27432" bIns="27432" anchor="t">
            <a:spAutoFit/>
          </a:bodyPr>
          <a:lstStyle/>
          <a:p>
            <a:pPr algn="l"/>
            <a:r>
              <a:rPr sz="1000" b="1">
                <a:solidFill>
                  <a:srgbClr val="5F6B63"/>
                </a:solidFill>
                <a:latin typeface="Aptos"/>
              </a:rPr>
              <a:t>FILTER</a:t>
            </a:r>
          </a:p>
        </p:txBody>
      </p:sp>
      <p:sp>
        <p:nvSpPr>
          <p:cNvPr id="11" name="TextBox 10"/>
          <p:cNvSpPr txBox="1"/>
          <p:nvPr/>
        </p:nvSpPr>
        <p:spPr>
          <a:xfrm>
            <a:off x="2487168" y="1901952"/>
            <a:ext cx="2788920" cy="164592"/>
          </a:xfrm>
          <a:prstGeom prst="rect">
            <a:avLst/>
          </a:prstGeom>
          <a:noFill/>
        </p:spPr>
        <p:txBody>
          <a:bodyPr wrap="square" lIns="27432" rIns="27432" tIns="27432" bIns="27432" anchor="t">
            <a:spAutoFit/>
          </a:bodyPr>
          <a:lstStyle/>
          <a:p>
            <a:pPr algn="l"/>
            <a:r>
              <a:rPr sz="1000" b="1">
                <a:solidFill>
                  <a:srgbClr val="5F6B63"/>
                </a:solidFill>
                <a:latin typeface="Aptos"/>
              </a:rPr>
              <a:t>WHAT GOOD LOOKS LIKE</a:t>
            </a:r>
          </a:p>
        </p:txBody>
      </p:sp>
      <p:sp>
        <p:nvSpPr>
          <p:cNvPr id="12" name="TextBox 11"/>
          <p:cNvSpPr txBox="1"/>
          <p:nvPr/>
        </p:nvSpPr>
        <p:spPr>
          <a:xfrm>
            <a:off x="5385816" y="1901952"/>
            <a:ext cx="4800600" cy="164592"/>
          </a:xfrm>
          <a:prstGeom prst="rect">
            <a:avLst/>
          </a:prstGeom>
          <a:noFill/>
        </p:spPr>
        <p:txBody>
          <a:bodyPr wrap="square" lIns="27432" rIns="27432" tIns="27432" bIns="27432" anchor="t">
            <a:spAutoFit/>
          </a:bodyPr>
          <a:lstStyle/>
          <a:p>
            <a:pPr algn="l"/>
            <a:r>
              <a:rPr sz="1000" b="1">
                <a:solidFill>
                  <a:srgbClr val="5F6B63"/>
                </a:solidFill>
                <a:latin typeface="Aptos"/>
              </a:rPr>
              <a:t>EVIDENCE IN THE MODEL</a:t>
            </a:r>
          </a:p>
        </p:txBody>
      </p:sp>
      <p:sp>
        <p:nvSpPr>
          <p:cNvPr id="13" name="TextBox 12"/>
          <p:cNvSpPr txBox="1"/>
          <p:nvPr/>
        </p:nvSpPr>
        <p:spPr>
          <a:xfrm>
            <a:off x="10296144" y="1901952"/>
            <a:ext cx="1920240" cy="164592"/>
          </a:xfrm>
          <a:prstGeom prst="rect">
            <a:avLst/>
          </a:prstGeom>
          <a:noFill/>
        </p:spPr>
        <p:txBody>
          <a:bodyPr wrap="square" lIns="27432" rIns="27432" tIns="27432" bIns="27432" anchor="t">
            <a:spAutoFit/>
          </a:bodyPr>
          <a:lstStyle/>
          <a:p>
            <a:pPr algn="l"/>
            <a:r>
              <a:rPr sz="1000" b="1">
                <a:solidFill>
                  <a:srgbClr val="5F6B63"/>
                </a:solidFill>
                <a:latin typeface="Aptos"/>
              </a:rPr>
              <a:t>WHY IT MATTERS</a:t>
            </a:r>
          </a:p>
        </p:txBody>
      </p:sp>
      <p:sp>
        <p:nvSpPr>
          <p:cNvPr id="14" name="Rounded Rectangle 13"/>
          <p:cNvSpPr/>
          <p:nvPr/>
        </p:nvSpPr>
        <p:spPr>
          <a:xfrm>
            <a:off x="914400" y="2249424"/>
            <a:ext cx="1261872" cy="676656"/>
          </a:xfrm>
          <a:prstGeom prst="roundRect">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87552" y="2404872"/>
            <a:ext cx="1078992" cy="256032"/>
          </a:xfrm>
          <a:prstGeom prst="rect">
            <a:avLst/>
          </a:prstGeom>
          <a:noFill/>
        </p:spPr>
        <p:txBody>
          <a:bodyPr wrap="square" lIns="27432" rIns="27432" tIns="27432" bIns="27432" anchor="ctr">
            <a:spAutoFit/>
          </a:bodyPr>
          <a:lstStyle/>
          <a:p>
            <a:pPr algn="ctr"/>
            <a:r>
              <a:rPr sz="1300" b="1">
                <a:solidFill>
                  <a:srgbClr val="FCFAF5"/>
                </a:solidFill>
                <a:latin typeface="Aptos Display"/>
              </a:rPr>
              <a:t>Price support</a:t>
            </a:r>
          </a:p>
        </p:txBody>
      </p:sp>
      <p:sp>
        <p:nvSpPr>
          <p:cNvPr id="16" name="TextBox 15"/>
          <p:cNvSpPr txBox="1"/>
          <p:nvPr/>
        </p:nvSpPr>
        <p:spPr>
          <a:xfrm>
            <a:off x="2450592" y="2322576"/>
            <a:ext cx="2651760" cy="512064"/>
          </a:xfrm>
          <a:prstGeom prst="rect">
            <a:avLst/>
          </a:prstGeom>
          <a:noFill/>
        </p:spPr>
        <p:txBody>
          <a:bodyPr wrap="square" lIns="27432" rIns="27432" tIns="27432" bIns="27432" anchor="t">
            <a:spAutoFit/>
          </a:bodyPr>
          <a:lstStyle/>
          <a:p>
            <a:pPr algn="l"/>
            <a:r>
              <a:rPr sz="1400" b="1">
                <a:solidFill>
                  <a:srgbClr val="355C47"/>
                </a:solidFill>
                <a:latin typeface="Aptos Display"/>
              </a:rPr>
              <a:t>$2.09 to $2.66 June pricing</a:t>
            </a:r>
          </a:p>
        </p:txBody>
      </p:sp>
      <p:sp>
        <p:nvSpPr>
          <p:cNvPr id="17" name="TextBox 16"/>
          <p:cNvSpPr txBox="1"/>
          <p:nvPr/>
        </p:nvSpPr>
        <p:spPr>
          <a:xfrm>
            <a:off x="5285232" y="2304288"/>
            <a:ext cx="4526280" cy="548640"/>
          </a:xfrm>
          <a:prstGeom prst="rect">
            <a:avLst/>
          </a:prstGeom>
          <a:noFill/>
        </p:spPr>
        <p:txBody>
          <a:bodyPr wrap="square" lIns="27432" rIns="27432" tIns="27432" bIns="27432" anchor="t">
            <a:spAutoFit/>
          </a:bodyPr>
          <a:lstStyle/>
          <a:p>
            <a:pPr algn="l"/>
            <a:r>
              <a:rPr sz="1200" b="0">
                <a:solidFill>
                  <a:srgbClr val="1F2621"/>
                </a:solidFill>
                <a:latin typeface="Aptos"/>
              </a:rPr>
              <a:t>The selected five are also the five highest-price June 2025 organic markets.</a:t>
            </a:r>
          </a:p>
        </p:txBody>
      </p:sp>
      <p:sp>
        <p:nvSpPr>
          <p:cNvPr id="18" name="TextBox 17"/>
          <p:cNvSpPr txBox="1"/>
          <p:nvPr/>
        </p:nvSpPr>
        <p:spPr>
          <a:xfrm>
            <a:off x="10012680" y="2304288"/>
            <a:ext cx="1097280" cy="548640"/>
          </a:xfrm>
          <a:prstGeom prst="rect">
            <a:avLst/>
          </a:prstGeom>
          <a:noFill/>
        </p:spPr>
        <p:txBody>
          <a:bodyPr wrap="square" lIns="27432" rIns="27432" tIns="27432" bIns="27432" anchor="t">
            <a:spAutoFit/>
          </a:bodyPr>
          <a:lstStyle/>
          <a:p>
            <a:pPr algn="l"/>
            <a:r>
              <a:rPr sz="1200" b="0">
                <a:solidFill>
                  <a:srgbClr val="1F2621"/>
                </a:solidFill>
                <a:latin typeface="Aptos"/>
              </a:rPr>
              <a:t>Price support is the first screen, not a nice-to-have.</a:t>
            </a:r>
          </a:p>
        </p:txBody>
      </p:sp>
      <p:sp>
        <p:nvSpPr>
          <p:cNvPr id="19" name="Rounded Rectangle 18"/>
          <p:cNvSpPr/>
          <p:nvPr/>
        </p:nvSpPr>
        <p:spPr>
          <a:xfrm>
            <a:off x="914400" y="3127248"/>
            <a:ext cx="1261872" cy="676656"/>
          </a:xfrm>
          <a:prstGeom prst="roundRect">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7552" y="3282696"/>
            <a:ext cx="1078992" cy="256032"/>
          </a:xfrm>
          <a:prstGeom prst="rect">
            <a:avLst/>
          </a:prstGeom>
          <a:noFill/>
        </p:spPr>
        <p:txBody>
          <a:bodyPr wrap="square" lIns="27432" rIns="27432" tIns="27432" bIns="27432" anchor="ctr">
            <a:spAutoFit/>
          </a:bodyPr>
          <a:lstStyle/>
          <a:p>
            <a:pPr algn="ctr"/>
            <a:r>
              <a:rPr sz="1300" b="1">
                <a:solidFill>
                  <a:srgbClr val="FCFAF5"/>
                </a:solidFill>
                <a:latin typeface="Aptos Display"/>
              </a:rPr>
              <a:t>Organic readiness</a:t>
            </a:r>
          </a:p>
        </p:txBody>
      </p:sp>
      <p:sp>
        <p:nvSpPr>
          <p:cNvPr id="21" name="TextBox 20"/>
          <p:cNvSpPr txBox="1"/>
          <p:nvPr/>
        </p:nvSpPr>
        <p:spPr>
          <a:xfrm>
            <a:off x="2450592" y="3200400"/>
            <a:ext cx="2651760" cy="512064"/>
          </a:xfrm>
          <a:prstGeom prst="rect">
            <a:avLst/>
          </a:prstGeom>
          <a:noFill/>
        </p:spPr>
        <p:txBody>
          <a:bodyPr wrap="square" lIns="27432" rIns="27432" tIns="27432" bIns="27432" anchor="t">
            <a:spAutoFit/>
          </a:bodyPr>
          <a:lstStyle/>
          <a:p>
            <a:pPr algn="l"/>
            <a:r>
              <a:rPr sz="1400" b="1">
                <a:solidFill>
                  <a:srgbClr val="3F728A"/>
                </a:solidFill>
                <a:latin typeface="Aptos Display"/>
              </a:rPr>
              <a:t>Seattle leads 5 of 7 periods</a:t>
            </a:r>
          </a:p>
        </p:txBody>
      </p:sp>
      <p:sp>
        <p:nvSpPr>
          <p:cNvPr id="22" name="TextBox 21"/>
          <p:cNvSpPr txBox="1"/>
          <p:nvPr/>
        </p:nvSpPr>
        <p:spPr>
          <a:xfrm>
            <a:off x="5285232" y="3182112"/>
            <a:ext cx="4526280" cy="548640"/>
          </a:xfrm>
          <a:prstGeom prst="rect">
            <a:avLst/>
          </a:prstGeom>
          <a:noFill/>
        </p:spPr>
        <p:txBody>
          <a:bodyPr wrap="square" lIns="27432" rIns="27432" tIns="27432" bIns="27432" anchor="t">
            <a:spAutoFit/>
          </a:bodyPr>
          <a:lstStyle/>
          <a:p>
            <a:pPr algn="l"/>
            <a:r>
              <a:rPr sz="1200" b="0">
                <a:solidFill>
                  <a:srgbClr val="1F2621"/>
                </a:solidFill>
                <a:latin typeface="Aptos"/>
              </a:rPr>
              <a:t>Penetration differs sharply by city, so the launch must favor markets already buying premium mix.</a:t>
            </a:r>
          </a:p>
        </p:txBody>
      </p:sp>
      <p:sp>
        <p:nvSpPr>
          <p:cNvPr id="23" name="TextBox 22"/>
          <p:cNvSpPr txBox="1"/>
          <p:nvPr/>
        </p:nvSpPr>
        <p:spPr>
          <a:xfrm>
            <a:off x="10012680" y="3182112"/>
            <a:ext cx="1097280" cy="548640"/>
          </a:xfrm>
          <a:prstGeom prst="rect">
            <a:avLst/>
          </a:prstGeom>
          <a:noFill/>
        </p:spPr>
        <p:txBody>
          <a:bodyPr wrap="square" lIns="27432" rIns="27432" tIns="27432" bIns="27432" anchor="t">
            <a:spAutoFit/>
          </a:bodyPr>
          <a:lstStyle/>
          <a:p>
            <a:pPr algn="l"/>
            <a:r>
              <a:rPr sz="1200" b="0">
                <a:solidFill>
                  <a:srgbClr val="1F2621"/>
                </a:solidFill>
                <a:latin typeface="Aptos"/>
              </a:rPr>
              <a:t>Scale alone is not enough to win an organic pilot.</a:t>
            </a:r>
          </a:p>
        </p:txBody>
      </p:sp>
      <p:sp>
        <p:nvSpPr>
          <p:cNvPr id="24" name="Rounded Rectangle 23"/>
          <p:cNvSpPr/>
          <p:nvPr/>
        </p:nvSpPr>
        <p:spPr>
          <a:xfrm>
            <a:off x="914400" y="4005072"/>
            <a:ext cx="1261872" cy="676656"/>
          </a:xfrm>
          <a:prstGeom prst="roundRect">
            <a:avLst/>
          </a:prstGeom>
          <a:solidFill>
            <a:srgbClr val="B5533A"/>
          </a:solidFill>
          <a:ln>
            <a:solidFill>
              <a:srgbClr val="B55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7552" y="4160520"/>
            <a:ext cx="1078992" cy="256032"/>
          </a:xfrm>
          <a:prstGeom prst="rect">
            <a:avLst/>
          </a:prstGeom>
          <a:noFill/>
        </p:spPr>
        <p:txBody>
          <a:bodyPr wrap="square" lIns="27432" rIns="27432" tIns="27432" bIns="27432" anchor="ctr">
            <a:spAutoFit/>
          </a:bodyPr>
          <a:lstStyle/>
          <a:p>
            <a:pPr algn="ctr"/>
            <a:r>
              <a:rPr sz="1300" b="1">
                <a:solidFill>
                  <a:srgbClr val="FCFAF5"/>
                </a:solidFill>
                <a:latin typeface="Aptos Display"/>
              </a:rPr>
              <a:t>Route efficiency</a:t>
            </a:r>
          </a:p>
        </p:txBody>
      </p:sp>
      <p:sp>
        <p:nvSpPr>
          <p:cNvPr id="26" name="TextBox 25"/>
          <p:cNvSpPr txBox="1"/>
          <p:nvPr/>
        </p:nvSpPr>
        <p:spPr>
          <a:xfrm>
            <a:off x="2450592" y="4078224"/>
            <a:ext cx="2651760" cy="512064"/>
          </a:xfrm>
          <a:prstGeom prst="rect">
            <a:avLst/>
          </a:prstGeom>
          <a:noFill/>
        </p:spPr>
        <p:txBody>
          <a:bodyPr wrap="square" lIns="27432" rIns="27432" tIns="27432" bIns="27432" anchor="t">
            <a:spAutoFit/>
          </a:bodyPr>
          <a:lstStyle/>
          <a:p>
            <a:pPr algn="l"/>
            <a:r>
              <a:rPr sz="1400" b="1">
                <a:solidFill>
                  <a:srgbClr val="B5533A"/>
                </a:solidFill>
                <a:latin typeface="Aptos Display"/>
              </a:rPr>
              <a:t>$813 to $1.0k profit loss at +50% freight</a:t>
            </a:r>
          </a:p>
        </p:txBody>
      </p:sp>
      <p:sp>
        <p:nvSpPr>
          <p:cNvPr id="27" name="TextBox 26"/>
          <p:cNvSpPr txBox="1"/>
          <p:nvPr/>
        </p:nvSpPr>
        <p:spPr>
          <a:xfrm>
            <a:off x="5285232" y="4059936"/>
            <a:ext cx="4526280" cy="548640"/>
          </a:xfrm>
          <a:prstGeom prst="rect">
            <a:avLst/>
          </a:prstGeom>
          <a:noFill/>
        </p:spPr>
        <p:txBody>
          <a:bodyPr wrap="square" lIns="27432" rIns="27432" tIns="27432" bIns="27432" anchor="t">
            <a:spAutoFit/>
          </a:bodyPr>
          <a:lstStyle/>
          <a:p>
            <a:pPr algn="l"/>
            <a:r>
              <a:rPr sz="1200" b="0">
                <a:solidFill>
                  <a:srgbClr val="1F2621"/>
                </a:solidFill>
                <a:latin typeface="Aptos"/>
              </a:rPr>
              <a:t>The recommended cities keep the same ranking even after a large shipping shock.</a:t>
            </a:r>
          </a:p>
        </p:txBody>
      </p:sp>
      <p:sp>
        <p:nvSpPr>
          <p:cNvPr id="28" name="TextBox 27"/>
          <p:cNvSpPr txBox="1"/>
          <p:nvPr/>
        </p:nvSpPr>
        <p:spPr>
          <a:xfrm>
            <a:off x="10012680" y="4059936"/>
            <a:ext cx="1097280" cy="548640"/>
          </a:xfrm>
          <a:prstGeom prst="rect">
            <a:avLst/>
          </a:prstGeom>
          <a:noFill/>
        </p:spPr>
        <p:txBody>
          <a:bodyPr wrap="square" lIns="27432" rIns="27432" tIns="27432" bIns="27432" anchor="t">
            <a:spAutoFit/>
          </a:bodyPr>
          <a:lstStyle/>
          <a:p>
            <a:pPr algn="l"/>
            <a:r>
              <a:rPr sz="1200" b="0">
                <a:solidFill>
                  <a:srgbClr val="1F2621"/>
                </a:solidFill>
                <a:latin typeface="Aptos"/>
              </a:rPr>
              <a:t>Freight can cut margin, but it does not break the top five.</a:t>
            </a:r>
          </a:p>
        </p:txBody>
      </p:sp>
      <p:sp>
        <p:nvSpPr>
          <p:cNvPr id="29" name="TextBox 28"/>
          <p:cNvSpPr txBox="1"/>
          <p:nvPr/>
        </p:nvSpPr>
        <p:spPr>
          <a:xfrm>
            <a:off x="548640" y="5285232"/>
            <a:ext cx="10881360" cy="320040"/>
          </a:xfrm>
          <a:prstGeom prst="rect">
            <a:avLst/>
          </a:prstGeom>
          <a:noFill/>
        </p:spPr>
        <p:txBody>
          <a:bodyPr wrap="square" lIns="27432" rIns="27432" tIns="27432" bIns="27432" anchor="t">
            <a:spAutoFit/>
          </a:bodyPr>
          <a:lstStyle/>
          <a:p>
            <a:pPr algn="l"/>
            <a:r>
              <a:rPr sz="1300" b="0">
                <a:solidFill>
                  <a:srgbClr val="5F6B63"/>
                </a:solidFill>
                <a:latin typeface="Aptos"/>
              </a:rPr>
              <a:t>These three filters explain why the Pacific Northwest plus San Diego survives every screen that follows.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55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46920" y="0"/>
            <a:ext cx="2542032" cy="73152"/>
          </a:xfrm>
          <a:prstGeom prst="rect">
            <a:avLst/>
          </a:prstGeom>
          <a:solidFill>
            <a:srgbClr val="C58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01168"/>
            <a:ext cx="1554480" cy="256032"/>
          </a:xfrm>
          <a:prstGeom prst="roundRect">
            <a:avLst/>
          </a:prstGeom>
          <a:solidFill>
            <a:srgbClr val="FCFAF5"/>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224028"/>
            <a:ext cx="1517904" cy="182880"/>
          </a:xfrm>
          <a:prstGeom prst="rect">
            <a:avLst/>
          </a:prstGeom>
          <a:noFill/>
        </p:spPr>
        <p:txBody>
          <a:bodyPr wrap="square" lIns="27432" rIns="27432" tIns="27432" bIns="27432" anchor="t">
            <a:spAutoFit/>
          </a:bodyPr>
          <a:lstStyle/>
          <a:p>
            <a:pPr algn="ctr"/>
            <a:r>
              <a:rPr sz="1000" b="1">
                <a:solidFill>
                  <a:srgbClr val="355C47"/>
                </a:solidFill>
                <a:latin typeface="Aptos"/>
              </a:rPr>
              <a:t>MARKET ANALYSIS</a:t>
            </a:r>
          </a:p>
        </p:txBody>
      </p:sp>
      <p:sp>
        <p:nvSpPr>
          <p:cNvPr id="7" name="Rounded Rectangle 6"/>
          <p:cNvSpPr/>
          <p:nvPr/>
        </p:nvSpPr>
        <p:spPr>
          <a:xfrm>
            <a:off x="2267712" y="201168"/>
            <a:ext cx="713232" cy="256032"/>
          </a:xfrm>
          <a:prstGeom prst="roundRect">
            <a:avLst/>
          </a:prstGeom>
          <a:solidFill>
            <a:srgbClr val="FFFDF9"/>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0" y="224028"/>
            <a:ext cx="676656" cy="182880"/>
          </a:xfrm>
          <a:prstGeom prst="rect">
            <a:avLst/>
          </a:prstGeom>
          <a:noFill/>
        </p:spPr>
        <p:txBody>
          <a:bodyPr wrap="square" lIns="27432" rIns="27432" tIns="27432" bIns="27432" anchor="t">
            <a:spAutoFit/>
          </a:bodyPr>
          <a:lstStyle/>
          <a:p>
            <a:pPr algn="ctr"/>
            <a:r>
              <a:rPr sz="1000" b="1">
                <a:solidFill>
                  <a:srgbClr val="C58A2A"/>
                </a:solidFill>
                <a:latin typeface="Aptos"/>
              </a:rPr>
              <a:t>Q1</a:t>
            </a:r>
          </a:p>
        </p:txBody>
      </p:sp>
      <p:sp>
        <p:nvSpPr>
          <p:cNvPr id="9" name="TextBox 8"/>
          <p:cNvSpPr txBox="1"/>
          <p:nvPr/>
        </p:nvSpPr>
        <p:spPr>
          <a:xfrm>
            <a:off x="11631168" y="6519672"/>
            <a:ext cx="274320" cy="164592"/>
          </a:xfrm>
          <a:prstGeom prst="rect">
            <a:avLst/>
          </a:prstGeom>
          <a:noFill/>
        </p:spPr>
        <p:txBody>
          <a:bodyPr wrap="square" lIns="27432" rIns="27432" tIns="27432" bIns="27432" anchor="t">
            <a:spAutoFit/>
          </a:bodyPr>
          <a:lstStyle/>
          <a:p>
            <a:pPr algn="r"/>
            <a:r>
              <a:rPr sz="900" b="0">
                <a:solidFill>
                  <a:srgbClr val="5F6B63"/>
                </a:solidFill>
                <a:latin typeface="Aptos"/>
              </a:rPr>
              <a:t>6</a:t>
            </a:r>
          </a:p>
        </p:txBody>
      </p:sp>
      <p:sp>
        <p:nvSpPr>
          <p:cNvPr id="10" name="TextBox 9"/>
          <p:cNvSpPr txBox="1"/>
          <p:nvPr/>
        </p:nvSpPr>
        <p:spPr>
          <a:xfrm>
            <a:off x="548640" y="658368"/>
            <a:ext cx="10332720" cy="868680"/>
          </a:xfrm>
          <a:prstGeom prst="rect">
            <a:avLst/>
          </a:prstGeom>
          <a:noFill/>
        </p:spPr>
        <p:txBody>
          <a:bodyPr wrap="square" lIns="27432" rIns="27432" tIns="27432" bIns="27432" anchor="t">
            <a:spAutoFit/>
          </a:bodyPr>
          <a:lstStyle/>
          <a:p>
            <a:pPr algn="l"/>
            <a:r>
              <a:rPr sz="2700" b="1">
                <a:solidFill>
                  <a:srgbClr val="355C47"/>
                </a:solidFill>
                <a:latin typeface="Aptos Display"/>
              </a:rPr>
              <a:t>Los Angeles has the largest dollar sales; conventional leadership is structural</a:t>
            </a:r>
          </a:p>
        </p:txBody>
      </p:sp>
      <p:sp>
        <p:nvSpPr>
          <p:cNvPr id="11" name="TextBox 10"/>
          <p:cNvSpPr txBox="1"/>
          <p:nvPr/>
        </p:nvSpPr>
        <p:spPr>
          <a:xfrm>
            <a:off x="548640" y="1078992"/>
            <a:ext cx="10424160" cy="320040"/>
          </a:xfrm>
          <a:prstGeom prst="rect">
            <a:avLst/>
          </a:prstGeom>
          <a:noFill/>
        </p:spPr>
        <p:txBody>
          <a:bodyPr wrap="square" lIns="27432" rIns="27432" tIns="27432" bIns="27432" anchor="t">
            <a:spAutoFit/>
          </a:bodyPr>
          <a:lstStyle/>
          <a:p>
            <a:pPr algn="l"/>
            <a:r>
              <a:rPr sz="1300" b="0">
                <a:solidFill>
                  <a:srgbClr val="5F6B63"/>
                </a:solidFill>
                <a:latin typeface="Aptos"/>
              </a:rPr>
              <a:t>Q1 answer: Los Angeles leads both types in every year from 2019 to 2024 and in 2025 H1. Conventional revenue shows how outsized that scale really is.</a:t>
            </a:r>
          </a:p>
        </p:txBody>
      </p:sp>
      <p:sp>
        <p:nvSpPr>
          <p:cNvPr id="12" name="Rounded Rectangle 11"/>
          <p:cNvSpPr/>
          <p:nvPr/>
        </p:nvSpPr>
        <p:spPr>
          <a:xfrm>
            <a:off x="713232" y="1645920"/>
            <a:ext cx="7818120" cy="4352544"/>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1572768" y="5248656"/>
            <a:ext cx="5513832" cy="0"/>
          </a:xfrm>
          <a:prstGeom prst="line">
            <a:avLst/>
          </a:prstGeom>
          <a:ln w="16510">
            <a:solidFill>
              <a:srgbClr val="D8D1C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572768" y="2414016"/>
            <a:ext cx="0" cy="2834640"/>
          </a:xfrm>
          <a:prstGeom prst="line">
            <a:avLst/>
          </a:prstGeom>
          <a:ln w="16510">
            <a:solidFill>
              <a:srgbClr val="D8D1C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572768" y="4539996"/>
            <a:ext cx="5513832" cy="0"/>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32688" y="4466844"/>
            <a:ext cx="530352" cy="128016"/>
          </a:xfrm>
          <a:prstGeom prst="rect">
            <a:avLst/>
          </a:prstGeom>
          <a:noFill/>
        </p:spPr>
        <p:txBody>
          <a:bodyPr wrap="square" lIns="27432" rIns="27432" tIns="27432" bIns="27432" anchor="t">
            <a:spAutoFit/>
          </a:bodyPr>
          <a:lstStyle/>
          <a:p>
            <a:pPr algn="r"/>
            <a:r>
              <a:rPr sz="800" b="0">
                <a:solidFill>
                  <a:srgbClr val="5F6B63"/>
                </a:solidFill>
                <a:latin typeface="Aptos"/>
              </a:rPr>
              <a:t>$100M</a:t>
            </a:r>
          </a:p>
        </p:txBody>
      </p:sp>
      <p:cxnSp>
        <p:nvCxnSpPr>
          <p:cNvPr id="17" name="Connector 16"/>
          <p:cNvCxnSpPr/>
          <p:nvPr/>
        </p:nvCxnSpPr>
        <p:spPr>
          <a:xfrm>
            <a:off x="1572768" y="3831336"/>
            <a:ext cx="5513832" cy="0"/>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932688" y="3758184"/>
            <a:ext cx="530352" cy="128016"/>
          </a:xfrm>
          <a:prstGeom prst="rect">
            <a:avLst/>
          </a:prstGeom>
          <a:noFill/>
        </p:spPr>
        <p:txBody>
          <a:bodyPr wrap="square" lIns="27432" rIns="27432" tIns="27432" bIns="27432" anchor="t">
            <a:spAutoFit/>
          </a:bodyPr>
          <a:lstStyle/>
          <a:p>
            <a:pPr algn="r"/>
            <a:r>
              <a:rPr sz="800" b="0">
                <a:solidFill>
                  <a:srgbClr val="5F6B63"/>
                </a:solidFill>
                <a:latin typeface="Aptos"/>
              </a:rPr>
              <a:t>$200M</a:t>
            </a:r>
          </a:p>
        </p:txBody>
      </p:sp>
      <p:cxnSp>
        <p:nvCxnSpPr>
          <p:cNvPr id="19" name="Connector 18"/>
          <p:cNvCxnSpPr/>
          <p:nvPr/>
        </p:nvCxnSpPr>
        <p:spPr>
          <a:xfrm>
            <a:off x="1572768" y="3122676"/>
            <a:ext cx="5513832" cy="0"/>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932688" y="3049524"/>
            <a:ext cx="530352" cy="128016"/>
          </a:xfrm>
          <a:prstGeom prst="rect">
            <a:avLst/>
          </a:prstGeom>
          <a:noFill/>
        </p:spPr>
        <p:txBody>
          <a:bodyPr wrap="square" lIns="27432" rIns="27432" tIns="27432" bIns="27432" anchor="t">
            <a:spAutoFit/>
          </a:bodyPr>
          <a:lstStyle/>
          <a:p>
            <a:pPr algn="r"/>
            <a:r>
              <a:rPr sz="800" b="0">
                <a:solidFill>
                  <a:srgbClr val="5F6B63"/>
                </a:solidFill>
                <a:latin typeface="Aptos"/>
              </a:rPr>
              <a:t>$300M</a:t>
            </a:r>
          </a:p>
        </p:txBody>
      </p:sp>
      <p:cxnSp>
        <p:nvCxnSpPr>
          <p:cNvPr id="21" name="Connector 20"/>
          <p:cNvCxnSpPr/>
          <p:nvPr/>
        </p:nvCxnSpPr>
        <p:spPr>
          <a:xfrm>
            <a:off x="1572768" y="2414016"/>
            <a:ext cx="5513832" cy="0"/>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32688" y="2340864"/>
            <a:ext cx="530352" cy="128016"/>
          </a:xfrm>
          <a:prstGeom prst="rect">
            <a:avLst/>
          </a:prstGeom>
          <a:noFill/>
        </p:spPr>
        <p:txBody>
          <a:bodyPr wrap="square" lIns="27432" rIns="27432" tIns="27432" bIns="27432" anchor="t">
            <a:spAutoFit/>
          </a:bodyPr>
          <a:lstStyle/>
          <a:p>
            <a:pPr algn="r"/>
            <a:r>
              <a:rPr sz="800" b="0">
                <a:solidFill>
                  <a:srgbClr val="5F6B63"/>
                </a:solidFill>
                <a:latin typeface="Aptos"/>
              </a:rPr>
              <a:t>$400M</a:t>
            </a:r>
          </a:p>
        </p:txBody>
      </p:sp>
      <p:sp>
        <p:nvSpPr>
          <p:cNvPr id="23" name="TextBox 22"/>
          <p:cNvSpPr txBox="1"/>
          <p:nvPr/>
        </p:nvSpPr>
        <p:spPr>
          <a:xfrm>
            <a:off x="932688" y="5175504"/>
            <a:ext cx="530352" cy="128016"/>
          </a:xfrm>
          <a:prstGeom prst="rect">
            <a:avLst/>
          </a:prstGeom>
          <a:noFill/>
        </p:spPr>
        <p:txBody>
          <a:bodyPr wrap="square" lIns="27432" rIns="27432" tIns="27432" bIns="27432" anchor="t">
            <a:spAutoFit/>
          </a:bodyPr>
          <a:lstStyle/>
          <a:p>
            <a:pPr algn="r"/>
            <a:r>
              <a:rPr sz="800" b="0">
                <a:solidFill>
                  <a:srgbClr val="5F6B63"/>
                </a:solidFill>
                <a:latin typeface="Aptos"/>
              </a:rPr>
              <a:t>$0M</a:t>
            </a:r>
          </a:p>
        </p:txBody>
      </p:sp>
      <p:sp>
        <p:nvSpPr>
          <p:cNvPr id="24" name="TextBox 23"/>
          <p:cNvSpPr txBox="1"/>
          <p:nvPr/>
        </p:nvSpPr>
        <p:spPr>
          <a:xfrm>
            <a:off x="914400" y="1975104"/>
            <a:ext cx="7269480" cy="146304"/>
          </a:xfrm>
          <a:prstGeom prst="rect">
            <a:avLst/>
          </a:prstGeom>
          <a:noFill/>
        </p:spPr>
        <p:txBody>
          <a:bodyPr wrap="square" lIns="27432" rIns="27432" tIns="27432" bIns="27432" anchor="t">
            <a:spAutoFit/>
          </a:bodyPr>
          <a:lstStyle/>
          <a:p>
            <a:pPr algn="l"/>
            <a:r>
              <a:rPr sz="1000" b="1">
                <a:solidFill>
                  <a:srgbClr val="5F6B63"/>
                </a:solidFill>
                <a:latin typeface="Aptos"/>
              </a:rPr>
              <a:t>TOP 5 CONVENTIONAL REVENUE TREND</a:t>
            </a:r>
          </a:p>
        </p:txBody>
      </p:sp>
      <p:sp>
        <p:nvSpPr>
          <p:cNvPr id="25" name="TextBox 24"/>
          <p:cNvSpPr txBox="1"/>
          <p:nvPr/>
        </p:nvSpPr>
        <p:spPr>
          <a:xfrm>
            <a:off x="896112" y="3771900"/>
            <a:ext cx="384048" cy="256032"/>
          </a:xfrm>
          <a:prstGeom prst="rect">
            <a:avLst/>
          </a:prstGeom>
          <a:noFill/>
        </p:spPr>
        <p:txBody>
          <a:bodyPr wrap="square" lIns="27432" rIns="27432" tIns="27432" bIns="27432" anchor="t">
            <a:spAutoFit/>
          </a:bodyPr>
          <a:lstStyle/>
          <a:p>
            <a:pPr algn="ctr"/>
            <a:r>
              <a:rPr sz="900" b="0">
                <a:solidFill>
                  <a:srgbClr val="5F6B63"/>
                </a:solidFill>
                <a:latin typeface="Aptos"/>
              </a:rPr>
              <a:t>$M</a:t>
            </a:r>
          </a:p>
        </p:txBody>
      </p:sp>
      <p:sp>
        <p:nvSpPr>
          <p:cNvPr id="26" name="TextBox 25"/>
          <p:cNvSpPr txBox="1"/>
          <p:nvPr/>
        </p:nvSpPr>
        <p:spPr>
          <a:xfrm>
            <a:off x="1572768" y="2157984"/>
            <a:ext cx="1234440" cy="146304"/>
          </a:xfrm>
          <a:prstGeom prst="rect">
            <a:avLst/>
          </a:prstGeom>
          <a:noFill/>
        </p:spPr>
        <p:txBody>
          <a:bodyPr wrap="square" lIns="27432" rIns="27432" tIns="27432" bIns="27432" anchor="t">
            <a:spAutoFit/>
          </a:bodyPr>
          <a:lstStyle/>
          <a:p>
            <a:pPr algn="l"/>
            <a:r>
              <a:rPr sz="1000" b="1">
                <a:solidFill>
                  <a:srgbClr val="355C47"/>
                </a:solidFill>
                <a:latin typeface="Aptos"/>
              </a:rPr>
              <a:t>LOS ANGELES</a:t>
            </a:r>
          </a:p>
        </p:txBody>
      </p:sp>
      <p:sp>
        <p:nvSpPr>
          <p:cNvPr id="27" name="Oval 26"/>
          <p:cNvSpPr/>
          <p:nvPr/>
        </p:nvSpPr>
        <p:spPr>
          <a:xfrm>
            <a:off x="1517904" y="4000117"/>
            <a:ext cx="109728" cy="109728"/>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Connector 27"/>
          <p:cNvCxnSpPr/>
          <p:nvPr/>
        </p:nvCxnSpPr>
        <p:spPr>
          <a:xfrm flipV="1">
            <a:off x="1572768" y="3948489"/>
            <a:ext cx="918972" cy="106492"/>
          </a:xfrm>
          <a:prstGeom prst="line">
            <a:avLst/>
          </a:prstGeom>
          <a:ln w="24130">
            <a:solidFill>
              <a:srgbClr val="355C47"/>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2436876" y="3893625"/>
            <a:ext cx="109728" cy="109728"/>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flipV="1">
            <a:off x="2491740" y="3932094"/>
            <a:ext cx="918972" cy="16395"/>
          </a:xfrm>
          <a:prstGeom prst="line">
            <a:avLst/>
          </a:prstGeom>
          <a:ln w="24130">
            <a:solidFill>
              <a:srgbClr val="355C47"/>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3355848" y="3877230"/>
            <a:ext cx="109728" cy="109728"/>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2" name="Connector 31"/>
          <p:cNvCxnSpPr/>
          <p:nvPr/>
        </p:nvCxnSpPr>
        <p:spPr>
          <a:xfrm flipV="1">
            <a:off x="3410712" y="3825065"/>
            <a:ext cx="918972" cy="107029"/>
          </a:xfrm>
          <a:prstGeom prst="line">
            <a:avLst/>
          </a:prstGeom>
          <a:ln w="24130">
            <a:solidFill>
              <a:srgbClr val="355C47"/>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4274820" y="3770201"/>
            <a:ext cx="109728" cy="109728"/>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4329684" y="3825065"/>
            <a:ext cx="918972" cy="120547"/>
          </a:xfrm>
          <a:prstGeom prst="line">
            <a:avLst/>
          </a:prstGeom>
          <a:ln w="24130">
            <a:solidFill>
              <a:srgbClr val="355C47"/>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5193792" y="3890748"/>
            <a:ext cx="109728" cy="109728"/>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flipV="1">
            <a:off x="5248656" y="3751738"/>
            <a:ext cx="918972" cy="193874"/>
          </a:xfrm>
          <a:prstGeom prst="line">
            <a:avLst/>
          </a:prstGeom>
          <a:ln w="24130">
            <a:solidFill>
              <a:srgbClr val="355C47"/>
            </a:solidFill>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6112764" y="3696874"/>
            <a:ext cx="109728" cy="109728"/>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8" name="Connector 37"/>
          <p:cNvCxnSpPr/>
          <p:nvPr/>
        </p:nvCxnSpPr>
        <p:spPr>
          <a:xfrm>
            <a:off x="6167628" y="3751738"/>
            <a:ext cx="918972" cy="694773"/>
          </a:xfrm>
          <a:prstGeom prst="line">
            <a:avLst/>
          </a:prstGeom>
          <a:ln w="27940">
            <a:solidFill>
              <a:srgbClr val="355C47"/>
            </a:solidFill>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7031736" y="4391647"/>
            <a:ext cx="109728" cy="109728"/>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898648" y="2157984"/>
            <a:ext cx="1234440" cy="146304"/>
          </a:xfrm>
          <a:prstGeom prst="rect">
            <a:avLst/>
          </a:prstGeom>
          <a:noFill/>
        </p:spPr>
        <p:txBody>
          <a:bodyPr wrap="square" lIns="27432" rIns="27432" tIns="27432" bIns="27432" anchor="t">
            <a:spAutoFit/>
          </a:bodyPr>
          <a:lstStyle/>
          <a:p>
            <a:pPr algn="l"/>
            <a:r>
              <a:rPr sz="1000" b="1">
                <a:solidFill>
                  <a:srgbClr val="C58A2A"/>
                </a:solidFill>
                <a:latin typeface="Aptos"/>
              </a:rPr>
              <a:t>NEW YORK</a:t>
            </a:r>
          </a:p>
        </p:txBody>
      </p:sp>
      <p:sp>
        <p:nvSpPr>
          <p:cNvPr id="41" name="Oval 40"/>
          <p:cNvSpPr/>
          <p:nvPr/>
        </p:nvSpPr>
        <p:spPr>
          <a:xfrm>
            <a:off x="1517904" y="4364778"/>
            <a:ext cx="109728" cy="109728"/>
          </a:xfrm>
          <a:prstGeom prst="ellipse">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 name="Connector 41"/>
          <p:cNvCxnSpPr/>
          <p:nvPr/>
        </p:nvCxnSpPr>
        <p:spPr>
          <a:xfrm flipV="1">
            <a:off x="1572768" y="4275043"/>
            <a:ext cx="918972" cy="144599"/>
          </a:xfrm>
          <a:prstGeom prst="line">
            <a:avLst/>
          </a:prstGeom>
          <a:ln w="24130">
            <a:solidFill>
              <a:srgbClr val="C58A2A"/>
            </a:solidFill>
          </a:ln>
        </p:spPr>
        <p:style>
          <a:lnRef idx="2">
            <a:schemeClr val="accent1"/>
          </a:lnRef>
          <a:fillRef idx="0">
            <a:schemeClr val="accent1"/>
          </a:fillRef>
          <a:effectRef idx="1">
            <a:schemeClr val="accent1"/>
          </a:effectRef>
          <a:fontRef idx="minor">
            <a:schemeClr val="tx1"/>
          </a:fontRef>
        </p:style>
      </p:cxnSp>
      <p:sp>
        <p:nvSpPr>
          <p:cNvPr id="43" name="Oval 42"/>
          <p:cNvSpPr/>
          <p:nvPr/>
        </p:nvSpPr>
        <p:spPr>
          <a:xfrm>
            <a:off x="2436876" y="4220179"/>
            <a:ext cx="109728" cy="109728"/>
          </a:xfrm>
          <a:prstGeom prst="ellipse">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4" name="Connector 43"/>
          <p:cNvCxnSpPr/>
          <p:nvPr/>
        </p:nvCxnSpPr>
        <p:spPr>
          <a:xfrm>
            <a:off x="2491740" y="4275043"/>
            <a:ext cx="918972" cy="88670"/>
          </a:xfrm>
          <a:prstGeom prst="line">
            <a:avLst/>
          </a:prstGeom>
          <a:ln w="24130">
            <a:solidFill>
              <a:srgbClr val="C58A2A"/>
            </a:solidFill>
          </a:ln>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3355848" y="4308849"/>
            <a:ext cx="109728" cy="109728"/>
          </a:xfrm>
          <a:prstGeom prst="ellipse">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6" name="Connector 45"/>
          <p:cNvCxnSpPr/>
          <p:nvPr/>
        </p:nvCxnSpPr>
        <p:spPr>
          <a:xfrm flipV="1">
            <a:off x="3410712" y="4318433"/>
            <a:ext cx="918972" cy="45280"/>
          </a:xfrm>
          <a:prstGeom prst="line">
            <a:avLst/>
          </a:prstGeom>
          <a:ln w="24130">
            <a:solidFill>
              <a:srgbClr val="C58A2A"/>
            </a:solidFill>
          </a:ln>
        </p:spPr>
        <p:style>
          <a:lnRef idx="2">
            <a:schemeClr val="accent1"/>
          </a:lnRef>
          <a:fillRef idx="0">
            <a:schemeClr val="accent1"/>
          </a:fillRef>
          <a:effectRef idx="1">
            <a:schemeClr val="accent1"/>
          </a:effectRef>
          <a:fontRef idx="minor">
            <a:schemeClr val="tx1"/>
          </a:fontRef>
        </p:style>
      </p:cxnSp>
      <p:sp>
        <p:nvSpPr>
          <p:cNvPr id="47" name="Oval 46"/>
          <p:cNvSpPr/>
          <p:nvPr/>
        </p:nvSpPr>
        <p:spPr>
          <a:xfrm>
            <a:off x="4274820" y="4263569"/>
            <a:ext cx="109728" cy="109728"/>
          </a:xfrm>
          <a:prstGeom prst="ellipse">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8" name="Connector 47"/>
          <p:cNvCxnSpPr/>
          <p:nvPr/>
        </p:nvCxnSpPr>
        <p:spPr>
          <a:xfrm>
            <a:off x="4329684" y="4318433"/>
            <a:ext cx="918972" cy="57322"/>
          </a:xfrm>
          <a:prstGeom prst="line">
            <a:avLst/>
          </a:prstGeom>
          <a:ln w="24130">
            <a:solidFill>
              <a:srgbClr val="C58A2A"/>
            </a:solidFill>
          </a:ln>
        </p:spPr>
        <p:style>
          <a:lnRef idx="2">
            <a:schemeClr val="accent1"/>
          </a:lnRef>
          <a:fillRef idx="0">
            <a:schemeClr val="accent1"/>
          </a:fillRef>
          <a:effectRef idx="1">
            <a:schemeClr val="accent1"/>
          </a:effectRef>
          <a:fontRef idx="minor">
            <a:schemeClr val="tx1"/>
          </a:fontRef>
        </p:style>
      </p:cxnSp>
      <p:sp>
        <p:nvSpPr>
          <p:cNvPr id="49" name="Oval 48"/>
          <p:cNvSpPr/>
          <p:nvPr/>
        </p:nvSpPr>
        <p:spPr>
          <a:xfrm>
            <a:off x="5193792" y="4320891"/>
            <a:ext cx="109728" cy="109728"/>
          </a:xfrm>
          <a:prstGeom prst="ellipse">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0" name="Connector 49"/>
          <p:cNvCxnSpPr/>
          <p:nvPr/>
        </p:nvCxnSpPr>
        <p:spPr>
          <a:xfrm flipV="1">
            <a:off x="5248656" y="4104563"/>
            <a:ext cx="918972" cy="271192"/>
          </a:xfrm>
          <a:prstGeom prst="line">
            <a:avLst/>
          </a:prstGeom>
          <a:ln w="24130">
            <a:solidFill>
              <a:srgbClr val="C58A2A"/>
            </a:solidFill>
          </a:ln>
        </p:spPr>
        <p:style>
          <a:lnRef idx="2">
            <a:schemeClr val="accent1"/>
          </a:lnRef>
          <a:fillRef idx="0">
            <a:schemeClr val="accent1"/>
          </a:fillRef>
          <a:effectRef idx="1">
            <a:schemeClr val="accent1"/>
          </a:effectRef>
          <a:fontRef idx="minor">
            <a:schemeClr val="tx1"/>
          </a:fontRef>
        </p:style>
      </p:cxnSp>
      <p:sp>
        <p:nvSpPr>
          <p:cNvPr id="51" name="Oval 50"/>
          <p:cNvSpPr/>
          <p:nvPr/>
        </p:nvSpPr>
        <p:spPr>
          <a:xfrm>
            <a:off x="6112764" y="4049699"/>
            <a:ext cx="109728" cy="109728"/>
          </a:xfrm>
          <a:prstGeom prst="ellipse">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 name="Connector 51"/>
          <p:cNvCxnSpPr/>
          <p:nvPr/>
        </p:nvCxnSpPr>
        <p:spPr>
          <a:xfrm>
            <a:off x="6167628" y="4104563"/>
            <a:ext cx="918972" cy="501309"/>
          </a:xfrm>
          <a:prstGeom prst="line">
            <a:avLst/>
          </a:prstGeom>
          <a:ln w="27940">
            <a:solidFill>
              <a:srgbClr val="C58A2A"/>
            </a:solidFill>
          </a:ln>
        </p:spPr>
        <p:style>
          <a:lnRef idx="2">
            <a:schemeClr val="accent1"/>
          </a:lnRef>
          <a:fillRef idx="0">
            <a:schemeClr val="accent1"/>
          </a:fillRef>
          <a:effectRef idx="1">
            <a:schemeClr val="accent1"/>
          </a:effectRef>
          <a:fontRef idx="minor">
            <a:schemeClr val="tx1"/>
          </a:fontRef>
        </p:style>
      </p:cxnSp>
      <p:sp>
        <p:nvSpPr>
          <p:cNvPr id="53" name="Oval 52"/>
          <p:cNvSpPr/>
          <p:nvPr/>
        </p:nvSpPr>
        <p:spPr>
          <a:xfrm>
            <a:off x="7031736" y="4551008"/>
            <a:ext cx="109728" cy="109728"/>
          </a:xfrm>
          <a:prstGeom prst="ellipse">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224528" y="2157984"/>
            <a:ext cx="1234440" cy="146304"/>
          </a:xfrm>
          <a:prstGeom prst="rect">
            <a:avLst/>
          </a:prstGeom>
          <a:noFill/>
        </p:spPr>
        <p:txBody>
          <a:bodyPr wrap="square" lIns="27432" rIns="27432" tIns="27432" bIns="27432" anchor="t">
            <a:spAutoFit/>
          </a:bodyPr>
          <a:lstStyle/>
          <a:p>
            <a:pPr algn="l"/>
            <a:r>
              <a:rPr sz="1000" b="1">
                <a:solidFill>
                  <a:srgbClr val="3F728A"/>
                </a:solidFill>
                <a:latin typeface="Aptos"/>
              </a:rPr>
              <a:t>DALLAS/FW</a:t>
            </a:r>
          </a:p>
        </p:txBody>
      </p:sp>
      <p:sp>
        <p:nvSpPr>
          <p:cNvPr id="55" name="Oval 54"/>
          <p:cNvSpPr/>
          <p:nvPr/>
        </p:nvSpPr>
        <p:spPr>
          <a:xfrm>
            <a:off x="1517904" y="4737116"/>
            <a:ext cx="109728" cy="109728"/>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6" name="Connector 55"/>
          <p:cNvCxnSpPr/>
          <p:nvPr/>
        </p:nvCxnSpPr>
        <p:spPr>
          <a:xfrm flipV="1">
            <a:off x="1572768" y="4771970"/>
            <a:ext cx="918972" cy="20010"/>
          </a:xfrm>
          <a:prstGeom prst="line">
            <a:avLst/>
          </a:prstGeom>
          <a:ln w="24130">
            <a:solidFill>
              <a:srgbClr val="3F728A"/>
            </a:solidFill>
          </a:ln>
        </p:spPr>
        <p:style>
          <a:lnRef idx="2">
            <a:schemeClr val="accent1"/>
          </a:lnRef>
          <a:fillRef idx="0">
            <a:schemeClr val="accent1"/>
          </a:fillRef>
          <a:effectRef idx="1">
            <a:schemeClr val="accent1"/>
          </a:effectRef>
          <a:fontRef idx="minor">
            <a:schemeClr val="tx1"/>
          </a:fontRef>
        </p:style>
      </p:cxnSp>
      <p:sp>
        <p:nvSpPr>
          <p:cNvPr id="57" name="Oval 56"/>
          <p:cNvSpPr/>
          <p:nvPr/>
        </p:nvSpPr>
        <p:spPr>
          <a:xfrm>
            <a:off x="2436876" y="4717106"/>
            <a:ext cx="109728" cy="109728"/>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Connector 57"/>
          <p:cNvCxnSpPr/>
          <p:nvPr/>
        </p:nvCxnSpPr>
        <p:spPr>
          <a:xfrm>
            <a:off x="2491740" y="4771970"/>
            <a:ext cx="918972" cy="33838"/>
          </a:xfrm>
          <a:prstGeom prst="line">
            <a:avLst/>
          </a:prstGeom>
          <a:ln w="24130">
            <a:solidFill>
              <a:srgbClr val="3F728A"/>
            </a:solidFill>
          </a:ln>
        </p:spPr>
        <p:style>
          <a:lnRef idx="2">
            <a:schemeClr val="accent1"/>
          </a:lnRef>
          <a:fillRef idx="0">
            <a:schemeClr val="accent1"/>
          </a:fillRef>
          <a:effectRef idx="1">
            <a:schemeClr val="accent1"/>
          </a:effectRef>
          <a:fontRef idx="minor">
            <a:schemeClr val="tx1"/>
          </a:fontRef>
        </p:style>
      </p:cxnSp>
      <p:sp>
        <p:nvSpPr>
          <p:cNvPr id="59" name="Oval 58"/>
          <p:cNvSpPr/>
          <p:nvPr/>
        </p:nvSpPr>
        <p:spPr>
          <a:xfrm>
            <a:off x="3355848" y="4750944"/>
            <a:ext cx="109728" cy="109728"/>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0" name="Connector 59"/>
          <p:cNvCxnSpPr/>
          <p:nvPr/>
        </p:nvCxnSpPr>
        <p:spPr>
          <a:xfrm flipV="1">
            <a:off x="3410712" y="4745353"/>
            <a:ext cx="918972" cy="60455"/>
          </a:xfrm>
          <a:prstGeom prst="line">
            <a:avLst/>
          </a:prstGeom>
          <a:ln w="24130">
            <a:solidFill>
              <a:srgbClr val="3F728A"/>
            </a:solidFill>
          </a:ln>
        </p:spPr>
        <p:style>
          <a:lnRef idx="2">
            <a:schemeClr val="accent1"/>
          </a:lnRef>
          <a:fillRef idx="0">
            <a:schemeClr val="accent1"/>
          </a:fillRef>
          <a:effectRef idx="1">
            <a:schemeClr val="accent1"/>
          </a:effectRef>
          <a:fontRef idx="minor">
            <a:schemeClr val="tx1"/>
          </a:fontRef>
        </p:style>
      </p:cxnSp>
      <p:sp>
        <p:nvSpPr>
          <p:cNvPr id="61" name="Oval 60"/>
          <p:cNvSpPr/>
          <p:nvPr/>
        </p:nvSpPr>
        <p:spPr>
          <a:xfrm>
            <a:off x="4274820" y="4690489"/>
            <a:ext cx="109728" cy="109728"/>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2" name="Connector 61"/>
          <p:cNvCxnSpPr/>
          <p:nvPr/>
        </p:nvCxnSpPr>
        <p:spPr>
          <a:xfrm>
            <a:off x="4329684" y="4745353"/>
            <a:ext cx="918972" cy="58067"/>
          </a:xfrm>
          <a:prstGeom prst="line">
            <a:avLst/>
          </a:prstGeom>
          <a:ln w="24130">
            <a:solidFill>
              <a:srgbClr val="3F728A"/>
            </a:solidFill>
          </a:ln>
        </p:spPr>
        <p:style>
          <a:lnRef idx="2">
            <a:schemeClr val="accent1"/>
          </a:lnRef>
          <a:fillRef idx="0">
            <a:schemeClr val="accent1"/>
          </a:fillRef>
          <a:effectRef idx="1">
            <a:schemeClr val="accent1"/>
          </a:effectRef>
          <a:fontRef idx="minor">
            <a:schemeClr val="tx1"/>
          </a:fontRef>
        </p:style>
      </p:cxnSp>
      <p:sp>
        <p:nvSpPr>
          <p:cNvPr id="63" name="Oval 62"/>
          <p:cNvSpPr/>
          <p:nvPr/>
        </p:nvSpPr>
        <p:spPr>
          <a:xfrm>
            <a:off x="5193792" y="4748556"/>
            <a:ext cx="109728" cy="109728"/>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4" name="Connector 63"/>
          <p:cNvCxnSpPr/>
          <p:nvPr/>
        </p:nvCxnSpPr>
        <p:spPr>
          <a:xfrm flipV="1">
            <a:off x="5248656" y="4729658"/>
            <a:ext cx="918972" cy="73762"/>
          </a:xfrm>
          <a:prstGeom prst="line">
            <a:avLst/>
          </a:prstGeom>
          <a:ln w="24130">
            <a:solidFill>
              <a:srgbClr val="3F728A"/>
            </a:solidFill>
          </a:ln>
        </p:spPr>
        <p:style>
          <a:lnRef idx="2">
            <a:schemeClr val="accent1"/>
          </a:lnRef>
          <a:fillRef idx="0">
            <a:schemeClr val="accent1"/>
          </a:fillRef>
          <a:effectRef idx="1">
            <a:schemeClr val="accent1"/>
          </a:effectRef>
          <a:fontRef idx="minor">
            <a:schemeClr val="tx1"/>
          </a:fontRef>
        </p:style>
      </p:cxnSp>
      <p:sp>
        <p:nvSpPr>
          <p:cNvPr id="65" name="Oval 64"/>
          <p:cNvSpPr/>
          <p:nvPr/>
        </p:nvSpPr>
        <p:spPr>
          <a:xfrm>
            <a:off x="6112764" y="4674794"/>
            <a:ext cx="109728" cy="109728"/>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6" name="Connector 65"/>
          <p:cNvCxnSpPr/>
          <p:nvPr/>
        </p:nvCxnSpPr>
        <p:spPr>
          <a:xfrm>
            <a:off x="6167628" y="4729658"/>
            <a:ext cx="918972" cy="217279"/>
          </a:xfrm>
          <a:prstGeom prst="line">
            <a:avLst/>
          </a:prstGeom>
          <a:ln w="27940">
            <a:solidFill>
              <a:srgbClr val="3F728A"/>
            </a:solidFill>
          </a:ln>
        </p:spPr>
        <p:style>
          <a:lnRef idx="2">
            <a:schemeClr val="accent1"/>
          </a:lnRef>
          <a:fillRef idx="0">
            <a:schemeClr val="accent1"/>
          </a:fillRef>
          <a:effectRef idx="1">
            <a:schemeClr val="accent1"/>
          </a:effectRef>
          <a:fontRef idx="minor">
            <a:schemeClr val="tx1"/>
          </a:fontRef>
        </p:style>
      </p:cxnSp>
      <p:sp>
        <p:nvSpPr>
          <p:cNvPr id="67" name="Oval 66"/>
          <p:cNvSpPr/>
          <p:nvPr/>
        </p:nvSpPr>
        <p:spPr>
          <a:xfrm>
            <a:off x="7031736" y="4892073"/>
            <a:ext cx="109728" cy="109728"/>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550408" y="2157984"/>
            <a:ext cx="1234440" cy="146304"/>
          </a:xfrm>
          <a:prstGeom prst="rect">
            <a:avLst/>
          </a:prstGeom>
          <a:noFill/>
        </p:spPr>
        <p:txBody>
          <a:bodyPr wrap="square" lIns="27432" rIns="27432" tIns="27432" bIns="27432" anchor="t">
            <a:spAutoFit/>
          </a:bodyPr>
          <a:lstStyle/>
          <a:p>
            <a:pPr algn="l"/>
            <a:r>
              <a:rPr sz="1000" b="1">
                <a:solidFill>
                  <a:srgbClr val="889A83"/>
                </a:solidFill>
                <a:latin typeface="Aptos"/>
              </a:rPr>
              <a:t>BALT/WASH</a:t>
            </a:r>
          </a:p>
        </p:txBody>
      </p:sp>
      <p:sp>
        <p:nvSpPr>
          <p:cNvPr id="69" name="Oval 68"/>
          <p:cNvSpPr/>
          <p:nvPr/>
        </p:nvSpPr>
        <p:spPr>
          <a:xfrm>
            <a:off x="1517904" y="4772432"/>
            <a:ext cx="109728" cy="109728"/>
          </a:xfrm>
          <a:prstGeom prst="ellipse">
            <a:avLst/>
          </a:prstGeom>
          <a:solidFill>
            <a:srgbClr val="889A83"/>
          </a:solidFill>
          <a:ln>
            <a:solidFill>
              <a:srgbClr val="889A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0" name="Connector 69"/>
          <p:cNvCxnSpPr/>
          <p:nvPr/>
        </p:nvCxnSpPr>
        <p:spPr>
          <a:xfrm flipV="1">
            <a:off x="1572768" y="4769107"/>
            <a:ext cx="918972" cy="58189"/>
          </a:xfrm>
          <a:prstGeom prst="line">
            <a:avLst/>
          </a:prstGeom>
          <a:ln w="24130">
            <a:solidFill>
              <a:srgbClr val="889A83"/>
            </a:solidFill>
          </a:ln>
        </p:spPr>
        <p:style>
          <a:lnRef idx="2">
            <a:schemeClr val="accent1"/>
          </a:lnRef>
          <a:fillRef idx="0">
            <a:schemeClr val="accent1"/>
          </a:fillRef>
          <a:effectRef idx="1">
            <a:schemeClr val="accent1"/>
          </a:effectRef>
          <a:fontRef idx="minor">
            <a:schemeClr val="tx1"/>
          </a:fontRef>
        </p:style>
      </p:cxnSp>
      <p:sp>
        <p:nvSpPr>
          <p:cNvPr id="71" name="Oval 70"/>
          <p:cNvSpPr/>
          <p:nvPr/>
        </p:nvSpPr>
        <p:spPr>
          <a:xfrm>
            <a:off x="2436876" y="4714243"/>
            <a:ext cx="109728" cy="109728"/>
          </a:xfrm>
          <a:prstGeom prst="ellipse">
            <a:avLst/>
          </a:prstGeom>
          <a:solidFill>
            <a:srgbClr val="889A83"/>
          </a:solidFill>
          <a:ln>
            <a:solidFill>
              <a:srgbClr val="889A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2" name="Connector 71"/>
          <p:cNvCxnSpPr/>
          <p:nvPr/>
        </p:nvCxnSpPr>
        <p:spPr>
          <a:xfrm>
            <a:off x="2491740" y="4769107"/>
            <a:ext cx="918972" cy="34434"/>
          </a:xfrm>
          <a:prstGeom prst="line">
            <a:avLst/>
          </a:prstGeom>
          <a:ln w="24130">
            <a:solidFill>
              <a:srgbClr val="889A83"/>
            </a:solidFill>
          </a:ln>
        </p:spPr>
        <p:style>
          <a:lnRef idx="2">
            <a:schemeClr val="accent1"/>
          </a:lnRef>
          <a:fillRef idx="0">
            <a:schemeClr val="accent1"/>
          </a:fillRef>
          <a:effectRef idx="1">
            <a:schemeClr val="accent1"/>
          </a:effectRef>
          <a:fontRef idx="minor">
            <a:schemeClr val="tx1"/>
          </a:fontRef>
        </p:style>
      </p:cxnSp>
      <p:sp>
        <p:nvSpPr>
          <p:cNvPr id="73" name="Oval 72"/>
          <p:cNvSpPr/>
          <p:nvPr/>
        </p:nvSpPr>
        <p:spPr>
          <a:xfrm>
            <a:off x="3355848" y="4748677"/>
            <a:ext cx="109728" cy="109728"/>
          </a:xfrm>
          <a:prstGeom prst="ellipse">
            <a:avLst/>
          </a:prstGeom>
          <a:solidFill>
            <a:srgbClr val="889A83"/>
          </a:solidFill>
          <a:ln>
            <a:solidFill>
              <a:srgbClr val="889A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4" name="Connector 73"/>
          <p:cNvCxnSpPr/>
          <p:nvPr/>
        </p:nvCxnSpPr>
        <p:spPr>
          <a:xfrm flipV="1">
            <a:off x="3410712" y="4786798"/>
            <a:ext cx="918972" cy="16743"/>
          </a:xfrm>
          <a:prstGeom prst="line">
            <a:avLst/>
          </a:prstGeom>
          <a:ln w="24130">
            <a:solidFill>
              <a:srgbClr val="889A83"/>
            </a:solidFill>
          </a:ln>
        </p:spPr>
        <p:style>
          <a:lnRef idx="2">
            <a:schemeClr val="accent1"/>
          </a:lnRef>
          <a:fillRef idx="0">
            <a:schemeClr val="accent1"/>
          </a:fillRef>
          <a:effectRef idx="1">
            <a:schemeClr val="accent1"/>
          </a:effectRef>
          <a:fontRef idx="minor">
            <a:schemeClr val="tx1"/>
          </a:fontRef>
        </p:style>
      </p:cxnSp>
      <p:sp>
        <p:nvSpPr>
          <p:cNvPr id="75" name="Oval 74"/>
          <p:cNvSpPr/>
          <p:nvPr/>
        </p:nvSpPr>
        <p:spPr>
          <a:xfrm>
            <a:off x="4274820" y="4731934"/>
            <a:ext cx="109728" cy="109728"/>
          </a:xfrm>
          <a:prstGeom prst="ellipse">
            <a:avLst/>
          </a:prstGeom>
          <a:solidFill>
            <a:srgbClr val="889A83"/>
          </a:solidFill>
          <a:ln>
            <a:solidFill>
              <a:srgbClr val="889A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6" name="Connector 75"/>
          <p:cNvCxnSpPr/>
          <p:nvPr/>
        </p:nvCxnSpPr>
        <p:spPr>
          <a:xfrm>
            <a:off x="4329684" y="4786798"/>
            <a:ext cx="918972" cy="33019"/>
          </a:xfrm>
          <a:prstGeom prst="line">
            <a:avLst/>
          </a:prstGeom>
          <a:ln w="24130">
            <a:solidFill>
              <a:srgbClr val="889A83"/>
            </a:solidFill>
          </a:ln>
        </p:spPr>
        <p:style>
          <a:lnRef idx="2">
            <a:schemeClr val="accent1"/>
          </a:lnRef>
          <a:fillRef idx="0">
            <a:schemeClr val="accent1"/>
          </a:fillRef>
          <a:effectRef idx="1">
            <a:schemeClr val="accent1"/>
          </a:effectRef>
          <a:fontRef idx="minor">
            <a:schemeClr val="tx1"/>
          </a:fontRef>
        </p:style>
      </p:cxnSp>
      <p:sp>
        <p:nvSpPr>
          <p:cNvPr id="77" name="Oval 76"/>
          <p:cNvSpPr/>
          <p:nvPr/>
        </p:nvSpPr>
        <p:spPr>
          <a:xfrm>
            <a:off x="5193792" y="4764953"/>
            <a:ext cx="109728" cy="109728"/>
          </a:xfrm>
          <a:prstGeom prst="ellipse">
            <a:avLst/>
          </a:prstGeom>
          <a:solidFill>
            <a:srgbClr val="889A83"/>
          </a:solidFill>
          <a:ln>
            <a:solidFill>
              <a:srgbClr val="889A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8" name="Connector 77"/>
          <p:cNvCxnSpPr/>
          <p:nvPr/>
        </p:nvCxnSpPr>
        <p:spPr>
          <a:xfrm flipV="1">
            <a:off x="5248656" y="4709856"/>
            <a:ext cx="918972" cy="109961"/>
          </a:xfrm>
          <a:prstGeom prst="line">
            <a:avLst/>
          </a:prstGeom>
          <a:ln w="24130">
            <a:solidFill>
              <a:srgbClr val="889A83"/>
            </a:solidFill>
          </a:ln>
        </p:spPr>
        <p:style>
          <a:lnRef idx="2">
            <a:schemeClr val="accent1"/>
          </a:lnRef>
          <a:fillRef idx="0">
            <a:schemeClr val="accent1"/>
          </a:fillRef>
          <a:effectRef idx="1">
            <a:schemeClr val="accent1"/>
          </a:effectRef>
          <a:fontRef idx="minor">
            <a:schemeClr val="tx1"/>
          </a:fontRef>
        </p:style>
      </p:cxnSp>
      <p:sp>
        <p:nvSpPr>
          <p:cNvPr id="79" name="Oval 78"/>
          <p:cNvSpPr/>
          <p:nvPr/>
        </p:nvSpPr>
        <p:spPr>
          <a:xfrm>
            <a:off x="6112764" y="4654992"/>
            <a:ext cx="109728" cy="109728"/>
          </a:xfrm>
          <a:prstGeom prst="ellipse">
            <a:avLst/>
          </a:prstGeom>
          <a:solidFill>
            <a:srgbClr val="889A83"/>
          </a:solidFill>
          <a:ln>
            <a:solidFill>
              <a:srgbClr val="889A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0" name="Connector 79"/>
          <p:cNvCxnSpPr/>
          <p:nvPr/>
        </p:nvCxnSpPr>
        <p:spPr>
          <a:xfrm>
            <a:off x="6167628" y="4709856"/>
            <a:ext cx="918972" cy="243424"/>
          </a:xfrm>
          <a:prstGeom prst="line">
            <a:avLst/>
          </a:prstGeom>
          <a:ln w="27940">
            <a:solidFill>
              <a:srgbClr val="889A83"/>
            </a:solidFill>
          </a:ln>
        </p:spPr>
        <p:style>
          <a:lnRef idx="2">
            <a:schemeClr val="accent1"/>
          </a:lnRef>
          <a:fillRef idx="0">
            <a:schemeClr val="accent1"/>
          </a:fillRef>
          <a:effectRef idx="1">
            <a:schemeClr val="accent1"/>
          </a:effectRef>
          <a:fontRef idx="minor">
            <a:schemeClr val="tx1"/>
          </a:fontRef>
        </p:style>
      </p:cxnSp>
      <p:sp>
        <p:nvSpPr>
          <p:cNvPr id="81" name="Oval 80"/>
          <p:cNvSpPr/>
          <p:nvPr/>
        </p:nvSpPr>
        <p:spPr>
          <a:xfrm>
            <a:off x="7031736" y="4898416"/>
            <a:ext cx="109728" cy="109728"/>
          </a:xfrm>
          <a:prstGeom prst="ellipse">
            <a:avLst/>
          </a:prstGeom>
          <a:solidFill>
            <a:srgbClr val="889A83"/>
          </a:solidFill>
          <a:ln>
            <a:solidFill>
              <a:srgbClr val="889A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6876288" y="2157984"/>
            <a:ext cx="1234440" cy="146304"/>
          </a:xfrm>
          <a:prstGeom prst="rect">
            <a:avLst/>
          </a:prstGeom>
          <a:noFill/>
        </p:spPr>
        <p:txBody>
          <a:bodyPr wrap="square" lIns="27432" rIns="27432" tIns="27432" bIns="27432" anchor="t">
            <a:spAutoFit/>
          </a:bodyPr>
          <a:lstStyle/>
          <a:p>
            <a:pPr algn="l"/>
            <a:r>
              <a:rPr sz="1000" b="1">
                <a:solidFill>
                  <a:srgbClr val="B5533A"/>
                </a:solidFill>
                <a:latin typeface="Aptos"/>
              </a:rPr>
              <a:t>PHOENIX/TUCSON</a:t>
            </a:r>
          </a:p>
        </p:txBody>
      </p:sp>
      <p:sp>
        <p:nvSpPr>
          <p:cNvPr id="83" name="Oval 82"/>
          <p:cNvSpPr/>
          <p:nvPr/>
        </p:nvSpPr>
        <p:spPr>
          <a:xfrm>
            <a:off x="1517904" y="4808073"/>
            <a:ext cx="109728" cy="109728"/>
          </a:xfrm>
          <a:prstGeom prst="ellipse">
            <a:avLst/>
          </a:prstGeom>
          <a:solidFill>
            <a:srgbClr val="B5533A"/>
          </a:solidFill>
          <a:ln>
            <a:solidFill>
              <a:srgbClr val="B55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4" name="Connector 83"/>
          <p:cNvCxnSpPr/>
          <p:nvPr/>
        </p:nvCxnSpPr>
        <p:spPr>
          <a:xfrm flipV="1">
            <a:off x="1572768" y="4825412"/>
            <a:ext cx="918972" cy="37525"/>
          </a:xfrm>
          <a:prstGeom prst="line">
            <a:avLst/>
          </a:prstGeom>
          <a:ln w="24130">
            <a:solidFill>
              <a:srgbClr val="B5533A"/>
            </a:solidFill>
          </a:ln>
        </p:spPr>
        <p:style>
          <a:lnRef idx="2">
            <a:schemeClr val="accent1"/>
          </a:lnRef>
          <a:fillRef idx="0">
            <a:schemeClr val="accent1"/>
          </a:fillRef>
          <a:effectRef idx="1">
            <a:schemeClr val="accent1"/>
          </a:effectRef>
          <a:fontRef idx="minor">
            <a:schemeClr val="tx1"/>
          </a:fontRef>
        </p:style>
      </p:cxnSp>
      <p:sp>
        <p:nvSpPr>
          <p:cNvPr id="85" name="Oval 84"/>
          <p:cNvSpPr/>
          <p:nvPr/>
        </p:nvSpPr>
        <p:spPr>
          <a:xfrm>
            <a:off x="2436876" y="4770548"/>
            <a:ext cx="109728" cy="109728"/>
          </a:xfrm>
          <a:prstGeom prst="ellipse">
            <a:avLst/>
          </a:prstGeom>
          <a:solidFill>
            <a:srgbClr val="B5533A"/>
          </a:solidFill>
          <a:ln>
            <a:solidFill>
              <a:srgbClr val="B55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6" name="Connector 85"/>
          <p:cNvCxnSpPr/>
          <p:nvPr/>
        </p:nvCxnSpPr>
        <p:spPr>
          <a:xfrm>
            <a:off x="2491740" y="4825412"/>
            <a:ext cx="918972" cy="15981"/>
          </a:xfrm>
          <a:prstGeom prst="line">
            <a:avLst/>
          </a:prstGeom>
          <a:ln w="24130">
            <a:solidFill>
              <a:srgbClr val="B5533A"/>
            </a:solidFill>
          </a:ln>
        </p:spPr>
        <p:style>
          <a:lnRef idx="2">
            <a:schemeClr val="accent1"/>
          </a:lnRef>
          <a:fillRef idx="0">
            <a:schemeClr val="accent1"/>
          </a:fillRef>
          <a:effectRef idx="1">
            <a:schemeClr val="accent1"/>
          </a:effectRef>
          <a:fontRef idx="minor">
            <a:schemeClr val="tx1"/>
          </a:fontRef>
        </p:style>
      </p:cxnSp>
      <p:sp>
        <p:nvSpPr>
          <p:cNvPr id="87" name="Oval 86"/>
          <p:cNvSpPr/>
          <p:nvPr/>
        </p:nvSpPr>
        <p:spPr>
          <a:xfrm>
            <a:off x="3355848" y="4786529"/>
            <a:ext cx="109728" cy="109728"/>
          </a:xfrm>
          <a:prstGeom prst="ellipse">
            <a:avLst/>
          </a:prstGeom>
          <a:solidFill>
            <a:srgbClr val="B5533A"/>
          </a:solidFill>
          <a:ln>
            <a:solidFill>
              <a:srgbClr val="B55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8" name="Connector 87"/>
          <p:cNvCxnSpPr/>
          <p:nvPr/>
        </p:nvCxnSpPr>
        <p:spPr>
          <a:xfrm flipV="1">
            <a:off x="3410712" y="4789746"/>
            <a:ext cx="918972" cy="51647"/>
          </a:xfrm>
          <a:prstGeom prst="line">
            <a:avLst/>
          </a:prstGeom>
          <a:ln w="24130">
            <a:solidFill>
              <a:srgbClr val="B5533A"/>
            </a:solidFill>
          </a:ln>
        </p:spPr>
        <p:style>
          <a:lnRef idx="2">
            <a:schemeClr val="accent1"/>
          </a:lnRef>
          <a:fillRef idx="0">
            <a:schemeClr val="accent1"/>
          </a:fillRef>
          <a:effectRef idx="1">
            <a:schemeClr val="accent1"/>
          </a:effectRef>
          <a:fontRef idx="minor">
            <a:schemeClr val="tx1"/>
          </a:fontRef>
        </p:style>
      </p:cxnSp>
      <p:sp>
        <p:nvSpPr>
          <p:cNvPr id="89" name="Oval 88"/>
          <p:cNvSpPr/>
          <p:nvPr/>
        </p:nvSpPr>
        <p:spPr>
          <a:xfrm>
            <a:off x="4274820" y="4734882"/>
            <a:ext cx="109728" cy="109728"/>
          </a:xfrm>
          <a:prstGeom prst="ellipse">
            <a:avLst/>
          </a:prstGeom>
          <a:solidFill>
            <a:srgbClr val="B5533A"/>
          </a:solidFill>
          <a:ln>
            <a:solidFill>
              <a:srgbClr val="B55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0" name="Connector 89"/>
          <p:cNvCxnSpPr/>
          <p:nvPr/>
        </p:nvCxnSpPr>
        <p:spPr>
          <a:xfrm>
            <a:off x="4329684" y="4789746"/>
            <a:ext cx="918972" cy="28268"/>
          </a:xfrm>
          <a:prstGeom prst="line">
            <a:avLst/>
          </a:prstGeom>
          <a:ln w="24130">
            <a:solidFill>
              <a:srgbClr val="B5533A"/>
            </a:solidFill>
          </a:ln>
        </p:spPr>
        <p:style>
          <a:lnRef idx="2">
            <a:schemeClr val="accent1"/>
          </a:lnRef>
          <a:fillRef idx="0">
            <a:schemeClr val="accent1"/>
          </a:fillRef>
          <a:effectRef idx="1">
            <a:schemeClr val="accent1"/>
          </a:effectRef>
          <a:fontRef idx="minor">
            <a:schemeClr val="tx1"/>
          </a:fontRef>
        </p:style>
      </p:cxnSp>
      <p:sp>
        <p:nvSpPr>
          <p:cNvPr id="91" name="Oval 90"/>
          <p:cNvSpPr/>
          <p:nvPr/>
        </p:nvSpPr>
        <p:spPr>
          <a:xfrm>
            <a:off x="5193792" y="4763150"/>
            <a:ext cx="109728" cy="109728"/>
          </a:xfrm>
          <a:prstGeom prst="ellipse">
            <a:avLst/>
          </a:prstGeom>
          <a:solidFill>
            <a:srgbClr val="B5533A"/>
          </a:solidFill>
          <a:ln>
            <a:solidFill>
              <a:srgbClr val="B55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2" name="Connector 91"/>
          <p:cNvCxnSpPr/>
          <p:nvPr/>
        </p:nvCxnSpPr>
        <p:spPr>
          <a:xfrm flipV="1">
            <a:off x="5248656" y="4752730"/>
            <a:ext cx="918972" cy="65284"/>
          </a:xfrm>
          <a:prstGeom prst="line">
            <a:avLst/>
          </a:prstGeom>
          <a:ln w="24130">
            <a:solidFill>
              <a:srgbClr val="B5533A"/>
            </a:solidFill>
          </a:ln>
        </p:spPr>
        <p:style>
          <a:lnRef idx="2">
            <a:schemeClr val="accent1"/>
          </a:lnRef>
          <a:fillRef idx="0">
            <a:schemeClr val="accent1"/>
          </a:fillRef>
          <a:effectRef idx="1">
            <a:schemeClr val="accent1"/>
          </a:effectRef>
          <a:fontRef idx="minor">
            <a:schemeClr val="tx1"/>
          </a:fontRef>
        </p:style>
      </p:cxnSp>
      <p:sp>
        <p:nvSpPr>
          <p:cNvPr id="93" name="Oval 92"/>
          <p:cNvSpPr/>
          <p:nvPr/>
        </p:nvSpPr>
        <p:spPr>
          <a:xfrm>
            <a:off x="6112764" y="4697866"/>
            <a:ext cx="109728" cy="109728"/>
          </a:xfrm>
          <a:prstGeom prst="ellipse">
            <a:avLst/>
          </a:prstGeom>
          <a:solidFill>
            <a:srgbClr val="B5533A"/>
          </a:solidFill>
          <a:ln>
            <a:solidFill>
              <a:srgbClr val="B55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4" name="Connector 93"/>
          <p:cNvCxnSpPr/>
          <p:nvPr/>
        </p:nvCxnSpPr>
        <p:spPr>
          <a:xfrm>
            <a:off x="6167628" y="4752730"/>
            <a:ext cx="918972" cy="216905"/>
          </a:xfrm>
          <a:prstGeom prst="line">
            <a:avLst/>
          </a:prstGeom>
          <a:ln w="27940">
            <a:solidFill>
              <a:srgbClr val="B5533A"/>
            </a:solidFill>
          </a:ln>
        </p:spPr>
        <p:style>
          <a:lnRef idx="2">
            <a:schemeClr val="accent1"/>
          </a:lnRef>
          <a:fillRef idx="0">
            <a:schemeClr val="accent1"/>
          </a:fillRef>
          <a:effectRef idx="1">
            <a:schemeClr val="accent1"/>
          </a:effectRef>
          <a:fontRef idx="minor">
            <a:schemeClr val="tx1"/>
          </a:fontRef>
        </p:style>
      </p:cxnSp>
      <p:sp>
        <p:nvSpPr>
          <p:cNvPr id="95" name="Oval 94"/>
          <p:cNvSpPr/>
          <p:nvPr/>
        </p:nvSpPr>
        <p:spPr>
          <a:xfrm>
            <a:off x="7031736" y="4914771"/>
            <a:ext cx="109728" cy="109728"/>
          </a:xfrm>
          <a:prstGeom prst="ellipse">
            <a:avLst/>
          </a:prstGeom>
          <a:solidFill>
            <a:srgbClr val="B5533A"/>
          </a:solidFill>
          <a:ln>
            <a:solidFill>
              <a:srgbClr val="B55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6" name="Connector 95"/>
          <p:cNvCxnSpPr/>
          <p:nvPr/>
        </p:nvCxnSpPr>
        <p:spPr>
          <a:xfrm flipV="1">
            <a:off x="7114032" y="4407408"/>
            <a:ext cx="18288" cy="39103"/>
          </a:xfrm>
          <a:prstGeom prst="line">
            <a:avLst/>
          </a:prstGeom>
          <a:ln w="11430">
            <a:solidFill>
              <a:srgbClr val="355C47"/>
            </a:solidFill>
          </a:ln>
        </p:spPr>
        <p:style>
          <a:lnRef idx="2">
            <a:schemeClr val="accent1"/>
          </a:lnRef>
          <a:fillRef idx="0">
            <a:schemeClr val="accent1"/>
          </a:fillRef>
          <a:effectRef idx="1">
            <a:schemeClr val="accent1"/>
          </a:effectRef>
          <a:fontRef idx="minor">
            <a:schemeClr val="tx1"/>
          </a:fontRef>
        </p:style>
      </p:cxnSp>
      <p:sp>
        <p:nvSpPr>
          <p:cNvPr id="97" name="TextBox 96"/>
          <p:cNvSpPr txBox="1"/>
          <p:nvPr/>
        </p:nvSpPr>
        <p:spPr>
          <a:xfrm>
            <a:off x="7159752" y="4279392"/>
            <a:ext cx="914400" cy="146304"/>
          </a:xfrm>
          <a:prstGeom prst="rect">
            <a:avLst/>
          </a:prstGeom>
          <a:noFill/>
        </p:spPr>
        <p:txBody>
          <a:bodyPr wrap="square" lIns="27432" rIns="27432" tIns="27432" bIns="27432" anchor="t">
            <a:spAutoFit/>
          </a:bodyPr>
          <a:lstStyle/>
          <a:p>
            <a:pPr algn="l"/>
            <a:r>
              <a:rPr sz="800" b="1">
                <a:solidFill>
                  <a:srgbClr val="355C47"/>
                </a:solidFill>
                <a:latin typeface="Aptos"/>
              </a:rPr>
              <a:t>Los Angeles</a:t>
            </a:r>
          </a:p>
        </p:txBody>
      </p:sp>
      <p:cxnSp>
        <p:nvCxnSpPr>
          <p:cNvPr id="98" name="Connector 97"/>
          <p:cNvCxnSpPr/>
          <p:nvPr/>
        </p:nvCxnSpPr>
        <p:spPr>
          <a:xfrm flipV="1">
            <a:off x="7114032" y="4590288"/>
            <a:ext cx="18288" cy="15584"/>
          </a:xfrm>
          <a:prstGeom prst="line">
            <a:avLst/>
          </a:prstGeom>
          <a:ln w="11430">
            <a:solidFill>
              <a:srgbClr val="C58A2A"/>
            </a:solidFill>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7159752" y="4462272"/>
            <a:ext cx="914400" cy="146304"/>
          </a:xfrm>
          <a:prstGeom prst="rect">
            <a:avLst/>
          </a:prstGeom>
          <a:noFill/>
        </p:spPr>
        <p:txBody>
          <a:bodyPr wrap="square" lIns="27432" rIns="27432" tIns="27432" bIns="27432" anchor="t">
            <a:spAutoFit/>
          </a:bodyPr>
          <a:lstStyle/>
          <a:p>
            <a:pPr algn="l"/>
            <a:r>
              <a:rPr sz="800" b="1">
                <a:solidFill>
                  <a:srgbClr val="C58A2A"/>
                </a:solidFill>
                <a:latin typeface="Aptos"/>
              </a:rPr>
              <a:t>New York</a:t>
            </a:r>
          </a:p>
        </p:txBody>
      </p:sp>
      <p:cxnSp>
        <p:nvCxnSpPr>
          <p:cNvPr id="100" name="Connector 99"/>
          <p:cNvCxnSpPr/>
          <p:nvPr/>
        </p:nvCxnSpPr>
        <p:spPr>
          <a:xfrm flipV="1">
            <a:off x="7114032" y="4773168"/>
            <a:ext cx="18288" cy="173769"/>
          </a:xfrm>
          <a:prstGeom prst="line">
            <a:avLst/>
          </a:prstGeom>
          <a:ln w="11430">
            <a:solidFill>
              <a:srgbClr val="3F728A"/>
            </a:solidFill>
          </a:ln>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7159752" y="4645152"/>
            <a:ext cx="914400" cy="146304"/>
          </a:xfrm>
          <a:prstGeom prst="rect">
            <a:avLst/>
          </a:prstGeom>
          <a:noFill/>
        </p:spPr>
        <p:txBody>
          <a:bodyPr wrap="square" lIns="27432" rIns="27432" tIns="27432" bIns="27432" anchor="t">
            <a:spAutoFit/>
          </a:bodyPr>
          <a:lstStyle/>
          <a:p>
            <a:pPr algn="l"/>
            <a:r>
              <a:rPr sz="800" b="1">
                <a:solidFill>
                  <a:srgbClr val="3F728A"/>
                </a:solidFill>
                <a:latin typeface="Aptos"/>
              </a:rPr>
              <a:t>Dallas/FW</a:t>
            </a:r>
          </a:p>
        </p:txBody>
      </p:sp>
      <p:cxnSp>
        <p:nvCxnSpPr>
          <p:cNvPr id="102" name="Connector 101"/>
          <p:cNvCxnSpPr/>
          <p:nvPr/>
        </p:nvCxnSpPr>
        <p:spPr>
          <a:xfrm>
            <a:off x="7114032" y="4953280"/>
            <a:ext cx="18288" cy="2768"/>
          </a:xfrm>
          <a:prstGeom prst="line">
            <a:avLst/>
          </a:prstGeom>
          <a:ln w="11430">
            <a:solidFill>
              <a:srgbClr val="889A83"/>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7159752" y="4828032"/>
            <a:ext cx="914400" cy="146304"/>
          </a:xfrm>
          <a:prstGeom prst="rect">
            <a:avLst/>
          </a:prstGeom>
          <a:noFill/>
        </p:spPr>
        <p:txBody>
          <a:bodyPr wrap="square" lIns="27432" rIns="27432" tIns="27432" bIns="27432" anchor="t">
            <a:spAutoFit/>
          </a:bodyPr>
          <a:lstStyle/>
          <a:p>
            <a:pPr algn="l"/>
            <a:r>
              <a:rPr sz="800" b="1">
                <a:solidFill>
                  <a:srgbClr val="889A83"/>
                </a:solidFill>
                <a:latin typeface="Aptos"/>
              </a:rPr>
              <a:t>Balt/Wash</a:t>
            </a:r>
          </a:p>
        </p:txBody>
      </p:sp>
      <p:cxnSp>
        <p:nvCxnSpPr>
          <p:cNvPr id="104" name="Connector 103"/>
          <p:cNvCxnSpPr/>
          <p:nvPr/>
        </p:nvCxnSpPr>
        <p:spPr>
          <a:xfrm>
            <a:off x="7114032" y="4969635"/>
            <a:ext cx="18288" cy="169293"/>
          </a:xfrm>
          <a:prstGeom prst="line">
            <a:avLst/>
          </a:prstGeom>
          <a:ln w="11430">
            <a:solidFill>
              <a:srgbClr val="B5533A"/>
            </a:solidFill>
          </a:ln>
        </p:spPr>
        <p:style>
          <a:lnRef idx="2">
            <a:schemeClr val="accent1"/>
          </a:lnRef>
          <a:fillRef idx="0">
            <a:schemeClr val="accent1"/>
          </a:fillRef>
          <a:effectRef idx="1">
            <a:schemeClr val="accent1"/>
          </a:effectRef>
          <a:fontRef idx="minor">
            <a:schemeClr val="tx1"/>
          </a:fontRef>
        </p:style>
      </p:cxnSp>
      <p:sp>
        <p:nvSpPr>
          <p:cNvPr id="105" name="TextBox 104"/>
          <p:cNvSpPr txBox="1"/>
          <p:nvPr/>
        </p:nvSpPr>
        <p:spPr>
          <a:xfrm>
            <a:off x="7159752" y="5010912"/>
            <a:ext cx="914400" cy="146304"/>
          </a:xfrm>
          <a:prstGeom prst="rect">
            <a:avLst/>
          </a:prstGeom>
          <a:noFill/>
        </p:spPr>
        <p:txBody>
          <a:bodyPr wrap="square" lIns="27432" rIns="27432" tIns="27432" bIns="27432" anchor="t">
            <a:spAutoFit/>
          </a:bodyPr>
          <a:lstStyle/>
          <a:p>
            <a:pPr algn="l"/>
            <a:r>
              <a:rPr sz="800" b="1">
                <a:solidFill>
                  <a:srgbClr val="B5533A"/>
                </a:solidFill>
                <a:latin typeface="Aptos"/>
              </a:rPr>
              <a:t>Phoenix/Tucson</a:t>
            </a:r>
          </a:p>
        </p:txBody>
      </p:sp>
      <p:sp>
        <p:nvSpPr>
          <p:cNvPr id="106" name="TextBox 105"/>
          <p:cNvSpPr txBox="1"/>
          <p:nvPr/>
        </p:nvSpPr>
        <p:spPr>
          <a:xfrm>
            <a:off x="1316736" y="5321808"/>
            <a:ext cx="512064" cy="146304"/>
          </a:xfrm>
          <a:prstGeom prst="rect">
            <a:avLst/>
          </a:prstGeom>
          <a:noFill/>
        </p:spPr>
        <p:txBody>
          <a:bodyPr wrap="square" lIns="27432" rIns="27432" tIns="27432" bIns="27432" anchor="t">
            <a:spAutoFit/>
          </a:bodyPr>
          <a:lstStyle/>
          <a:p>
            <a:pPr algn="ctr"/>
            <a:r>
              <a:rPr sz="800" b="0">
                <a:solidFill>
                  <a:srgbClr val="5F6B63"/>
                </a:solidFill>
                <a:latin typeface="Aptos"/>
              </a:rPr>
              <a:t>2019</a:t>
            </a:r>
          </a:p>
        </p:txBody>
      </p:sp>
      <p:sp>
        <p:nvSpPr>
          <p:cNvPr id="107" name="TextBox 106"/>
          <p:cNvSpPr txBox="1"/>
          <p:nvPr/>
        </p:nvSpPr>
        <p:spPr>
          <a:xfrm>
            <a:off x="2235708" y="5321808"/>
            <a:ext cx="512064" cy="146304"/>
          </a:xfrm>
          <a:prstGeom prst="rect">
            <a:avLst/>
          </a:prstGeom>
          <a:noFill/>
        </p:spPr>
        <p:txBody>
          <a:bodyPr wrap="square" lIns="27432" rIns="27432" tIns="27432" bIns="27432" anchor="t">
            <a:spAutoFit/>
          </a:bodyPr>
          <a:lstStyle/>
          <a:p>
            <a:pPr algn="ctr"/>
            <a:r>
              <a:rPr sz="800" b="0">
                <a:solidFill>
                  <a:srgbClr val="5F6B63"/>
                </a:solidFill>
                <a:latin typeface="Aptos"/>
              </a:rPr>
              <a:t>2020</a:t>
            </a:r>
          </a:p>
        </p:txBody>
      </p:sp>
      <p:sp>
        <p:nvSpPr>
          <p:cNvPr id="108" name="TextBox 107"/>
          <p:cNvSpPr txBox="1"/>
          <p:nvPr/>
        </p:nvSpPr>
        <p:spPr>
          <a:xfrm>
            <a:off x="3154680" y="5321808"/>
            <a:ext cx="512064" cy="146304"/>
          </a:xfrm>
          <a:prstGeom prst="rect">
            <a:avLst/>
          </a:prstGeom>
          <a:noFill/>
        </p:spPr>
        <p:txBody>
          <a:bodyPr wrap="square" lIns="27432" rIns="27432" tIns="27432" bIns="27432" anchor="t">
            <a:spAutoFit/>
          </a:bodyPr>
          <a:lstStyle/>
          <a:p>
            <a:pPr algn="ctr"/>
            <a:r>
              <a:rPr sz="800" b="0">
                <a:solidFill>
                  <a:srgbClr val="5F6B63"/>
                </a:solidFill>
                <a:latin typeface="Aptos"/>
              </a:rPr>
              <a:t>2021</a:t>
            </a:r>
          </a:p>
        </p:txBody>
      </p:sp>
      <p:sp>
        <p:nvSpPr>
          <p:cNvPr id="109" name="TextBox 108"/>
          <p:cNvSpPr txBox="1"/>
          <p:nvPr/>
        </p:nvSpPr>
        <p:spPr>
          <a:xfrm>
            <a:off x="4073652" y="5321808"/>
            <a:ext cx="512064" cy="146304"/>
          </a:xfrm>
          <a:prstGeom prst="rect">
            <a:avLst/>
          </a:prstGeom>
          <a:noFill/>
        </p:spPr>
        <p:txBody>
          <a:bodyPr wrap="square" lIns="27432" rIns="27432" tIns="27432" bIns="27432" anchor="t">
            <a:spAutoFit/>
          </a:bodyPr>
          <a:lstStyle/>
          <a:p>
            <a:pPr algn="ctr"/>
            <a:r>
              <a:rPr sz="800" b="0">
                <a:solidFill>
                  <a:srgbClr val="5F6B63"/>
                </a:solidFill>
                <a:latin typeface="Aptos"/>
              </a:rPr>
              <a:t>2022</a:t>
            </a:r>
          </a:p>
        </p:txBody>
      </p:sp>
      <p:sp>
        <p:nvSpPr>
          <p:cNvPr id="110" name="TextBox 109"/>
          <p:cNvSpPr txBox="1"/>
          <p:nvPr/>
        </p:nvSpPr>
        <p:spPr>
          <a:xfrm>
            <a:off x="4992624" y="5321808"/>
            <a:ext cx="512064" cy="146304"/>
          </a:xfrm>
          <a:prstGeom prst="rect">
            <a:avLst/>
          </a:prstGeom>
          <a:noFill/>
        </p:spPr>
        <p:txBody>
          <a:bodyPr wrap="square" lIns="27432" rIns="27432" tIns="27432" bIns="27432" anchor="t">
            <a:spAutoFit/>
          </a:bodyPr>
          <a:lstStyle/>
          <a:p>
            <a:pPr algn="ctr"/>
            <a:r>
              <a:rPr sz="800" b="0">
                <a:solidFill>
                  <a:srgbClr val="5F6B63"/>
                </a:solidFill>
                <a:latin typeface="Aptos"/>
              </a:rPr>
              <a:t>2023</a:t>
            </a:r>
          </a:p>
        </p:txBody>
      </p:sp>
      <p:sp>
        <p:nvSpPr>
          <p:cNvPr id="111" name="TextBox 110"/>
          <p:cNvSpPr txBox="1"/>
          <p:nvPr/>
        </p:nvSpPr>
        <p:spPr>
          <a:xfrm>
            <a:off x="5911596" y="5321808"/>
            <a:ext cx="512064" cy="146304"/>
          </a:xfrm>
          <a:prstGeom prst="rect">
            <a:avLst/>
          </a:prstGeom>
          <a:noFill/>
        </p:spPr>
        <p:txBody>
          <a:bodyPr wrap="square" lIns="27432" rIns="27432" tIns="27432" bIns="27432" anchor="t">
            <a:spAutoFit/>
          </a:bodyPr>
          <a:lstStyle/>
          <a:p>
            <a:pPr algn="ctr"/>
            <a:r>
              <a:rPr sz="800" b="0">
                <a:solidFill>
                  <a:srgbClr val="5F6B63"/>
                </a:solidFill>
                <a:latin typeface="Aptos"/>
              </a:rPr>
              <a:t>2024</a:t>
            </a:r>
          </a:p>
        </p:txBody>
      </p:sp>
      <p:sp>
        <p:nvSpPr>
          <p:cNvPr id="112" name="TextBox 111"/>
          <p:cNvSpPr txBox="1"/>
          <p:nvPr/>
        </p:nvSpPr>
        <p:spPr>
          <a:xfrm>
            <a:off x="6830568" y="5321808"/>
            <a:ext cx="512064" cy="146304"/>
          </a:xfrm>
          <a:prstGeom prst="rect">
            <a:avLst/>
          </a:prstGeom>
          <a:noFill/>
        </p:spPr>
        <p:txBody>
          <a:bodyPr wrap="square" lIns="27432" rIns="27432" tIns="27432" bIns="27432" anchor="t">
            <a:spAutoFit/>
          </a:bodyPr>
          <a:lstStyle/>
          <a:p>
            <a:pPr algn="ctr"/>
            <a:r>
              <a:rPr sz="800" b="0">
                <a:solidFill>
                  <a:srgbClr val="5F6B63"/>
                </a:solidFill>
                <a:latin typeface="Aptos"/>
              </a:rPr>
              <a:t>2025 H1</a:t>
            </a:r>
          </a:p>
        </p:txBody>
      </p:sp>
      <p:sp>
        <p:nvSpPr>
          <p:cNvPr id="113" name="Rounded Rectangle 112"/>
          <p:cNvSpPr/>
          <p:nvPr/>
        </p:nvSpPr>
        <p:spPr>
          <a:xfrm>
            <a:off x="8759952" y="1645920"/>
            <a:ext cx="2743200" cy="4352544"/>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ounded Rectangle 113"/>
          <p:cNvSpPr/>
          <p:nvPr/>
        </p:nvSpPr>
        <p:spPr>
          <a:xfrm>
            <a:off x="9034272" y="1847088"/>
            <a:ext cx="2194560" cy="768096"/>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9162288" y="1956816"/>
            <a:ext cx="1938528" cy="164592"/>
          </a:xfrm>
          <a:prstGeom prst="rect">
            <a:avLst/>
          </a:prstGeom>
          <a:noFill/>
        </p:spPr>
        <p:txBody>
          <a:bodyPr wrap="square" lIns="27432" rIns="27432" tIns="27432" bIns="27432" anchor="t">
            <a:spAutoFit/>
          </a:bodyPr>
          <a:lstStyle/>
          <a:p>
            <a:pPr algn="ctr"/>
            <a:r>
              <a:rPr sz="1000" b="1">
                <a:solidFill>
                  <a:srgbClr val="5F6B63"/>
                </a:solidFill>
                <a:latin typeface="Aptos"/>
              </a:rPr>
              <a:t>Q1 WINNER CELLS</a:t>
            </a:r>
          </a:p>
        </p:txBody>
      </p:sp>
      <p:sp>
        <p:nvSpPr>
          <p:cNvPr id="116" name="TextBox 115"/>
          <p:cNvSpPr txBox="1"/>
          <p:nvPr/>
        </p:nvSpPr>
        <p:spPr>
          <a:xfrm>
            <a:off x="9162288" y="2157984"/>
            <a:ext cx="1938528" cy="347472"/>
          </a:xfrm>
          <a:prstGeom prst="rect">
            <a:avLst/>
          </a:prstGeom>
          <a:noFill/>
        </p:spPr>
        <p:txBody>
          <a:bodyPr wrap="square" lIns="27432" rIns="27432" tIns="27432" bIns="27432" anchor="ctr">
            <a:spAutoFit/>
          </a:bodyPr>
          <a:lstStyle/>
          <a:p>
            <a:pPr algn="ctr"/>
            <a:r>
              <a:rPr sz="1900" b="1">
                <a:solidFill>
                  <a:srgbClr val="3F728A"/>
                </a:solidFill>
                <a:latin typeface="Aptos Display"/>
              </a:rPr>
              <a:t>14/14</a:t>
            </a:r>
          </a:p>
        </p:txBody>
      </p:sp>
      <p:sp>
        <p:nvSpPr>
          <p:cNvPr id="117" name="Rounded Rectangle 116"/>
          <p:cNvSpPr/>
          <p:nvPr/>
        </p:nvSpPr>
        <p:spPr>
          <a:xfrm>
            <a:off x="9034272" y="2743200"/>
            <a:ext cx="2194560" cy="768096"/>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9162288" y="2852928"/>
            <a:ext cx="1938528" cy="164592"/>
          </a:xfrm>
          <a:prstGeom prst="rect">
            <a:avLst/>
          </a:prstGeom>
          <a:noFill/>
        </p:spPr>
        <p:txBody>
          <a:bodyPr wrap="square" lIns="27432" rIns="27432" tIns="27432" bIns="27432" anchor="t">
            <a:spAutoFit/>
          </a:bodyPr>
          <a:lstStyle/>
          <a:p>
            <a:pPr algn="ctr"/>
            <a:r>
              <a:rPr sz="1000" b="1">
                <a:solidFill>
                  <a:srgbClr val="5F6B63"/>
                </a:solidFill>
                <a:latin typeface="Aptos"/>
              </a:rPr>
              <a:t>2024 LEAD VS NY</a:t>
            </a:r>
          </a:p>
        </p:txBody>
      </p:sp>
      <p:sp>
        <p:nvSpPr>
          <p:cNvPr id="119" name="TextBox 118"/>
          <p:cNvSpPr txBox="1"/>
          <p:nvPr/>
        </p:nvSpPr>
        <p:spPr>
          <a:xfrm>
            <a:off x="9162288" y="3054096"/>
            <a:ext cx="1938528" cy="347472"/>
          </a:xfrm>
          <a:prstGeom prst="rect">
            <a:avLst/>
          </a:prstGeom>
          <a:noFill/>
        </p:spPr>
        <p:txBody>
          <a:bodyPr wrap="square" lIns="27432" rIns="27432" tIns="27432" bIns="27432" anchor="ctr">
            <a:spAutoFit/>
          </a:bodyPr>
          <a:lstStyle/>
          <a:p>
            <a:pPr algn="ctr"/>
            <a:r>
              <a:rPr sz="1900" b="1">
                <a:solidFill>
                  <a:srgbClr val="355C47"/>
                </a:solidFill>
                <a:latin typeface="Aptos Display"/>
              </a:rPr>
              <a:t>$49.8M</a:t>
            </a:r>
          </a:p>
        </p:txBody>
      </p:sp>
      <p:sp>
        <p:nvSpPr>
          <p:cNvPr id="120" name="Rounded Rectangle 119"/>
          <p:cNvSpPr/>
          <p:nvPr/>
        </p:nvSpPr>
        <p:spPr>
          <a:xfrm>
            <a:off x="9034272" y="3639312"/>
            <a:ext cx="2194560" cy="768096"/>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9162288" y="3749040"/>
            <a:ext cx="1938528" cy="164592"/>
          </a:xfrm>
          <a:prstGeom prst="rect">
            <a:avLst/>
          </a:prstGeom>
          <a:noFill/>
        </p:spPr>
        <p:txBody>
          <a:bodyPr wrap="square" lIns="27432" rIns="27432" tIns="27432" bIns="27432" anchor="t">
            <a:spAutoFit/>
          </a:bodyPr>
          <a:lstStyle/>
          <a:p>
            <a:pPr algn="ctr"/>
            <a:r>
              <a:rPr sz="1000" b="1">
                <a:solidFill>
                  <a:srgbClr val="5F6B63"/>
                </a:solidFill>
                <a:latin typeface="Aptos"/>
              </a:rPr>
              <a:t>2025 H1 LEAD VS NY</a:t>
            </a:r>
          </a:p>
        </p:txBody>
      </p:sp>
      <p:sp>
        <p:nvSpPr>
          <p:cNvPr id="122" name="TextBox 121"/>
          <p:cNvSpPr txBox="1"/>
          <p:nvPr/>
        </p:nvSpPr>
        <p:spPr>
          <a:xfrm>
            <a:off x="9162288" y="3950208"/>
            <a:ext cx="1938528" cy="347472"/>
          </a:xfrm>
          <a:prstGeom prst="rect">
            <a:avLst/>
          </a:prstGeom>
          <a:noFill/>
        </p:spPr>
        <p:txBody>
          <a:bodyPr wrap="square" lIns="27432" rIns="27432" tIns="27432" bIns="27432" anchor="ctr">
            <a:spAutoFit/>
          </a:bodyPr>
          <a:lstStyle/>
          <a:p>
            <a:pPr algn="ctr"/>
            <a:r>
              <a:rPr sz="1900" b="1">
                <a:solidFill>
                  <a:srgbClr val="C58A2A"/>
                </a:solidFill>
                <a:latin typeface="Aptos Display"/>
              </a:rPr>
              <a:t>$22.5M</a:t>
            </a:r>
          </a:p>
        </p:txBody>
      </p:sp>
      <p:sp>
        <p:nvSpPr>
          <p:cNvPr id="123" name="TextBox 122"/>
          <p:cNvSpPr txBox="1"/>
          <p:nvPr/>
        </p:nvSpPr>
        <p:spPr>
          <a:xfrm>
            <a:off x="9034272" y="4663440"/>
            <a:ext cx="2148840" cy="530352"/>
          </a:xfrm>
          <a:prstGeom prst="rect">
            <a:avLst/>
          </a:prstGeom>
          <a:noFill/>
        </p:spPr>
        <p:txBody>
          <a:bodyPr wrap="square" lIns="27432" rIns="27432" tIns="27432" bIns="27432" anchor="t">
            <a:spAutoFit/>
          </a:bodyPr>
          <a:lstStyle/>
          <a:p>
            <a:pPr algn="l"/>
            <a:r>
              <a:rPr sz="1200" b="0">
                <a:solidFill>
                  <a:srgbClr val="1F2621"/>
                </a:solidFill>
                <a:latin typeface="Aptos"/>
              </a:rPr>
              <a:t>Q1 is already settled. The useful question is how concentrated that lead stays by product type.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55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46920" y="0"/>
            <a:ext cx="2542032" cy="73152"/>
          </a:xfrm>
          <a:prstGeom prst="rect">
            <a:avLst/>
          </a:prstGeom>
          <a:solidFill>
            <a:srgbClr val="C58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01168"/>
            <a:ext cx="1554480" cy="256032"/>
          </a:xfrm>
          <a:prstGeom prst="roundRect">
            <a:avLst/>
          </a:prstGeom>
          <a:solidFill>
            <a:srgbClr val="FCFAF5"/>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224028"/>
            <a:ext cx="1517904" cy="182880"/>
          </a:xfrm>
          <a:prstGeom prst="rect">
            <a:avLst/>
          </a:prstGeom>
          <a:noFill/>
        </p:spPr>
        <p:txBody>
          <a:bodyPr wrap="square" lIns="27432" rIns="27432" tIns="27432" bIns="27432" anchor="t">
            <a:spAutoFit/>
          </a:bodyPr>
          <a:lstStyle/>
          <a:p>
            <a:pPr algn="ctr"/>
            <a:r>
              <a:rPr sz="1000" b="1">
                <a:solidFill>
                  <a:srgbClr val="355C47"/>
                </a:solidFill>
                <a:latin typeface="Aptos"/>
              </a:rPr>
              <a:t>MARKET ANALYSIS</a:t>
            </a:r>
          </a:p>
        </p:txBody>
      </p:sp>
      <p:sp>
        <p:nvSpPr>
          <p:cNvPr id="7" name="Rounded Rectangle 6"/>
          <p:cNvSpPr/>
          <p:nvPr/>
        </p:nvSpPr>
        <p:spPr>
          <a:xfrm>
            <a:off x="2267712" y="201168"/>
            <a:ext cx="713232" cy="256032"/>
          </a:xfrm>
          <a:prstGeom prst="roundRect">
            <a:avLst/>
          </a:prstGeom>
          <a:solidFill>
            <a:srgbClr val="FFFDF9"/>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0" y="224028"/>
            <a:ext cx="676656" cy="182880"/>
          </a:xfrm>
          <a:prstGeom prst="rect">
            <a:avLst/>
          </a:prstGeom>
          <a:noFill/>
        </p:spPr>
        <p:txBody>
          <a:bodyPr wrap="square" lIns="27432" rIns="27432" tIns="27432" bIns="27432" anchor="t">
            <a:spAutoFit/>
          </a:bodyPr>
          <a:lstStyle/>
          <a:p>
            <a:pPr algn="ctr"/>
            <a:r>
              <a:rPr sz="1000" b="1">
                <a:solidFill>
                  <a:srgbClr val="C58A2A"/>
                </a:solidFill>
                <a:latin typeface="Aptos"/>
              </a:rPr>
              <a:t>Q1</a:t>
            </a:r>
          </a:p>
        </p:txBody>
      </p:sp>
      <p:sp>
        <p:nvSpPr>
          <p:cNvPr id="9" name="TextBox 8"/>
          <p:cNvSpPr txBox="1"/>
          <p:nvPr/>
        </p:nvSpPr>
        <p:spPr>
          <a:xfrm>
            <a:off x="11631168" y="6519672"/>
            <a:ext cx="274320" cy="164592"/>
          </a:xfrm>
          <a:prstGeom prst="rect">
            <a:avLst/>
          </a:prstGeom>
          <a:noFill/>
        </p:spPr>
        <p:txBody>
          <a:bodyPr wrap="square" lIns="27432" rIns="27432" tIns="27432" bIns="27432" anchor="t">
            <a:spAutoFit/>
          </a:bodyPr>
          <a:lstStyle/>
          <a:p>
            <a:pPr algn="r"/>
            <a:r>
              <a:rPr sz="900" b="0">
                <a:solidFill>
                  <a:srgbClr val="5F6B63"/>
                </a:solidFill>
                <a:latin typeface="Aptos"/>
              </a:rPr>
              <a:t>7</a:t>
            </a:r>
          </a:p>
        </p:txBody>
      </p:sp>
      <p:sp>
        <p:nvSpPr>
          <p:cNvPr id="10" name="TextBox 9"/>
          <p:cNvSpPr txBox="1"/>
          <p:nvPr/>
        </p:nvSpPr>
        <p:spPr>
          <a:xfrm>
            <a:off x="548640" y="658368"/>
            <a:ext cx="10332720" cy="868680"/>
          </a:xfrm>
          <a:prstGeom prst="rect">
            <a:avLst/>
          </a:prstGeom>
          <a:noFill/>
        </p:spPr>
        <p:txBody>
          <a:bodyPr wrap="square" lIns="27432" rIns="27432" tIns="27432" bIns="27432" anchor="t">
            <a:spAutoFit/>
          </a:bodyPr>
          <a:lstStyle/>
          <a:p>
            <a:pPr algn="l"/>
            <a:r>
              <a:rPr sz="2700" b="1">
                <a:solidFill>
                  <a:srgbClr val="355C47"/>
                </a:solidFill>
                <a:latin typeface="Aptos Display"/>
              </a:rPr>
              <a:t>Los Angeles leads organic sales, but not by much</a:t>
            </a:r>
          </a:p>
        </p:txBody>
      </p:sp>
      <p:sp>
        <p:nvSpPr>
          <p:cNvPr id="11" name="TextBox 10"/>
          <p:cNvSpPr txBox="1"/>
          <p:nvPr/>
        </p:nvSpPr>
        <p:spPr>
          <a:xfrm>
            <a:off x="548640" y="1078992"/>
            <a:ext cx="10241280" cy="320040"/>
          </a:xfrm>
          <a:prstGeom prst="rect">
            <a:avLst/>
          </a:prstGeom>
          <a:noFill/>
        </p:spPr>
        <p:txBody>
          <a:bodyPr wrap="square" lIns="27432" rIns="27432" tIns="27432" bIns="27432" anchor="t">
            <a:spAutoFit/>
          </a:bodyPr>
          <a:lstStyle/>
          <a:p>
            <a:pPr algn="l"/>
            <a:r>
              <a:rPr sz="1300" b="0">
                <a:solidFill>
                  <a:srgbClr val="5F6B63"/>
                </a:solidFill>
                <a:latin typeface="Aptos"/>
              </a:rPr>
              <a:t>The same city wins organic dollar sales, but the narrower gap shows why pilot choice can diverge from raw market size.</a:t>
            </a:r>
          </a:p>
        </p:txBody>
      </p:sp>
      <p:sp>
        <p:nvSpPr>
          <p:cNvPr id="12" name="Rounded Rectangle 11"/>
          <p:cNvSpPr/>
          <p:nvPr/>
        </p:nvSpPr>
        <p:spPr>
          <a:xfrm>
            <a:off x="713232" y="1645920"/>
            <a:ext cx="7818120" cy="4352544"/>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1572768" y="5248656"/>
            <a:ext cx="5513832" cy="0"/>
          </a:xfrm>
          <a:prstGeom prst="line">
            <a:avLst/>
          </a:prstGeom>
          <a:ln w="16510">
            <a:solidFill>
              <a:srgbClr val="D8D1C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572768" y="2414016"/>
            <a:ext cx="0" cy="2834640"/>
          </a:xfrm>
          <a:prstGeom prst="line">
            <a:avLst/>
          </a:prstGeom>
          <a:ln w="16510">
            <a:solidFill>
              <a:srgbClr val="D8D1C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572768" y="4539996"/>
            <a:ext cx="5513832" cy="0"/>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32688" y="4466844"/>
            <a:ext cx="530352" cy="128016"/>
          </a:xfrm>
          <a:prstGeom prst="rect">
            <a:avLst/>
          </a:prstGeom>
          <a:noFill/>
        </p:spPr>
        <p:txBody>
          <a:bodyPr wrap="square" lIns="27432" rIns="27432" tIns="27432" bIns="27432" anchor="t">
            <a:spAutoFit/>
          </a:bodyPr>
          <a:lstStyle/>
          <a:p>
            <a:pPr algn="r"/>
            <a:r>
              <a:rPr sz="800" b="0">
                <a:solidFill>
                  <a:srgbClr val="5F6B63"/>
                </a:solidFill>
                <a:latin typeface="Aptos"/>
              </a:rPr>
              <a:t>$5M</a:t>
            </a:r>
          </a:p>
        </p:txBody>
      </p:sp>
      <p:cxnSp>
        <p:nvCxnSpPr>
          <p:cNvPr id="17" name="Connector 16"/>
          <p:cNvCxnSpPr/>
          <p:nvPr/>
        </p:nvCxnSpPr>
        <p:spPr>
          <a:xfrm>
            <a:off x="1572768" y="3831336"/>
            <a:ext cx="5513832" cy="0"/>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932688" y="3758184"/>
            <a:ext cx="530352" cy="128016"/>
          </a:xfrm>
          <a:prstGeom prst="rect">
            <a:avLst/>
          </a:prstGeom>
          <a:noFill/>
        </p:spPr>
        <p:txBody>
          <a:bodyPr wrap="square" lIns="27432" rIns="27432" tIns="27432" bIns="27432" anchor="t">
            <a:spAutoFit/>
          </a:bodyPr>
          <a:lstStyle/>
          <a:p>
            <a:pPr algn="r"/>
            <a:r>
              <a:rPr sz="800" b="0">
                <a:solidFill>
                  <a:srgbClr val="5F6B63"/>
                </a:solidFill>
                <a:latin typeface="Aptos"/>
              </a:rPr>
              <a:t>$10M</a:t>
            </a:r>
          </a:p>
        </p:txBody>
      </p:sp>
      <p:cxnSp>
        <p:nvCxnSpPr>
          <p:cNvPr id="19" name="Connector 18"/>
          <p:cNvCxnSpPr/>
          <p:nvPr/>
        </p:nvCxnSpPr>
        <p:spPr>
          <a:xfrm>
            <a:off x="1572768" y="3122676"/>
            <a:ext cx="5513832" cy="0"/>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932688" y="3049524"/>
            <a:ext cx="530352" cy="128016"/>
          </a:xfrm>
          <a:prstGeom prst="rect">
            <a:avLst/>
          </a:prstGeom>
          <a:noFill/>
        </p:spPr>
        <p:txBody>
          <a:bodyPr wrap="square" lIns="27432" rIns="27432" tIns="27432" bIns="27432" anchor="t">
            <a:spAutoFit/>
          </a:bodyPr>
          <a:lstStyle/>
          <a:p>
            <a:pPr algn="r"/>
            <a:r>
              <a:rPr sz="800" b="0">
                <a:solidFill>
                  <a:srgbClr val="5F6B63"/>
                </a:solidFill>
                <a:latin typeface="Aptos"/>
              </a:rPr>
              <a:t>$15M</a:t>
            </a:r>
          </a:p>
        </p:txBody>
      </p:sp>
      <p:cxnSp>
        <p:nvCxnSpPr>
          <p:cNvPr id="21" name="Connector 20"/>
          <p:cNvCxnSpPr/>
          <p:nvPr/>
        </p:nvCxnSpPr>
        <p:spPr>
          <a:xfrm>
            <a:off x="1572768" y="2414016"/>
            <a:ext cx="5513832" cy="0"/>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32688" y="2340864"/>
            <a:ext cx="530352" cy="128016"/>
          </a:xfrm>
          <a:prstGeom prst="rect">
            <a:avLst/>
          </a:prstGeom>
          <a:noFill/>
        </p:spPr>
        <p:txBody>
          <a:bodyPr wrap="square" lIns="27432" rIns="27432" tIns="27432" bIns="27432" anchor="t">
            <a:spAutoFit/>
          </a:bodyPr>
          <a:lstStyle/>
          <a:p>
            <a:pPr algn="r"/>
            <a:r>
              <a:rPr sz="800" b="0">
                <a:solidFill>
                  <a:srgbClr val="5F6B63"/>
                </a:solidFill>
                <a:latin typeface="Aptos"/>
              </a:rPr>
              <a:t>$20M</a:t>
            </a:r>
          </a:p>
        </p:txBody>
      </p:sp>
      <p:sp>
        <p:nvSpPr>
          <p:cNvPr id="23" name="TextBox 22"/>
          <p:cNvSpPr txBox="1"/>
          <p:nvPr/>
        </p:nvSpPr>
        <p:spPr>
          <a:xfrm>
            <a:off x="932688" y="5175504"/>
            <a:ext cx="530352" cy="128016"/>
          </a:xfrm>
          <a:prstGeom prst="rect">
            <a:avLst/>
          </a:prstGeom>
          <a:noFill/>
        </p:spPr>
        <p:txBody>
          <a:bodyPr wrap="square" lIns="27432" rIns="27432" tIns="27432" bIns="27432" anchor="t">
            <a:spAutoFit/>
          </a:bodyPr>
          <a:lstStyle/>
          <a:p>
            <a:pPr algn="r"/>
            <a:r>
              <a:rPr sz="800" b="0">
                <a:solidFill>
                  <a:srgbClr val="5F6B63"/>
                </a:solidFill>
                <a:latin typeface="Aptos"/>
              </a:rPr>
              <a:t>$0M</a:t>
            </a:r>
          </a:p>
        </p:txBody>
      </p:sp>
      <p:sp>
        <p:nvSpPr>
          <p:cNvPr id="24" name="TextBox 23"/>
          <p:cNvSpPr txBox="1"/>
          <p:nvPr/>
        </p:nvSpPr>
        <p:spPr>
          <a:xfrm>
            <a:off x="914400" y="1975104"/>
            <a:ext cx="7269480" cy="146304"/>
          </a:xfrm>
          <a:prstGeom prst="rect">
            <a:avLst/>
          </a:prstGeom>
          <a:noFill/>
        </p:spPr>
        <p:txBody>
          <a:bodyPr wrap="square" lIns="27432" rIns="27432" tIns="27432" bIns="27432" anchor="t">
            <a:spAutoFit/>
          </a:bodyPr>
          <a:lstStyle/>
          <a:p>
            <a:pPr algn="l"/>
            <a:r>
              <a:rPr sz="1000" b="1">
                <a:solidFill>
                  <a:srgbClr val="5F6B63"/>
                </a:solidFill>
                <a:latin typeface="Aptos"/>
              </a:rPr>
              <a:t>TOP 5 ORGANIC REVENUE TREND</a:t>
            </a:r>
          </a:p>
        </p:txBody>
      </p:sp>
      <p:sp>
        <p:nvSpPr>
          <p:cNvPr id="25" name="TextBox 24"/>
          <p:cNvSpPr txBox="1"/>
          <p:nvPr/>
        </p:nvSpPr>
        <p:spPr>
          <a:xfrm>
            <a:off x="896112" y="3771900"/>
            <a:ext cx="384048" cy="256032"/>
          </a:xfrm>
          <a:prstGeom prst="rect">
            <a:avLst/>
          </a:prstGeom>
          <a:noFill/>
        </p:spPr>
        <p:txBody>
          <a:bodyPr wrap="square" lIns="27432" rIns="27432" tIns="27432" bIns="27432" anchor="t">
            <a:spAutoFit/>
          </a:bodyPr>
          <a:lstStyle/>
          <a:p>
            <a:pPr algn="ctr"/>
            <a:r>
              <a:rPr sz="900" b="0">
                <a:solidFill>
                  <a:srgbClr val="5F6B63"/>
                </a:solidFill>
                <a:latin typeface="Aptos"/>
              </a:rPr>
              <a:t>$M</a:t>
            </a:r>
          </a:p>
        </p:txBody>
      </p:sp>
      <p:sp>
        <p:nvSpPr>
          <p:cNvPr id="26" name="TextBox 25"/>
          <p:cNvSpPr txBox="1"/>
          <p:nvPr/>
        </p:nvSpPr>
        <p:spPr>
          <a:xfrm>
            <a:off x="1572768" y="2157984"/>
            <a:ext cx="1234440" cy="146304"/>
          </a:xfrm>
          <a:prstGeom prst="rect">
            <a:avLst/>
          </a:prstGeom>
          <a:noFill/>
        </p:spPr>
        <p:txBody>
          <a:bodyPr wrap="square" lIns="27432" rIns="27432" tIns="27432" bIns="27432" anchor="t">
            <a:spAutoFit/>
          </a:bodyPr>
          <a:lstStyle/>
          <a:p>
            <a:pPr algn="l"/>
            <a:r>
              <a:rPr sz="1000" b="1">
                <a:solidFill>
                  <a:srgbClr val="3F728A"/>
                </a:solidFill>
                <a:latin typeface="Aptos"/>
              </a:rPr>
              <a:t>LOS ANGELES</a:t>
            </a:r>
          </a:p>
        </p:txBody>
      </p:sp>
      <p:sp>
        <p:nvSpPr>
          <p:cNvPr id="27" name="Oval 26"/>
          <p:cNvSpPr/>
          <p:nvPr/>
        </p:nvSpPr>
        <p:spPr>
          <a:xfrm>
            <a:off x="1517904" y="3908484"/>
            <a:ext cx="109728" cy="109728"/>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Connector 27"/>
          <p:cNvCxnSpPr/>
          <p:nvPr/>
        </p:nvCxnSpPr>
        <p:spPr>
          <a:xfrm flipV="1">
            <a:off x="1572768" y="3560880"/>
            <a:ext cx="918972" cy="402468"/>
          </a:xfrm>
          <a:prstGeom prst="line">
            <a:avLst/>
          </a:prstGeom>
          <a:ln w="24130">
            <a:solidFill>
              <a:srgbClr val="3F728A"/>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2436876" y="3506016"/>
            <a:ext cx="109728" cy="109728"/>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flipV="1">
            <a:off x="2491740" y="3447575"/>
            <a:ext cx="918972" cy="113305"/>
          </a:xfrm>
          <a:prstGeom prst="line">
            <a:avLst/>
          </a:prstGeom>
          <a:ln w="24130">
            <a:solidFill>
              <a:srgbClr val="3F728A"/>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3355848" y="3392711"/>
            <a:ext cx="109728" cy="109728"/>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2" name="Connector 31"/>
          <p:cNvCxnSpPr/>
          <p:nvPr/>
        </p:nvCxnSpPr>
        <p:spPr>
          <a:xfrm>
            <a:off x="3410712" y="3447575"/>
            <a:ext cx="918972" cy="128260"/>
          </a:xfrm>
          <a:prstGeom prst="line">
            <a:avLst/>
          </a:prstGeom>
          <a:ln w="24130">
            <a:solidFill>
              <a:srgbClr val="3F728A"/>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4274820" y="3520971"/>
            <a:ext cx="109728" cy="109728"/>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4329684" y="3575835"/>
            <a:ext cx="918972" cy="82947"/>
          </a:xfrm>
          <a:prstGeom prst="line">
            <a:avLst/>
          </a:prstGeom>
          <a:ln w="24130">
            <a:solidFill>
              <a:srgbClr val="3F728A"/>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5193792" y="3603918"/>
            <a:ext cx="109728" cy="109728"/>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flipV="1">
            <a:off x="5248656" y="3085010"/>
            <a:ext cx="918972" cy="573772"/>
          </a:xfrm>
          <a:prstGeom prst="line">
            <a:avLst/>
          </a:prstGeom>
          <a:ln w="24130">
            <a:solidFill>
              <a:srgbClr val="3F728A"/>
            </a:solidFill>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6112764" y="3030146"/>
            <a:ext cx="109728" cy="109728"/>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8" name="Connector 37"/>
          <p:cNvCxnSpPr/>
          <p:nvPr/>
        </p:nvCxnSpPr>
        <p:spPr>
          <a:xfrm>
            <a:off x="6167628" y="3085010"/>
            <a:ext cx="918972" cy="1009223"/>
          </a:xfrm>
          <a:prstGeom prst="line">
            <a:avLst/>
          </a:prstGeom>
          <a:ln w="27940">
            <a:solidFill>
              <a:srgbClr val="3F728A"/>
            </a:solidFill>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7031736" y="4039369"/>
            <a:ext cx="109728" cy="109728"/>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898648" y="2157984"/>
            <a:ext cx="1234440" cy="146304"/>
          </a:xfrm>
          <a:prstGeom prst="rect">
            <a:avLst/>
          </a:prstGeom>
          <a:noFill/>
        </p:spPr>
        <p:txBody>
          <a:bodyPr wrap="square" lIns="27432" rIns="27432" tIns="27432" bIns="27432" anchor="t">
            <a:spAutoFit/>
          </a:bodyPr>
          <a:lstStyle/>
          <a:p>
            <a:pPr algn="l"/>
            <a:r>
              <a:rPr sz="1000" b="1">
                <a:solidFill>
                  <a:srgbClr val="355C47"/>
                </a:solidFill>
                <a:latin typeface="Aptos"/>
              </a:rPr>
              <a:t>NEW YORK</a:t>
            </a:r>
          </a:p>
        </p:txBody>
      </p:sp>
      <p:sp>
        <p:nvSpPr>
          <p:cNvPr id="41" name="Oval 40"/>
          <p:cNvSpPr/>
          <p:nvPr/>
        </p:nvSpPr>
        <p:spPr>
          <a:xfrm>
            <a:off x="1517904" y="3939015"/>
            <a:ext cx="109728" cy="109728"/>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 name="Connector 41"/>
          <p:cNvCxnSpPr/>
          <p:nvPr/>
        </p:nvCxnSpPr>
        <p:spPr>
          <a:xfrm flipV="1">
            <a:off x="1572768" y="3944964"/>
            <a:ext cx="918972" cy="48915"/>
          </a:xfrm>
          <a:prstGeom prst="line">
            <a:avLst/>
          </a:prstGeom>
          <a:ln w="24130">
            <a:solidFill>
              <a:srgbClr val="355C47"/>
            </a:solidFill>
          </a:ln>
        </p:spPr>
        <p:style>
          <a:lnRef idx="2">
            <a:schemeClr val="accent1"/>
          </a:lnRef>
          <a:fillRef idx="0">
            <a:schemeClr val="accent1"/>
          </a:fillRef>
          <a:effectRef idx="1">
            <a:schemeClr val="accent1"/>
          </a:effectRef>
          <a:fontRef idx="minor">
            <a:schemeClr val="tx1"/>
          </a:fontRef>
        </p:style>
      </p:cxnSp>
      <p:sp>
        <p:nvSpPr>
          <p:cNvPr id="43" name="Oval 42"/>
          <p:cNvSpPr/>
          <p:nvPr/>
        </p:nvSpPr>
        <p:spPr>
          <a:xfrm>
            <a:off x="2436876" y="3890100"/>
            <a:ext cx="109728" cy="109728"/>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4" name="Connector 43"/>
          <p:cNvCxnSpPr/>
          <p:nvPr/>
        </p:nvCxnSpPr>
        <p:spPr>
          <a:xfrm flipV="1">
            <a:off x="2491740" y="3891521"/>
            <a:ext cx="918972" cy="53443"/>
          </a:xfrm>
          <a:prstGeom prst="line">
            <a:avLst/>
          </a:prstGeom>
          <a:ln w="24130">
            <a:solidFill>
              <a:srgbClr val="355C47"/>
            </a:solidFill>
          </a:ln>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3355848" y="3836657"/>
            <a:ext cx="109728" cy="109728"/>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6" name="Connector 45"/>
          <p:cNvCxnSpPr/>
          <p:nvPr/>
        </p:nvCxnSpPr>
        <p:spPr>
          <a:xfrm>
            <a:off x="3410712" y="3891521"/>
            <a:ext cx="918972" cy="19788"/>
          </a:xfrm>
          <a:prstGeom prst="line">
            <a:avLst/>
          </a:prstGeom>
          <a:ln w="24130">
            <a:solidFill>
              <a:srgbClr val="355C47"/>
            </a:solidFill>
          </a:ln>
        </p:spPr>
        <p:style>
          <a:lnRef idx="2">
            <a:schemeClr val="accent1"/>
          </a:lnRef>
          <a:fillRef idx="0">
            <a:schemeClr val="accent1"/>
          </a:fillRef>
          <a:effectRef idx="1">
            <a:schemeClr val="accent1"/>
          </a:effectRef>
          <a:fontRef idx="minor">
            <a:schemeClr val="tx1"/>
          </a:fontRef>
        </p:style>
      </p:cxnSp>
      <p:sp>
        <p:nvSpPr>
          <p:cNvPr id="47" name="Oval 46"/>
          <p:cNvSpPr/>
          <p:nvPr/>
        </p:nvSpPr>
        <p:spPr>
          <a:xfrm>
            <a:off x="4274820" y="3856445"/>
            <a:ext cx="109728" cy="109728"/>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8" name="Connector 47"/>
          <p:cNvCxnSpPr/>
          <p:nvPr/>
        </p:nvCxnSpPr>
        <p:spPr>
          <a:xfrm>
            <a:off x="4329684" y="3911309"/>
            <a:ext cx="918972" cy="13311"/>
          </a:xfrm>
          <a:prstGeom prst="line">
            <a:avLst/>
          </a:prstGeom>
          <a:ln w="24130">
            <a:solidFill>
              <a:srgbClr val="355C47"/>
            </a:solidFill>
          </a:ln>
        </p:spPr>
        <p:style>
          <a:lnRef idx="2">
            <a:schemeClr val="accent1"/>
          </a:lnRef>
          <a:fillRef idx="0">
            <a:schemeClr val="accent1"/>
          </a:fillRef>
          <a:effectRef idx="1">
            <a:schemeClr val="accent1"/>
          </a:effectRef>
          <a:fontRef idx="minor">
            <a:schemeClr val="tx1"/>
          </a:fontRef>
        </p:style>
      </p:cxnSp>
      <p:sp>
        <p:nvSpPr>
          <p:cNvPr id="49" name="Oval 48"/>
          <p:cNvSpPr/>
          <p:nvPr/>
        </p:nvSpPr>
        <p:spPr>
          <a:xfrm>
            <a:off x="5193792" y="3869756"/>
            <a:ext cx="109728" cy="109728"/>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0" name="Connector 49"/>
          <p:cNvCxnSpPr/>
          <p:nvPr/>
        </p:nvCxnSpPr>
        <p:spPr>
          <a:xfrm flipV="1">
            <a:off x="5248656" y="3467543"/>
            <a:ext cx="918972" cy="457077"/>
          </a:xfrm>
          <a:prstGeom prst="line">
            <a:avLst/>
          </a:prstGeom>
          <a:ln w="24130">
            <a:solidFill>
              <a:srgbClr val="355C47"/>
            </a:solidFill>
          </a:ln>
        </p:spPr>
        <p:style>
          <a:lnRef idx="2">
            <a:schemeClr val="accent1"/>
          </a:lnRef>
          <a:fillRef idx="0">
            <a:schemeClr val="accent1"/>
          </a:fillRef>
          <a:effectRef idx="1">
            <a:schemeClr val="accent1"/>
          </a:effectRef>
          <a:fontRef idx="minor">
            <a:schemeClr val="tx1"/>
          </a:fontRef>
        </p:style>
      </p:cxnSp>
      <p:sp>
        <p:nvSpPr>
          <p:cNvPr id="51" name="Oval 50"/>
          <p:cNvSpPr/>
          <p:nvPr/>
        </p:nvSpPr>
        <p:spPr>
          <a:xfrm>
            <a:off x="6112764" y="3412679"/>
            <a:ext cx="109728" cy="109728"/>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 name="Connector 51"/>
          <p:cNvCxnSpPr/>
          <p:nvPr/>
        </p:nvCxnSpPr>
        <p:spPr>
          <a:xfrm>
            <a:off x="6167628" y="3467543"/>
            <a:ext cx="918972" cy="720241"/>
          </a:xfrm>
          <a:prstGeom prst="line">
            <a:avLst/>
          </a:prstGeom>
          <a:ln w="27940">
            <a:solidFill>
              <a:srgbClr val="355C47"/>
            </a:solidFill>
          </a:ln>
        </p:spPr>
        <p:style>
          <a:lnRef idx="2">
            <a:schemeClr val="accent1"/>
          </a:lnRef>
          <a:fillRef idx="0">
            <a:schemeClr val="accent1"/>
          </a:fillRef>
          <a:effectRef idx="1">
            <a:schemeClr val="accent1"/>
          </a:effectRef>
          <a:fontRef idx="minor">
            <a:schemeClr val="tx1"/>
          </a:fontRef>
        </p:style>
      </p:cxnSp>
      <p:sp>
        <p:nvSpPr>
          <p:cNvPr id="53" name="Oval 52"/>
          <p:cNvSpPr/>
          <p:nvPr/>
        </p:nvSpPr>
        <p:spPr>
          <a:xfrm>
            <a:off x="7031736" y="4132920"/>
            <a:ext cx="109728" cy="109728"/>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224528" y="2157984"/>
            <a:ext cx="1234440" cy="146304"/>
          </a:xfrm>
          <a:prstGeom prst="rect">
            <a:avLst/>
          </a:prstGeom>
          <a:noFill/>
        </p:spPr>
        <p:txBody>
          <a:bodyPr wrap="square" lIns="27432" rIns="27432" tIns="27432" bIns="27432" anchor="t">
            <a:spAutoFit/>
          </a:bodyPr>
          <a:lstStyle/>
          <a:p>
            <a:pPr algn="l"/>
            <a:r>
              <a:rPr sz="1000" b="1">
                <a:solidFill>
                  <a:srgbClr val="C58A2A"/>
                </a:solidFill>
                <a:latin typeface="Aptos"/>
              </a:rPr>
              <a:t>SEATTLE</a:t>
            </a:r>
          </a:p>
        </p:txBody>
      </p:sp>
      <p:sp>
        <p:nvSpPr>
          <p:cNvPr id="55" name="Oval 54"/>
          <p:cNvSpPr/>
          <p:nvPr/>
        </p:nvSpPr>
        <p:spPr>
          <a:xfrm>
            <a:off x="1517904" y="4274610"/>
            <a:ext cx="109728" cy="109728"/>
          </a:xfrm>
          <a:prstGeom prst="ellipse">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6" name="Connector 55"/>
          <p:cNvCxnSpPr/>
          <p:nvPr/>
        </p:nvCxnSpPr>
        <p:spPr>
          <a:xfrm flipV="1">
            <a:off x="1572768" y="4286393"/>
            <a:ext cx="918972" cy="43081"/>
          </a:xfrm>
          <a:prstGeom prst="line">
            <a:avLst/>
          </a:prstGeom>
          <a:ln w="24130">
            <a:solidFill>
              <a:srgbClr val="C58A2A"/>
            </a:solidFill>
          </a:ln>
        </p:spPr>
        <p:style>
          <a:lnRef idx="2">
            <a:schemeClr val="accent1"/>
          </a:lnRef>
          <a:fillRef idx="0">
            <a:schemeClr val="accent1"/>
          </a:fillRef>
          <a:effectRef idx="1">
            <a:schemeClr val="accent1"/>
          </a:effectRef>
          <a:fontRef idx="minor">
            <a:schemeClr val="tx1"/>
          </a:fontRef>
        </p:style>
      </p:cxnSp>
      <p:sp>
        <p:nvSpPr>
          <p:cNvPr id="57" name="Oval 56"/>
          <p:cNvSpPr/>
          <p:nvPr/>
        </p:nvSpPr>
        <p:spPr>
          <a:xfrm>
            <a:off x="2436876" y="4231529"/>
            <a:ext cx="109728" cy="109728"/>
          </a:xfrm>
          <a:prstGeom prst="ellipse">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Connector 57"/>
          <p:cNvCxnSpPr/>
          <p:nvPr/>
        </p:nvCxnSpPr>
        <p:spPr>
          <a:xfrm>
            <a:off x="2491740" y="4286393"/>
            <a:ext cx="918972" cy="34866"/>
          </a:xfrm>
          <a:prstGeom prst="line">
            <a:avLst/>
          </a:prstGeom>
          <a:ln w="24130">
            <a:solidFill>
              <a:srgbClr val="C58A2A"/>
            </a:solidFill>
          </a:ln>
        </p:spPr>
        <p:style>
          <a:lnRef idx="2">
            <a:schemeClr val="accent1"/>
          </a:lnRef>
          <a:fillRef idx="0">
            <a:schemeClr val="accent1"/>
          </a:fillRef>
          <a:effectRef idx="1">
            <a:schemeClr val="accent1"/>
          </a:effectRef>
          <a:fontRef idx="minor">
            <a:schemeClr val="tx1"/>
          </a:fontRef>
        </p:style>
      </p:cxnSp>
      <p:sp>
        <p:nvSpPr>
          <p:cNvPr id="59" name="Oval 58"/>
          <p:cNvSpPr/>
          <p:nvPr/>
        </p:nvSpPr>
        <p:spPr>
          <a:xfrm>
            <a:off x="3355848" y="4266395"/>
            <a:ext cx="109728" cy="109728"/>
          </a:xfrm>
          <a:prstGeom prst="ellipse">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0" name="Connector 59"/>
          <p:cNvCxnSpPr/>
          <p:nvPr/>
        </p:nvCxnSpPr>
        <p:spPr>
          <a:xfrm flipV="1">
            <a:off x="3410712" y="4251501"/>
            <a:ext cx="918972" cy="69758"/>
          </a:xfrm>
          <a:prstGeom prst="line">
            <a:avLst/>
          </a:prstGeom>
          <a:ln w="24130">
            <a:solidFill>
              <a:srgbClr val="C58A2A"/>
            </a:solidFill>
          </a:ln>
        </p:spPr>
        <p:style>
          <a:lnRef idx="2">
            <a:schemeClr val="accent1"/>
          </a:lnRef>
          <a:fillRef idx="0">
            <a:schemeClr val="accent1"/>
          </a:fillRef>
          <a:effectRef idx="1">
            <a:schemeClr val="accent1"/>
          </a:effectRef>
          <a:fontRef idx="minor">
            <a:schemeClr val="tx1"/>
          </a:fontRef>
        </p:style>
      </p:cxnSp>
      <p:sp>
        <p:nvSpPr>
          <p:cNvPr id="61" name="Oval 60"/>
          <p:cNvSpPr/>
          <p:nvPr/>
        </p:nvSpPr>
        <p:spPr>
          <a:xfrm>
            <a:off x="4274820" y="4196637"/>
            <a:ext cx="109728" cy="109728"/>
          </a:xfrm>
          <a:prstGeom prst="ellipse">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2" name="Connector 61"/>
          <p:cNvCxnSpPr/>
          <p:nvPr/>
        </p:nvCxnSpPr>
        <p:spPr>
          <a:xfrm flipV="1">
            <a:off x="4329684" y="4218647"/>
            <a:ext cx="918972" cy="32854"/>
          </a:xfrm>
          <a:prstGeom prst="line">
            <a:avLst/>
          </a:prstGeom>
          <a:ln w="24130">
            <a:solidFill>
              <a:srgbClr val="C58A2A"/>
            </a:solidFill>
          </a:ln>
        </p:spPr>
        <p:style>
          <a:lnRef idx="2">
            <a:schemeClr val="accent1"/>
          </a:lnRef>
          <a:fillRef idx="0">
            <a:schemeClr val="accent1"/>
          </a:fillRef>
          <a:effectRef idx="1">
            <a:schemeClr val="accent1"/>
          </a:effectRef>
          <a:fontRef idx="minor">
            <a:schemeClr val="tx1"/>
          </a:fontRef>
        </p:style>
      </p:cxnSp>
      <p:sp>
        <p:nvSpPr>
          <p:cNvPr id="63" name="Oval 62"/>
          <p:cNvSpPr/>
          <p:nvPr/>
        </p:nvSpPr>
        <p:spPr>
          <a:xfrm>
            <a:off x="5193792" y="4163783"/>
            <a:ext cx="109728" cy="109728"/>
          </a:xfrm>
          <a:prstGeom prst="ellipse">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4" name="Connector 63"/>
          <p:cNvCxnSpPr/>
          <p:nvPr/>
        </p:nvCxnSpPr>
        <p:spPr>
          <a:xfrm flipV="1">
            <a:off x="5248656" y="3986487"/>
            <a:ext cx="918972" cy="232160"/>
          </a:xfrm>
          <a:prstGeom prst="line">
            <a:avLst/>
          </a:prstGeom>
          <a:ln w="24130">
            <a:solidFill>
              <a:srgbClr val="C58A2A"/>
            </a:solidFill>
          </a:ln>
        </p:spPr>
        <p:style>
          <a:lnRef idx="2">
            <a:schemeClr val="accent1"/>
          </a:lnRef>
          <a:fillRef idx="0">
            <a:schemeClr val="accent1"/>
          </a:fillRef>
          <a:effectRef idx="1">
            <a:schemeClr val="accent1"/>
          </a:effectRef>
          <a:fontRef idx="minor">
            <a:schemeClr val="tx1"/>
          </a:fontRef>
        </p:style>
      </p:cxnSp>
      <p:sp>
        <p:nvSpPr>
          <p:cNvPr id="65" name="Oval 64"/>
          <p:cNvSpPr/>
          <p:nvPr/>
        </p:nvSpPr>
        <p:spPr>
          <a:xfrm>
            <a:off x="6112764" y="3931623"/>
            <a:ext cx="109728" cy="109728"/>
          </a:xfrm>
          <a:prstGeom prst="ellipse">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6" name="Connector 65"/>
          <p:cNvCxnSpPr/>
          <p:nvPr/>
        </p:nvCxnSpPr>
        <p:spPr>
          <a:xfrm>
            <a:off x="6167628" y="3986487"/>
            <a:ext cx="918972" cy="672809"/>
          </a:xfrm>
          <a:prstGeom prst="line">
            <a:avLst/>
          </a:prstGeom>
          <a:ln w="27940">
            <a:solidFill>
              <a:srgbClr val="C58A2A"/>
            </a:solidFill>
          </a:ln>
        </p:spPr>
        <p:style>
          <a:lnRef idx="2">
            <a:schemeClr val="accent1"/>
          </a:lnRef>
          <a:fillRef idx="0">
            <a:schemeClr val="accent1"/>
          </a:fillRef>
          <a:effectRef idx="1">
            <a:schemeClr val="accent1"/>
          </a:effectRef>
          <a:fontRef idx="minor">
            <a:schemeClr val="tx1"/>
          </a:fontRef>
        </p:style>
      </p:cxnSp>
      <p:sp>
        <p:nvSpPr>
          <p:cNvPr id="67" name="Oval 66"/>
          <p:cNvSpPr/>
          <p:nvPr/>
        </p:nvSpPr>
        <p:spPr>
          <a:xfrm>
            <a:off x="7031736" y="4604432"/>
            <a:ext cx="109728" cy="109728"/>
          </a:xfrm>
          <a:prstGeom prst="ellipse">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550408" y="2157984"/>
            <a:ext cx="1234440" cy="146304"/>
          </a:xfrm>
          <a:prstGeom prst="rect">
            <a:avLst/>
          </a:prstGeom>
          <a:noFill/>
        </p:spPr>
        <p:txBody>
          <a:bodyPr wrap="square" lIns="27432" rIns="27432" tIns="27432" bIns="27432" anchor="t">
            <a:spAutoFit/>
          </a:bodyPr>
          <a:lstStyle/>
          <a:p>
            <a:pPr algn="l"/>
            <a:r>
              <a:rPr sz="1000" b="1">
                <a:solidFill>
                  <a:srgbClr val="889A83"/>
                </a:solidFill>
                <a:latin typeface="Aptos"/>
              </a:rPr>
              <a:t>SAN FRAN</a:t>
            </a:r>
          </a:p>
        </p:txBody>
      </p:sp>
      <p:sp>
        <p:nvSpPr>
          <p:cNvPr id="69" name="Oval 68"/>
          <p:cNvSpPr/>
          <p:nvPr/>
        </p:nvSpPr>
        <p:spPr>
          <a:xfrm>
            <a:off x="1517904" y="4509156"/>
            <a:ext cx="109728" cy="109728"/>
          </a:xfrm>
          <a:prstGeom prst="ellipse">
            <a:avLst/>
          </a:prstGeom>
          <a:solidFill>
            <a:srgbClr val="889A83"/>
          </a:solidFill>
          <a:ln>
            <a:solidFill>
              <a:srgbClr val="889A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0" name="Connector 69"/>
          <p:cNvCxnSpPr/>
          <p:nvPr/>
        </p:nvCxnSpPr>
        <p:spPr>
          <a:xfrm flipV="1">
            <a:off x="1572768" y="4301658"/>
            <a:ext cx="918972" cy="262362"/>
          </a:xfrm>
          <a:prstGeom prst="line">
            <a:avLst/>
          </a:prstGeom>
          <a:ln w="24130">
            <a:solidFill>
              <a:srgbClr val="889A83"/>
            </a:solidFill>
          </a:ln>
        </p:spPr>
        <p:style>
          <a:lnRef idx="2">
            <a:schemeClr val="accent1"/>
          </a:lnRef>
          <a:fillRef idx="0">
            <a:schemeClr val="accent1"/>
          </a:fillRef>
          <a:effectRef idx="1">
            <a:schemeClr val="accent1"/>
          </a:effectRef>
          <a:fontRef idx="minor">
            <a:schemeClr val="tx1"/>
          </a:fontRef>
        </p:style>
      </p:cxnSp>
      <p:sp>
        <p:nvSpPr>
          <p:cNvPr id="71" name="Oval 70"/>
          <p:cNvSpPr/>
          <p:nvPr/>
        </p:nvSpPr>
        <p:spPr>
          <a:xfrm>
            <a:off x="2436876" y="4246794"/>
            <a:ext cx="109728" cy="109728"/>
          </a:xfrm>
          <a:prstGeom prst="ellipse">
            <a:avLst/>
          </a:prstGeom>
          <a:solidFill>
            <a:srgbClr val="889A83"/>
          </a:solidFill>
          <a:ln>
            <a:solidFill>
              <a:srgbClr val="889A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2" name="Connector 71"/>
          <p:cNvCxnSpPr/>
          <p:nvPr/>
        </p:nvCxnSpPr>
        <p:spPr>
          <a:xfrm flipV="1">
            <a:off x="2491740" y="4175509"/>
            <a:ext cx="918972" cy="126149"/>
          </a:xfrm>
          <a:prstGeom prst="line">
            <a:avLst/>
          </a:prstGeom>
          <a:ln w="24130">
            <a:solidFill>
              <a:srgbClr val="889A83"/>
            </a:solidFill>
          </a:ln>
        </p:spPr>
        <p:style>
          <a:lnRef idx="2">
            <a:schemeClr val="accent1"/>
          </a:lnRef>
          <a:fillRef idx="0">
            <a:schemeClr val="accent1"/>
          </a:fillRef>
          <a:effectRef idx="1">
            <a:schemeClr val="accent1"/>
          </a:effectRef>
          <a:fontRef idx="minor">
            <a:schemeClr val="tx1"/>
          </a:fontRef>
        </p:style>
      </p:cxnSp>
      <p:sp>
        <p:nvSpPr>
          <p:cNvPr id="73" name="Oval 72"/>
          <p:cNvSpPr/>
          <p:nvPr/>
        </p:nvSpPr>
        <p:spPr>
          <a:xfrm>
            <a:off x="3355848" y="4120645"/>
            <a:ext cx="109728" cy="109728"/>
          </a:xfrm>
          <a:prstGeom prst="ellipse">
            <a:avLst/>
          </a:prstGeom>
          <a:solidFill>
            <a:srgbClr val="889A83"/>
          </a:solidFill>
          <a:ln>
            <a:solidFill>
              <a:srgbClr val="889A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4" name="Connector 73"/>
          <p:cNvCxnSpPr/>
          <p:nvPr/>
        </p:nvCxnSpPr>
        <p:spPr>
          <a:xfrm>
            <a:off x="3410712" y="4175509"/>
            <a:ext cx="918972" cy="23725"/>
          </a:xfrm>
          <a:prstGeom prst="line">
            <a:avLst/>
          </a:prstGeom>
          <a:ln w="24130">
            <a:solidFill>
              <a:srgbClr val="889A83"/>
            </a:solidFill>
          </a:ln>
        </p:spPr>
        <p:style>
          <a:lnRef idx="2">
            <a:schemeClr val="accent1"/>
          </a:lnRef>
          <a:fillRef idx="0">
            <a:schemeClr val="accent1"/>
          </a:fillRef>
          <a:effectRef idx="1">
            <a:schemeClr val="accent1"/>
          </a:effectRef>
          <a:fontRef idx="minor">
            <a:schemeClr val="tx1"/>
          </a:fontRef>
        </p:style>
      </p:cxnSp>
      <p:sp>
        <p:nvSpPr>
          <p:cNvPr id="75" name="Oval 74"/>
          <p:cNvSpPr/>
          <p:nvPr/>
        </p:nvSpPr>
        <p:spPr>
          <a:xfrm>
            <a:off x="4274820" y="4144370"/>
            <a:ext cx="109728" cy="109728"/>
          </a:xfrm>
          <a:prstGeom prst="ellipse">
            <a:avLst/>
          </a:prstGeom>
          <a:solidFill>
            <a:srgbClr val="889A83"/>
          </a:solidFill>
          <a:ln>
            <a:solidFill>
              <a:srgbClr val="889A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6" name="Connector 75"/>
          <p:cNvCxnSpPr/>
          <p:nvPr/>
        </p:nvCxnSpPr>
        <p:spPr>
          <a:xfrm>
            <a:off x="4329684" y="4199234"/>
            <a:ext cx="918972" cy="184705"/>
          </a:xfrm>
          <a:prstGeom prst="line">
            <a:avLst/>
          </a:prstGeom>
          <a:ln w="24130">
            <a:solidFill>
              <a:srgbClr val="889A83"/>
            </a:solidFill>
          </a:ln>
        </p:spPr>
        <p:style>
          <a:lnRef idx="2">
            <a:schemeClr val="accent1"/>
          </a:lnRef>
          <a:fillRef idx="0">
            <a:schemeClr val="accent1"/>
          </a:fillRef>
          <a:effectRef idx="1">
            <a:schemeClr val="accent1"/>
          </a:effectRef>
          <a:fontRef idx="minor">
            <a:schemeClr val="tx1"/>
          </a:fontRef>
        </p:style>
      </p:cxnSp>
      <p:sp>
        <p:nvSpPr>
          <p:cNvPr id="77" name="Oval 76"/>
          <p:cNvSpPr/>
          <p:nvPr/>
        </p:nvSpPr>
        <p:spPr>
          <a:xfrm>
            <a:off x="5193792" y="4329075"/>
            <a:ext cx="109728" cy="109728"/>
          </a:xfrm>
          <a:prstGeom prst="ellipse">
            <a:avLst/>
          </a:prstGeom>
          <a:solidFill>
            <a:srgbClr val="889A83"/>
          </a:solidFill>
          <a:ln>
            <a:solidFill>
              <a:srgbClr val="889A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8" name="Connector 77"/>
          <p:cNvCxnSpPr/>
          <p:nvPr/>
        </p:nvCxnSpPr>
        <p:spPr>
          <a:xfrm>
            <a:off x="5248656" y="4383939"/>
            <a:ext cx="918972" cy="37446"/>
          </a:xfrm>
          <a:prstGeom prst="line">
            <a:avLst/>
          </a:prstGeom>
          <a:ln w="24130">
            <a:solidFill>
              <a:srgbClr val="889A83"/>
            </a:solidFill>
          </a:ln>
        </p:spPr>
        <p:style>
          <a:lnRef idx="2">
            <a:schemeClr val="accent1"/>
          </a:lnRef>
          <a:fillRef idx="0">
            <a:schemeClr val="accent1"/>
          </a:fillRef>
          <a:effectRef idx="1">
            <a:schemeClr val="accent1"/>
          </a:effectRef>
          <a:fontRef idx="minor">
            <a:schemeClr val="tx1"/>
          </a:fontRef>
        </p:style>
      </p:cxnSp>
      <p:sp>
        <p:nvSpPr>
          <p:cNvPr id="79" name="Oval 78"/>
          <p:cNvSpPr/>
          <p:nvPr/>
        </p:nvSpPr>
        <p:spPr>
          <a:xfrm>
            <a:off x="6112764" y="4366521"/>
            <a:ext cx="109728" cy="109728"/>
          </a:xfrm>
          <a:prstGeom prst="ellipse">
            <a:avLst/>
          </a:prstGeom>
          <a:solidFill>
            <a:srgbClr val="889A83"/>
          </a:solidFill>
          <a:ln>
            <a:solidFill>
              <a:srgbClr val="889A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0" name="Connector 79"/>
          <p:cNvCxnSpPr/>
          <p:nvPr/>
        </p:nvCxnSpPr>
        <p:spPr>
          <a:xfrm>
            <a:off x="6167628" y="4421385"/>
            <a:ext cx="918972" cy="366892"/>
          </a:xfrm>
          <a:prstGeom prst="line">
            <a:avLst/>
          </a:prstGeom>
          <a:ln w="27940">
            <a:solidFill>
              <a:srgbClr val="889A83"/>
            </a:solidFill>
          </a:ln>
        </p:spPr>
        <p:style>
          <a:lnRef idx="2">
            <a:schemeClr val="accent1"/>
          </a:lnRef>
          <a:fillRef idx="0">
            <a:schemeClr val="accent1"/>
          </a:fillRef>
          <a:effectRef idx="1">
            <a:schemeClr val="accent1"/>
          </a:effectRef>
          <a:fontRef idx="minor">
            <a:schemeClr val="tx1"/>
          </a:fontRef>
        </p:style>
      </p:cxnSp>
      <p:sp>
        <p:nvSpPr>
          <p:cNvPr id="81" name="Oval 80"/>
          <p:cNvSpPr/>
          <p:nvPr/>
        </p:nvSpPr>
        <p:spPr>
          <a:xfrm>
            <a:off x="7031736" y="4733413"/>
            <a:ext cx="109728" cy="109728"/>
          </a:xfrm>
          <a:prstGeom prst="ellipse">
            <a:avLst/>
          </a:prstGeom>
          <a:solidFill>
            <a:srgbClr val="889A83"/>
          </a:solidFill>
          <a:ln>
            <a:solidFill>
              <a:srgbClr val="889A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6876288" y="2157984"/>
            <a:ext cx="1234440" cy="146304"/>
          </a:xfrm>
          <a:prstGeom prst="rect">
            <a:avLst/>
          </a:prstGeom>
          <a:noFill/>
        </p:spPr>
        <p:txBody>
          <a:bodyPr wrap="square" lIns="27432" rIns="27432" tIns="27432" bIns="27432" anchor="t">
            <a:spAutoFit/>
          </a:bodyPr>
          <a:lstStyle/>
          <a:p>
            <a:pPr algn="l"/>
            <a:r>
              <a:rPr sz="1000" b="1">
                <a:solidFill>
                  <a:srgbClr val="B5533A"/>
                </a:solidFill>
                <a:latin typeface="Aptos"/>
              </a:rPr>
              <a:t>BALT/WASH</a:t>
            </a:r>
          </a:p>
        </p:txBody>
      </p:sp>
      <p:sp>
        <p:nvSpPr>
          <p:cNvPr id="83" name="Oval 82"/>
          <p:cNvSpPr/>
          <p:nvPr/>
        </p:nvSpPr>
        <p:spPr>
          <a:xfrm>
            <a:off x="1517904" y="4605744"/>
            <a:ext cx="109728" cy="109728"/>
          </a:xfrm>
          <a:prstGeom prst="ellipse">
            <a:avLst/>
          </a:prstGeom>
          <a:solidFill>
            <a:srgbClr val="B5533A"/>
          </a:solidFill>
          <a:ln>
            <a:solidFill>
              <a:srgbClr val="B55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4" name="Connector 83"/>
          <p:cNvCxnSpPr/>
          <p:nvPr/>
        </p:nvCxnSpPr>
        <p:spPr>
          <a:xfrm flipV="1">
            <a:off x="1572768" y="4576120"/>
            <a:ext cx="918972" cy="84488"/>
          </a:xfrm>
          <a:prstGeom prst="line">
            <a:avLst/>
          </a:prstGeom>
          <a:ln w="24130">
            <a:solidFill>
              <a:srgbClr val="B5533A"/>
            </a:solidFill>
          </a:ln>
        </p:spPr>
        <p:style>
          <a:lnRef idx="2">
            <a:schemeClr val="accent1"/>
          </a:lnRef>
          <a:fillRef idx="0">
            <a:schemeClr val="accent1"/>
          </a:fillRef>
          <a:effectRef idx="1">
            <a:schemeClr val="accent1"/>
          </a:effectRef>
          <a:fontRef idx="minor">
            <a:schemeClr val="tx1"/>
          </a:fontRef>
        </p:style>
      </p:cxnSp>
      <p:sp>
        <p:nvSpPr>
          <p:cNvPr id="85" name="Oval 84"/>
          <p:cNvSpPr/>
          <p:nvPr/>
        </p:nvSpPr>
        <p:spPr>
          <a:xfrm>
            <a:off x="2436876" y="4521256"/>
            <a:ext cx="109728" cy="109728"/>
          </a:xfrm>
          <a:prstGeom prst="ellipse">
            <a:avLst/>
          </a:prstGeom>
          <a:solidFill>
            <a:srgbClr val="B5533A"/>
          </a:solidFill>
          <a:ln>
            <a:solidFill>
              <a:srgbClr val="B55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6" name="Connector 85"/>
          <p:cNvCxnSpPr/>
          <p:nvPr/>
        </p:nvCxnSpPr>
        <p:spPr>
          <a:xfrm flipV="1">
            <a:off x="2491740" y="4524649"/>
            <a:ext cx="918972" cy="51471"/>
          </a:xfrm>
          <a:prstGeom prst="line">
            <a:avLst/>
          </a:prstGeom>
          <a:ln w="24130">
            <a:solidFill>
              <a:srgbClr val="B5533A"/>
            </a:solidFill>
          </a:ln>
        </p:spPr>
        <p:style>
          <a:lnRef idx="2">
            <a:schemeClr val="accent1"/>
          </a:lnRef>
          <a:fillRef idx="0">
            <a:schemeClr val="accent1"/>
          </a:fillRef>
          <a:effectRef idx="1">
            <a:schemeClr val="accent1"/>
          </a:effectRef>
          <a:fontRef idx="minor">
            <a:schemeClr val="tx1"/>
          </a:fontRef>
        </p:style>
      </p:cxnSp>
      <p:sp>
        <p:nvSpPr>
          <p:cNvPr id="87" name="Oval 86"/>
          <p:cNvSpPr/>
          <p:nvPr/>
        </p:nvSpPr>
        <p:spPr>
          <a:xfrm>
            <a:off x="3355848" y="4469785"/>
            <a:ext cx="109728" cy="109728"/>
          </a:xfrm>
          <a:prstGeom prst="ellipse">
            <a:avLst/>
          </a:prstGeom>
          <a:solidFill>
            <a:srgbClr val="B5533A"/>
          </a:solidFill>
          <a:ln>
            <a:solidFill>
              <a:srgbClr val="B55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8" name="Connector 87"/>
          <p:cNvCxnSpPr/>
          <p:nvPr/>
        </p:nvCxnSpPr>
        <p:spPr>
          <a:xfrm flipV="1">
            <a:off x="3410712" y="4513924"/>
            <a:ext cx="918972" cy="10725"/>
          </a:xfrm>
          <a:prstGeom prst="line">
            <a:avLst/>
          </a:prstGeom>
          <a:ln w="24130">
            <a:solidFill>
              <a:srgbClr val="B5533A"/>
            </a:solidFill>
          </a:ln>
        </p:spPr>
        <p:style>
          <a:lnRef idx="2">
            <a:schemeClr val="accent1"/>
          </a:lnRef>
          <a:fillRef idx="0">
            <a:schemeClr val="accent1"/>
          </a:fillRef>
          <a:effectRef idx="1">
            <a:schemeClr val="accent1"/>
          </a:effectRef>
          <a:fontRef idx="minor">
            <a:schemeClr val="tx1"/>
          </a:fontRef>
        </p:style>
      </p:cxnSp>
      <p:sp>
        <p:nvSpPr>
          <p:cNvPr id="89" name="Oval 88"/>
          <p:cNvSpPr/>
          <p:nvPr/>
        </p:nvSpPr>
        <p:spPr>
          <a:xfrm>
            <a:off x="4274820" y="4459060"/>
            <a:ext cx="109728" cy="109728"/>
          </a:xfrm>
          <a:prstGeom prst="ellipse">
            <a:avLst/>
          </a:prstGeom>
          <a:solidFill>
            <a:srgbClr val="B5533A"/>
          </a:solidFill>
          <a:ln>
            <a:solidFill>
              <a:srgbClr val="B55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0" name="Connector 89"/>
          <p:cNvCxnSpPr/>
          <p:nvPr/>
        </p:nvCxnSpPr>
        <p:spPr>
          <a:xfrm>
            <a:off x="4329684" y="4513924"/>
            <a:ext cx="918972" cy="105155"/>
          </a:xfrm>
          <a:prstGeom prst="line">
            <a:avLst/>
          </a:prstGeom>
          <a:ln w="24130">
            <a:solidFill>
              <a:srgbClr val="B5533A"/>
            </a:solidFill>
          </a:ln>
        </p:spPr>
        <p:style>
          <a:lnRef idx="2">
            <a:schemeClr val="accent1"/>
          </a:lnRef>
          <a:fillRef idx="0">
            <a:schemeClr val="accent1"/>
          </a:fillRef>
          <a:effectRef idx="1">
            <a:schemeClr val="accent1"/>
          </a:effectRef>
          <a:fontRef idx="minor">
            <a:schemeClr val="tx1"/>
          </a:fontRef>
        </p:style>
      </p:cxnSp>
      <p:sp>
        <p:nvSpPr>
          <p:cNvPr id="91" name="Oval 90"/>
          <p:cNvSpPr/>
          <p:nvPr/>
        </p:nvSpPr>
        <p:spPr>
          <a:xfrm>
            <a:off x="5193792" y="4564215"/>
            <a:ext cx="109728" cy="109728"/>
          </a:xfrm>
          <a:prstGeom prst="ellipse">
            <a:avLst/>
          </a:prstGeom>
          <a:solidFill>
            <a:srgbClr val="B5533A"/>
          </a:solidFill>
          <a:ln>
            <a:solidFill>
              <a:srgbClr val="B55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2" name="Connector 91"/>
          <p:cNvCxnSpPr/>
          <p:nvPr/>
        </p:nvCxnSpPr>
        <p:spPr>
          <a:xfrm flipV="1">
            <a:off x="5248656" y="4105244"/>
            <a:ext cx="918972" cy="513835"/>
          </a:xfrm>
          <a:prstGeom prst="line">
            <a:avLst/>
          </a:prstGeom>
          <a:ln w="24130">
            <a:solidFill>
              <a:srgbClr val="B5533A"/>
            </a:solidFill>
          </a:ln>
        </p:spPr>
        <p:style>
          <a:lnRef idx="2">
            <a:schemeClr val="accent1"/>
          </a:lnRef>
          <a:fillRef idx="0">
            <a:schemeClr val="accent1"/>
          </a:fillRef>
          <a:effectRef idx="1">
            <a:schemeClr val="accent1"/>
          </a:effectRef>
          <a:fontRef idx="minor">
            <a:schemeClr val="tx1"/>
          </a:fontRef>
        </p:style>
      </p:cxnSp>
      <p:sp>
        <p:nvSpPr>
          <p:cNvPr id="93" name="Oval 92"/>
          <p:cNvSpPr/>
          <p:nvPr/>
        </p:nvSpPr>
        <p:spPr>
          <a:xfrm>
            <a:off x="6112764" y="4050380"/>
            <a:ext cx="109728" cy="109728"/>
          </a:xfrm>
          <a:prstGeom prst="ellipse">
            <a:avLst/>
          </a:prstGeom>
          <a:solidFill>
            <a:srgbClr val="B5533A"/>
          </a:solidFill>
          <a:ln>
            <a:solidFill>
              <a:srgbClr val="B55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4" name="Connector 93"/>
          <p:cNvCxnSpPr/>
          <p:nvPr/>
        </p:nvCxnSpPr>
        <p:spPr>
          <a:xfrm>
            <a:off x="6167628" y="4105244"/>
            <a:ext cx="918972" cy="441832"/>
          </a:xfrm>
          <a:prstGeom prst="line">
            <a:avLst/>
          </a:prstGeom>
          <a:ln w="27940">
            <a:solidFill>
              <a:srgbClr val="B5533A"/>
            </a:solidFill>
          </a:ln>
        </p:spPr>
        <p:style>
          <a:lnRef idx="2">
            <a:schemeClr val="accent1"/>
          </a:lnRef>
          <a:fillRef idx="0">
            <a:schemeClr val="accent1"/>
          </a:fillRef>
          <a:effectRef idx="1">
            <a:schemeClr val="accent1"/>
          </a:effectRef>
          <a:fontRef idx="minor">
            <a:schemeClr val="tx1"/>
          </a:fontRef>
        </p:style>
      </p:cxnSp>
      <p:sp>
        <p:nvSpPr>
          <p:cNvPr id="95" name="Oval 94"/>
          <p:cNvSpPr/>
          <p:nvPr/>
        </p:nvSpPr>
        <p:spPr>
          <a:xfrm>
            <a:off x="7031736" y="4492212"/>
            <a:ext cx="109728" cy="109728"/>
          </a:xfrm>
          <a:prstGeom prst="ellipse">
            <a:avLst/>
          </a:prstGeom>
          <a:solidFill>
            <a:srgbClr val="B5533A"/>
          </a:solidFill>
          <a:ln>
            <a:solidFill>
              <a:srgbClr val="B55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6" name="Connector 95"/>
          <p:cNvCxnSpPr/>
          <p:nvPr/>
        </p:nvCxnSpPr>
        <p:spPr>
          <a:xfrm>
            <a:off x="7114032" y="4094233"/>
            <a:ext cx="18288" cy="54864"/>
          </a:xfrm>
          <a:prstGeom prst="line">
            <a:avLst/>
          </a:prstGeom>
          <a:ln w="11430">
            <a:solidFill>
              <a:srgbClr val="3F728A"/>
            </a:solidFill>
          </a:ln>
        </p:spPr>
        <p:style>
          <a:lnRef idx="2">
            <a:schemeClr val="accent1"/>
          </a:lnRef>
          <a:fillRef idx="0">
            <a:schemeClr val="accent1"/>
          </a:fillRef>
          <a:effectRef idx="1">
            <a:schemeClr val="accent1"/>
          </a:effectRef>
          <a:fontRef idx="minor">
            <a:schemeClr val="tx1"/>
          </a:fontRef>
        </p:style>
      </p:cxnSp>
      <p:sp>
        <p:nvSpPr>
          <p:cNvPr id="97" name="TextBox 96"/>
          <p:cNvSpPr txBox="1"/>
          <p:nvPr/>
        </p:nvSpPr>
        <p:spPr>
          <a:xfrm>
            <a:off x="7159752" y="4021081"/>
            <a:ext cx="914400" cy="146304"/>
          </a:xfrm>
          <a:prstGeom prst="rect">
            <a:avLst/>
          </a:prstGeom>
          <a:noFill/>
        </p:spPr>
        <p:txBody>
          <a:bodyPr wrap="square" lIns="27432" rIns="27432" tIns="27432" bIns="27432" anchor="t">
            <a:spAutoFit/>
          </a:bodyPr>
          <a:lstStyle/>
          <a:p>
            <a:pPr algn="l"/>
            <a:r>
              <a:rPr sz="800" b="1">
                <a:solidFill>
                  <a:srgbClr val="3F728A"/>
                </a:solidFill>
                <a:latin typeface="Aptos"/>
              </a:rPr>
              <a:t>Los Angeles</a:t>
            </a:r>
          </a:p>
        </p:txBody>
      </p:sp>
      <p:cxnSp>
        <p:nvCxnSpPr>
          <p:cNvPr id="98" name="Connector 97"/>
          <p:cNvCxnSpPr/>
          <p:nvPr/>
        </p:nvCxnSpPr>
        <p:spPr>
          <a:xfrm>
            <a:off x="7114032" y="4187784"/>
            <a:ext cx="18288" cy="144193"/>
          </a:xfrm>
          <a:prstGeom prst="line">
            <a:avLst/>
          </a:prstGeom>
          <a:ln w="11430">
            <a:solidFill>
              <a:srgbClr val="355C47"/>
            </a:solidFill>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7159752" y="4203961"/>
            <a:ext cx="914400" cy="146304"/>
          </a:xfrm>
          <a:prstGeom prst="rect">
            <a:avLst/>
          </a:prstGeom>
          <a:noFill/>
        </p:spPr>
        <p:txBody>
          <a:bodyPr wrap="square" lIns="27432" rIns="27432" tIns="27432" bIns="27432" anchor="t">
            <a:spAutoFit/>
          </a:bodyPr>
          <a:lstStyle/>
          <a:p>
            <a:pPr algn="l"/>
            <a:r>
              <a:rPr sz="800" b="1">
                <a:solidFill>
                  <a:srgbClr val="355C47"/>
                </a:solidFill>
                <a:latin typeface="Aptos"/>
              </a:rPr>
              <a:t>New York</a:t>
            </a:r>
          </a:p>
        </p:txBody>
      </p:sp>
      <p:cxnSp>
        <p:nvCxnSpPr>
          <p:cNvPr id="100" name="Connector 99"/>
          <p:cNvCxnSpPr/>
          <p:nvPr/>
        </p:nvCxnSpPr>
        <p:spPr>
          <a:xfrm>
            <a:off x="7114032" y="4547076"/>
            <a:ext cx="18288" cy="54864"/>
          </a:xfrm>
          <a:prstGeom prst="line">
            <a:avLst/>
          </a:prstGeom>
          <a:ln w="11430">
            <a:solidFill>
              <a:srgbClr val="B5533A"/>
            </a:solidFill>
          </a:ln>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7159752" y="4473924"/>
            <a:ext cx="914400" cy="146304"/>
          </a:xfrm>
          <a:prstGeom prst="rect">
            <a:avLst/>
          </a:prstGeom>
          <a:noFill/>
        </p:spPr>
        <p:txBody>
          <a:bodyPr wrap="square" lIns="27432" rIns="27432" tIns="27432" bIns="27432" anchor="t">
            <a:spAutoFit/>
          </a:bodyPr>
          <a:lstStyle/>
          <a:p>
            <a:pPr algn="l"/>
            <a:r>
              <a:rPr sz="800" b="1">
                <a:solidFill>
                  <a:srgbClr val="B5533A"/>
                </a:solidFill>
                <a:latin typeface="Aptos"/>
              </a:rPr>
              <a:t>Balt/Wash</a:t>
            </a:r>
          </a:p>
        </p:txBody>
      </p:sp>
      <p:cxnSp>
        <p:nvCxnSpPr>
          <p:cNvPr id="102" name="Connector 101"/>
          <p:cNvCxnSpPr/>
          <p:nvPr/>
        </p:nvCxnSpPr>
        <p:spPr>
          <a:xfrm>
            <a:off x="7114032" y="4659296"/>
            <a:ext cx="18288" cy="125524"/>
          </a:xfrm>
          <a:prstGeom prst="line">
            <a:avLst/>
          </a:prstGeom>
          <a:ln w="11430">
            <a:solidFill>
              <a:srgbClr val="C58A2A"/>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7159752" y="4656804"/>
            <a:ext cx="914400" cy="146304"/>
          </a:xfrm>
          <a:prstGeom prst="rect">
            <a:avLst/>
          </a:prstGeom>
          <a:noFill/>
        </p:spPr>
        <p:txBody>
          <a:bodyPr wrap="square" lIns="27432" rIns="27432" tIns="27432" bIns="27432" anchor="t">
            <a:spAutoFit/>
          </a:bodyPr>
          <a:lstStyle/>
          <a:p>
            <a:pPr algn="l"/>
            <a:r>
              <a:rPr sz="800" b="1">
                <a:solidFill>
                  <a:srgbClr val="C58A2A"/>
                </a:solidFill>
                <a:latin typeface="Aptos"/>
              </a:rPr>
              <a:t>Seattle</a:t>
            </a:r>
          </a:p>
        </p:txBody>
      </p:sp>
      <p:cxnSp>
        <p:nvCxnSpPr>
          <p:cNvPr id="104" name="Connector 103"/>
          <p:cNvCxnSpPr/>
          <p:nvPr/>
        </p:nvCxnSpPr>
        <p:spPr>
          <a:xfrm>
            <a:off x="7114032" y="4788277"/>
            <a:ext cx="18288" cy="179423"/>
          </a:xfrm>
          <a:prstGeom prst="line">
            <a:avLst/>
          </a:prstGeom>
          <a:ln w="11430">
            <a:solidFill>
              <a:srgbClr val="889A83"/>
            </a:solidFill>
          </a:ln>
        </p:spPr>
        <p:style>
          <a:lnRef idx="2">
            <a:schemeClr val="accent1"/>
          </a:lnRef>
          <a:fillRef idx="0">
            <a:schemeClr val="accent1"/>
          </a:fillRef>
          <a:effectRef idx="1">
            <a:schemeClr val="accent1"/>
          </a:effectRef>
          <a:fontRef idx="minor">
            <a:schemeClr val="tx1"/>
          </a:fontRef>
        </p:style>
      </p:cxnSp>
      <p:sp>
        <p:nvSpPr>
          <p:cNvPr id="105" name="TextBox 104"/>
          <p:cNvSpPr txBox="1"/>
          <p:nvPr/>
        </p:nvSpPr>
        <p:spPr>
          <a:xfrm>
            <a:off x="7159752" y="4839684"/>
            <a:ext cx="914400" cy="146304"/>
          </a:xfrm>
          <a:prstGeom prst="rect">
            <a:avLst/>
          </a:prstGeom>
          <a:noFill/>
        </p:spPr>
        <p:txBody>
          <a:bodyPr wrap="square" lIns="27432" rIns="27432" tIns="27432" bIns="27432" anchor="t">
            <a:spAutoFit/>
          </a:bodyPr>
          <a:lstStyle/>
          <a:p>
            <a:pPr algn="l"/>
            <a:r>
              <a:rPr sz="800" b="1">
                <a:solidFill>
                  <a:srgbClr val="889A83"/>
                </a:solidFill>
                <a:latin typeface="Aptos"/>
              </a:rPr>
              <a:t>San Fran</a:t>
            </a:r>
          </a:p>
        </p:txBody>
      </p:sp>
      <p:sp>
        <p:nvSpPr>
          <p:cNvPr id="106" name="TextBox 105"/>
          <p:cNvSpPr txBox="1"/>
          <p:nvPr/>
        </p:nvSpPr>
        <p:spPr>
          <a:xfrm>
            <a:off x="1316736" y="5321808"/>
            <a:ext cx="512064" cy="146304"/>
          </a:xfrm>
          <a:prstGeom prst="rect">
            <a:avLst/>
          </a:prstGeom>
          <a:noFill/>
        </p:spPr>
        <p:txBody>
          <a:bodyPr wrap="square" lIns="27432" rIns="27432" tIns="27432" bIns="27432" anchor="t">
            <a:spAutoFit/>
          </a:bodyPr>
          <a:lstStyle/>
          <a:p>
            <a:pPr algn="ctr"/>
            <a:r>
              <a:rPr sz="800" b="0">
                <a:solidFill>
                  <a:srgbClr val="5F6B63"/>
                </a:solidFill>
                <a:latin typeface="Aptos"/>
              </a:rPr>
              <a:t>2019</a:t>
            </a:r>
          </a:p>
        </p:txBody>
      </p:sp>
      <p:sp>
        <p:nvSpPr>
          <p:cNvPr id="107" name="TextBox 106"/>
          <p:cNvSpPr txBox="1"/>
          <p:nvPr/>
        </p:nvSpPr>
        <p:spPr>
          <a:xfrm>
            <a:off x="2235708" y="5321808"/>
            <a:ext cx="512064" cy="146304"/>
          </a:xfrm>
          <a:prstGeom prst="rect">
            <a:avLst/>
          </a:prstGeom>
          <a:noFill/>
        </p:spPr>
        <p:txBody>
          <a:bodyPr wrap="square" lIns="27432" rIns="27432" tIns="27432" bIns="27432" anchor="t">
            <a:spAutoFit/>
          </a:bodyPr>
          <a:lstStyle/>
          <a:p>
            <a:pPr algn="ctr"/>
            <a:r>
              <a:rPr sz="800" b="0">
                <a:solidFill>
                  <a:srgbClr val="5F6B63"/>
                </a:solidFill>
                <a:latin typeface="Aptos"/>
              </a:rPr>
              <a:t>2020</a:t>
            </a:r>
          </a:p>
        </p:txBody>
      </p:sp>
      <p:sp>
        <p:nvSpPr>
          <p:cNvPr id="108" name="TextBox 107"/>
          <p:cNvSpPr txBox="1"/>
          <p:nvPr/>
        </p:nvSpPr>
        <p:spPr>
          <a:xfrm>
            <a:off x="3154680" y="5321808"/>
            <a:ext cx="512064" cy="146304"/>
          </a:xfrm>
          <a:prstGeom prst="rect">
            <a:avLst/>
          </a:prstGeom>
          <a:noFill/>
        </p:spPr>
        <p:txBody>
          <a:bodyPr wrap="square" lIns="27432" rIns="27432" tIns="27432" bIns="27432" anchor="t">
            <a:spAutoFit/>
          </a:bodyPr>
          <a:lstStyle/>
          <a:p>
            <a:pPr algn="ctr"/>
            <a:r>
              <a:rPr sz="800" b="0">
                <a:solidFill>
                  <a:srgbClr val="5F6B63"/>
                </a:solidFill>
                <a:latin typeface="Aptos"/>
              </a:rPr>
              <a:t>2021</a:t>
            </a:r>
          </a:p>
        </p:txBody>
      </p:sp>
      <p:sp>
        <p:nvSpPr>
          <p:cNvPr id="109" name="TextBox 108"/>
          <p:cNvSpPr txBox="1"/>
          <p:nvPr/>
        </p:nvSpPr>
        <p:spPr>
          <a:xfrm>
            <a:off x="4073652" y="5321808"/>
            <a:ext cx="512064" cy="146304"/>
          </a:xfrm>
          <a:prstGeom prst="rect">
            <a:avLst/>
          </a:prstGeom>
          <a:noFill/>
        </p:spPr>
        <p:txBody>
          <a:bodyPr wrap="square" lIns="27432" rIns="27432" tIns="27432" bIns="27432" anchor="t">
            <a:spAutoFit/>
          </a:bodyPr>
          <a:lstStyle/>
          <a:p>
            <a:pPr algn="ctr"/>
            <a:r>
              <a:rPr sz="800" b="0">
                <a:solidFill>
                  <a:srgbClr val="5F6B63"/>
                </a:solidFill>
                <a:latin typeface="Aptos"/>
              </a:rPr>
              <a:t>2022</a:t>
            </a:r>
          </a:p>
        </p:txBody>
      </p:sp>
      <p:sp>
        <p:nvSpPr>
          <p:cNvPr id="110" name="TextBox 109"/>
          <p:cNvSpPr txBox="1"/>
          <p:nvPr/>
        </p:nvSpPr>
        <p:spPr>
          <a:xfrm>
            <a:off x="4992624" y="5321808"/>
            <a:ext cx="512064" cy="146304"/>
          </a:xfrm>
          <a:prstGeom prst="rect">
            <a:avLst/>
          </a:prstGeom>
          <a:noFill/>
        </p:spPr>
        <p:txBody>
          <a:bodyPr wrap="square" lIns="27432" rIns="27432" tIns="27432" bIns="27432" anchor="t">
            <a:spAutoFit/>
          </a:bodyPr>
          <a:lstStyle/>
          <a:p>
            <a:pPr algn="ctr"/>
            <a:r>
              <a:rPr sz="800" b="0">
                <a:solidFill>
                  <a:srgbClr val="5F6B63"/>
                </a:solidFill>
                <a:latin typeface="Aptos"/>
              </a:rPr>
              <a:t>2023</a:t>
            </a:r>
          </a:p>
        </p:txBody>
      </p:sp>
      <p:sp>
        <p:nvSpPr>
          <p:cNvPr id="111" name="TextBox 110"/>
          <p:cNvSpPr txBox="1"/>
          <p:nvPr/>
        </p:nvSpPr>
        <p:spPr>
          <a:xfrm>
            <a:off x="5911596" y="5321808"/>
            <a:ext cx="512064" cy="146304"/>
          </a:xfrm>
          <a:prstGeom prst="rect">
            <a:avLst/>
          </a:prstGeom>
          <a:noFill/>
        </p:spPr>
        <p:txBody>
          <a:bodyPr wrap="square" lIns="27432" rIns="27432" tIns="27432" bIns="27432" anchor="t">
            <a:spAutoFit/>
          </a:bodyPr>
          <a:lstStyle/>
          <a:p>
            <a:pPr algn="ctr"/>
            <a:r>
              <a:rPr sz="800" b="0">
                <a:solidFill>
                  <a:srgbClr val="5F6B63"/>
                </a:solidFill>
                <a:latin typeface="Aptos"/>
              </a:rPr>
              <a:t>2024</a:t>
            </a:r>
          </a:p>
        </p:txBody>
      </p:sp>
      <p:sp>
        <p:nvSpPr>
          <p:cNvPr id="112" name="TextBox 111"/>
          <p:cNvSpPr txBox="1"/>
          <p:nvPr/>
        </p:nvSpPr>
        <p:spPr>
          <a:xfrm>
            <a:off x="6830568" y="5321808"/>
            <a:ext cx="512064" cy="146304"/>
          </a:xfrm>
          <a:prstGeom prst="rect">
            <a:avLst/>
          </a:prstGeom>
          <a:noFill/>
        </p:spPr>
        <p:txBody>
          <a:bodyPr wrap="square" lIns="27432" rIns="27432" tIns="27432" bIns="27432" anchor="t">
            <a:spAutoFit/>
          </a:bodyPr>
          <a:lstStyle/>
          <a:p>
            <a:pPr algn="ctr"/>
            <a:r>
              <a:rPr sz="800" b="0">
                <a:solidFill>
                  <a:srgbClr val="5F6B63"/>
                </a:solidFill>
                <a:latin typeface="Aptos"/>
              </a:rPr>
              <a:t>2025 H1</a:t>
            </a:r>
          </a:p>
        </p:txBody>
      </p:sp>
      <p:sp>
        <p:nvSpPr>
          <p:cNvPr id="113" name="Rounded Rectangle 112"/>
          <p:cNvSpPr/>
          <p:nvPr/>
        </p:nvSpPr>
        <p:spPr>
          <a:xfrm>
            <a:off x="8759952" y="1645920"/>
            <a:ext cx="2743200" cy="4352544"/>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ounded Rectangle 113"/>
          <p:cNvSpPr/>
          <p:nvPr/>
        </p:nvSpPr>
        <p:spPr>
          <a:xfrm>
            <a:off x="9034272" y="1938528"/>
            <a:ext cx="2194560" cy="877824"/>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9162288" y="2048256"/>
            <a:ext cx="1938528" cy="164592"/>
          </a:xfrm>
          <a:prstGeom prst="rect">
            <a:avLst/>
          </a:prstGeom>
          <a:noFill/>
        </p:spPr>
        <p:txBody>
          <a:bodyPr wrap="square" lIns="27432" rIns="27432" tIns="27432" bIns="27432" anchor="t">
            <a:spAutoFit/>
          </a:bodyPr>
          <a:lstStyle/>
          <a:p>
            <a:pPr algn="ctr"/>
            <a:r>
              <a:rPr sz="1000" b="1">
                <a:solidFill>
                  <a:srgbClr val="5F6B63"/>
                </a:solidFill>
                <a:latin typeface="Aptos"/>
              </a:rPr>
              <a:t>2024 LEAD VS NY</a:t>
            </a:r>
          </a:p>
        </p:txBody>
      </p:sp>
      <p:sp>
        <p:nvSpPr>
          <p:cNvPr id="116" name="TextBox 115"/>
          <p:cNvSpPr txBox="1"/>
          <p:nvPr/>
        </p:nvSpPr>
        <p:spPr>
          <a:xfrm>
            <a:off x="9162288" y="2249424"/>
            <a:ext cx="1938528" cy="457200"/>
          </a:xfrm>
          <a:prstGeom prst="rect">
            <a:avLst/>
          </a:prstGeom>
          <a:noFill/>
        </p:spPr>
        <p:txBody>
          <a:bodyPr wrap="square" lIns="27432" rIns="27432" tIns="27432" bIns="27432" anchor="ctr">
            <a:spAutoFit/>
          </a:bodyPr>
          <a:lstStyle/>
          <a:p>
            <a:pPr algn="ctr"/>
            <a:r>
              <a:rPr sz="1900" b="1">
                <a:solidFill>
                  <a:srgbClr val="3F728A"/>
                </a:solidFill>
                <a:latin typeface="Aptos Display"/>
              </a:rPr>
              <a:t>$2.7M</a:t>
            </a:r>
          </a:p>
        </p:txBody>
      </p:sp>
      <p:sp>
        <p:nvSpPr>
          <p:cNvPr id="117" name="Rounded Rectangle 116"/>
          <p:cNvSpPr/>
          <p:nvPr/>
        </p:nvSpPr>
        <p:spPr>
          <a:xfrm>
            <a:off x="9034272" y="2999232"/>
            <a:ext cx="2194560" cy="877824"/>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9162288" y="3108960"/>
            <a:ext cx="1938528" cy="164592"/>
          </a:xfrm>
          <a:prstGeom prst="rect">
            <a:avLst/>
          </a:prstGeom>
          <a:noFill/>
        </p:spPr>
        <p:txBody>
          <a:bodyPr wrap="square" lIns="27432" rIns="27432" tIns="27432" bIns="27432" anchor="t">
            <a:spAutoFit/>
          </a:bodyPr>
          <a:lstStyle/>
          <a:p>
            <a:pPr algn="ctr"/>
            <a:r>
              <a:rPr sz="1000" b="1">
                <a:solidFill>
                  <a:srgbClr val="5F6B63"/>
                </a:solidFill>
                <a:latin typeface="Aptos"/>
              </a:rPr>
              <a:t>SEATTLE IN TOP TIER</a:t>
            </a:r>
          </a:p>
        </p:txBody>
      </p:sp>
      <p:sp>
        <p:nvSpPr>
          <p:cNvPr id="119" name="TextBox 118"/>
          <p:cNvSpPr txBox="1"/>
          <p:nvPr/>
        </p:nvSpPr>
        <p:spPr>
          <a:xfrm>
            <a:off x="9162288" y="3310128"/>
            <a:ext cx="1938528" cy="457200"/>
          </a:xfrm>
          <a:prstGeom prst="rect">
            <a:avLst/>
          </a:prstGeom>
          <a:noFill/>
        </p:spPr>
        <p:txBody>
          <a:bodyPr wrap="square" lIns="27432" rIns="27432" tIns="27432" bIns="27432" anchor="ctr">
            <a:spAutoFit/>
          </a:bodyPr>
          <a:lstStyle/>
          <a:p>
            <a:pPr algn="ctr"/>
            <a:r>
              <a:rPr sz="1900" b="1">
                <a:solidFill>
                  <a:srgbClr val="355C47"/>
                </a:solidFill>
                <a:latin typeface="Aptos Display"/>
              </a:rPr>
              <a:t>Top 5</a:t>
            </a:r>
          </a:p>
        </p:txBody>
      </p:sp>
      <p:sp>
        <p:nvSpPr>
          <p:cNvPr id="120" name="TextBox 119"/>
          <p:cNvSpPr txBox="1"/>
          <p:nvPr/>
        </p:nvSpPr>
        <p:spPr>
          <a:xfrm>
            <a:off x="9034272" y="4315968"/>
            <a:ext cx="2148840" cy="685800"/>
          </a:xfrm>
          <a:prstGeom prst="rect">
            <a:avLst/>
          </a:prstGeom>
          <a:noFill/>
        </p:spPr>
        <p:txBody>
          <a:bodyPr wrap="square" lIns="27432" rIns="27432" tIns="27432" bIns="27432" anchor="t">
            <a:spAutoFit/>
          </a:bodyPr>
          <a:lstStyle/>
          <a:p>
            <a:pPr algn="l"/>
            <a:r>
              <a:rPr sz="1300" b="0">
                <a:solidFill>
                  <a:srgbClr val="1F2621"/>
                </a:solidFill>
                <a:latin typeface="Aptos"/>
              </a:rPr>
              <a:t>Organic is less concentrated than conventional, which is exactly why pilot choice can diverge from raw size.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55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46920" y="0"/>
            <a:ext cx="2542032" cy="73152"/>
          </a:xfrm>
          <a:prstGeom prst="rect">
            <a:avLst/>
          </a:prstGeom>
          <a:solidFill>
            <a:srgbClr val="C58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01168"/>
            <a:ext cx="1554480" cy="256032"/>
          </a:xfrm>
          <a:prstGeom prst="roundRect">
            <a:avLst/>
          </a:prstGeom>
          <a:solidFill>
            <a:srgbClr val="FCFAF5"/>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224028"/>
            <a:ext cx="1517904" cy="182880"/>
          </a:xfrm>
          <a:prstGeom prst="rect">
            <a:avLst/>
          </a:prstGeom>
          <a:noFill/>
        </p:spPr>
        <p:txBody>
          <a:bodyPr wrap="square" lIns="27432" rIns="27432" tIns="27432" bIns="27432" anchor="t">
            <a:spAutoFit/>
          </a:bodyPr>
          <a:lstStyle/>
          <a:p>
            <a:pPr algn="ctr"/>
            <a:r>
              <a:rPr sz="1000" b="1">
                <a:solidFill>
                  <a:srgbClr val="355C47"/>
                </a:solidFill>
                <a:latin typeface="Aptos"/>
              </a:rPr>
              <a:t>MARKET ANALYSIS</a:t>
            </a:r>
          </a:p>
        </p:txBody>
      </p:sp>
      <p:sp>
        <p:nvSpPr>
          <p:cNvPr id="7" name="Rounded Rectangle 6"/>
          <p:cNvSpPr/>
          <p:nvPr/>
        </p:nvSpPr>
        <p:spPr>
          <a:xfrm>
            <a:off x="2267712" y="201168"/>
            <a:ext cx="713232" cy="256032"/>
          </a:xfrm>
          <a:prstGeom prst="roundRect">
            <a:avLst/>
          </a:prstGeom>
          <a:solidFill>
            <a:srgbClr val="FFFDF9"/>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0" y="224028"/>
            <a:ext cx="676656" cy="182880"/>
          </a:xfrm>
          <a:prstGeom prst="rect">
            <a:avLst/>
          </a:prstGeom>
          <a:noFill/>
        </p:spPr>
        <p:txBody>
          <a:bodyPr wrap="square" lIns="27432" rIns="27432" tIns="27432" bIns="27432" anchor="t">
            <a:spAutoFit/>
          </a:bodyPr>
          <a:lstStyle/>
          <a:p>
            <a:pPr algn="ctr"/>
            <a:r>
              <a:rPr sz="1000" b="1">
                <a:solidFill>
                  <a:srgbClr val="C58A2A"/>
                </a:solidFill>
                <a:latin typeface="Aptos"/>
              </a:rPr>
              <a:t>Q2</a:t>
            </a:r>
          </a:p>
        </p:txBody>
      </p:sp>
      <p:sp>
        <p:nvSpPr>
          <p:cNvPr id="9" name="TextBox 8"/>
          <p:cNvSpPr txBox="1"/>
          <p:nvPr/>
        </p:nvSpPr>
        <p:spPr>
          <a:xfrm>
            <a:off x="11631168" y="6519672"/>
            <a:ext cx="274320" cy="164592"/>
          </a:xfrm>
          <a:prstGeom prst="rect">
            <a:avLst/>
          </a:prstGeom>
          <a:noFill/>
        </p:spPr>
        <p:txBody>
          <a:bodyPr wrap="square" lIns="27432" rIns="27432" tIns="27432" bIns="27432" anchor="t">
            <a:spAutoFit/>
          </a:bodyPr>
          <a:lstStyle/>
          <a:p>
            <a:pPr algn="r"/>
            <a:r>
              <a:rPr sz="900" b="0">
                <a:solidFill>
                  <a:srgbClr val="5F6B63"/>
                </a:solidFill>
                <a:latin typeface="Aptos"/>
              </a:rPr>
              <a:t>8</a:t>
            </a:r>
          </a:p>
        </p:txBody>
      </p:sp>
      <p:sp>
        <p:nvSpPr>
          <p:cNvPr id="10" name="TextBox 9"/>
          <p:cNvSpPr txBox="1"/>
          <p:nvPr/>
        </p:nvSpPr>
        <p:spPr>
          <a:xfrm>
            <a:off x="548640" y="658368"/>
            <a:ext cx="10332720" cy="868680"/>
          </a:xfrm>
          <a:prstGeom prst="rect">
            <a:avLst/>
          </a:prstGeom>
          <a:noFill/>
        </p:spPr>
        <p:txBody>
          <a:bodyPr wrap="square" lIns="27432" rIns="27432" tIns="27432" bIns="27432" anchor="t">
            <a:spAutoFit/>
          </a:bodyPr>
          <a:lstStyle/>
          <a:p>
            <a:pPr algn="l"/>
            <a:r>
              <a:rPr sz="2700" b="1">
                <a:solidFill>
                  <a:srgbClr val="355C47"/>
                </a:solidFill>
                <a:latin typeface="Aptos Display"/>
              </a:rPr>
              <a:t>Seattle leads organic penetration in most periods</a:t>
            </a:r>
          </a:p>
        </p:txBody>
      </p:sp>
      <p:sp>
        <p:nvSpPr>
          <p:cNvPr id="11" name="Rounded Rectangle 10"/>
          <p:cNvSpPr/>
          <p:nvPr/>
        </p:nvSpPr>
        <p:spPr>
          <a:xfrm>
            <a:off x="713232" y="1700784"/>
            <a:ext cx="10789920" cy="4297680"/>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901952"/>
            <a:ext cx="2377440" cy="164592"/>
          </a:xfrm>
          <a:prstGeom prst="rect">
            <a:avLst/>
          </a:prstGeom>
          <a:noFill/>
        </p:spPr>
        <p:txBody>
          <a:bodyPr wrap="square" lIns="27432" rIns="27432" tIns="27432" bIns="27432" anchor="t">
            <a:spAutoFit/>
          </a:bodyPr>
          <a:lstStyle/>
          <a:p>
            <a:pPr algn="l"/>
            <a:r>
              <a:rPr sz="1000" b="1">
                <a:solidFill>
                  <a:srgbClr val="5F6B63"/>
                </a:solidFill>
                <a:latin typeface="Aptos"/>
              </a:rPr>
              <a:t>WINNER TIMELINE</a:t>
            </a:r>
          </a:p>
        </p:txBody>
      </p:sp>
      <p:sp>
        <p:nvSpPr>
          <p:cNvPr id="13" name="Rounded Rectangle 12"/>
          <p:cNvSpPr/>
          <p:nvPr/>
        </p:nvSpPr>
        <p:spPr>
          <a:xfrm>
            <a:off x="914400" y="2359152"/>
            <a:ext cx="1234440" cy="329184"/>
          </a:xfrm>
          <a:prstGeom prst="roundRect">
            <a:avLst/>
          </a:prstGeom>
          <a:solidFill>
            <a:srgbClr val="F7F3EC"/>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432304"/>
            <a:ext cx="1234440" cy="146304"/>
          </a:xfrm>
          <a:prstGeom prst="rect">
            <a:avLst/>
          </a:prstGeom>
          <a:noFill/>
        </p:spPr>
        <p:txBody>
          <a:bodyPr wrap="square" lIns="27432" rIns="27432" tIns="27432" bIns="27432" anchor="t">
            <a:spAutoFit/>
          </a:bodyPr>
          <a:lstStyle/>
          <a:p>
            <a:pPr algn="ctr"/>
            <a:r>
              <a:rPr sz="1000" b="1">
                <a:solidFill>
                  <a:srgbClr val="5F6B63"/>
                </a:solidFill>
                <a:latin typeface="Aptos"/>
              </a:rPr>
              <a:t>2019</a:t>
            </a:r>
          </a:p>
        </p:txBody>
      </p:sp>
      <p:sp>
        <p:nvSpPr>
          <p:cNvPr id="15" name="Rounded Rectangle 14"/>
          <p:cNvSpPr/>
          <p:nvPr/>
        </p:nvSpPr>
        <p:spPr>
          <a:xfrm>
            <a:off x="914400" y="2852928"/>
            <a:ext cx="1234440" cy="274320"/>
          </a:xfrm>
          <a:prstGeom prst="roundRect">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2857500"/>
            <a:ext cx="1197864" cy="219456"/>
          </a:xfrm>
          <a:prstGeom prst="rect">
            <a:avLst/>
          </a:prstGeom>
          <a:noFill/>
        </p:spPr>
        <p:txBody>
          <a:bodyPr wrap="square" lIns="27432" rIns="27432" tIns="27432" bIns="27432" anchor="ctr">
            <a:spAutoFit/>
          </a:bodyPr>
          <a:lstStyle/>
          <a:p>
            <a:pPr algn="ctr"/>
            <a:r>
              <a:rPr sz="1100" b="1">
                <a:solidFill>
                  <a:srgbClr val="FCFAF5"/>
                </a:solidFill>
                <a:latin typeface="Aptos"/>
              </a:rPr>
              <a:t>SEATTLE</a:t>
            </a:r>
          </a:p>
        </p:txBody>
      </p:sp>
      <p:sp>
        <p:nvSpPr>
          <p:cNvPr id="17" name="TextBox 16"/>
          <p:cNvSpPr txBox="1"/>
          <p:nvPr/>
        </p:nvSpPr>
        <p:spPr>
          <a:xfrm>
            <a:off x="914400" y="3310128"/>
            <a:ext cx="1234440" cy="164592"/>
          </a:xfrm>
          <a:prstGeom prst="rect">
            <a:avLst/>
          </a:prstGeom>
          <a:noFill/>
        </p:spPr>
        <p:txBody>
          <a:bodyPr wrap="square" lIns="27432" rIns="27432" tIns="27432" bIns="27432" anchor="t">
            <a:spAutoFit/>
          </a:bodyPr>
          <a:lstStyle/>
          <a:p>
            <a:pPr algn="ctr"/>
            <a:r>
              <a:rPr sz="1200" b="1">
                <a:solidFill>
                  <a:srgbClr val="355C47"/>
                </a:solidFill>
                <a:latin typeface="Aptos Display"/>
              </a:rPr>
              <a:t>11.82%</a:t>
            </a:r>
          </a:p>
        </p:txBody>
      </p:sp>
      <p:cxnSp>
        <p:nvCxnSpPr>
          <p:cNvPr id="18" name="Connector 17"/>
          <p:cNvCxnSpPr/>
          <p:nvPr/>
        </p:nvCxnSpPr>
        <p:spPr>
          <a:xfrm>
            <a:off x="2176272" y="2999232"/>
            <a:ext cx="182880" cy="0"/>
          </a:xfrm>
          <a:prstGeom prst="line">
            <a:avLst/>
          </a:prstGeom>
          <a:ln w="20320">
            <a:solidFill>
              <a:srgbClr val="D8D1C6"/>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2404872" y="2359152"/>
            <a:ext cx="1234440" cy="329184"/>
          </a:xfrm>
          <a:prstGeom prst="roundRect">
            <a:avLst/>
          </a:prstGeom>
          <a:solidFill>
            <a:srgbClr val="F7F3EC"/>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404872" y="2432304"/>
            <a:ext cx="1234440" cy="146304"/>
          </a:xfrm>
          <a:prstGeom prst="rect">
            <a:avLst/>
          </a:prstGeom>
          <a:noFill/>
        </p:spPr>
        <p:txBody>
          <a:bodyPr wrap="square" lIns="27432" rIns="27432" tIns="27432" bIns="27432" anchor="t">
            <a:spAutoFit/>
          </a:bodyPr>
          <a:lstStyle/>
          <a:p>
            <a:pPr algn="ctr"/>
            <a:r>
              <a:rPr sz="1000" b="1">
                <a:solidFill>
                  <a:srgbClr val="5F6B63"/>
                </a:solidFill>
                <a:latin typeface="Aptos"/>
              </a:rPr>
              <a:t>2020</a:t>
            </a:r>
          </a:p>
        </p:txBody>
      </p:sp>
      <p:sp>
        <p:nvSpPr>
          <p:cNvPr id="21" name="Rounded Rectangle 20"/>
          <p:cNvSpPr/>
          <p:nvPr/>
        </p:nvSpPr>
        <p:spPr>
          <a:xfrm>
            <a:off x="2404872" y="2852928"/>
            <a:ext cx="1234440" cy="274320"/>
          </a:xfrm>
          <a:prstGeom prst="roundRect">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423160" y="2857500"/>
            <a:ext cx="1197864" cy="219456"/>
          </a:xfrm>
          <a:prstGeom prst="rect">
            <a:avLst/>
          </a:prstGeom>
          <a:noFill/>
        </p:spPr>
        <p:txBody>
          <a:bodyPr wrap="square" lIns="27432" rIns="27432" tIns="27432" bIns="27432" anchor="ctr">
            <a:spAutoFit/>
          </a:bodyPr>
          <a:lstStyle/>
          <a:p>
            <a:pPr algn="ctr"/>
            <a:r>
              <a:rPr sz="1100" b="1">
                <a:solidFill>
                  <a:srgbClr val="FCFAF5"/>
                </a:solidFill>
                <a:latin typeface="Aptos"/>
              </a:rPr>
              <a:t>SEATTLE</a:t>
            </a:r>
          </a:p>
        </p:txBody>
      </p:sp>
      <p:sp>
        <p:nvSpPr>
          <p:cNvPr id="23" name="TextBox 22"/>
          <p:cNvSpPr txBox="1"/>
          <p:nvPr/>
        </p:nvSpPr>
        <p:spPr>
          <a:xfrm>
            <a:off x="2404872" y="3310128"/>
            <a:ext cx="1234440" cy="164592"/>
          </a:xfrm>
          <a:prstGeom prst="rect">
            <a:avLst/>
          </a:prstGeom>
          <a:noFill/>
        </p:spPr>
        <p:txBody>
          <a:bodyPr wrap="square" lIns="27432" rIns="27432" tIns="27432" bIns="27432" anchor="t">
            <a:spAutoFit/>
          </a:bodyPr>
          <a:lstStyle/>
          <a:p>
            <a:pPr algn="ctr"/>
            <a:r>
              <a:rPr sz="1200" b="1">
                <a:solidFill>
                  <a:srgbClr val="355C47"/>
                </a:solidFill>
                <a:latin typeface="Aptos Display"/>
              </a:rPr>
              <a:t>9.86%</a:t>
            </a:r>
          </a:p>
        </p:txBody>
      </p:sp>
      <p:cxnSp>
        <p:nvCxnSpPr>
          <p:cNvPr id="24" name="Connector 23"/>
          <p:cNvCxnSpPr/>
          <p:nvPr/>
        </p:nvCxnSpPr>
        <p:spPr>
          <a:xfrm>
            <a:off x="3666744" y="2999232"/>
            <a:ext cx="182880" cy="0"/>
          </a:xfrm>
          <a:prstGeom prst="line">
            <a:avLst/>
          </a:prstGeom>
          <a:ln w="20320">
            <a:solidFill>
              <a:srgbClr val="D8D1C6"/>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3895344" y="2359152"/>
            <a:ext cx="1234440" cy="329184"/>
          </a:xfrm>
          <a:prstGeom prst="roundRect">
            <a:avLst/>
          </a:prstGeom>
          <a:solidFill>
            <a:srgbClr val="F7F3EC"/>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895344" y="2432304"/>
            <a:ext cx="1234440" cy="146304"/>
          </a:xfrm>
          <a:prstGeom prst="rect">
            <a:avLst/>
          </a:prstGeom>
          <a:noFill/>
        </p:spPr>
        <p:txBody>
          <a:bodyPr wrap="square" lIns="27432" rIns="27432" tIns="27432" bIns="27432" anchor="t">
            <a:spAutoFit/>
          </a:bodyPr>
          <a:lstStyle/>
          <a:p>
            <a:pPr algn="ctr"/>
            <a:r>
              <a:rPr sz="1000" b="1">
                <a:solidFill>
                  <a:srgbClr val="5F6B63"/>
                </a:solidFill>
                <a:latin typeface="Aptos"/>
              </a:rPr>
              <a:t>2021</a:t>
            </a:r>
          </a:p>
        </p:txBody>
      </p:sp>
      <p:sp>
        <p:nvSpPr>
          <p:cNvPr id="27" name="Rounded Rectangle 26"/>
          <p:cNvSpPr/>
          <p:nvPr/>
        </p:nvSpPr>
        <p:spPr>
          <a:xfrm>
            <a:off x="3895344" y="2852928"/>
            <a:ext cx="1234440" cy="274320"/>
          </a:xfrm>
          <a:prstGeom prst="roundRect">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913632" y="2857500"/>
            <a:ext cx="1197864" cy="219456"/>
          </a:xfrm>
          <a:prstGeom prst="rect">
            <a:avLst/>
          </a:prstGeom>
          <a:noFill/>
        </p:spPr>
        <p:txBody>
          <a:bodyPr wrap="square" lIns="27432" rIns="27432" tIns="27432" bIns="27432" anchor="ctr">
            <a:spAutoFit/>
          </a:bodyPr>
          <a:lstStyle/>
          <a:p>
            <a:pPr algn="ctr"/>
            <a:r>
              <a:rPr sz="1100" b="1">
                <a:solidFill>
                  <a:srgbClr val="FCFAF5"/>
                </a:solidFill>
                <a:latin typeface="Aptos"/>
              </a:rPr>
              <a:t>SEATTLE</a:t>
            </a:r>
          </a:p>
        </p:txBody>
      </p:sp>
      <p:sp>
        <p:nvSpPr>
          <p:cNvPr id="29" name="TextBox 28"/>
          <p:cNvSpPr txBox="1"/>
          <p:nvPr/>
        </p:nvSpPr>
        <p:spPr>
          <a:xfrm>
            <a:off x="3895344" y="3310128"/>
            <a:ext cx="1234440" cy="164592"/>
          </a:xfrm>
          <a:prstGeom prst="rect">
            <a:avLst/>
          </a:prstGeom>
          <a:noFill/>
        </p:spPr>
        <p:txBody>
          <a:bodyPr wrap="square" lIns="27432" rIns="27432" tIns="27432" bIns="27432" anchor="t">
            <a:spAutoFit/>
          </a:bodyPr>
          <a:lstStyle/>
          <a:p>
            <a:pPr algn="ctr"/>
            <a:r>
              <a:rPr sz="1200" b="1">
                <a:solidFill>
                  <a:srgbClr val="355C47"/>
                </a:solidFill>
                <a:latin typeface="Aptos Display"/>
              </a:rPr>
              <a:t>10.10%</a:t>
            </a:r>
          </a:p>
        </p:txBody>
      </p:sp>
      <p:cxnSp>
        <p:nvCxnSpPr>
          <p:cNvPr id="30" name="Connector 29"/>
          <p:cNvCxnSpPr/>
          <p:nvPr/>
        </p:nvCxnSpPr>
        <p:spPr>
          <a:xfrm>
            <a:off x="5157216" y="2999232"/>
            <a:ext cx="182880" cy="0"/>
          </a:xfrm>
          <a:prstGeom prst="line">
            <a:avLst/>
          </a:prstGeom>
          <a:ln w="20320">
            <a:solidFill>
              <a:srgbClr val="D8D1C6"/>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5385816" y="2359152"/>
            <a:ext cx="1234440" cy="329184"/>
          </a:xfrm>
          <a:prstGeom prst="roundRect">
            <a:avLst/>
          </a:prstGeom>
          <a:solidFill>
            <a:srgbClr val="F7F3EC"/>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385816" y="2432304"/>
            <a:ext cx="1234440" cy="146304"/>
          </a:xfrm>
          <a:prstGeom prst="rect">
            <a:avLst/>
          </a:prstGeom>
          <a:noFill/>
        </p:spPr>
        <p:txBody>
          <a:bodyPr wrap="square" lIns="27432" rIns="27432" tIns="27432" bIns="27432" anchor="t">
            <a:spAutoFit/>
          </a:bodyPr>
          <a:lstStyle/>
          <a:p>
            <a:pPr algn="ctr"/>
            <a:r>
              <a:rPr sz="1000" b="1">
                <a:solidFill>
                  <a:srgbClr val="5F6B63"/>
                </a:solidFill>
                <a:latin typeface="Aptos"/>
              </a:rPr>
              <a:t>2022</a:t>
            </a:r>
          </a:p>
        </p:txBody>
      </p:sp>
      <p:sp>
        <p:nvSpPr>
          <p:cNvPr id="33" name="Rounded Rectangle 32"/>
          <p:cNvSpPr/>
          <p:nvPr/>
        </p:nvSpPr>
        <p:spPr>
          <a:xfrm>
            <a:off x="5385816" y="2852928"/>
            <a:ext cx="1234440" cy="274320"/>
          </a:xfrm>
          <a:prstGeom prst="roundRect">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04104" y="2857500"/>
            <a:ext cx="1197864" cy="219456"/>
          </a:xfrm>
          <a:prstGeom prst="rect">
            <a:avLst/>
          </a:prstGeom>
          <a:noFill/>
        </p:spPr>
        <p:txBody>
          <a:bodyPr wrap="square" lIns="27432" rIns="27432" tIns="27432" bIns="27432" anchor="ctr">
            <a:spAutoFit/>
          </a:bodyPr>
          <a:lstStyle/>
          <a:p>
            <a:pPr algn="ctr"/>
            <a:r>
              <a:rPr sz="1100" b="1">
                <a:solidFill>
                  <a:srgbClr val="FCFAF5"/>
                </a:solidFill>
                <a:latin typeface="Aptos"/>
              </a:rPr>
              <a:t>ORLANDO</a:t>
            </a:r>
          </a:p>
        </p:txBody>
      </p:sp>
      <p:sp>
        <p:nvSpPr>
          <p:cNvPr id="35" name="TextBox 34"/>
          <p:cNvSpPr txBox="1"/>
          <p:nvPr/>
        </p:nvSpPr>
        <p:spPr>
          <a:xfrm>
            <a:off x="5385816" y="3310128"/>
            <a:ext cx="1234440" cy="164592"/>
          </a:xfrm>
          <a:prstGeom prst="rect">
            <a:avLst/>
          </a:prstGeom>
          <a:noFill/>
        </p:spPr>
        <p:txBody>
          <a:bodyPr wrap="square" lIns="27432" rIns="27432" tIns="27432" bIns="27432" anchor="t">
            <a:spAutoFit/>
          </a:bodyPr>
          <a:lstStyle/>
          <a:p>
            <a:pPr algn="ctr"/>
            <a:r>
              <a:rPr sz="1200" b="1">
                <a:solidFill>
                  <a:srgbClr val="C58A2A"/>
                </a:solidFill>
                <a:latin typeface="Aptos Display"/>
              </a:rPr>
              <a:t>12.87%</a:t>
            </a:r>
          </a:p>
        </p:txBody>
      </p:sp>
      <p:cxnSp>
        <p:nvCxnSpPr>
          <p:cNvPr id="36" name="Connector 35"/>
          <p:cNvCxnSpPr/>
          <p:nvPr/>
        </p:nvCxnSpPr>
        <p:spPr>
          <a:xfrm>
            <a:off x="6647688" y="2999232"/>
            <a:ext cx="182880" cy="0"/>
          </a:xfrm>
          <a:prstGeom prst="line">
            <a:avLst/>
          </a:prstGeom>
          <a:ln w="20320">
            <a:solidFill>
              <a:srgbClr val="D8D1C6"/>
            </a:solidFill>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6876288" y="2359152"/>
            <a:ext cx="1234440" cy="329184"/>
          </a:xfrm>
          <a:prstGeom prst="roundRect">
            <a:avLst/>
          </a:prstGeom>
          <a:solidFill>
            <a:srgbClr val="F7F3EC"/>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76288" y="2432304"/>
            <a:ext cx="1234440" cy="146304"/>
          </a:xfrm>
          <a:prstGeom prst="rect">
            <a:avLst/>
          </a:prstGeom>
          <a:noFill/>
        </p:spPr>
        <p:txBody>
          <a:bodyPr wrap="square" lIns="27432" rIns="27432" tIns="27432" bIns="27432" anchor="t">
            <a:spAutoFit/>
          </a:bodyPr>
          <a:lstStyle/>
          <a:p>
            <a:pPr algn="ctr"/>
            <a:r>
              <a:rPr sz="1000" b="1">
                <a:solidFill>
                  <a:srgbClr val="5F6B63"/>
                </a:solidFill>
                <a:latin typeface="Aptos"/>
              </a:rPr>
              <a:t>2023</a:t>
            </a:r>
          </a:p>
        </p:txBody>
      </p:sp>
      <p:sp>
        <p:nvSpPr>
          <p:cNvPr id="39" name="Rounded Rectangle 38"/>
          <p:cNvSpPr/>
          <p:nvPr/>
        </p:nvSpPr>
        <p:spPr>
          <a:xfrm>
            <a:off x="6876288" y="2852928"/>
            <a:ext cx="1234440" cy="274320"/>
          </a:xfrm>
          <a:prstGeom prst="roundRect">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894576" y="2857500"/>
            <a:ext cx="1197864" cy="219456"/>
          </a:xfrm>
          <a:prstGeom prst="rect">
            <a:avLst/>
          </a:prstGeom>
          <a:noFill/>
        </p:spPr>
        <p:txBody>
          <a:bodyPr wrap="square" lIns="27432" rIns="27432" tIns="27432" bIns="27432" anchor="ctr">
            <a:spAutoFit/>
          </a:bodyPr>
          <a:lstStyle/>
          <a:p>
            <a:pPr algn="ctr"/>
            <a:r>
              <a:rPr sz="1100" b="1">
                <a:solidFill>
                  <a:srgbClr val="FCFAF5"/>
                </a:solidFill>
                <a:latin typeface="Aptos"/>
              </a:rPr>
              <a:t>SEATTLE</a:t>
            </a:r>
          </a:p>
        </p:txBody>
      </p:sp>
      <p:sp>
        <p:nvSpPr>
          <p:cNvPr id="41" name="TextBox 40"/>
          <p:cNvSpPr txBox="1"/>
          <p:nvPr/>
        </p:nvSpPr>
        <p:spPr>
          <a:xfrm>
            <a:off x="6876288" y="3310128"/>
            <a:ext cx="1234440" cy="164592"/>
          </a:xfrm>
          <a:prstGeom prst="rect">
            <a:avLst/>
          </a:prstGeom>
          <a:noFill/>
        </p:spPr>
        <p:txBody>
          <a:bodyPr wrap="square" lIns="27432" rIns="27432" tIns="27432" bIns="27432" anchor="t">
            <a:spAutoFit/>
          </a:bodyPr>
          <a:lstStyle/>
          <a:p>
            <a:pPr algn="ctr"/>
            <a:r>
              <a:rPr sz="1200" b="1">
                <a:solidFill>
                  <a:srgbClr val="355C47"/>
                </a:solidFill>
                <a:latin typeface="Aptos Display"/>
              </a:rPr>
              <a:t>10.40%</a:t>
            </a:r>
          </a:p>
        </p:txBody>
      </p:sp>
      <p:cxnSp>
        <p:nvCxnSpPr>
          <p:cNvPr id="42" name="Connector 41"/>
          <p:cNvCxnSpPr/>
          <p:nvPr/>
        </p:nvCxnSpPr>
        <p:spPr>
          <a:xfrm>
            <a:off x="8138160" y="2999232"/>
            <a:ext cx="182880" cy="0"/>
          </a:xfrm>
          <a:prstGeom prst="line">
            <a:avLst/>
          </a:prstGeom>
          <a:ln w="20320">
            <a:solidFill>
              <a:srgbClr val="D8D1C6"/>
            </a:solidFill>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8366759" y="2359152"/>
            <a:ext cx="1234440" cy="329184"/>
          </a:xfrm>
          <a:prstGeom prst="roundRect">
            <a:avLst/>
          </a:prstGeom>
          <a:solidFill>
            <a:srgbClr val="F7F3EC"/>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366759" y="2432304"/>
            <a:ext cx="1234440" cy="146304"/>
          </a:xfrm>
          <a:prstGeom prst="rect">
            <a:avLst/>
          </a:prstGeom>
          <a:noFill/>
        </p:spPr>
        <p:txBody>
          <a:bodyPr wrap="square" lIns="27432" rIns="27432" tIns="27432" bIns="27432" anchor="t">
            <a:spAutoFit/>
          </a:bodyPr>
          <a:lstStyle/>
          <a:p>
            <a:pPr algn="ctr"/>
            <a:r>
              <a:rPr sz="1000" b="1">
                <a:solidFill>
                  <a:srgbClr val="5F6B63"/>
                </a:solidFill>
                <a:latin typeface="Aptos"/>
              </a:rPr>
              <a:t>2024</a:t>
            </a:r>
          </a:p>
        </p:txBody>
      </p:sp>
      <p:sp>
        <p:nvSpPr>
          <p:cNvPr id="45" name="Rounded Rectangle 44"/>
          <p:cNvSpPr/>
          <p:nvPr/>
        </p:nvSpPr>
        <p:spPr>
          <a:xfrm>
            <a:off x="8366759" y="2852928"/>
            <a:ext cx="1234440" cy="274320"/>
          </a:xfrm>
          <a:prstGeom prst="roundRect">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385047" y="2857500"/>
            <a:ext cx="1197864" cy="219456"/>
          </a:xfrm>
          <a:prstGeom prst="rect">
            <a:avLst/>
          </a:prstGeom>
          <a:noFill/>
        </p:spPr>
        <p:txBody>
          <a:bodyPr wrap="square" lIns="27432" rIns="27432" tIns="27432" bIns="27432" anchor="ctr">
            <a:spAutoFit/>
          </a:bodyPr>
          <a:lstStyle/>
          <a:p>
            <a:pPr algn="ctr"/>
            <a:r>
              <a:rPr sz="1100" b="1">
                <a:solidFill>
                  <a:srgbClr val="FCFAF5"/>
                </a:solidFill>
                <a:latin typeface="Aptos"/>
              </a:rPr>
              <a:t>SEATTLE</a:t>
            </a:r>
          </a:p>
        </p:txBody>
      </p:sp>
      <p:sp>
        <p:nvSpPr>
          <p:cNvPr id="47" name="TextBox 46"/>
          <p:cNvSpPr txBox="1"/>
          <p:nvPr/>
        </p:nvSpPr>
        <p:spPr>
          <a:xfrm>
            <a:off x="8366759" y="3310128"/>
            <a:ext cx="1234440" cy="164592"/>
          </a:xfrm>
          <a:prstGeom prst="rect">
            <a:avLst/>
          </a:prstGeom>
          <a:noFill/>
        </p:spPr>
        <p:txBody>
          <a:bodyPr wrap="square" lIns="27432" rIns="27432" tIns="27432" bIns="27432" anchor="t">
            <a:spAutoFit/>
          </a:bodyPr>
          <a:lstStyle/>
          <a:p>
            <a:pPr algn="ctr"/>
            <a:r>
              <a:rPr sz="1200" b="1">
                <a:solidFill>
                  <a:srgbClr val="355C47"/>
                </a:solidFill>
                <a:latin typeface="Aptos Display"/>
              </a:rPr>
              <a:t>11.19%</a:t>
            </a:r>
          </a:p>
        </p:txBody>
      </p:sp>
      <p:cxnSp>
        <p:nvCxnSpPr>
          <p:cNvPr id="48" name="Connector 47"/>
          <p:cNvCxnSpPr/>
          <p:nvPr/>
        </p:nvCxnSpPr>
        <p:spPr>
          <a:xfrm>
            <a:off x="9628631" y="2999232"/>
            <a:ext cx="182880" cy="0"/>
          </a:xfrm>
          <a:prstGeom prst="line">
            <a:avLst/>
          </a:prstGeom>
          <a:ln w="20320">
            <a:solidFill>
              <a:srgbClr val="D8D1C6"/>
            </a:solidFill>
          </a:ln>
        </p:spPr>
        <p:style>
          <a:lnRef idx="2">
            <a:schemeClr val="accent1"/>
          </a:lnRef>
          <a:fillRef idx="0">
            <a:schemeClr val="accent1"/>
          </a:fillRef>
          <a:effectRef idx="1">
            <a:schemeClr val="accent1"/>
          </a:effectRef>
          <a:fontRef idx="minor">
            <a:schemeClr val="tx1"/>
          </a:fontRef>
        </p:style>
      </p:cxnSp>
      <p:sp>
        <p:nvSpPr>
          <p:cNvPr id="49" name="Rounded Rectangle 48"/>
          <p:cNvSpPr/>
          <p:nvPr/>
        </p:nvSpPr>
        <p:spPr>
          <a:xfrm>
            <a:off x="9857232" y="2359152"/>
            <a:ext cx="1234440" cy="329184"/>
          </a:xfrm>
          <a:prstGeom prst="roundRect">
            <a:avLst/>
          </a:prstGeom>
          <a:solidFill>
            <a:srgbClr val="F7F3EC"/>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857232" y="2432304"/>
            <a:ext cx="1234440" cy="146304"/>
          </a:xfrm>
          <a:prstGeom prst="rect">
            <a:avLst/>
          </a:prstGeom>
          <a:noFill/>
        </p:spPr>
        <p:txBody>
          <a:bodyPr wrap="square" lIns="27432" rIns="27432" tIns="27432" bIns="27432" anchor="t">
            <a:spAutoFit/>
          </a:bodyPr>
          <a:lstStyle/>
          <a:p>
            <a:pPr algn="ctr"/>
            <a:r>
              <a:rPr sz="1000" b="1">
                <a:solidFill>
                  <a:srgbClr val="5F6B63"/>
                </a:solidFill>
                <a:latin typeface="Aptos"/>
              </a:rPr>
              <a:t>2025 H1</a:t>
            </a:r>
          </a:p>
        </p:txBody>
      </p:sp>
      <p:sp>
        <p:nvSpPr>
          <p:cNvPr id="51" name="Rounded Rectangle 50"/>
          <p:cNvSpPr/>
          <p:nvPr/>
        </p:nvSpPr>
        <p:spPr>
          <a:xfrm>
            <a:off x="9857232" y="2852928"/>
            <a:ext cx="1234440" cy="274320"/>
          </a:xfrm>
          <a:prstGeom prst="roundRect">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875520" y="2857500"/>
            <a:ext cx="1197864" cy="219456"/>
          </a:xfrm>
          <a:prstGeom prst="rect">
            <a:avLst/>
          </a:prstGeom>
          <a:noFill/>
        </p:spPr>
        <p:txBody>
          <a:bodyPr wrap="square" lIns="27432" rIns="27432" tIns="27432" bIns="27432" anchor="ctr">
            <a:spAutoFit/>
          </a:bodyPr>
          <a:lstStyle/>
          <a:p>
            <a:pPr algn="ctr"/>
            <a:r>
              <a:rPr sz="1100" b="1">
                <a:solidFill>
                  <a:srgbClr val="FCFAF5"/>
                </a:solidFill>
                <a:latin typeface="Aptos"/>
              </a:rPr>
              <a:t>CHARLOTTE</a:t>
            </a:r>
          </a:p>
        </p:txBody>
      </p:sp>
      <p:sp>
        <p:nvSpPr>
          <p:cNvPr id="53" name="TextBox 52"/>
          <p:cNvSpPr txBox="1"/>
          <p:nvPr/>
        </p:nvSpPr>
        <p:spPr>
          <a:xfrm>
            <a:off x="9857232" y="3310128"/>
            <a:ext cx="1234440" cy="164592"/>
          </a:xfrm>
          <a:prstGeom prst="rect">
            <a:avLst/>
          </a:prstGeom>
          <a:noFill/>
        </p:spPr>
        <p:txBody>
          <a:bodyPr wrap="square" lIns="27432" rIns="27432" tIns="27432" bIns="27432" anchor="t">
            <a:spAutoFit/>
          </a:bodyPr>
          <a:lstStyle/>
          <a:p>
            <a:pPr algn="ctr"/>
            <a:r>
              <a:rPr sz="1200" b="1">
                <a:solidFill>
                  <a:srgbClr val="3F728A"/>
                </a:solidFill>
                <a:latin typeface="Aptos Display"/>
              </a:rPr>
              <a:t>9.45%</a:t>
            </a:r>
          </a:p>
        </p:txBody>
      </p:sp>
      <p:sp>
        <p:nvSpPr>
          <p:cNvPr id="54" name="Rounded Rectangle 53"/>
          <p:cNvSpPr/>
          <p:nvPr/>
        </p:nvSpPr>
        <p:spPr>
          <a:xfrm>
            <a:off x="932688" y="3968496"/>
            <a:ext cx="10195560" cy="1115568"/>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60704" y="4069080"/>
            <a:ext cx="3142488" cy="146304"/>
          </a:xfrm>
          <a:prstGeom prst="rect">
            <a:avLst/>
          </a:prstGeom>
          <a:noFill/>
        </p:spPr>
        <p:txBody>
          <a:bodyPr wrap="square" lIns="27432" rIns="27432" tIns="27432" bIns="27432" anchor="t">
            <a:spAutoFit/>
          </a:bodyPr>
          <a:lstStyle/>
          <a:p>
            <a:pPr algn="l"/>
            <a:r>
              <a:rPr sz="1000" b="1">
                <a:solidFill>
                  <a:srgbClr val="5F6B63"/>
                </a:solidFill>
                <a:latin typeface="Aptos"/>
              </a:rPr>
              <a:t>MOST FREQUENT LEADER</a:t>
            </a:r>
          </a:p>
        </p:txBody>
      </p:sp>
      <p:sp>
        <p:nvSpPr>
          <p:cNvPr id="56" name="TextBox 55"/>
          <p:cNvSpPr txBox="1"/>
          <p:nvPr/>
        </p:nvSpPr>
        <p:spPr>
          <a:xfrm>
            <a:off x="1060704" y="4224528"/>
            <a:ext cx="3142488" cy="237744"/>
          </a:xfrm>
          <a:prstGeom prst="rect">
            <a:avLst/>
          </a:prstGeom>
          <a:noFill/>
        </p:spPr>
        <p:txBody>
          <a:bodyPr wrap="square" lIns="27432" rIns="27432" tIns="27432" bIns="27432" anchor="t">
            <a:spAutoFit/>
          </a:bodyPr>
          <a:lstStyle/>
          <a:p>
            <a:pPr algn="l"/>
            <a:r>
              <a:rPr sz="1800" b="1">
                <a:solidFill>
                  <a:srgbClr val="355C47"/>
                </a:solidFill>
                <a:latin typeface="Aptos Display"/>
              </a:rPr>
              <a:t>Seattle</a:t>
            </a:r>
          </a:p>
        </p:txBody>
      </p:sp>
      <p:sp>
        <p:nvSpPr>
          <p:cNvPr id="57" name="TextBox 56"/>
          <p:cNvSpPr txBox="1"/>
          <p:nvPr/>
        </p:nvSpPr>
        <p:spPr>
          <a:xfrm>
            <a:off x="1060704" y="4480560"/>
            <a:ext cx="3142488" cy="512064"/>
          </a:xfrm>
          <a:prstGeom prst="rect">
            <a:avLst/>
          </a:prstGeom>
          <a:noFill/>
        </p:spPr>
        <p:txBody>
          <a:bodyPr wrap="square" lIns="27432" rIns="27432" tIns="27432" bIns="27432" anchor="t">
            <a:spAutoFit/>
          </a:bodyPr>
          <a:lstStyle/>
          <a:p>
            <a:pPr algn="l"/>
            <a:r>
              <a:rPr sz="1100" b="0">
                <a:solidFill>
                  <a:srgbClr val="1F2621"/>
                </a:solidFill>
                <a:latin typeface="Aptos"/>
              </a:rPr>
              <a:t>Wins 5 of the 7 measured periods and is the clearest indicator of organic readiness.</a:t>
            </a:r>
          </a:p>
        </p:txBody>
      </p:sp>
      <p:cxnSp>
        <p:nvCxnSpPr>
          <p:cNvPr id="58" name="Connector 57"/>
          <p:cNvCxnSpPr/>
          <p:nvPr/>
        </p:nvCxnSpPr>
        <p:spPr>
          <a:xfrm>
            <a:off x="4331208" y="4133088"/>
            <a:ext cx="0" cy="786384"/>
          </a:xfrm>
          <a:prstGeom prst="line">
            <a:avLst/>
          </a:prstGeom>
          <a:ln w="12700">
            <a:solidFill>
              <a:srgbClr val="D8D1C6"/>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4459224" y="4069080"/>
            <a:ext cx="3142488" cy="146304"/>
          </a:xfrm>
          <a:prstGeom prst="rect">
            <a:avLst/>
          </a:prstGeom>
          <a:noFill/>
        </p:spPr>
        <p:txBody>
          <a:bodyPr wrap="square" lIns="27432" rIns="27432" tIns="27432" bIns="27432" anchor="t">
            <a:spAutoFit/>
          </a:bodyPr>
          <a:lstStyle/>
          <a:p>
            <a:pPr algn="l"/>
            <a:r>
              <a:rPr sz="1000" b="1">
                <a:solidFill>
                  <a:srgbClr val="5F6B63"/>
                </a:solidFill>
                <a:latin typeface="Aptos"/>
              </a:rPr>
              <a:t>BEST ONE-YEAR SHARE</a:t>
            </a:r>
          </a:p>
        </p:txBody>
      </p:sp>
      <p:sp>
        <p:nvSpPr>
          <p:cNvPr id="60" name="TextBox 59"/>
          <p:cNvSpPr txBox="1"/>
          <p:nvPr/>
        </p:nvSpPr>
        <p:spPr>
          <a:xfrm>
            <a:off x="4459224" y="4224528"/>
            <a:ext cx="3142488" cy="237744"/>
          </a:xfrm>
          <a:prstGeom prst="rect">
            <a:avLst/>
          </a:prstGeom>
          <a:noFill/>
        </p:spPr>
        <p:txBody>
          <a:bodyPr wrap="square" lIns="27432" rIns="27432" tIns="27432" bIns="27432" anchor="t">
            <a:spAutoFit/>
          </a:bodyPr>
          <a:lstStyle/>
          <a:p>
            <a:pPr algn="l"/>
            <a:r>
              <a:rPr sz="1800" b="1">
                <a:solidFill>
                  <a:srgbClr val="3F728A"/>
                </a:solidFill>
                <a:latin typeface="Aptos Display"/>
              </a:rPr>
              <a:t>Orlando 12.87%</a:t>
            </a:r>
          </a:p>
        </p:txBody>
      </p:sp>
      <p:sp>
        <p:nvSpPr>
          <p:cNvPr id="61" name="TextBox 60"/>
          <p:cNvSpPr txBox="1"/>
          <p:nvPr/>
        </p:nvSpPr>
        <p:spPr>
          <a:xfrm>
            <a:off x="4459224" y="4480560"/>
            <a:ext cx="3142488" cy="512064"/>
          </a:xfrm>
          <a:prstGeom prst="rect">
            <a:avLst/>
          </a:prstGeom>
          <a:noFill/>
        </p:spPr>
        <p:txBody>
          <a:bodyPr wrap="square" lIns="27432" rIns="27432" tIns="27432" bIns="27432" anchor="t">
            <a:spAutoFit/>
          </a:bodyPr>
          <a:lstStyle/>
          <a:p>
            <a:pPr algn="l"/>
            <a:r>
              <a:rPr sz="1100" b="0">
                <a:solidFill>
                  <a:srgbClr val="1F2621"/>
                </a:solidFill>
                <a:latin typeface="Aptos"/>
              </a:rPr>
              <a:t>Orlando peaks in 2022, but it does not sustain the same multi-period lead.</a:t>
            </a:r>
          </a:p>
        </p:txBody>
      </p:sp>
      <p:cxnSp>
        <p:nvCxnSpPr>
          <p:cNvPr id="62" name="Connector 61"/>
          <p:cNvCxnSpPr/>
          <p:nvPr/>
        </p:nvCxnSpPr>
        <p:spPr>
          <a:xfrm>
            <a:off x="7729728" y="4133088"/>
            <a:ext cx="0" cy="786384"/>
          </a:xfrm>
          <a:prstGeom prst="line">
            <a:avLst/>
          </a:prstGeom>
          <a:ln w="12700">
            <a:solidFill>
              <a:srgbClr val="D8D1C6"/>
            </a:solidFill>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7857744" y="4069080"/>
            <a:ext cx="3142488" cy="146304"/>
          </a:xfrm>
          <a:prstGeom prst="rect">
            <a:avLst/>
          </a:prstGeom>
          <a:noFill/>
        </p:spPr>
        <p:txBody>
          <a:bodyPr wrap="square" lIns="27432" rIns="27432" tIns="27432" bIns="27432" anchor="t">
            <a:spAutoFit/>
          </a:bodyPr>
          <a:lstStyle/>
          <a:p>
            <a:pPr algn="l"/>
            <a:r>
              <a:rPr sz="1000" b="1">
                <a:solidFill>
                  <a:srgbClr val="5F6B63"/>
                </a:solidFill>
                <a:latin typeface="Aptos"/>
              </a:rPr>
              <a:t>CURRENT H1 LEADER</a:t>
            </a:r>
          </a:p>
        </p:txBody>
      </p:sp>
      <p:sp>
        <p:nvSpPr>
          <p:cNvPr id="64" name="TextBox 63"/>
          <p:cNvSpPr txBox="1"/>
          <p:nvPr/>
        </p:nvSpPr>
        <p:spPr>
          <a:xfrm>
            <a:off x="7857744" y="4224528"/>
            <a:ext cx="3142488" cy="237744"/>
          </a:xfrm>
          <a:prstGeom prst="rect">
            <a:avLst/>
          </a:prstGeom>
          <a:noFill/>
        </p:spPr>
        <p:txBody>
          <a:bodyPr wrap="square" lIns="27432" rIns="27432" tIns="27432" bIns="27432" anchor="t">
            <a:spAutoFit/>
          </a:bodyPr>
          <a:lstStyle/>
          <a:p>
            <a:pPr algn="l"/>
            <a:r>
              <a:rPr sz="1800" b="1">
                <a:solidFill>
                  <a:srgbClr val="C58A2A"/>
                </a:solidFill>
                <a:latin typeface="Aptos Display"/>
              </a:rPr>
              <a:t>Charlotte 9.45%</a:t>
            </a:r>
          </a:p>
        </p:txBody>
      </p:sp>
      <p:sp>
        <p:nvSpPr>
          <p:cNvPr id="65" name="TextBox 64"/>
          <p:cNvSpPr txBox="1"/>
          <p:nvPr/>
        </p:nvSpPr>
        <p:spPr>
          <a:xfrm>
            <a:off x="7857744" y="4480560"/>
            <a:ext cx="3142488" cy="512064"/>
          </a:xfrm>
          <a:prstGeom prst="rect">
            <a:avLst/>
          </a:prstGeom>
          <a:noFill/>
        </p:spPr>
        <p:txBody>
          <a:bodyPr wrap="square" lIns="27432" rIns="27432" tIns="27432" bIns="27432" anchor="t">
            <a:spAutoFit/>
          </a:bodyPr>
          <a:lstStyle/>
          <a:p>
            <a:pPr algn="l"/>
            <a:r>
              <a:rPr sz="1100" b="0">
                <a:solidFill>
                  <a:srgbClr val="1F2621"/>
                </a:solidFill>
                <a:latin typeface="Aptos"/>
              </a:rPr>
              <a:t>Charlotte leads 2025 H1, showing that penetration leadership is not static.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55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46920" y="0"/>
            <a:ext cx="2542032" cy="73152"/>
          </a:xfrm>
          <a:prstGeom prst="rect">
            <a:avLst/>
          </a:prstGeom>
          <a:solidFill>
            <a:srgbClr val="C58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01168"/>
            <a:ext cx="1554480" cy="256032"/>
          </a:xfrm>
          <a:prstGeom prst="roundRect">
            <a:avLst/>
          </a:prstGeom>
          <a:solidFill>
            <a:srgbClr val="FCFAF5"/>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224028"/>
            <a:ext cx="1517904" cy="182880"/>
          </a:xfrm>
          <a:prstGeom prst="rect">
            <a:avLst/>
          </a:prstGeom>
          <a:noFill/>
        </p:spPr>
        <p:txBody>
          <a:bodyPr wrap="square" lIns="27432" rIns="27432" tIns="27432" bIns="27432" anchor="t">
            <a:spAutoFit/>
          </a:bodyPr>
          <a:lstStyle/>
          <a:p>
            <a:pPr algn="ctr"/>
            <a:r>
              <a:rPr sz="1000" b="1">
                <a:solidFill>
                  <a:srgbClr val="355C47"/>
                </a:solidFill>
                <a:latin typeface="Aptos"/>
              </a:rPr>
              <a:t>MARKET ANALYSIS</a:t>
            </a:r>
          </a:p>
        </p:txBody>
      </p:sp>
      <p:sp>
        <p:nvSpPr>
          <p:cNvPr id="7" name="Rounded Rectangle 6"/>
          <p:cNvSpPr/>
          <p:nvPr/>
        </p:nvSpPr>
        <p:spPr>
          <a:xfrm>
            <a:off x="2267712" y="201168"/>
            <a:ext cx="713232" cy="256032"/>
          </a:xfrm>
          <a:prstGeom prst="roundRect">
            <a:avLst/>
          </a:prstGeom>
          <a:solidFill>
            <a:srgbClr val="FFFDF9"/>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0" y="224028"/>
            <a:ext cx="676656" cy="182880"/>
          </a:xfrm>
          <a:prstGeom prst="rect">
            <a:avLst/>
          </a:prstGeom>
          <a:noFill/>
        </p:spPr>
        <p:txBody>
          <a:bodyPr wrap="square" lIns="27432" rIns="27432" tIns="27432" bIns="27432" anchor="t">
            <a:spAutoFit/>
          </a:bodyPr>
          <a:lstStyle/>
          <a:p>
            <a:pPr algn="ctr"/>
            <a:r>
              <a:rPr sz="1000" b="1">
                <a:solidFill>
                  <a:srgbClr val="C58A2A"/>
                </a:solidFill>
                <a:latin typeface="Aptos"/>
              </a:rPr>
              <a:t>Q3</a:t>
            </a:r>
          </a:p>
        </p:txBody>
      </p:sp>
      <p:sp>
        <p:nvSpPr>
          <p:cNvPr id="9" name="TextBox 8"/>
          <p:cNvSpPr txBox="1"/>
          <p:nvPr/>
        </p:nvSpPr>
        <p:spPr>
          <a:xfrm>
            <a:off x="11631168" y="6519672"/>
            <a:ext cx="274320" cy="164592"/>
          </a:xfrm>
          <a:prstGeom prst="rect">
            <a:avLst/>
          </a:prstGeom>
          <a:noFill/>
        </p:spPr>
        <p:txBody>
          <a:bodyPr wrap="square" lIns="27432" rIns="27432" tIns="27432" bIns="27432" anchor="t">
            <a:spAutoFit/>
          </a:bodyPr>
          <a:lstStyle/>
          <a:p>
            <a:pPr algn="r"/>
            <a:r>
              <a:rPr sz="900" b="0">
                <a:solidFill>
                  <a:srgbClr val="5F6B63"/>
                </a:solidFill>
                <a:latin typeface="Aptos"/>
              </a:rPr>
              <a:t>9</a:t>
            </a:r>
          </a:p>
        </p:txBody>
      </p:sp>
      <p:sp>
        <p:nvSpPr>
          <p:cNvPr id="10" name="TextBox 9"/>
          <p:cNvSpPr txBox="1"/>
          <p:nvPr/>
        </p:nvSpPr>
        <p:spPr>
          <a:xfrm>
            <a:off x="548640" y="658368"/>
            <a:ext cx="10332720" cy="868680"/>
          </a:xfrm>
          <a:prstGeom prst="rect">
            <a:avLst/>
          </a:prstGeom>
          <a:noFill/>
        </p:spPr>
        <p:txBody>
          <a:bodyPr wrap="square" lIns="27432" rIns="27432" tIns="27432" bIns="27432" anchor="t">
            <a:spAutoFit/>
          </a:bodyPr>
          <a:lstStyle/>
          <a:p>
            <a:pPr algn="l"/>
            <a:r>
              <a:rPr sz="2700" b="1">
                <a:solidFill>
                  <a:srgbClr val="355C47"/>
                </a:solidFill>
                <a:latin typeface="Aptos Display"/>
              </a:rPr>
              <a:t>Higher-priced markets sell fewer avocados overall, but price explains only part of volume</a:t>
            </a:r>
          </a:p>
        </p:txBody>
      </p:sp>
      <p:sp>
        <p:nvSpPr>
          <p:cNvPr id="11" name="Rounded Rectangle 10"/>
          <p:cNvSpPr/>
          <p:nvPr/>
        </p:nvSpPr>
        <p:spPr>
          <a:xfrm>
            <a:off x="749808" y="1664208"/>
            <a:ext cx="6766560" cy="4334256"/>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0976" y="1901952"/>
            <a:ext cx="2011680" cy="146304"/>
          </a:xfrm>
          <a:prstGeom prst="rect">
            <a:avLst/>
          </a:prstGeom>
          <a:noFill/>
        </p:spPr>
        <p:txBody>
          <a:bodyPr wrap="square" lIns="27432" rIns="27432" tIns="27432" bIns="27432" anchor="t">
            <a:spAutoFit/>
          </a:bodyPr>
          <a:lstStyle/>
          <a:p>
            <a:pPr algn="l"/>
            <a:r>
              <a:rPr sz="1000" b="1">
                <a:solidFill>
                  <a:srgbClr val="5F6B63"/>
                </a:solidFill>
                <a:latin typeface="Aptos"/>
              </a:rPr>
              <a:t>CITY-YEAR OBSERVATIONS</a:t>
            </a:r>
          </a:p>
        </p:txBody>
      </p:sp>
      <p:sp>
        <p:nvSpPr>
          <p:cNvPr id="13" name="TextBox 12"/>
          <p:cNvSpPr txBox="1"/>
          <p:nvPr/>
        </p:nvSpPr>
        <p:spPr>
          <a:xfrm>
            <a:off x="2907792" y="1901952"/>
            <a:ext cx="1170432" cy="146304"/>
          </a:xfrm>
          <a:prstGeom prst="rect">
            <a:avLst/>
          </a:prstGeom>
          <a:noFill/>
        </p:spPr>
        <p:txBody>
          <a:bodyPr wrap="square" lIns="27432" rIns="27432" tIns="27432" bIns="27432" anchor="t">
            <a:spAutoFit/>
          </a:bodyPr>
          <a:lstStyle/>
          <a:p>
            <a:pPr algn="l"/>
            <a:r>
              <a:rPr sz="1000" b="1">
                <a:solidFill>
                  <a:srgbClr val="355C47"/>
                </a:solidFill>
                <a:latin typeface="Aptos"/>
              </a:rPr>
              <a:t>CONVENTIONAL</a:t>
            </a:r>
          </a:p>
        </p:txBody>
      </p:sp>
      <p:sp>
        <p:nvSpPr>
          <p:cNvPr id="14" name="TextBox 13"/>
          <p:cNvSpPr txBox="1"/>
          <p:nvPr/>
        </p:nvSpPr>
        <p:spPr>
          <a:xfrm>
            <a:off x="4169663" y="1901952"/>
            <a:ext cx="914400" cy="146304"/>
          </a:xfrm>
          <a:prstGeom prst="rect">
            <a:avLst/>
          </a:prstGeom>
          <a:noFill/>
        </p:spPr>
        <p:txBody>
          <a:bodyPr wrap="square" lIns="27432" rIns="27432" tIns="27432" bIns="27432" anchor="t">
            <a:spAutoFit/>
          </a:bodyPr>
          <a:lstStyle/>
          <a:p>
            <a:pPr algn="l"/>
            <a:r>
              <a:rPr sz="1000" b="1">
                <a:solidFill>
                  <a:srgbClr val="3F728A"/>
                </a:solidFill>
                <a:latin typeface="Aptos"/>
              </a:rPr>
              <a:t>ORGANIC</a:t>
            </a:r>
          </a:p>
        </p:txBody>
      </p:sp>
      <p:cxnSp>
        <p:nvCxnSpPr>
          <p:cNvPr id="15" name="Connector 14"/>
          <p:cNvCxnSpPr/>
          <p:nvPr/>
        </p:nvCxnSpPr>
        <p:spPr>
          <a:xfrm>
            <a:off x="1700784" y="5266944"/>
            <a:ext cx="5358384" cy="0"/>
          </a:xfrm>
          <a:prstGeom prst="line">
            <a:avLst/>
          </a:prstGeom>
          <a:ln w="15240">
            <a:solidFill>
              <a:srgbClr val="D8D1C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700784" y="2304288"/>
            <a:ext cx="0" cy="2962656"/>
          </a:xfrm>
          <a:prstGeom prst="line">
            <a:avLst/>
          </a:prstGeom>
          <a:ln w="15240">
            <a:solidFill>
              <a:srgbClr val="D8D1C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700784" y="2304288"/>
            <a:ext cx="0" cy="2962656"/>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444752" y="5340096"/>
            <a:ext cx="512064" cy="146304"/>
          </a:xfrm>
          <a:prstGeom prst="rect">
            <a:avLst/>
          </a:prstGeom>
          <a:noFill/>
        </p:spPr>
        <p:txBody>
          <a:bodyPr wrap="square" lIns="27432" rIns="27432" tIns="27432" bIns="27432" anchor="t">
            <a:spAutoFit/>
          </a:bodyPr>
          <a:lstStyle/>
          <a:p>
            <a:pPr algn="ctr"/>
            <a:r>
              <a:rPr sz="800" b="0">
                <a:solidFill>
                  <a:srgbClr val="5F6B63"/>
                </a:solidFill>
                <a:latin typeface="Aptos"/>
              </a:rPr>
              <a:t>$0.50</a:t>
            </a:r>
          </a:p>
        </p:txBody>
      </p:sp>
      <p:cxnSp>
        <p:nvCxnSpPr>
          <p:cNvPr id="19" name="Connector 18"/>
          <p:cNvCxnSpPr/>
          <p:nvPr/>
        </p:nvCxnSpPr>
        <p:spPr>
          <a:xfrm flipV="1">
            <a:off x="2772461" y="2304288"/>
            <a:ext cx="0" cy="2962656"/>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2516429" y="5340096"/>
            <a:ext cx="512064" cy="146304"/>
          </a:xfrm>
          <a:prstGeom prst="rect">
            <a:avLst/>
          </a:prstGeom>
          <a:noFill/>
        </p:spPr>
        <p:txBody>
          <a:bodyPr wrap="square" lIns="27432" rIns="27432" tIns="27432" bIns="27432" anchor="t">
            <a:spAutoFit/>
          </a:bodyPr>
          <a:lstStyle/>
          <a:p>
            <a:pPr algn="ctr"/>
            <a:r>
              <a:rPr sz="800" b="0">
                <a:solidFill>
                  <a:srgbClr val="5F6B63"/>
                </a:solidFill>
                <a:latin typeface="Aptos"/>
              </a:rPr>
              <a:t>$1.00</a:t>
            </a:r>
          </a:p>
        </p:txBody>
      </p:sp>
      <p:cxnSp>
        <p:nvCxnSpPr>
          <p:cNvPr id="21" name="Connector 20"/>
          <p:cNvCxnSpPr/>
          <p:nvPr/>
        </p:nvCxnSpPr>
        <p:spPr>
          <a:xfrm flipV="1">
            <a:off x="3844138" y="2304288"/>
            <a:ext cx="0" cy="2962656"/>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588106" y="5340096"/>
            <a:ext cx="512064" cy="146304"/>
          </a:xfrm>
          <a:prstGeom prst="rect">
            <a:avLst/>
          </a:prstGeom>
          <a:noFill/>
        </p:spPr>
        <p:txBody>
          <a:bodyPr wrap="square" lIns="27432" rIns="27432" tIns="27432" bIns="27432" anchor="t">
            <a:spAutoFit/>
          </a:bodyPr>
          <a:lstStyle/>
          <a:p>
            <a:pPr algn="ctr"/>
            <a:r>
              <a:rPr sz="800" b="0">
                <a:solidFill>
                  <a:srgbClr val="5F6B63"/>
                </a:solidFill>
                <a:latin typeface="Aptos"/>
              </a:rPr>
              <a:t>$1.50</a:t>
            </a:r>
          </a:p>
        </p:txBody>
      </p:sp>
      <p:cxnSp>
        <p:nvCxnSpPr>
          <p:cNvPr id="23" name="Connector 22"/>
          <p:cNvCxnSpPr/>
          <p:nvPr/>
        </p:nvCxnSpPr>
        <p:spPr>
          <a:xfrm flipV="1">
            <a:off x="4915814" y="2304288"/>
            <a:ext cx="0" cy="2962656"/>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659782" y="5340096"/>
            <a:ext cx="512064" cy="146304"/>
          </a:xfrm>
          <a:prstGeom prst="rect">
            <a:avLst/>
          </a:prstGeom>
          <a:noFill/>
        </p:spPr>
        <p:txBody>
          <a:bodyPr wrap="square" lIns="27432" rIns="27432" tIns="27432" bIns="27432" anchor="t">
            <a:spAutoFit/>
          </a:bodyPr>
          <a:lstStyle/>
          <a:p>
            <a:pPr algn="ctr"/>
            <a:r>
              <a:rPr sz="800" b="0">
                <a:solidFill>
                  <a:srgbClr val="5F6B63"/>
                </a:solidFill>
                <a:latin typeface="Aptos"/>
              </a:rPr>
              <a:t>$2.00</a:t>
            </a:r>
          </a:p>
        </p:txBody>
      </p:sp>
      <p:cxnSp>
        <p:nvCxnSpPr>
          <p:cNvPr id="25" name="Connector 24"/>
          <p:cNvCxnSpPr/>
          <p:nvPr/>
        </p:nvCxnSpPr>
        <p:spPr>
          <a:xfrm flipV="1">
            <a:off x="5987491" y="2304288"/>
            <a:ext cx="0" cy="2962656"/>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731459" y="5340096"/>
            <a:ext cx="512064" cy="146304"/>
          </a:xfrm>
          <a:prstGeom prst="rect">
            <a:avLst/>
          </a:prstGeom>
          <a:noFill/>
        </p:spPr>
        <p:txBody>
          <a:bodyPr wrap="square" lIns="27432" rIns="27432" tIns="27432" bIns="27432" anchor="t">
            <a:spAutoFit/>
          </a:bodyPr>
          <a:lstStyle/>
          <a:p>
            <a:pPr algn="ctr"/>
            <a:r>
              <a:rPr sz="800" b="0">
                <a:solidFill>
                  <a:srgbClr val="5F6B63"/>
                </a:solidFill>
                <a:latin typeface="Aptos"/>
              </a:rPr>
              <a:t>$2.50</a:t>
            </a:r>
          </a:p>
        </p:txBody>
      </p:sp>
      <p:cxnSp>
        <p:nvCxnSpPr>
          <p:cNvPr id="27" name="Connector 26"/>
          <p:cNvCxnSpPr/>
          <p:nvPr/>
        </p:nvCxnSpPr>
        <p:spPr>
          <a:xfrm flipV="1">
            <a:off x="7059168" y="2304288"/>
            <a:ext cx="0" cy="2962656"/>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803136" y="5340096"/>
            <a:ext cx="512064" cy="146304"/>
          </a:xfrm>
          <a:prstGeom prst="rect">
            <a:avLst/>
          </a:prstGeom>
          <a:noFill/>
        </p:spPr>
        <p:txBody>
          <a:bodyPr wrap="square" lIns="27432" rIns="27432" tIns="27432" bIns="27432" anchor="t">
            <a:spAutoFit/>
          </a:bodyPr>
          <a:lstStyle/>
          <a:p>
            <a:pPr algn="ctr"/>
            <a:r>
              <a:rPr sz="800" b="0">
                <a:solidFill>
                  <a:srgbClr val="5F6B63"/>
                </a:solidFill>
                <a:latin typeface="Aptos"/>
              </a:rPr>
              <a:t>$3.00</a:t>
            </a:r>
          </a:p>
        </p:txBody>
      </p:sp>
      <p:cxnSp>
        <p:nvCxnSpPr>
          <p:cNvPr id="29" name="Connector 28"/>
          <p:cNvCxnSpPr/>
          <p:nvPr/>
        </p:nvCxnSpPr>
        <p:spPr>
          <a:xfrm>
            <a:off x="1700784" y="5266944"/>
            <a:ext cx="5358384" cy="0"/>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969264" y="5193792"/>
            <a:ext cx="585216" cy="146304"/>
          </a:xfrm>
          <a:prstGeom prst="rect">
            <a:avLst/>
          </a:prstGeom>
          <a:noFill/>
        </p:spPr>
        <p:txBody>
          <a:bodyPr wrap="square" lIns="27432" rIns="27432" tIns="27432" bIns="27432" anchor="t">
            <a:spAutoFit/>
          </a:bodyPr>
          <a:lstStyle/>
          <a:p>
            <a:pPr algn="r"/>
            <a:r>
              <a:rPr sz="800" b="0">
                <a:solidFill>
                  <a:srgbClr val="5F6B63"/>
                </a:solidFill>
                <a:latin typeface="Aptos"/>
              </a:rPr>
              <a:t>0M</a:t>
            </a:r>
          </a:p>
        </p:txBody>
      </p:sp>
      <p:cxnSp>
        <p:nvCxnSpPr>
          <p:cNvPr id="31" name="Connector 30"/>
          <p:cNvCxnSpPr/>
          <p:nvPr/>
        </p:nvCxnSpPr>
        <p:spPr>
          <a:xfrm>
            <a:off x="1700784" y="4526280"/>
            <a:ext cx="5358384" cy="0"/>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969264" y="4453128"/>
            <a:ext cx="585216" cy="146304"/>
          </a:xfrm>
          <a:prstGeom prst="rect">
            <a:avLst/>
          </a:prstGeom>
          <a:noFill/>
        </p:spPr>
        <p:txBody>
          <a:bodyPr wrap="square" lIns="27432" rIns="27432" tIns="27432" bIns="27432" anchor="t">
            <a:spAutoFit/>
          </a:bodyPr>
          <a:lstStyle/>
          <a:p>
            <a:pPr algn="r"/>
            <a:r>
              <a:rPr sz="800" b="0">
                <a:solidFill>
                  <a:srgbClr val="5F6B63"/>
                </a:solidFill>
                <a:latin typeface="Aptos"/>
              </a:rPr>
              <a:t>50M</a:t>
            </a:r>
          </a:p>
        </p:txBody>
      </p:sp>
      <p:cxnSp>
        <p:nvCxnSpPr>
          <p:cNvPr id="33" name="Connector 32"/>
          <p:cNvCxnSpPr/>
          <p:nvPr/>
        </p:nvCxnSpPr>
        <p:spPr>
          <a:xfrm>
            <a:off x="1700784" y="3785616"/>
            <a:ext cx="5358384" cy="0"/>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969264" y="3712464"/>
            <a:ext cx="585216" cy="146304"/>
          </a:xfrm>
          <a:prstGeom prst="rect">
            <a:avLst/>
          </a:prstGeom>
          <a:noFill/>
        </p:spPr>
        <p:txBody>
          <a:bodyPr wrap="square" lIns="27432" rIns="27432" tIns="27432" bIns="27432" anchor="t">
            <a:spAutoFit/>
          </a:bodyPr>
          <a:lstStyle/>
          <a:p>
            <a:pPr algn="r"/>
            <a:r>
              <a:rPr sz="800" b="0">
                <a:solidFill>
                  <a:srgbClr val="5F6B63"/>
                </a:solidFill>
                <a:latin typeface="Aptos"/>
              </a:rPr>
              <a:t>100M</a:t>
            </a:r>
          </a:p>
        </p:txBody>
      </p:sp>
      <p:cxnSp>
        <p:nvCxnSpPr>
          <p:cNvPr id="35" name="Connector 34"/>
          <p:cNvCxnSpPr/>
          <p:nvPr/>
        </p:nvCxnSpPr>
        <p:spPr>
          <a:xfrm>
            <a:off x="1700784" y="3044952"/>
            <a:ext cx="5358384" cy="0"/>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969264" y="2971800"/>
            <a:ext cx="585216" cy="146304"/>
          </a:xfrm>
          <a:prstGeom prst="rect">
            <a:avLst/>
          </a:prstGeom>
          <a:noFill/>
        </p:spPr>
        <p:txBody>
          <a:bodyPr wrap="square" lIns="27432" rIns="27432" tIns="27432" bIns="27432" anchor="t">
            <a:spAutoFit/>
          </a:bodyPr>
          <a:lstStyle/>
          <a:p>
            <a:pPr algn="r"/>
            <a:r>
              <a:rPr sz="800" b="0">
                <a:solidFill>
                  <a:srgbClr val="5F6B63"/>
                </a:solidFill>
                <a:latin typeface="Aptos"/>
              </a:rPr>
              <a:t>150M</a:t>
            </a:r>
          </a:p>
        </p:txBody>
      </p:sp>
      <p:cxnSp>
        <p:nvCxnSpPr>
          <p:cNvPr id="37" name="Connector 36"/>
          <p:cNvCxnSpPr/>
          <p:nvPr/>
        </p:nvCxnSpPr>
        <p:spPr>
          <a:xfrm>
            <a:off x="1700784" y="2304288"/>
            <a:ext cx="5358384" cy="0"/>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969264" y="2231136"/>
            <a:ext cx="585216" cy="146304"/>
          </a:xfrm>
          <a:prstGeom prst="rect">
            <a:avLst/>
          </a:prstGeom>
          <a:noFill/>
        </p:spPr>
        <p:txBody>
          <a:bodyPr wrap="square" lIns="27432" rIns="27432" tIns="27432" bIns="27432" anchor="t">
            <a:spAutoFit/>
          </a:bodyPr>
          <a:lstStyle/>
          <a:p>
            <a:pPr algn="r"/>
            <a:r>
              <a:rPr sz="800" b="0">
                <a:solidFill>
                  <a:srgbClr val="5F6B63"/>
                </a:solidFill>
                <a:latin typeface="Aptos"/>
              </a:rPr>
              <a:t>200M</a:t>
            </a:r>
          </a:p>
        </p:txBody>
      </p:sp>
      <p:sp>
        <p:nvSpPr>
          <p:cNvPr id="39" name="Oval 38"/>
          <p:cNvSpPr/>
          <p:nvPr/>
        </p:nvSpPr>
        <p:spPr>
          <a:xfrm>
            <a:off x="3283855" y="5143221"/>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4271991" y="5223673"/>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2964051" y="4737422"/>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4750589" y="5209091"/>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3671665" y="4613604"/>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4144648" y="5188758"/>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3572171" y="5152663"/>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5014245" y="5223183"/>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3699477" y="4789481"/>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4833550" y="5210485"/>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3400536" y="5106003"/>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4224571" y="5217772"/>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3339172" y="5018412"/>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4207834" y="5214029"/>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3621374" y="4684489"/>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4200176" y="5192719"/>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3014476" y="5015646"/>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4941308" y="5214547"/>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2893740" y="5058353"/>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4641033" y="5218825"/>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2512277" y="4162539"/>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3783093" y="5205466"/>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3205449" y="4565459"/>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4269272" y="5202134"/>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3107754" y="4900553"/>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4557063" y="5213957"/>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3721762" y="5104534"/>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4295193" y="5221282"/>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3196859" y="5011119"/>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3781498" y="5213175"/>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3699940" y="5002314"/>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4889393" y="5214725"/>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2464272" y="4383867"/>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4218804" y="5212949"/>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2960126" y="5055805"/>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4589188" y="5220444"/>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3070002" y="5078241"/>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3877009" y="5220810"/>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3016816" y="4979111"/>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4406410" y="5217376"/>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3217461" y="3191942"/>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4417902" y="5150618"/>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3066111" y="5142759"/>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4736324" y="5222019"/>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2875433" y="5035247"/>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4722464" y="5217795"/>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2797778" y="5004862"/>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3575568" y="5220693"/>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3774798" y="4060305"/>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4524418" y="5154389"/>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2993482" y="4880367"/>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3622146" y="5214229"/>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3494045" y="4862411"/>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3968599" y="5201785"/>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2564443" y="4351447"/>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3506394" y="5199257"/>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3283574" y="5145160"/>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4068757" y="5220083"/>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3447505" y="4797546"/>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5053055" y="5204199"/>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3211282" y="4957860"/>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4108023" y="5210943"/>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3062761" y="5018577"/>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4107309" y="5214383"/>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3714655" y="4881890"/>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4801571" y="5216047"/>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3333076" y="4886324"/>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4794236" y="5209494"/>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3835294" y="4604126"/>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5101058" y="5191813"/>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3982036" y="4856517"/>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4748481" y="5176304"/>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3595500" y="5172005"/>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5221351" y="5223189"/>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3286127" y="5094292"/>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5042310" y="5220208"/>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3388856" y="5170695"/>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4177411" y="5222735"/>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2944209" y="4847747"/>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3256380" y="5215485"/>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3354935" y="5122257"/>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4370584" y="5223682"/>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2631255" y="4611814"/>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4359527" y="5205696"/>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3385785" y="4457870"/>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4239823" y="5184541"/>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Oval 124"/>
          <p:cNvSpPr/>
          <p:nvPr/>
        </p:nvSpPr>
        <p:spPr>
          <a:xfrm>
            <a:off x="3157927" y="5133495"/>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val 125"/>
          <p:cNvSpPr/>
          <p:nvPr/>
        </p:nvSpPr>
        <p:spPr>
          <a:xfrm>
            <a:off x="4610375" y="5221991"/>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val 126"/>
          <p:cNvSpPr/>
          <p:nvPr/>
        </p:nvSpPr>
        <p:spPr>
          <a:xfrm>
            <a:off x="3670775" y="4700380"/>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4951748" y="5205404"/>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2971044" y="5069293"/>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4202502" y="5216917"/>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3041792" y="4959649"/>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4081156" y="5212577"/>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3273785" y="4539805"/>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val 133"/>
          <p:cNvSpPr/>
          <p:nvPr/>
        </p:nvSpPr>
        <p:spPr>
          <a:xfrm>
            <a:off x="4460152" y="5186703"/>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2744527" y="4978535"/>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Oval 135"/>
          <p:cNvSpPr/>
          <p:nvPr/>
        </p:nvSpPr>
        <p:spPr>
          <a:xfrm>
            <a:off x="4336602" y="5214093"/>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2606154" y="5023080"/>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Oval 137"/>
          <p:cNvSpPr/>
          <p:nvPr/>
        </p:nvSpPr>
        <p:spPr>
          <a:xfrm>
            <a:off x="4192443" y="5218689"/>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val 138"/>
          <p:cNvSpPr/>
          <p:nvPr/>
        </p:nvSpPr>
        <p:spPr>
          <a:xfrm>
            <a:off x="2278241" y="3962280"/>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Oval 139"/>
          <p:cNvSpPr/>
          <p:nvPr/>
        </p:nvSpPr>
        <p:spPr>
          <a:xfrm>
            <a:off x="3726285" y="5198656"/>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Oval 140"/>
          <p:cNvSpPr/>
          <p:nvPr/>
        </p:nvSpPr>
        <p:spPr>
          <a:xfrm>
            <a:off x="2928756" y="4437376"/>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Oval 141"/>
          <p:cNvSpPr/>
          <p:nvPr/>
        </p:nvSpPr>
        <p:spPr>
          <a:xfrm>
            <a:off x="3652679" y="5192024"/>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Oval 142"/>
          <p:cNvSpPr/>
          <p:nvPr/>
        </p:nvSpPr>
        <p:spPr>
          <a:xfrm>
            <a:off x="2764909" y="4848158"/>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Oval 143"/>
          <p:cNvSpPr/>
          <p:nvPr/>
        </p:nvSpPr>
        <p:spPr>
          <a:xfrm>
            <a:off x="3839256" y="5210200"/>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Oval 144"/>
          <p:cNvSpPr/>
          <p:nvPr/>
        </p:nvSpPr>
        <p:spPr>
          <a:xfrm>
            <a:off x="3409562" y="5083811"/>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Oval 145"/>
          <p:cNvSpPr/>
          <p:nvPr/>
        </p:nvSpPr>
        <p:spPr>
          <a:xfrm>
            <a:off x="3487779" y="5220042"/>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Oval 146"/>
          <p:cNvSpPr/>
          <p:nvPr/>
        </p:nvSpPr>
        <p:spPr>
          <a:xfrm>
            <a:off x="2969953" y="4941195"/>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Oval 147"/>
          <p:cNvSpPr/>
          <p:nvPr/>
        </p:nvSpPr>
        <p:spPr>
          <a:xfrm>
            <a:off x="3883002" y="5214558"/>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Oval 148"/>
          <p:cNvSpPr/>
          <p:nvPr/>
        </p:nvSpPr>
        <p:spPr>
          <a:xfrm>
            <a:off x="3635355" y="4950334"/>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Oval 149"/>
          <p:cNvSpPr/>
          <p:nvPr/>
        </p:nvSpPr>
        <p:spPr>
          <a:xfrm>
            <a:off x="5099987" y="5214387"/>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Oval 150"/>
          <p:cNvSpPr/>
          <p:nvPr/>
        </p:nvSpPr>
        <p:spPr>
          <a:xfrm>
            <a:off x="2280428" y="4238118"/>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Oval 151"/>
          <p:cNvSpPr/>
          <p:nvPr/>
        </p:nvSpPr>
        <p:spPr>
          <a:xfrm>
            <a:off x="4064011" y="5215622"/>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Oval 152"/>
          <p:cNvSpPr/>
          <p:nvPr/>
        </p:nvSpPr>
        <p:spPr>
          <a:xfrm>
            <a:off x="2624931" y="5016441"/>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Oval 153"/>
          <p:cNvSpPr/>
          <p:nvPr/>
        </p:nvSpPr>
        <p:spPr>
          <a:xfrm>
            <a:off x="4103384" y="5219983"/>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Oval 154"/>
          <p:cNvSpPr/>
          <p:nvPr/>
        </p:nvSpPr>
        <p:spPr>
          <a:xfrm>
            <a:off x="2788437" y="5046961"/>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Oval 155"/>
          <p:cNvSpPr/>
          <p:nvPr/>
        </p:nvSpPr>
        <p:spPr>
          <a:xfrm>
            <a:off x="3730442" y="5218610"/>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Oval 156"/>
          <p:cNvSpPr/>
          <p:nvPr/>
        </p:nvSpPr>
        <p:spPr>
          <a:xfrm>
            <a:off x="2724060" y="4919608"/>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Oval 157"/>
          <p:cNvSpPr/>
          <p:nvPr/>
        </p:nvSpPr>
        <p:spPr>
          <a:xfrm>
            <a:off x="3978638" y="5215783"/>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Oval 158"/>
          <p:cNvSpPr/>
          <p:nvPr/>
        </p:nvSpPr>
        <p:spPr>
          <a:xfrm>
            <a:off x="3100099" y="2906999"/>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Oval 159"/>
          <p:cNvSpPr/>
          <p:nvPr/>
        </p:nvSpPr>
        <p:spPr>
          <a:xfrm>
            <a:off x="4617028" y="5131956"/>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Oval 160"/>
          <p:cNvSpPr/>
          <p:nvPr/>
        </p:nvSpPr>
        <p:spPr>
          <a:xfrm>
            <a:off x="2640278" y="5122815"/>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Oval 161"/>
          <p:cNvSpPr/>
          <p:nvPr/>
        </p:nvSpPr>
        <p:spPr>
          <a:xfrm>
            <a:off x="4356639" y="5222196"/>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Oval 162"/>
          <p:cNvSpPr/>
          <p:nvPr/>
        </p:nvSpPr>
        <p:spPr>
          <a:xfrm>
            <a:off x="2560340" y="4994983"/>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Oval 163"/>
          <p:cNvSpPr/>
          <p:nvPr/>
        </p:nvSpPr>
        <p:spPr>
          <a:xfrm>
            <a:off x="4346172" y="5216868"/>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Oval 164"/>
          <p:cNvSpPr/>
          <p:nvPr/>
        </p:nvSpPr>
        <p:spPr>
          <a:xfrm>
            <a:off x="2475849" y="4967906"/>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Oval 165"/>
          <p:cNvSpPr/>
          <p:nvPr/>
        </p:nvSpPr>
        <p:spPr>
          <a:xfrm>
            <a:off x="3224330" y="5218331"/>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Oval 166"/>
          <p:cNvSpPr/>
          <p:nvPr/>
        </p:nvSpPr>
        <p:spPr>
          <a:xfrm>
            <a:off x="3450159" y="3701766"/>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Oval 167"/>
          <p:cNvSpPr/>
          <p:nvPr/>
        </p:nvSpPr>
        <p:spPr>
          <a:xfrm>
            <a:off x="4543894" y="5151971"/>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Oval 168"/>
          <p:cNvSpPr/>
          <p:nvPr/>
        </p:nvSpPr>
        <p:spPr>
          <a:xfrm>
            <a:off x="2673370" y="4778394"/>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Oval 169"/>
          <p:cNvSpPr/>
          <p:nvPr/>
        </p:nvSpPr>
        <p:spPr>
          <a:xfrm>
            <a:off x="3658687" y="5208504"/>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Oval 170"/>
          <p:cNvSpPr/>
          <p:nvPr/>
        </p:nvSpPr>
        <p:spPr>
          <a:xfrm>
            <a:off x="3110505" y="4744181"/>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Oval 171"/>
          <p:cNvSpPr/>
          <p:nvPr/>
        </p:nvSpPr>
        <p:spPr>
          <a:xfrm>
            <a:off x="4333832" y="5202130"/>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Oval 172"/>
          <p:cNvSpPr/>
          <p:nvPr/>
        </p:nvSpPr>
        <p:spPr>
          <a:xfrm>
            <a:off x="2372899" y="4163429"/>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Oval 173"/>
          <p:cNvSpPr/>
          <p:nvPr/>
        </p:nvSpPr>
        <p:spPr>
          <a:xfrm>
            <a:off x="3517889" y="5204186"/>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Oval 174"/>
          <p:cNvSpPr/>
          <p:nvPr/>
        </p:nvSpPr>
        <p:spPr>
          <a:xfrm>
            <a:off x="2948358" y="5125259"/>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Oval 175"/>
          <p:cNvSpPr/>
          <p:nvPr/>
        </p:nvSpPr>
        <p:spPr>
          <a:xfrm>
            <a:off x="3986485" y="5218990"/>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Oval 176"/>
          <p:cNvSpPr/>
          <p:nvPr/>
        </p:nvSpPr>
        <p:spPr>
          <a:xfrm>
            <a:off x="3050226" y="4676637"/>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Oval 177"/>
          <p:cNvSpPr/>
          <p:nvPr/>
        </p:nvSpPr>
        <p:spPr>
          <a:xfrm>
            <a:off x="4856953" y="5198343"/>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Oval 178"/>
          <p:cNvSpPr/>
          <p:nvPr/>
        </p:nvSpPr>
        <p:spPr>
          <a:xfrm>
            <a:off x="2915837" y="4882933"/>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Oval 179"/>
          <p:cNvSpPr/>
          <p:nvPr/>
        </p:nvSpPr>
        <p:spPr>
          <a:xfrm>
            <a:off x="3928878" y="5207611"/>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Oval 180"/>
          <p:cNvSpPr/>
          <p:nvPr/>
        </p:nvSpPr>
        <p:spPr>
          <a:xfrm>
            <a:off x="2710275" y="4963907"/>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Oval 181"/>
          <p:cNvSpPr/>
          <p:nvPr/>
        </p:nvSpPr>
        <p:spPr>
          <a:xfrm>
            <a:off x="3709950" y="5212374"/>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Oval 182"/>
          <p:cNvSpPr/>
          <p:nvPr/>
        </p:nvSpPr>
        <p:spPr>
          <a:xfrm>
            <a:off x="3410641" y="4829327"/>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Oval 183"/>
          <p:cNvSpPr/>
          <p:nvPr/>
        </p:nvSpPr>
        <p:spPr>
          <a:xfrm>
            <a:off x="4448180" y="5210530"/>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Oval 184"/>
          <p:cNvSpPr/>
          <p:nvPr/>
        </p:nvSpPr>
        <p:spPr>
          <a:xfrm>
            <a:off x="3068711" y="4805272"/>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Oval 185"/>
          <p:cNvSpPr/>
          <p:nvPr/>
        </p:nvSpPr>
        <p:spPr>
          <a:xfrm>
            <a:off x="4805290" y="5203791"/>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Oval 186"/>
          <p:cNvSpPr/>
          <p:nvPr/>
        </p:nvSpPr>
        <p:spPr>
          <a:xfrm>
            <a:off x="3624528" y="4531554"/>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Oval 187"/>
          <p:cNvSpPr/>
          <p:nvPr/>
        </p:nvSpPr>
        <p:spPr>
          <a:xfrm>
            <a:off x="4944443" y="5177100"/>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Oval 188"/>
          <p:cNvSpPr/>
          <p:nvPr/>
        </p:nvSpPr>
        <p:spPr>
          <a:xfrm>
            <a:off x="3651228" y="4759127"/>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Oval 189"/>
          <p:cNvSpPr/>
          <p:nvPr/>
        </p:nvSpPr>
        <p:spPr>
          <a:xfrm>
            <a:off x="4810531" y="5174746"/>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Oval 190"/>
          <p:cNvSpPr/>
          <p:nvPr/>
        </p:nvSpPr>
        <p:spPr>
          <a:xfrm>
            <a:off x="3150492" y="5161064"/>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Oval 191"/>
          <p:cNvSpPr/>
          <p:nvPr/>
        </p:nvSpPr>
        <p:spPr>
          <a:xfrm>
            <a:off x="5062861" y="5222925"/>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Oval 192"/>
          <p:cNvSpPr/>
          <p:nvPr/>
        </p:nvSpPr>
        <p:spPr>
          <a:xfrm>
            <a:off x="2851672" y="5061141"/>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Oval 193"/>
          <p:cNvSpPr/>
          <p:nvPr/>
        </p:nvSpPr>
        <p:spPr>
          <a:xfrm>
            <a:off x="4951749" y="5220289"/>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Oval 194"/>
          <p:cNvSpPr/>
          <p:nvPr/>
        </p:nvSpPr>
        <p:spPr>
          <a:xfrm>
            <a:off x="3160014" y="5155783"/>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Oval 195"/>
          <p:cNvSpPr/>
          <p:nvPr/>
        </p:nvSpPr>
        <p:spPr>
          <a:xfrm>
            <a:off x="4175420" y="5222689"/>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Oval 196"/>
          <p:cNvSpPr/>
          <p:nvPr/>
        </p:nvSpPr>
        <p:spPr>
          <a:xfrm>
            <a:off x="2679232" y="4766519"/>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Oval 197"/>
          <p:cNvSpPr/>
          <p:nvPr/>
        </p:nvSpPr>
        <p:spPr>
          <a:xfrm>
            <a:off x="3324744" y="5211184"/>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Oval 198"/>
          <p:cNvSpPr/>
          <p:nvPr/>
        </p:nvSpPr>
        <p:spPr>
          <a:xfrm>
            <a:off x="2867093" y="5121952"/>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Oval 199"/>
          <p:cNvSpPr/>
          <p:nvPr/>
        </p:nvSpPr>
        <p:spPr>
          <a:xfrm>
            <a:off x="4102161" y="5223155"/>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Oval 200"/>
          <p:cNvSpPr/>
          <p:nvPr/>
        </p:nvSpPr>
        <p:spPr>
          <a:xfrm>
            <a:off x="2783373" y="4653558"/>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Oval 201"/>
          <p:cNvSpPr/>
          <p:nvPr/>
        </p:nvSpPr>
        <p:spPr>
          <a:xfrm>
            <a:off x="4173629" y="5202844"/>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Oval 202"/>
          <p:cNvSpPr/>
          <p:nvPr/>
        </p:nvSpPr>
        <p:spPr>
          <a:xfrm>
            <a:off x="3378461" y="4511139"/>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Oval 203"/>
          <p:cNvSpPr/>
          <p:nvPr/>
        </p:nvSpPr>
        <p:spPr>
          <a:xfrm>
            <a:off x="3684353" y="5173416"/>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Oval 204"/>
          <p:cNvSpPr/>
          <p:nvPr/>
        </p:nvSpPr>
        <p:spPr>
          <a:xfrm>
            <a:off x="3094573" y="5135041"/>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Oval 205"/>
          <p:cNvSpPr/>
          <p:nvPr/>
        </p:nvSpPr>
        <p:spPr>
          <a:xfrm>
            <a:off x="4683975" y="5221068"/>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Oval 206"/>
          <p:cNvSpPr/>
          <p:nvPr/>
        </p:nvSpPr>
        <p:spPr>
          <a:xfrm>
            <a:off x="3621408" y="4750203"/>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Oval 207"/>
          <p:cNvSpPr/>
          <p:nvPr/>
        </p:nvSpPr>
        <p:spPr>
          <a:xfrm>
            <a:off x="4659095" y="5199090"/>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Oval 208"/>
          <p:cNvSpPr/>
          <p:nvPr/>
        </p:nvSpPr>
        <p:spPr>
          <a:xfrm>
            <a:off x="3117630" y="5084733"/>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Oval 209"/>
          <p:cNvSpPr/>
          <p:nvPr/>
        </p:nvSpPr>
        <p:spPr>
          <a:xfrm>
            <a:off x="4024446" y="5215256"/>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Oval 210"/>
          <p:cNvSpPr/>
          <p:nvPr/>
        </p:nvSpPr>
        <p:spPr>
          <a:xfrm>
            <a:off x="3130532" y="4968657"/>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Oval 211"/>
          <p:cNvSpPr/>
          <p:nvPr/>
        </p:nvSpPr>
        <p:spPr>
          <a:xfrm>
            <a:off x="4001330" y="5211176"/>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Oval 212"/>
          <p:cNvSpPr/>
          <p:nvPr/>
        </p:nvSpPr>
        <p:spPr>
          <a:xfrm>
            <a:off x="3156374" y="4560132"/>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Oval 213"/>
          <p:cNvSpPr/>
          <p:nvPr/>
        </p:nvSpPr>
        <p:spPr>
          <a:xfrm>
            <a:off x="4109534" y="5187879"/>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Oval 214"/>
          <p:cNvSpPr/>
          <p:nvPr/>
        </p:nvSpPr>
        <p:spPr>
          <a:xfrm>
            <a:off x="2860371" y="4999006"/>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Oval 215"/>
          <p:cNvSpPr/>
          <p:nvPr/>
        </p:nvSpPr>
        <p:spPr>
          <a:xfrm>
            <a:off x="4685647" y="5214854"/>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Oval 216"/>
          <p:cNvSpPr/>
          <p:nvPr/>
        </p:nvSpPr>
        <p:spPr>
          <a:xfrm>
            <a:off x="2783192" y="5037730"/>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Oval 217"/>
          <p:cNvSpPr/>
          <p:nvPr/>
        </p:nvSpPr>
        <p:spPr>
          <a:xfrm>
            <a:off x="4338269" y="5218522"/>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Oval 218"/>
          <p:cNvSpPr/>
          <p:nvPr/>
        </p:nvSpPr>
        <p:spPr>
          <a:xfrm>
            <a:off x="2329380" y="4086443"/>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Oval 219"/>
          <p:cNvSpPr/>
          <p:nvPr/>
        </p:nvSpPr>
        <p:spPr>
          <a:xfrm>
            <a:off x="3701422" y="5190586"/>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Oval 220"/>
          <p:cNvSpPr/>
          <p:nvPr/>
        </p:nvSpPr>
        <p:spPr>
          <a:xfrm>
            <a:off x="2886020" y="4476848"/>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Oval 221"/>
          <p:cNvSpPr/>
          <p:nvPr/>
        </p:nvSpPr>
        <p:spPr>
          <a:xfrm>
            <a:off x="3918816" y="5191168"/>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Oval 222"/>
          <p:cNvSpPr/>
          <p:nvPr/>
        </p:nvSpPr>
        <p:spPr>
          <a:xfrm>
            <a:off x="2840053" y="4878606"/>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Oval 223"/>
          <p:cNvSpPr/>
          <p:nvPr/>
        </p:nvSpPr>
        <p:spPr>
          <a:xfrm>
            <a:off x="3583489" y="5210414"/>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Oval 224"/>
          <p:cNvSpPr/>
          <p:nvPr/>
        </p:nvSpPr>
        <p:spPr>
          <a:xfrm>
            <a:off x="3355097" y="5091543"/>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Oval 225"/>
          <p:cNvSpPr/>
          <p:nvPr/>
        </p:nvSpPr>
        <p:spPr>
          <a:xfrm>
            <a:off x="2910594" y="5217105"/>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Oval 226"/>
          <p:cNvSpPr/>
          <p:nvPr/>
        </p:nvSpPr>
        <p:spPr>
          <a:xfrm>
            <a:off x="2923679" y="4933199"/>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Oval 227"/>
          <p:cNvSpPr/>
          <p:nvPr/>
        </p:nvSpPr>
        <p:spPr>
          <a:xfrm>
            <a:off x="3581043" y="5212007"/>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Oval 228"/>
          <p:cNvSpPr/>
          <p:nvPr/>
        </p:nvSpPr>
        <p:spPr>
          <a:xfrm>
            <a:off x="3508001" y="4951680"/>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Oval 229"/>
          <p:cNvSpPr/>
          <p:nvPr/>
        </p:nvSpPr>
        <p:spPr>
          <a:xfrm>
            <a:off x="4762096" y="5212170"/>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Oval 230"/>
          <p:cNvSpPr/>
          <p:nvPr/>
        </p:nvSpPr>
        <p:spPr>
          <a:xfrm>
            <a:off x="2401951" y="4384323"/>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Oval 231"/>
          <p:cNvSpPr/>
          <p:nvPr/>
        </p:nvSpPr>
        <p:spPr>
          <a:xfrm>
            <a:off x="4272176" y="5214196"/>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Oval 232"/>
          <p:cNvSpPr/>
          <p:nvPr/>
        </p:nvSpPr>
        <p:spPr>
          <a:xfrm>
            <a:off x="2727304" y="5028953"/>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Oval 233"/>
          <p:cNvSpPr/>
          <p:nvPr/>
        </p:nvSpPr>
        <p:spPr>
          <a:xfrm>
            <a:off x="4002283" y="5219134"/>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Oval 234"/>
          <p:cNvSpPr/>
          <p:nvPr/>
        </p:nvSpPr>
        <p:spPr>
          <a:xfrm>
            <a:off x="2891192" y="5056268"/>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Oval 235"/>
          <p:cNvSpPr/>
          <p:nvPr/>
        </p:nvSpPr>
        <p:spPr>
          <a:xfrm>
            <a:off x="3185472" y="5213533"/>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Oval 236"/>
          <p:cNvSpPr/>
          <p:nvPr/>
        </p:nvSpPr>
        <p:spPr>
          <a:xfrm>
            <a:off x="2685970" y="4919955"/>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Oval 237"/>
          <p:cNvSpPr/>
          <p:nvPr/>
        </p:nvSpPr>
        <p:spPr>
          <a:xfrm>
            <a:off x="4100439" y="5214413"/>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Oval 238"/>
          <p:cNvSpPr/>
          <p:nvPr/>
        </p:nvSpPr>
        <p:spPr>
          <a:xfrm>
            <a:off x="3191284" y="2960004"/>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Oval 239"/>
          <p:cNvSpPr/>
          <p:nvPr/>
        </p:nvSpPr>
        <p:spPr>
          <a:xfrm>
            <a:off x="4369725" y="5119108"/>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Oval 240"/>
          <p:cNvSpPr/>
          <p:nvPr/>
        </p:nvSpPr>
        <p:spPr>
          <a:xfrm>
            <a:off x="2790009" y="5129641"/>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Oval 241"/>
          <p:cNvSpPr/>
          <p:nvPr/>
        </p:nvSpPr>
        <p:spPr>
          <a:xfrm>
            <a:off x="4758171" y="5221767"/>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Oval 242"/>
          <p:cNvSpPr/>
          <p:nvPr/>
        </p:nvSpPr>
        <p:spPr>
          <a:xfrm>
            <a:off x="2805930" y="5006113"/>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Oval 243"/>
          <p:cNvSpPr/>
          <p:nvPr/>
        </p:nvSpPr>
        <p:spPr>
          <a:xfrm>
            <a:off x="4271117" y="5214680"/>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Oval 244"/>
          <p:cNvSpPr/>
          <p:nvPr/>
        </p:nvSpPr>
        <p:spPr>
          <a:xfrm>
            <a:off x="2532249" y="4979740"/>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Oval 245"/>
          <p:cNvSpPr/>
          <p:nvPr/>
        </p:nvSpPr>
        <p:spPr>
          <a:xfrm>
            <a:off x="3048443" y="5215153"/>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Oval 246"/>
          <p:cNvSpPr/>
          <p:nvPr/>
        </p:nvSpPr>
        <p:spPr>
          <a:xfrm>
            <a:off x="3254594" y="3738975"/>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Oval 247"/>
          <p:cNvSpPr/>
          <p:nvPr/>
        </p:nvSpPr>
        <p:spPr>
          <a:xfrm>
            <a:off x="4291531" y="5143708"/>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Oval 248"/>
          <p:cNvSpPr/>
          <p:nvPr/>
        </p:nvSpPr>
        <p:spPr>
          <a:xfrm>
            <a:off x="2816442" y="4797508"/>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Oval 249"/>
          <p:cNvSpPr/>
          <p:nvPr/>
        </p:nvSpPr>
        <p:spPr>
          <a:xfrm>
            <a:off x="2968179" y="5194230"/>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Oval 250"/>
          <p:cNvSpPr/>
          <p:nvPr/>
        </p:nvSpPr>
        <p:spPr>
          <a:xfrm>
            <a:off x="2957984" y="4744633"/>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Oval 251"/>
          <p:cNvSpPr/>
          <p:nvPr/>
        </p:nvSpPr>
        <p:spPr>
          <a:xfrm>
            <a:off x="4239460" y="5204474"/>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Oval 252"/>
          <p:cNvSpPr/>
          <p:nvPr/>
        </p:nvSpPr>
        <p:spPr>
          <a:xfrm>
            <a:off x="2377918" y="4206409"/>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Oval 253"/>
          <p:cNvSpPr/>
          <p:nvPr/>
        </p:nvSpPr>
        <p:spPr>
          <a:xfrm>
            <a:off x="3780574" y="5203389"/>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Oval 254"/>
          <p:cNvSpPr/>
          <p:nvPr/>
        </p:nvSpPr>
        <p:spPr>
          <a:xfrm>
            <a:off x="2974659" y="5130717"/>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Oval 255"/>
          <p:cNvSpPr/>
          <p:nvPr/>
        </p:nvSpPr>
        <p:spPr>
          <a:xfrm>
            <a:off x="3657036" y="5217076"/>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Oval 256"/>
          <p:cNvSpPr/>
          <p:nvPr/>
        </p:nvSpPr>
        <p:spPr>
          <a:xfrm>
            <a:off x="3124804" y="4710894"/>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Oval 257"/>
          <p:cNvSpPr/>
          <p:nvPr/>
        </p:nvSpPr>
        <p:spPr>
          <a:xfrm>
            <a:off x="5103086" y="5197435"/>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Oval 258"/>
          <p:cNvSpPr/>
          <p:nvPr/>
        </p:nvSpPr>
        <p:spPr>
          <a:xfrm>
            <a:off x="2992225" y="4895541"/>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Oval 259"/>
          <p:cNvSpPr/>
          <p:nvPr/>
        </p:nvSpPr>
        <p:spPr>
          <a:xfrm>
            <a:off x="3949951" y="5206594"/>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Oval 260"/>
          <p:cNvSpPr/>
          <p:nvPr/>
        </p:nvSpPr>
        <p:spPr>
          <a:xfrm>
            <a:off x="2879883" y="4986693"/>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Oval 261"/>
          <p:cNvSpPr/>
          <p:nvPr/>
        </p:nvSpPr>
        <p:spPr>
          <a:xfrm>
            <a:off x="3195020" y="5206308"/>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Oval 262"/>
          <p:cNvSpPr/>
          <p:nvPr/>
        </p:nvSpPr>
        <p:spPr>
          <a:xfrm>
            <a:off x="3530838" y="4864080"/>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Oval 263"/>
          <p:cNvSpPr/>
          <p:nvPr/>
        </p:nvSpPr>
        <p:spPr>
          <a:xfrm>
            <a:off x="4312753" y="5206136"/>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Oval 264"/>
          <p:cNvSpPr/>
          <p:nvPr/>
        </p:nvSpPr>
        <p:spPr>
          <a:xfrm>
            <a:off x="3245743" y="4812307"/>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Oval 265"/>
          <p:cNvSpPr/>
          <p:nvPr/>
        </p:nvSpPr>
        <p:spPr>
          <a:xfrm>
            <a:off x="4724318" y="5202457"/>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Oval 266"/>
          <p:cNvSpPr/>
          <p:nvPr/>
        </p:nvSpPr>
        <p:spPr>
          <a:xfrm>
            <a:off x="3643841" y="4623402"/>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Oval 267"/>
          <p:cNvSpPr/>
          <p:nvPr/>
        </p:nvSpPr>
        <p:spPr>
          <a:xfrm>
            <a:off x="4638502" y="5166446"/>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Oval 268"/>
          <p:cNvSpPr/>
          <p:nvPr/>
        </p:nvSpPr>
        <p:spPr>
          <a:xfrm>
            <a:off x="3715288" y="4799671"/>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Oval 269"/>
          <p:cNvSpPr/>
          <p:nvPr/>
        </p:nvSpPr>
        <p:spPr>
          <a:xfrm>
            <a:off x="4929760" y="5177947"/>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Oval 270"/>
          <p:cNvSpPr/>
          <p:nvPr/>
        </p:nvSpPr>
        <p:spPr>
          <a:xfrm>
            <a:off x="3199881" y="5163023"/>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Oval 271"/>
          <p:cNvSpPr/>
          <p:nvPr/>
        </p:nvSpPr>
        <p:spPr>
          <a:xfrm>
            <a:off x="5142316" y="5222605"/>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Oval 272"/>
          <p:cNvSpPr/>
          <p:nvPr/>
        </p:nvSpPr>
        <p:spPr>
          <a:xfrm>
            <a:off x="2676466" y="5063108"/>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Oval 273"/>
          <p:cNvSpPr/>
          <p:nvPr/>
        </p:nvSpPr>
        <p:spPr>
          <a:xfrm>
            <a:off x="4932238" y="5220704"/>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Oval 274"/>
          <p:cNvSpPr/>
          <p:nvPr/>
        </p:nvSpPr>
        <p:spPr>
          <a:xfrm>
            <a:off x="3031924" y="5158201"/>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Oval 275"/>
          <p:cNvSpPr/>
          <p:nvPr/>
        </p:nvSpPr>
        <p:spPr>
          <a:xfrm>
            <a:off x="4129773" y="5222506"/>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Oval 276"/>
          <p:cNvSpPr/>
          <p:nvPr/>
        </p:nvSpPr>
        <p:spPr>
          <a:xfrm>
            <a:off x="2765474" y="4781169"/>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Oval 277"/>
          <p:cNvSpPr/>
          <p:nvPr/>
        </p:nvSpPr>
        <p:spPr>
          <a:xfrm>
            <a:off x="2732343" y="5196873"/>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Oval 278"/>
          <p:cNvSpPr/>
          <p:nvPr/>
        </p:nvSpPr>
        <p:spPr>
          <a:xfrm>
            <a:off x="3196947" y="5134021"/>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Oval 279"/>
          <p:cNvSpPr/>
          <p:nvPr/>
        </p:nvSpPr>
        <p:spPr>
          <a:xfrm>
            <a:off x="4832250" y="5223356"/>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Oval 280"/>
          <p:cNvSpPr/>
          <p:nvPr/>
        </p:nvSpPr>
        <p:spPr>
          <a:xfrm>
            <a:off x="3196780" y="4674452"/>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Oval 281"/>
          <p:cNvSpPr/>
          <p:nvPr/>
        </p:nvSpPr>
        <p:spPr>
          <a:xfrm>
            <a:off x="4025793" y="5200484"/>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Oval 282"/>
          <p:cNvSpPr/>
          <p:nvPr/>
        </p:nvSpPr>
        <p:spPr>
          <a:xfrm>
            <a:off x="3643343" y="4548545"/>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Oval 283"/>
          <p:cNvSpPr/>
          <p:nvPr/>
        </p:nvSpPr>
        <p:spPr>
          <a:xfrm>
            <a:off x="4658302" y="5185359"/>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Oval 284"/>
          <p:cNvSpPr/>
          <p:nvPr/>
        </p:nvSpPr>
        <p:spPr>
          <a:xfrm>
            <a:off x="3458374" y="5140742"/>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Oval 285"/>
          <p:cNvSpPr/>
          <p:nvPr/>
        </p:nvSpPr>
        <p:spPr>
          <a:xfrm>
            <a:off x="5748033" y="5221712"/>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Oval 286"/>
          <p:cNvSpPr/>
          <p:nvPr/>
        </p:nvSpPr>
        <p:spPr>
          <a:xfrm>
            <a:off x="3930577" y="4798610"/>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Oval 287"/>
          <p:cNvSpPr/>
          <p:nvPr/>
        </p:nvSpPr>
        <p:spPr>
          <a:xfrm>
            <a:off x="4566888" y="5200603"/>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Oval 288"/>
          <p:cNvSpPr/>
          <p:nvPr/>
        </p:nvSpPr>
        <p:spPr>
          <a:xfrm>
            <a:off x="3474479" y="5093166"/>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Oval 289"/>
          <p:cNvSpPr/>
          <p:nvPr/>
        </p:nvSpPr>
        <p:spPr>
          <a:xfrm>
            <a:off x="4326180" y="5216842"/>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Oval 290"/>
          <p:cNvSpPr/>
          <p:nvPr/>
        </p:nvSpPr>
        <p:spPr>
          <a:xfrm>
            <a:off x="3566453" y="4983398"/>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Oval 291"/>
          <p:cNvSpPr/>
          <p:nvPr/>
        </p:nvSpPr>
        <p:spPr>
          <a:xfrm>
            <a:off x="4284198" y="5211302"/>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Oval 292"/>
          <p:cNvSpPr/>
          <p:nvPr/>
        </p:nvSpPr>
        <p:spPr>
          <a:xfrm>
            <a:off x="3672112" y="4544456"/>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Oval 293"/>
          <p:cNvSpPr/>
          <p:nvPr/>
        </p:nvSpPr>
        <p:spPr>
          <a:xfrm>
            <a:off x="4290478" y="5197226"/>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Oval 294"/>
          <p:cNvSpPr/>
          <p:nvPr/>
        </p:nvSpPr>
        <p:spPr>
          <a:xfrm>
            <a:off x="3236832" y="5005581"/>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Oval 295"/>
          <p:cNvSpPr/>
          <p:nvPr/>
        </p:nvSpPr>
        <p:spPr>
          <a:xfrm>
            <a:off x="5053710" y="5216292"/>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Oval 296"/>
          <p:cNvSpPr/>
          <p:nvPr/>
        </p:nvSpPr>
        <p:spPr>
          <a:xfrm>
            <a:off x="3157869" y="5043278"/>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Oval 297"/>
          <p:cNvSpPr/>
          <p:nvPr/>
        </p:nvSpPr>
        <p:spPr>
          <a:xfrm>
            <a:off x="4791733" y="5219635"/>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Oval 298"/>
          <p:cNvSpPr/>
          <p:nvPr/>
        </p:nvSpPr>
        <p:spPr>
          <a:xfrm>
            <a:off x="2756153" y="4185784"/>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Oval 299"/>
          <p:cNvSpPr/>
          <p:nvPr/>
        </p:nvSpPr>
        <p:spPr>
          <a:xfrm>
            <a:off x="4076414" y="5198015"/>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Oval 300"/>
          <p:cNvSpPr/>
          <p:nvPr/>
        </p:nvSpPr>
        <p:spPr>
          <a:xfrm>
            <a:off x="3386621" y="4543683"/>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Oval 301"/>
          <p:cNvSpPr/>
          <p:nvPr/>
        </p:nvSpPr>
        <p:spPr>
          <a:xfrm>
            <a:off x="4602235" y="5198780"/>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Oval 302"/>
          <p:cNvSpPr/>
          <p:nvPr/>
        </p:nvSpPr>
        <p:spPr>
          <a:xfrm>
            <a:off x="3205492" y="4894163"/>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4" name="Oval 303"/>
          <p:cNvSpPr/>
          <p:nvPr/>
        </p:nvSpPr>
        <p:spPr>
          <a:xfrm>
            <a:off x="4219203" y="5213124"/>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Oval 304"/>
          <p:cNvSpPr/>
          <p:nvPr/>
        </p:nvSpPr>
        <p:spPr>
          <a:xfrm>
            <a:off x="3686949" y="5105156"/>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Oval 305"/>
          <p:cNvSpPr/>
          <p:nvPr/>
        </p:nvSpPr>
        <p:spPr>
          <a:xfrm>
            <a:off x="3656030" y="5219178"/>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Oval 306"/>
          <p:cNvSpPr/>
          <p:nvPr/>
        </p:nvSpPr>
        <p:spPr>
          <a:xfrm>
            <a:off x="3353968" y="4958304"/>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Oval 307"/>
          <p:cNvSpPr/>
          <p:nvPr/>
        </p:nvSpPr>
        <p:spPr>
          <a:xfrm>
            <a:off x="4172471" y="5215000"/>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Oval 308"/>
          <p:cNvSpPr/>
          <p:nvPr/>
        </p:nvSpPr>
        <p:spPr>
          <a:xfrm>
            <a:off x="3745620" y="4982081"/>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Oval 309"/>
          <p:cNvSpPr/>
          <p:nvPr/>
        </p:nvSpPr>
        <p:spPr>
          <a:xfrm>
            <a:off x="4746072" y="5212643"/>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Oval 310"/>
          <p:cNvSpPr/>
          <p:nvPr/>
        </p:nvSpPr>
        <p:spPr>
          <a:xfrm>
            <a:off x="2796447" y="4550182"/>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Oval 311"/>
          <p:cNvSpPr/>
          <p:nvPr/>
        </p:nvSpPr>
        <p:spPr>
          <a:xfrm>
            <a:off x="4091572" y="5212185"/>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Oval 312"/>
          <p:cNvSpPr/>
          <p:nvPr/>
        </p:nvSpPr>
        <p:spPr>
          <a:xfrm>
            <a:off x="3084485" y="5036813"/>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Oval 313"/>
          <p:cNvSpPr/>
          <p:nvPr/>
        </p:nvSpPr>
        <p:spPr>
          <a:xfrm>
            <a:off x="4492440" y="5219584"/>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Oval 314"/>
          <p:cNvSpPr/>
          <p:nvPr/>
        </p:nvSpPr>
        <p:spPr>
          <a:xfrm>
            <a:off x="3360205" y="5075544"/>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Oval 315"/>
          <p:cNvSpPr/>
          <p:nvPr/>
        </p:nvSpPr>
        <p:spPr>
          <a:xfrm>
            <a:off x="3220630" y="5208888"/>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Oval 316"/>
          <p:cNvSpPr/>
          <p:nvPr/>
        </p:nvSpPr>
        <p:spPr>
          <a:xfrm>
            <a:off x="3080219" y="4927123"/>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Oval 317"/>
          <p:cNvSpPr/>
          <p:nvPr/>
        </p:nvSpPr>
        <p:spPr>
          <a:xfrm>
            <a:off x="4594183" y="5216580"/>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Oval 318"/>
          <p:cNvSpPr/>
          <p:nvPr/>
        </p:nvSpPr>
        <p:spPr>
          <a:xfrm>
            <a:off x="3529191" y="3057277"/>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0" name="Oval 319"/>
          <p:cNvSpPr/>
          <p:nvPr/>
        </p:nvSpPr>
        <p:spPr>
          <a:xfrm>
            <a:off x="4787088" y="5136554"/>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Oval 320"/>
          <p:cNvSpPr/>
          <p:nvPr/>
        </p:nvSpPr>
        <p:spPr>
          <a:xfrm>
            <a:off x="3069820" y="5131432"/>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 name="Oval 321"/>
          <p:cNvSpPr/>
          <p:nvPr/>
        </p:nvSpPr>
        <p:spPr>
          <a:xfrm>
            <a:off x="4841218" y="5221627"/>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Oval 322"/>
          <p:cNvSpPr/>
          <p:nvPr/>
        </p:nvSpPr>
        <p:spPr>
          <a:xfrm>
            <a:off x="3186421" y="5013839"/>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Oval 323"/>
          <p:cNvSpPr/>
          <p:nvPr/>
        </p:nvSpPr>
        <p:spPr>
          <a:xfrm>
            <a:off x="4849631" y="5215048"/>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 name="Oval 324"/>
          <p:cNvSpPr/>
          <p:nvPr/>
        </p:nvSpPr>
        <p:spPr>
          <a:xfrm>
            <a:off x="2900928" y="5002148"/>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6" name="Oval 325"/>
          <p:cNvSpPr/>
          <p:nvPr/>
        </p:nvSpPr>
        <p:spPr>
          <a:xfrm>
            <a:off x="3564333" y="5217636"/>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Oval 326"/>
          <p:cNvSpPr/>
          <p:nvPr/>
        </p:nvSpPr>
        <p:spPr>
          <a:xfrm>
            <a:off x="3689625" y="3882106"/>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8" name="Oval 327"/>
          <p:cNvSpPr/>
          <p:nvPr/>
        </p:nvSpPr>
        <p:spPr>
          <a:xfrm>
            <a:off x="4498932" y="5149195"/>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9" name="Oval 328"/>
          <p:cNvSpPr/>
          <p:nvPr/>
        </p:nvSpPr>
        <p:spPr>
          <a:xfrm>
            <a:off x="3307326" y="4867656"/>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Oval 329"/>
          <p:cNvSpPr/>
          <p:nvPr/>
        </p:nvSpPr>
        <p:spPr>
          <a:xfrm>
            <a:off x="3074476" y="5172886"/>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1" name="Oval 330"/>
          <p:cNvSpPr/>
          <p:nvPr/>
        </p:nvSpPr>
        <p:spPr>
          <a:xfrm>
            <a:off x="3454075" y="4802325"/>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2" name="Oval 331"/>
          <p:cNvSpPr/>
          <p:nvPr/>
        </p:nvSpPr>
        <p:spPr>
          <a:xfrm>
            <a:off x="4670949" y="5205487"/>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Oval 332"/>
          <p:cNvSpPr/>
          <p:nvPr/>
        </p:nvSpPr>
        <p:spPr>
          <a:xfrm>
            <a:off x="2853218" y="4318150"/>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4" name="Oval 333"/>
          <p:cNvSpPr/>
          <p:nvPr/>
        </p:nvSpPr>
        <p:spPr>
          <a:xfrm>
            <a:off x="4315410" y="5206095"/>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5" name="Oval 334"/>
          <p:cNvSpPr/>
          <p:nvPr/>
        </p:nvSpPr>
        <p:spPr>
          <a:xfrm>
            <a:off x="3423691" y="5127650"/>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Oval 335"/>
          <p:cNvSpPr/>
          <p:nvPr/>
        </p:nvSpPr>
        <p:spPr>
          <a:xfrm>
            <a:off x="4222681" y="5219882"/>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7" name="Oval 336"/>
          <p:cNvSpPr/>
          <p:nvPr/>
        </p:nvSpPr>
        <p:spPr>
          <a:xfrm>
            <a:off x="3579062" y="4766601"/>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8" name="Oval 337"/>
          <p:cNvSpPr/>
          <p:nvPr/>
        </p:nvSpPr>
        <p:spPr>
          <a:xfrm>
            <a:off x="5569318" y="5200488"/>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9" name="Oval 338"/>
          <p:cNvSpPr/>
          <p:nvPr/>
        </p:nvSpPr>
        <p:spPr>
          <a:xfrm>
            <a:off x="3472215" y="4931702"/>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0" name="Oval 339"/>
          <p:cNvSpPr/>
          <p:nvPr/>
        </p:nvSpPr>
        <p:spPr>
          <a:xfrm>
            <a:off x="4227694" y="5205829"/>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1" name="Oval 340"/>
          <p:cNvSpPr/>
          <p:nvPr/>
        </p:nvSpPr>
        <p:spPr>
          <a:xfrm>
            <a:off x="3294117" y="5001159"/>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2" name="Oval 341"/>
          <p:cNvSpPr/>
          <p:nvPr/>
        </p:nvSpPr>
        <p:spPr>
          <a:xfrm>
            <a:off x="3964996" y="5211089"/>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3" name="Oval 342"/>
          <p:cNvSpPr/>
          <p:nvPr/>
        </p:nvSpPr>
        <p:spPr>
          <a:xfrm>
            <a:off x="3990658" y="4893964"/>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4" name="Oval 343"/>
          <p:cNvSpPr/>
          <p:nvPr/>
        </p:nvSpPr>
        <p:spPr>
          <a:xfrm>
            <a:off x="4528141" y="5206758"/>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5" name="Oval 344"/>
          <p:cNvSpPr/>
          <p:nvPr/>
        </p:nvSpPr>
        <p:spPr>
          <a:xfrm>
            <a:off x="3529034" y="4816127"/>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6" name="Oval 345"/>
          <p:cNvSpPr/>
          <p:nvPr/>
        </p:nvSpPr>
        <p:spPr>
          <a:xfrm>
            <a:off x="5184729" y="5208374"/>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7" name="Oval 346"/>
          <p:cNvSpPr/>
          <p:nvPr/>
        </p:nvSpPr>
        <p:spPr>
          <a:xfrm>
            <a:off x="4051149" y="4636242"/>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8" name="Oval 347"/>
          <p:cNvSpPr/>
          <p:nvPr/>
        </p:nvSpPr>
        <p:spPr>
          <a:xfrm>
            <a:off x="5098062" y="5173672"/>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9" name="Oval 348"/>
          <p:cNvSpPr/>
          <p:nvPr/>
        </p:nvSpPr>
        <p:spPr>
          <a:xfrm>
            <a:off x="4221265" y="4838700"/>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0" name="Oval 349"/>
          <p:cNvSpPr/>
          <p:nvPr/>
        </p:nvSpPr>
        <p:spPr>
          <a:xfrm>
            <a:off x="5541376" y="5180700"/>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1" name="Oval 350"/>
          <p:cNvSpPr/>
          <p:nvPr/>
        </p:nvSpPr>
        <p:spPr>
          <a:xfrm>
            <a:off x="3787573" y="5169415"/>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2" name="Oval 351"/>
          <p:cNvSpPr/>
          <p:nvPr/>
        </p:nvSpPr>
        <p:spPr>
          <a:xfrm>
            <a:off x="5728695" y="5222554"/>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3" name="Oval 352"/>
          <p:cNvSpPr/>
          <p:nvPr/>
        </p:nvSpPr>
        <p:spPr>
          <a:xfrm>
            <a:off x="3039600" y="5071496"/>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4" name="Oval 353"/>
          <p:cNvSpPr/>
          <p:nvPr/>
        </p:nvSpPr>
        <p:spPr>
          <a:xfrm>
            <a:off x="4899195" y="5220547"/>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5" name="Oval 354"/>
          <p:cNvSpPr/>
          <p:nvPr/>
        </p:nvSpPr>
        <p:spPr>
          <a:xfrm>
            <a:off x="3387294" y="5165224"/>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6" name="Oval 355"/>
          <p:cNvSpPr/>
          <p:nvPr/>
        </p:nvSpPr>
        <p:spPr>
          <a:xfrm>
            <a:off x="4188239" y="5222616"/>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7" name="Oval 356"/>
          <p:cNvSpPr/>
          <p:nvPr/>
        </p:nvSpPr>
        <p:spPr>
          <a:xfrm>
            <a:off x="3216507" y="4832676"/>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 name="Oval 357"/>
          <p:cNvSpPr/>
          <p:nvPr/>
        </p:nvSpPr>
        <p:spPr>
          <a:xfrm>
            <a:off x="2984712" y="5175591"/>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9" name="Oval 358"/>
          <p:cNvSpPr/>
          <p:nvPr/>
        </p:nvSpPr>
        <p:spPr>
          <a:xfrm>
            <a:off x="2877683" y="5128915"/>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0" name="Oval 359"/>
          <p:cNvSpPr/>
          <p:nvPr/>
        </p:nvSpPr>
        <p:spPr>
          <a:xfrm>
            <a:off x="4038677" y="5223161"/>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1" name="Oval 360"/>
          <p:cNvSpPr/>
          <p:nvPr/>
        </p:nvSpPr>
        <p:spPr>
          <a:xfrm>
            <a:off x="2804198" y="4638417"/>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Oval 361"/>
          <p:cNvSpPr/>
          <p:nvPr/>
        </p:nvSpPr>
        <p:spPr>
          <a:xfrm>
            <a:off x="3291736" y="5193328"/>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3" name="Oval 362"/>
          <p:cNvSpPr/>
          <p:nvPr/>
        </p:nvSpPr>
        <p:spPr>
          <a:xfrm>
            <a:off x="3254069" y="4505147"/>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4" name="Oval 363"/>
          <p:cNvSpPr/>
          <p:nvPr/>
        </p:nvSpPr>
        <p:spPr>
          <a:xfrm>
            <a:off x="3989648" y="5184336"/>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5" name="Oval 364"/>
          <p:cNvSpPr/>
          <p:nvPr/>
        </p:nvSpPr>
        <p:spPr>
          <a:xfrm>
            <a:off x="2971284" y="5137025"/>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6" name="Oval 365"/>
          <p:cNvSpPr/>
          <p:nvPr/>
        </p:nvSpPr>
        <p:spPr>
          <a:xfrm>
            <a:off x="4551532" y="5221398"/>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7" name="Oval 366"/>
          <p:cNvSpPr/>
          <p:nvPr/>
        </p:nvSpPr>
        <p:spPr>
          <a:xfrm>
            <a:off x="3366799" y="4761322"/>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8" name="Oval 367"/>
          <p:cNvSpPr/>
          <p:nvPr/>
        </p:nvSpPr>
        <p:spPr>
          <a:xfrm>
            <a:off x="4109034" y="5200827"/>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9" name="Oval 368"/>
          <p:cNvSpPr/>
          <p:nvPr/>
        </p:nvSpPr>
        <p:spPr>
          <a:xfrm>
            <a:off x="2819261" y="5082669"/>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0" name="Oval 369"/>
          <p:cNvSpPr/>
          <p:nvPr/>
        </p:nvSpPr>
        <p:spPr>
          <a:xfrm>
            <a:off x="4057459" y="5215722"/>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1" name="Oval 370"/>
          <p:cNvSpPr/>
          <p:nvPr/>
        </p:nvSpPr>
        <p:spPr>
          <a:xfrm>
            <a:off x="3077090" y="4936451"/>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2" name="Oval 371"/>
          <p:cNvSpPr/>
          <p:nvPr/>
        </p:nvSpPr>
        <p:spPr>
          <a:xfrm>
            <a:off x="3835862" y="5208890"/>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3" name="Oval 372"/>
          <p:cNvSpPr/>
          <p:nvPr/>
        </p:nvSpPr>
        <p:spPr>
          <a:xfrm>
            <a:off x="2822095" y="4466255"/>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4" name="Oval 373"/>
          <p:cNvSpPr/>
          <p:nvPr/>
        </p:nvSpPr>
        <p:spPr>
          <a:xfrm>
            <a:off x="3942907" y="5191322"/>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5" name="Oval 374"/>
          <p:cNvSpPr/>
          <p:nvPr/>
        </p:nvSpPr>
        <p:spPr>
          <a:xfrm>
            <a:off x="2941731" y="5002692"/>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6" name="Oval 375"/>
          <p:cNvSpPr/>
          <p:nvPr/>
        </p:nvSpPr>
        <p:spPr>
          <a:xfrm>
            <a:off x="4619411" y="5216103"/>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7" name="Oval 376"/>
          <p:cNvSpPr/>
          <p:nvPr/>
        </p:nvSpPr>
        <p:spPr>
          <a:xfrm>
            <a:off x="2915642" y="5039699"/>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8" name="Oval 377"/>
          <p:cNvSpPr/>
          <p:nvPr/>
        </p:nvSpPr>
        <p:spPr>
          <a:xfrm>
            <a:off x="4477094" y="5218263"/>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9" name="Oval 378"/>
          <p:cNvSpPr/>
          <p:nvPr/>
        </p:nvSpPr>
        <p:spPr>
          <a:xfrm>
            <a:off x="2392842" y="4120578"/>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0" name="Oval 379"/>
          <p:cNvSpPr/>
          <p:nvPr/>
        </p:nvSpPr>
        <p:spPr>
          <a:xfrm>
            <a:off x="3246336" y="5190776"/>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1" name="Oval 380"/>
          <p:cNvSpPr/>
          <p:nvPr/>
        </p:nvSpPr>
        <p:spPr>
          <a:xfrm>
            <a:off x="2901001" y="4481173"/>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2" name="Oval 381"/>
          <p:cNvSpPr/>
          <p:nvPr/>
        </p:nvSpPr>
        <p:spPr>
          <a:xfrm>
            <a:off x="3398239" y="5189600"/>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3" name="Oval 382"/>
          <p:cNvSpPr/>
          <p:nvPr/>
        </p:nvSpPr>
        <p:spPr>
          <a:xfrm>
            <a:off x="2833745" y="4898926"/>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4" name="Oval 383"/>
          <p:cNvSpPr/>
          <p:nvPr/>
        </p:nvSpPr>
        <p:spPr>
          <a:xfrm>
            <a:off x="4123714" y="5215443"/>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5" name="Oval 384"/>
          <p:cNvSpPr/>
          <p:nvPr/>
        </p:nvSpPr>
        <p:spPr>
          <a:xfrm>
            <a:off x="3082456" y="5091650"/>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6" name="Oval 385"/>
          <p:cNvSpPr/>
          <p:nvPr/>
        </p:nvSpPr>
        <p:spPr>
          <a:xfrm>
            <a:off x="3679579" y="5221538"/>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7" name="Oval 386"/>
          <p:cNvSpPr/>
          <p:nvPr/>
        </p:nvSpPr>
        <p:spPr>
          <a:xfrm>
            <a:off x="2929428" y="4929783"/>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8" name="Oval 387"/>
          <p:cNvSpPr/>
          <p:nvPr/>
        </p:nvSpPr>
        <p:spPr>
          <a:xfrm>
            <a:off x="3319272" y="5209497"/>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9" name="Oval 388"/>
          <p:cNvSpPr/>
          <p:nvPr/>
        </p:nvSpPr>
        <p:spPr>
          <a:xfrm>
            <a:off x="3351159" y="4962990"/>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0" name="Oval 389"/>
          <p:cNvSpPr/>
          <p:nvPr/>
        </p:nvSpPr>
        <p:spPr>
          <a:xfrm>
            <a:off x="4337389" y="5211385"/>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1" name="Oval 390"/>
          <p:cNvSpPr/>
          <p:nvPr/>
        </p:nvSpPr>
        <p:spPr>
          <a:xfrm>
            <a:off x="2456720" y="4503291"/>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2" name="Oval 391"/>
          <p:cNvSpPr/>
          <p:nvPr/>
        </p:nvSpPr>
        <p:spPr>
          <a:xfrm>
            <a:off x="3036744" y="5206671"/>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3" name="Oval 392"/>
          <p:cNvSpPr/>
          <p:nvPr/>
        </p:nvSpPr>
        <p:spPr>
          <a:xfrm>
            <a:off x="2761598" y="5025712"/>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4" name="Oval 393"/>
          <p:cNvSpPr/>
          <p:nvPr/>
        </p:nvSpPr>
        <p:spPr>
          <a:xfrm>
            <a:off x="4114129" y="5218788"/>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5" name="Oval 394"/>
          <p:cNvSpPr/>
          <p:nvPr/>
        </p:nvSpPr>
        <p:spPr>
          <a:xfrm>
            <a:off x="2855397" y="5035725"/>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6" name="Oval 395"/>
          <p:cNvSpPr/>
          <p:nvPr/>
        </p:nvSpPr>
        <p:spPr>
          <a:xfrm>
            <a:off x="3734741" y="5218143"/>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7" name="Oval 396"/>
          <p:cNvSpPr/>
          <p:nvPr/>
        </p:nvSpPr>
        <p:spPr>
          <a:xfrm>
            <a:off x="2723898" y="4906855"/>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8" name="Oval 397"/>
          <p:cNvSpPr/>
          <p:nvPr/>
        </p:nvSpPr>
        <p:spPr>
          <a:xfrm>
            <a:off x="3560562" y="5213026"/>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9" name="Oval 398"/>
          <p:cNvSpPr/>
          <p:nvPr/>
        </p:nvSpPr>
        <p:spPr>
          <a:xfrm>
            <a:off x="3149832" y="2946983"/>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0" name="Oval 399"/>
          <p:cNvSpPr/>
          <p:nvPr/>
        </p:nvSpPr>
        <p:spPr>
          <a:xfrm>
            <a:off x="4128718" y="5125209"/>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1" name="Oval 400"/>
          <p:cNvSpPr/>
          <p:nvPr/>
        </p:nvSpPr>
        <p:spPr>
          <a:xfrm>
            <a:off x="2738695" y="5120443"/>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2" name="Oval 401"/>
          <p:cNvSpPr/>
          <p:nvPr/>
        </p:nvSpPr>
        <p:spPr>
          <a:xfrm>
            <a:off x="4634693" y="5221045"/>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Oval 402"/>
          <p:cNvSpPr/>
          <p:nvPr/>
        </p:nvSpPr>
        <p:spPr>
          <a:xfrm>
            <a:off x="2719876" y="4988127"/>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Oval 403"/>
          <p:cNvSpPr/>
          <p:nvPr/>
        </p:nvSpPr>
        <p:spPr>
          <a:xfrm>
            <a:off x="4275157" y="5212193"/>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Oval 404"/>
          <p:cNvSpPr/>
          <p:nvPr/>
        </p:nvSpPr>
        <p:spPr>
          <a:xfrm>
            <a:off x="2390731" y="4990565"/>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Oval 405"/>
          <p:cNvSpPr/>
          <p:nvPr/>
        </p:nvSpPr>
        <p:spPr>
          <a:xfrm>
            <a:off x="3294793" y="5218728"/>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Oval 406"/>
          <p:cNvSpPr/>
          <p:nvPr/>
        </p:nvSpPr>
        <p:spPr>
          <a:xfrm>
            <a:off x="3280597" y="3773369"/>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Oval 407"/>
          <p:cNvSpPr/>
          <p:nvPr/>
        </p:nvSpPr>
        <p:spPr>
          <a:xfrm>
            <a:off x="3898973" y="5136215"/>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Oval 408"/>
          <p:cNvSpPr/>
          <p:nvPr/>
        </p:nvSpPr>
        <p:spPr>
          <a:xfrm>
            <a:off x="2776589" y="4749643"/>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Oval 409"/>
          <p:cNvSpPr/>
          <p:nvPr/>
        </p:nvSpPr>
        <p:spPr>
          <a:xfrm>
            <a:off x="3504458" y="5203800"/>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Oval 410"/>
          <p:cNvSpPr/>
          <p:nvPr/>
        </p:nvSpPr>
        <p:spPr>
          <a:xfrm>
            <a:off x="2904135" y="4769095"/>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Oval 411"/>
          <p:cNvSpPr/>
          <p:nvPr/>
        </p:nvSpPr>
        <p:spPr>
          <a:xfrm>
            <a:off x="3683863" y="5198452"/>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Oval 412"/>
          <p:cNvSpPr/>
          <p:nvPr/>
        </p:nvSpPr>
        <p:spPr>
          <a:xfrm>
            <a:off x="2534867" y="4234786"/>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Oval 413"/>
          <p:cNvSpPr/>
          <p:nvPr/>
        </p:nvSpPr>
        <p:spPr>
          <a:xfrm>
            <a:off x="3511108" y="5202172"/>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Oval 414"/>
          <p:cNvSpPr/>
          <p:nvPr/>
        </p:nvSpPr>
        <p:spPr>
          <a:xfrm>
            <a:off x="3014756" y="5116847"/>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Oval 415"/>
          <p:cNvSpPr/>
          <p:nvPr/>
        </p:nvSpPr>
        <p:spPr>
          <a:xfrm>
            <a:off x="3996956" y="5220564"/>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Oval 416"/>
          <p:cNvSpPr/>
          <p:nvPr/>
        </p:nvSpPr>
        <p:spPr>
          <a:xfrm>
            <a:off x="3075984" y="4749031"/>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Oval 417"/>
          <p:cNvSpPr/>
          <p:nvPr/>
        </p:nvSpPr>
        <p:spPr>
          <a:xfrm>
            <a:off x="5164653" y="5201435"/>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Oval 418"/>
          <p:cNvSpPr/>
          <p:nvPr/>
        </p:nvSpPr>
        <p:spPr>
          <a:xfrm>
            <a:off x="2958376" y="4886429"/>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Oval 419"/>
          <p:cNvSpPr/>
          <p:nvPr/>
        </p:nvSpPr>
        <p:spPr>
          <a:xfrm>
            <a:off x="3723979" y="5202372"/>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Oval 420"/>
          <p:cNvSpPr/>
          <p:nvPr/>
        </p:nvSpPr>
        <p:spPr>
          <a:xfrm>
            <a:off x="2830987" y="4980770"/>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Oval 421"/>
          <p:cNvSpPr/>
          <p:nvPr/>
        </p:nvSpPr>
        <p:spPr>
          <a:xfrm>
            <a:off x="3605262" y="5207801"/>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Oval 422"/>
          <p:cNvSpPr/>
          <p:nvPr/>
        </p:nvSpPr>
        <p:spPr>
          <a:xfrm>
            <a:off x="3385389" y="4881301"/>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Oval 423"/>
          <p:cNvSpPr/>
          <p:nvPr/>
        </p:nvSpPr>
        <p:spPr>
          <a:xfrm>
            <a:off x="3281743" y="5199907"/>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Oval 424"/>
          <p:cNvSpPr/>
          <p:nvPr/>
        </p:nvSpPr>
        <p:spPr>
          <a:xfrm>
            <a:off x="3145693" y="4811141"/>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Oval 425"/>
          <p:cNvSpPr/>
          <p:nvPr/>
        </p:nvSpPr>
        <p:spPr>
          <a:xfrm>
            <a:off x="4768684" y="5208460"/>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Oval 426"/>
          <p:cNvSpPr/>
          <p:nvPr/>
        </p:nvSpPr>
        <p:spPr>
          <a:xfrm>
            <a:off x="3329657" y="4640415"/>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Oval 427"/>
          <p:cNvSpPr/>
          <p:nvPr/>
        </p:nvSpPr>
        <p:spPr>
          <a:xfrm>
            <a:off x="4270173" y="5173189"/>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Oval 428"/>
          <p:cNvSpPr/>
          <p:nvPr/>
        </p:nvSpPr>
        <p:spPr>
          <a:xfrm>
            <a:off x="3557850" y="4827309"/>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Oval 429"/>
          <p:cNvSpPr/>
          <p:nvPr/>
        </p:nvSpPr>
        <p:spPr>
          <a:xfrm>
            <a:off x="5578040" y="5179557"/>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Oval 430"/>
          <p:cNvSpPr/>
          <p:nvPr/>
        </p:nvSpPr>
        <p:spPr>
          <a:xfrm>
            <a:off x="3134878" y="5165944"/>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Oval 431"/>
          <p:cNvSpPr/>
          <p:nvPr/>
        </p:nvSpPr>
        <p:spPr>
          <a:xfrm>
            <a:off x="5128145" y="5222404"/>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Oval 432"/>
          <p:cNvSpPr/>
          <p:nvPr/>
        </p:nvSpPr>
        <p:spPr>
          <a:xfrm>
            <a:off x="2535561" y="5053530"/>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Oval 433"/>
          <p:cNvSpPr/>
          <p:nvPr/>
        </p:nvSpPr>
        <p:spPr>
          <a:xfrm>
            <a:off x="4713016" y="5220021"/>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Oval 434"/>
          <p:cNvSpPr/>
          <p:nvPr/>
        </p:nvSpPr>
        <p:spPr>
          <a:xfrm>
            <a:off x="2837153" y="5160084"/>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Oval 435"/>
          <p:cNvSpPr/>
          <p:nvPr/>
        </p:nvSpPr>
        <p:spPr>
          <a:xfrm>
            <a:off x="3954245" y="5222025"/>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Oval 436"/>
          <p:cNvSpPr/>
          <p:nvPr/>
        </p:nvSpPr>
        <p:spPr>
          <a:xfrm>
            <a:off x="2739669" y="4716604"/>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Oval 437"/>
          <p:cNvSpPr/>
          <p:nvPr/>
        </p:nvSpPr>
        <p:spPr>
          <a:xfrm>
            <a:off x="3428462" y="5208431"/>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Oval 438"/>
          <p:cNvSpPr/>
          <p:nvPr/>
        </p:nvSpPr>
        <p:spPr>
          <a:xfrm>
            <a:off x="2851846" y="5112776"/>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Oval 439"/>
          <p:cNvSpPr/>
          <p:nvPr/>
        </p:nvSpPr>
        <p:spPr>
          <a:xfrm>
            <a:off x="3506706" y="5220204"/>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Oval 440"/>
          <p:cNvSpPr/>
          <p:nvPr/>
        </p:nvSpPr>
        <p:spPr>
          <a:xfrm>
            <a:off x="3103232" y="4588021"/>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Oval 441"/>
          <p:cNvSpPr/>
          <p:nvPr/>
        </p:nvSpPr>
        <p:spPr>
          <a:xfrm>
            <a:off x="3523383" y="5176072"/>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Oval 442"/>
          <p:cNvSpPr/>
          <p:nvPr/>
        </p:nvSpPr>
        <p:spPr>
          <a:xfrm>
            <a:off x="3116432" y="4271074"/>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Oval 443"/>
          <p:cNvSpPr/>
          <p:nvPr/>
        </p:nvSpPr>
        <p:spPr>
          <a:xfrm>
            <a:off x="3588312" y="5140426"/>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Oval 444"/>
          <p:cNvSpPr/>
          <p:nvPr/>
        </p:nvSpPr>
        <p:spPr>
          <a:xfrm>
            <a:off x="3424274" y="5133884"/>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Oval 445"/>
          <p:cNvSpPr/>
          <p:nvPr/>
        </p:nvSpPr>
        <p:spPr>
          <a:xfrm>
            <a:off x="5145754" y="5220532"/>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Oval 446"/>
          <p:cNvSpPr/>
          <p:nvPr/>
        </p:nvSpPr>
        <p:spPr>
          <a:xfrm>
            <a:off x="3241119" y="4665390"/>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Oval 447"/>
          <p:cNvSpPr/>
          <p:nvPr/>
        </p:nvSpPr>
        <p:spPr>
          <a:xfrm>
            <a:off x="3954326" y="5194696"/>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Oval 448"/>
          <p:cNvSpPr/>
          <p:nvPr/>
        </p:nvSpPr>
        <p:spPr>
          <a:xfrm>
            <a:off x="2903056" y="5035223"/>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Oval 449"/>
          <p:cNvSpPr/>
          <p:nvPr/>
        </p:nvSpPr>
        <p:spPr>
          <a:xfrm>
            <a:off x="3457130" y="5207730"/>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Oval 450"/>
          <p:cNvSpPr/>
          <p:nvPr/>
        </p:nvSpPr>
        <p:spPr>
          <a:xfrm>
            <a:off x="3062870" y="4879370"/>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Oval 451"/>
          <p:cNvSpPr/>
          <p:nvPr/>
        </p:nvSpPr>
        <p:spPr>
          <a:xfrm>
            <a:off x="3633224" y="5190695"/>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Oval 452"/>
          <p:cNvSpPr/>
          <p:nvPr/>
        </p:nvSpPr>
        <p:spPr>
          <a:xfrm>
            <a:off x="2781199" y="4188410"/>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Oval 453"/>
          <p:cNvSpPr/>
          <p:nvPr/>
        </p:nvSpPr>
        <p:spPr>
          <a:xfrm>
            <a:off x="3568554" y="5158026"/>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Oval 454"/>
          <p:cNvSpPr/>
          <p:nvPr/>
        </p:nvSpPr>
        <p:spPr>
          <a:xfrm>
            <a:off x="3273875" y="4981438"/>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Oval 455"/>
          <p:cNvSpPr/>
          <p:nvPr/>
        </p:nvSpPr>
        <p:spPr>
          <a:xfrm>
            <a:off x="5064834" y="5208388"/>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Oval 456"/>
          <p:cNvSpPr/>
          <p:nvPr/>
        </p:nvSpPr>
        <p:spPr>
          <a:xfrm>
            <a:off x="3202061" y="5013145"/>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Oval 457"/>
          <p:cNvSpPr/>
          <p:nvPr/>
        </p:nvSpPr>
        <p:spPr>
          <a:xfrm>
            <a:off x="4402355" y="5213352"/>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Oval 458"/>
          <p:cNvSpPr/>
          <p:nvPr/>
        </p:nvSpPr>
        <p:spPr>
          <a:xfrm>
            <a:off x="2601882" y="4071200"/>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Oval 459"/>
          <p:cNvSpPr/>
          <p:nvPr/>
        </p:nvSpPr>
        <p:spPr>
          <a:xfrm>
            <a:off x="3449983" y="5177096"/>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Oval 460"/>
          <p:cNvSpPr/>
          <p:nvPr/>
        </p:nvSpPr>
        <p:spPr>
          <a:xfrm>
            <a:off x="3416882" y="4496880"/>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Oval 461"/>
          <p:cNvSpPr/>
          <p:nvPr/>
        </p:nvSpPr>
        <p:spPr>
          <a:xfrm>
            <a:off x="3768777" y="5183553"/>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Oval 462"/>
          <p:cNvSpPr/>
          <p:nvPr/>
        </p:nvSpPr>
        <p:spPr>
          <a:xfrm>
            <a:off x="3220065" y="4863493"/>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Oval 463"/>
          <p:cNvSpPr/>
          <p:nvPr/>
        </p:nvSpPr>
        <p:spPr>
          <a:xfrm>
            <a:off x="3985299" y="5204398"/>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Oval 464"/>
          <p:cNvSpPr/>
          <p:nvPr/>
        </p:nvSpPr>
        <p:spPr>
          <a:xfrm>
            <a:off x="3202060" y="5059871"/>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Oval 465"/>
          <p:cNvSpPr/>
          <p:nvPr/>
        </p:nvSpPr>
        <p:spPr>
          <a:xfrm>
            <a:off x="3362457" y="5217990"/>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Oval 466"/>
          <p:cNvSpPr/>
          <p:nvPr/>
        </p:nvSpPr>
        <p:spPr>
          <a:xfrm>
            <a:off x="3000398" y="4865900"/>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Oval 467"/>
          <p:cNvSpPr/>
          <p:nvPr/>
        </p:nvSpPr>
        <p:spPr>
          <a:xfrm>
            <a:off x="3144285" y="5196203"/>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Oval 468"/>
          <p:cNvSpPr/>
          <p:nvPr/>
        </p:nvSpPr>
        <p:spPr>
          <a:xfrm>
            <a:off x="3193098" y="4883894"/>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Oval 469"/>
          <p:cNvSpPr/>
          <p:nvPr/>
        </p:nvSpPr>
        <p:spPr>
          <a:xfrm>
            <a:off x="3522587" y="5201600"/>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Oval 470"/>
          <p:cNvSpPr/>
          <p:nvPr/>
        </p:nvSpPr>
        <p:spPr>
          <a:xfrm>
            <a:off x="2777771" y="4465371"/>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Oval 471"/>
          <p:cNvSpPr/>
          <p:nvPr/>
        </p:nvSpPr>
        <p:spPr>
          <a:xfrm>
            <a:off x="3311716" y="5198885"/>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Oval 472"/>
          <p:cNvSpPr/>
          <p:nvPr/>
        </p:nvSpPr>
        <p:spPr>
          <a:xfrm>
            <a:off x="3092954" y="5001430"/>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Oval 473"/>
          <p:cNvSpPr/>
          <p:nvPr/>
        </p:nvSpPr>
        <p:spPr>
          <a:xfrm>
            <a:off x="4214536" y="5214214"/>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Oval 474"/>
          <p:cNvSpPr/>
          <p:nvPr/>
        </p:nvSpPr>
        <p:spPr>
          <a:xfrm>
            <a:off x="2957392" y="4998926"/>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Oval 475"/>
          <p:cNvSpPr/>
          <p:nvPr/>
        </p:nvSpPr>
        <p:spPr>
          <a:xfrm>
            <a:off x="3857647" y="5214483"/>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Oval 476"/>
          <p:cNvSpPr/>
          <p:nvPr/>
        </p:nvSpPr>
        <p:spPr>
          <a:xfrm>
            <a:off x="3172176" y="4914618"/>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Oval 477"/>
          <p:cNvSpPr/>
          <p:nvPr/>
        </p:nvSpPr>
        <p:spPr>
          <a:xfrm>
            <a:off x="3832014" y="5206655"/>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Oval 478"/>
          <p:cNvSpPr/>
          <p:nvPr/>
        </p:nvSpPr>
        <p:spPr>
          <a:xfrm>
            <a:off x="3271491" y="2726611"/>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Oval 479"/>
          <p:cNvSpPr/>
          <p:nvPr/>
        </p:nvSpPr>
        <p:spPr>
          <a:xfrm>
            <a:off x="4385205" y="5098154"/>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Oval 480"/>
          <p:cNvSpPr/>
          <p:nvPr/>
        </p:nvSpPr>
        <p:spPr>
          <a:xfrm>
            <a:off x="3162476" y="5105549"/>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Oval 481"/>
          <p:cNvSpPr/>
          <p:nvPr/>
        </p:nvSpPr>
        <p:spPr>
          <a:xfrm>
            <a:off x="4489379" y="5218129"/>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Oval 482"/>
          <p:cNvSpPr/>
          <p:nvPr/>
        </p:nvSpPr>
        <p:spPr>
          <a:xfrm>
            <a:off x="3021521" y="4956559"/>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Oval 483"/>
          <p:cNvSpPr/>
          <p:nvPr/>
        </p:nvSpPr>
        <p:spPr>
          <a:xfrm>
            <a:off x="4056165" y="5205341"/>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Oval 484"/>
          <p:cNvSpPr/>
          <p:nvPr/>
        </p:nvSpPr>
        <p:spPr>
          <a:xfrm>
            <a:off x="2622098" y="4998399"/>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Oval 485"/>
          <p:cNvSpPr/>
          <p:nvPr/>
        </p:nvSpPr>
        <p:spPr>
          <a:xfrm>
            <a:off x="3337282" y="5212929"/>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Oval 486"/>
          <p:cNvSpPr/>
          <p:nvPr/>
        </p:nvSpPr>
        <p:spPr>
          <a:xfrm>
            <a:off x="3383626" y="3392288"/>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Oval 487"/>
          <p:cNvSpPr/>
          <p:nvPr/>
        </p:nvSpPr>
        <p:spPr>
          <a:xfrm>
            <a:off x="3631002" y="5094679"/>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Oval 488"/>
          <p:cNvSpPr/>
          <p:nvPr/>
        </p:nvSpPr>
        <p:spPr>
          <a:xfrm>
            <a:off x="2867467" y="4620709"/>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Oval 489"/>
          <p:cNvSpPr/>
          <p:nvPr/>
        </p:nvSpPr>
        <p:spPr>
          <a:xfrm>
            <a:off x="3727180" y="5194917"/>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Oval 490"/>
          <p:cNvSpPr/>
          <p:nvPr/>
        </p:nvSpPr>
        <p:spPr>
          <a:xfrm>
            <a:off x="2968676" y="4665520"/>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2" name="Oval 491"/>
          <p:cNvSpPr/>
          <p:nvPr/>
        </p:nvSpPr>
        <p:spPr>
          <a:xfrm>
            <a:off x="3407086" y="5182003"/>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Oval 492"/>
          <p:cNvSpPr/>
          <p:nvPr/>
        </p:nvSpPr>
        <p:spPr>
          <a:xfrm>
            <a:off x="2921874" y="4273792"/>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Oval 493"/>
          <p:cNvSpPr/>
          <p:nvPr/>
        </p:nvSpPr>
        <p:spPr>
          <a:xfrm>
            <a:off x="3545950" y="5189012"/>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Oval 494"/>
          <p:cNvSpPr/>
          <p:nvPr/>
        </p:nvSpPr>
        <p:spPr>
          <a:xfrm>
            <a:off x="2825207" y="5063126"/>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Oval 495"/>
          <p:cNvSpPr/>
          <p:nvPr/>
        </p:nvSpPr>
        <p:spPr>
          <a:xfrm>
            <a:off x="3539511" y="5215918"/>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Oval 496"/>
          <p:cNvSpPr/>
          <p:nvPr/>
        </p:nvSpPr>
        <p:spPr>
          <a:xfrm>
            <a:off x="3460940" y="4753346"/>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Oval 497"/>
          <p:cNvSpPr/>
          <p:nvPr/>
        </p:nvSpPr>
        <p:spPr>
          <a:xfrm>
            <a:off x="5513487" y="5196141"/>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Oval 498"/>
          <p:cNvSpPr/>
          <p:nvPr/>
        </p:nvSpPr>
        <p:spPr>
          <a:xfrm>
            <a:off x="3010510" y="4834012"/>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3551504" y="5186953"/>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2961596" y="4945851"/>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3612227" y="5199303"/>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410831" y="4857772"/>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Oval 503"/>
          <p:cNvSpPr/>
          <p:nvPr/>
        </p:nvSpPr>
        <p:spPr>
          <a:xfrm>
            <a:off x="4477109" y="5211571"/>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Oval 504"/>
          <p:cNvSpPr/>
          <p:nvPr/>
        </p:nvSpPr>
        <p:spPr>
          <a:xfrm>
            <a:off x="3210244" y="4759605"/>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Oval 505"/>
          <p:cNvSpPr/>
          <p:nvPr/>
        </p:nvSpPr>
        <p:spPr>
          <a:xfrm>
            <a:off x="4689649" y="5204686"/>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Oval 506"/>
          <p:cNvSpPr/>
          <p:nvPr/>
        </p:nvSpPr>
        <p:spPr>
          <a:xfrm>
            <a:off x="3352250" y="4620916"/>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Oval 507"/>
          <p:cNvSpPr/>
          <p:nvPr/>
        </p:nvSpPr>
        <p:spPr>
          <a:xfrm>
            <a:off x="4662443" y="5180313"/>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Oval 508"/>
          <p:cNvSpPr/>
          <p:nvPr/>
        </p:nvSpPr>
        <p:spPr>
          <a:xfrm>
            <a:off x="4144254" y="4822317"/>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Oval 509"/>
          <p:cNvSpPr/>
          <p:nvPr/>
        </p:nvSpPr>
        <p:spPr>
          <a:xfrm>
            <a:off x="6148768" y="5174950"/>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Oval 510"/>
          <p:cNvSpPr/>
          <p:nvPr/>
        </p:nvSpPr>
        <p:spPr>
          <a:xfrm>
            <a:off x="3583355" y="5162828"/>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Oval 511"/>
          <p:cNvSpPr/>
          <p:nvPr/>
        </p:nvSpPr>
        <p:spPr>
          <a:xfrm>
            <a:off x="5701475" y="5221737"/>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Oval 512"/>
          <p:cNvSpPr/>
          <p:nvPr/>
        </p:nvSpPr>
        <p:spPr>
          <a:xfrm>
            <a:off x="2475488" y="4998536"/>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Oval 513"/>
          <p:cNvSpPr/>
          <p:nvPr/>
        </p:nvSpPr>
        <p:spPr>
          <a:xfrm>
            <a:off x="3481690" y="5210791"/>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Oval 514"/>
          <p:cNvSpPr/>
          <p:nvPr/>
        </p:nvSpPr>
        <p:spPr>
          <a:xfrm>
            <a:off x="2841945" y="5138821"/>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Oval 515"/>
          <p:cNvSpPr/>
          <p:nvPr/>
        </p:nvSpPr>
        <p:spPr>
          <a:xfrm>
            <a:off x="3365301" y="5218289"/>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Oval 516"/>
          <p:cNvSpPr/>
          <p:nvPr/>
        </p:nvSpPr>
        <p:spPr>
          <a:xfrm>
            <a:off x="2903609" y="4637075"/>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Oval 517"/>
          <p:cNvSpPr/>
          <p:nvPr/>
        </p:nvSpPr>
        <p:spPr>
          <a:xfrm>
            <a:off x="3635166" y="5201007"/>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19" name="Connector 518"/>
          <p:cNvCxnSpPr/>
          <p:nvPr/>
        </p:nvCxnSpPr>
        <p:spPr>
          <a:xfrm>
            <a:off x="1700784" y="4613441"/>
            <a:ext cx="5358384" cy="1129715"/>
          </a:xfrm>
          <a:prstGeom prst="line">
            <a:avLst/>
          </a:prstGeom>
          <a:ln w="25400">
            <a:solidFill>
              <a:srgbClr val="C58A2A"/>
            </a:solidFill>
          </a:ln>
        </p:spPr>
        <p:style>
          <a:lnRef idx="2">
            <a:schemeClr val="accent1"/>
          </a:lnRef>
          <a:fillRef idx="0">
            <a:schemeClr val="accent1"/>
          </a:fillRef>
          <a:effectRef idx="1">
            <a:schemeClr val="accent1"/>
          </a:effectRef>
          <a:fontRef idx="minor">
            <a:schemeClr val="tx1"/>
          </a:fontRef>
        </p:style>
      </p:cxnSp>
      <p:sp>
        <p:nvSpPr>
          <p:cNvPr id="520" name="TextBox 519"/>
          <p:cNvSpPr txBox="1"/>
          <p:nvPr/>
        </p:nvSpPr>
        <p:spPr>
          <a:xfrm>
            <a:off x="3008376" y="5596128"/>
            <a:ext cx="2194560" cy="146304"/>
          </a:xfrm>
          <a:prstGeom prst="rect">
            <a:avLst/>
          </a:prstGeom>
          <a:noFill/>
        </p:spPr>
        <p:txBody>
          <a:bodyPr wrap="square" lIns="27432" rIns="27432" tIns="27432" bIns="27432" anchor="t">
            <a:spAutoFit/>
          </a:bodyPr>
          <a:lstStyle/>
          <a:p>
            <a:pPr algn="ctr"/>
            <a:r>
              <a:rPr sz="900" b="1">
                <a:solidFill>
                  <a:srgbClr val="5F6B63"/>
                </a:solidFill>
                <a:latin typeface="Aptos"/>
              </a:rPr>
              <a:t>AVERAGE ANNUAL PRICE</a:t>
            </a:r>
          </a:p>
        </p:txBody>
      </p:sp>
      <p:sp>
        <p:nvSpPr>
          <p:cNvPr id="521" name="TextBox 520"/>
          <p:cNvSpPr txBox="1"/>
          <p:nvPr/>
        </p:nvSpPr>
        <p:spPr>
          <a:xfrm>
            <a:off x="914400" y="3712464"/>
            <a:ext cx="640080" cy="402336"/>
          </a:xfrm>
          <a:prstGeom prst="rect">
            <a:avLst/>
          </a:prstGeom>
          <a:noFill/>
        </p:spPr>
        <p:txBody>
          <a:bodyPr wrap="square" lIns="27432" rIns="27432" tIns="27432" bIns="27432" anchor="t">
            <a:spAutoFit/>
          </a:bodyPr>
          <a:lstStyle/>
          <a:p>
            <a:pPr algn="ctr"/>
            <a:r>
              <a:rPr sz="800" b="1">
                <a:solidFill>
                  <a:srgbClr val="5F6B63"/>
                </a:solidFill>
                <a:latin typeface="Aptos"/>
              </a:rPr>
              <a:t>ANNUAL VOLUME (M UNITS)</a:t>
            </a:r>
          </a:p>
        </p:txBody>
      </p:sp>
      <p:sp>
        <p:nvSpPr>
          <p:cNvPr id="522" name="Rounded Rectangle 521"/>
          <p:cNvSpPr/>
          <p:nvPr/>
        </p:nvSpPr>
        <p:spPr>
          <a:xfrm>
            <a:off x="7790688" y="1664208"/>
            <a:ext cx="3712463" cy="4334256"/>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TextBox 522"/>
          <p:cNvSpPr txBox="1"/>
          <p:nvPr/>
        </p:nvSpPr>
        <p:spPr>
          <a:xfrm>
            <a:off x="8065008" y="1901952"/>
            <a:ext cx="2377440" cy="164592"/>
          </a:xfrm>
          <a:prstGeom prst="rect">
            <a:avLst/>
          </a:prstGeom>
          <a:noFill/>
        </p:spPr>
        <p:txBody>
          <a:bodyPr wrap="square" lIns="27432" rIns="27432" tIns="27432" bIns="27432" anchor="t">
            <a:spAutoFit/>
          </a:bodyPr>
          <a:lstStyle/>
          <a:p>
            <a:pPr algn="l"/>
            <a:r>
              <a:rPr sz="1000" b="1">
                <a:solidFill>
                  <a:srgbClr val="5F6B63"/>
                </a:solidFill>
                <a:latin typeface="Aptos"/>
              </a:rPr>
              <a:t>READ THE RELATIONSHIP</a:t>
            </a:r>
          </a:p>
        </p:txBody>
      </p:sp>
      <p:sp>
        <p:nvSpPr>
          <p:cNvPr id="524" name="Rounded Rectangle 523"/>
          <p:cNvSpPr/>
          <p:nvPr/>
        </p:nvSpPr>
        <p:spPr>
          <a:xfrm>
            <a:off x="8065008" y="2212848"/>
            <a:ext cx="1298448" cy="859536"/>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TextBox 524"/>
          <p:cNvSpPr txBox="1"/>
          <p:nvPr/>
        </p:nvSpPr>
        <p:spPr>
          <a:xfrm>
            <a:off x="8193024" y="2322576"/>
            <a:ext cx="1042416" cy="164592"/>
          </a:xfrm>
          <a:prstGeom prst="rect">
            <a:avLst/>
          </a:prstGeom>
          <a:noFill/>
        </p:spPr>
        <p:txBody>
          <a:bodyPr wrap="square" lIns="27432" rIns="27432" tIns="27432" bIns="27432" anchor="t">
            <a:spAutoFit/>
          </a:bodyPr>
          <a:lstStyle/>
          <a:p>
            <a:pPr algn="ctr"/>
            <a:r>
              <a:rPr sz="1000" b="1">
                <a:solidFill>
                  <a:srgbClr val="5F6B63"/>
                </a:solidFill>
                <a:latin typeface="Aptos"/>
              </a:rPr>
              <a:t>PEARSON R</a:t>
            </a:r>
          </a:p>
        </p:txBody>
      </p:sp>
      <p:sp>
        <p:nvSpPr>
          <p:cNvPr id="526" name="TextBox 525"/>
          <p:cNvSpPr txBox="1"/>
          <p:nvPr/>
        </p:nvSpPr>
        <p:spPr>
          <a:xfrm>
            <a:off x="8193024" y="2523744"/>
            <a:ext cx="1042416" cy="438912"/>
          </a:xfrm>
          <a:prstGeom prst="rect">
            <a:avLst/>
          </a:prstGeom>
          <a:noFill/>
        </p:spPr>
        <p:txBody>
          <a:bodyPr wrap="square" lIns="27432" rIns="27432" tIns="27432" bIns="27432" anchor="ctr">
            <a:spAutoFit/>
          </a:bodyPr>
          <a:lstStyle/>
          <a:p>
            <a:pPr algn="ctr"/>
            <a:r>
              <a:rPr sz="1900" b="1">
                <a:solidFill>
                  <a:srgbClr val="3F728A"/>
                </a:solidFill>
                <a:latin typeface="Aptos Display"/>
              </a:rPr>
              <a:t>-0.43</a:t>
            </a:r>
          </a:p>
        </p:txBody>
      </p:sp>
      <p:sp>
        <p:nvSpPr>
          <p:cNvPr id="527" name="Rounded Rectangle 526"/>
          <p:cNvSpPr/>
          <p:nvPr/>
        </p:nvSpPr>
        <p:spPr>
          <a:xfrm>
            <a:off x="9509760" y="2212848"/>
            <a:ext cx="1335024" cy="859536"/>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8" name="TextBox 527"/>
          <p:cNvSpPr txBox="1"/>
          <p:nvPr/>
        </p:nvSpPr>
        <p:spPr>
          <a:xfrm>
            <a:off x="9637776" y="2322576"/>
            <a:ext cx="1078992" cy="164592"/>
          </a:xfrm>
          <a:prstGeom prst="rect">
            <a:avLst/>
          </a:prstGeom>
          <a:noFill/>
        </p:spPr>
        <p:txBody>
          <a:bodyPr wrap="square" lIns="27432" rIns="27432" tIns="27432" bIns="27432" anchor="t">
            <a:spAutoFit/>
          </a:bodyPr>
          <a:lstStyle/>
          <a:p>
            <a:pPr algn="ctr"/>
            <a:r>
              <a:rPr sz="1000" b="1">
                <a:solidFill>
                  <a:srgbClr val="5F6B63"/>
                </a:solidFill>
                <a:latin typeface="Aptos"/>
              </a:rPr>
              <a:t>R2</a:t>
            </a:r>
          </a:p>
        </p:txBody>
      </p:sp>
      <p:sp>
        <p:nvSpPr>
          <p:cNvPr id="529" name="TextBox 528"/>
          <p:cNvSpPr txBox="1"/>
          <p:nvPr/>
        </p:nvSpPr>
        <p:spPr>
          <a:xfrm>
            <a:off x="9637776" y="2523744"/>
            <a:ext cx="1078992" cy="438912"/>
          </a:xfrm>
          <a:prstGeom prst="rect">
            <a:avLst/>
          </a:prstGeom>
          <a:noFill/>
        </p:spPr>
        <p:txBody>
          <a:bodyPr wrap="square" lIns="27432" rIns="27432" tIns="27432" bIns="27432" anchor="ctr">
            <a:spAutoFit/>
          </a:bodyPr>
          <a:lstStyle/>
          <a:p>
            <a:pPr algn="ctr"/>
            <a:r>
              <a:rPr sz="1900" b="1">
                <a:solidFill>
                  <a:srgbClr val="355C47"/>
                </a:solidFill>
                <a:latin typeface="Aptos Display"/>
              </a:rPr>
              <a:t>0.18</a:t>
            </a:r>
          </a:p>
        </p:txBody>
      </p:sp>
      <p:sp>
        <p:nvSpPr>
          <p:cNvPr id="530" name="Rounded Rectangle 529"/>
          <p:cNvSpPr/>
          <p:nvPr/>
        </p:nvSpPr>
        <p:spPr>
          <a:xfrm>
            <a:off x="8065008" y="3218688"/>
            <a:ext cx="2779776" cy="859536"/>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TextBox 530"/>
          <p:cNvSpPr txBox="1"/>
          <p:nvPr/>
        </p:nvSpPr>
        <p:spPr>
          <a:xfrm>
            <a:off x="8193024" y="3328416"/>
            <a:ext cx="2523744" cy="164592"/>
          </a:xfrm>
          <a:prstGeom prst="rect">
            <a:avLst/>
          </a:prstGeom>
          <a:noFill/>
        </p:spPr>
        <p:txBody>
          <a:bodyPr wrap="square" lIns="27432" rIns="27432" tIns="27432" bIns="27432" anchor="t">
            <a:spAutoFit/>
          </a:bodyPr>
          <a:lstStyle/>
          <a:p>
            <a:pPr algn="ctr"/>
            <a:r>
              <a:rPr sz="1000" b="1">
                <a:solidFill>
                  <a:srgbClr val="5F6B63"/>
                </a:solidFill>
                <a:latin typeface="Aptos"/>
              </a:rPr>
              <a:t>ELASTICITY</a:t>
            </a:r>
          </a:p>
        </p:txBody>
      </p:sp>
      <p:sp>
        <p:nvSpPr>
          <p:cNvPr id="532" name="TextBox 531"/>
          <p:cNvSpPr txBox="1"/>
          <p:nvPr/>
        </p:nvSpPr>
        <p:spPr>
          <a:xfrm>
            <a:off x="8193024" y="3529584"/>
            <a:ext cx="2523744" cy="438912"/>
          </a:xfrm>
          <a:prstGeom prst="rect">
            <a:avLst/>
          </a:prstGeom>
          <a:noFill/>
        </p:spPr>
        <p:txBody>
          <a:bodyPr wrap="square" lIns="27432" rIns="27432" tIns="27432" bIns="27432" anchor="ctr">
            <a:spAutoFit/>
          </a:bodyPr>
          <a:lstStyle/>
          <a:p>
            <a:pPr algn="ctr"/>
            <a:r>
              <a:rPr sz="1900" b="1">
                <a:solidFill>
                  <a:srgbClr val="C58A2A"/>
                </a:solidFill>
                <a:latin typeface="Aptos Display"/>
              </a:rPr>
              <a:t>-4.96</a:t>
            </a:r>
          </a:p>
        </p:txBody>
      </p:sp>
      <p:sp>
        <p:nvSpPr>
          <p:cNvPr id="533" name="TextBox 532"/>
          <p:cNvSpPr txBox="1"/>
          <p:nvPr/>
        </p:nvSpPr>
        <p:spPr>
          <a:xfrm>
            <a:off x="8065008" y="4279392"/>
            <a:ext cx="2880360" cy="960120"/>
          </a:xfrm>
          <a:prstGeom prst="rect">
            <a:avLst/>
          </a:prstGeom>
          <a:noFill/>
        </p:spPr>
        <p:txBody>
          <a:bodyPr wrap="square" lIns="27432" rIns="27432" tIns="27432" bIns="27432" anchor="t">
            <a:spAutoFit/>
          </a:bodyPr>
          <a:lstStyle/>
          <a:p>
            <a:pPr algn="l"/>
            <a:r>
              <a:rPr sz="1300" b="0">
                <a:solidFill>
                  <a:srgbClr val="1F2621"/>
                </a:solidFill>
                <a:latin typeface="Aptos"/>
              </a:rPr>
              <a:t>A correlation of about -0.43 means higher-priced markets tend to sell fewer avocados, but price alone explains only about 18% of volume variation. Local market structure does the rest.</a:t>
            </a:r>
          </a:p>
        </p:txBody>
      </p:sp>
      <p:sp>
        <p:nvSpPr>
          <p:cNvPr id="534" name="Rounded Rectangle 533"/>
          <p:cNvSpPr/>
          <p:nvPr/>
        </p:nvSpPr>
        <p:spPr>
          <a:xfrm>
            <a:off x="932688" y="5522976"/>
            <a:ext cx="10570464" cy="566928"/>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Rounded Rectangle 534"/>
          <p:cNvSpPr/>
          <p:nvPr/>
        </p:nvSpPr>
        <p:spPr>
          <a:xfrm>
            <a:off x="1060704" y="5632704"/>
            <a:ext cx="1051560" cy="347472"/>
          </a:xfrm>
          <a:prstGeom prst="roundRect">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TextBox 535"/>
          <p:cNvSpPr txBox="1"/>
          <p:nvPr/>
        </p:nvSpPr>
        <p:spPr>
          <a:xfrm>
            <a:off x="1115568" y="5687568"/>
            <a:ext cx="941832" cy="237744"/>
          </a:xfrm>
          <a:prstGeom prst="rect">
            <a:avLst/>
          </a:prstGeom>
          <a:noFill/>
        </p:spPr>
        <p:txBody>
          <a:bodyPr wrap="square" lIns="27432" rIns="27432" tIns="27432" bIns="27432" anchor="ctr">
            <a:spAutoFit/>
          </a:bodyPr>
          <a:lstStyle/>
          <a:p>
            <a:pPr algn="ctr"/>
            <a:r>
              <a:rPr sz="1000" b="1">
                <a:solidFill>
                  <a:srgbClr val="FCFAF5"/>
                </a:solidFill>
                <a:latin typeface="Aptos"/>
              </a:rPr>
              <a:t>TAKEAWAY</a:t>
            </a:r>
          </a:p>
        </p:txBody>
      </p:sp>
      <p:sp>
        <p:nvSpPr>
          <p:cNvPr id="537" name="TextBox 536"/>
          <p:cNvSpPr txBox="1"/>
          <p:nvPr/>
        </p:nvSpPr>
        <p:spPr>
          <a:xfrm>
            <a:off x="2304288" y="5614416"/>
            <a:ext cx="8997696" cy="384048"/>
          </a:xfrm>
          <a:prstGeom prst="rect">
            <a:avLst/>
          </a:prstGeom>
          <a:noFill/>
        </p:spPr>
        <p:txBody>
          <a:bodyPr wrap="square" lIns="27432" rIns="27432" tIns="27432" bIns="27432" anchor="ctr">
            <a:spAutoFit/>
          </a:bodyPr>
          <a:lstStyle/>
          <a:p>
            <a:pPr algn="l"/>
            <a:r>
              <a:rPr sz="1200" b="1">
                <a:solidFill>
                  <a:srgbClr val="1F2621"/>
                </a:solidFill>
                <a:latin typeface="Aptos"/>
              </a:rPr>
              <a:t>Q3 answer: price matters at the market level, but it is not strong enough to choose cities by itself.</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55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46920" y="0"/>
            <a:ext cx="2542032" cy="73152"/>
          </a:xfrm>
          <a:prstGeom prst="rect">
            <a:avLst/>
          </a:prstGeom>
          <a:solidFill>
            <a:srgbClr val="C58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01168"/>
            <a:ext cx="1554480" cy="256032"/>
          </a:xfrm>
          <a:prstGeom prst="roundRect">
            <a:avLst/>
          </a:prstGeom>
          <a:solidFill>
            <a:srgbClr val="FCFAF5"/>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224028"/>
            <a:ext cx="1517904" cy="182880"/>
          </a:xfrm>
          <a:prstGeom prst="rect">
            <a:avLst/>
          </a:prstGeom>
          <a:noFill/>
        </p:spPr>
        <p:txBody>
          <a:bodyPr wrap="square" lIns="27432" rIns="27432" tIns="27432" bIns="27432" anchor="t">
            <a:spAutoFit/>
          </a:bodyPr>
          <a:lstStyle/>
          <a:p>
            <a:pPr algn="ctr"/>
            <a:r>
              <a:rPr sz="1000" b="1">
                <a:solidFill>
                  <a:srgbClr val="355C47"/>
                </a:solidFill>
                <a:latin typeface="Aptos"/>
              </a:rPr>
              <a:t>MARKET ANALYSIS</a:t>
            </a:r>
          </a:p>
        </p:txBody>
      </p:sp>
      <p:sp>
        <p:nvSpPr>
          <p:cNvPr id="7" name="Rounded Rectangle 6"/>
          <p:cNvSpPr/>
          <p:nvPr/>
        </p:nvSpPr>
        <p:spPr>
          <a:xfrm>
            <a:off x="2267712" y="201168"/>
            <a:ext cx="713232" cy="256032"/>
          </a:xfrm>
          <a:prstGeom prst="roundRect">
            <a:avLst/>
          </a:prstGeom>
          <a:solidFill>
            <a:srgbClr val="FFFDF9"/>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0" y="224028"/>
            <a:ext cx="676656" cy="182880"/>
          </a:xfrm>
          <a:prstGeom prst="rect">
            <a:avLst/>
          </a:prstGeom>
          <a:noFill/>
        </p:spPr>
        <p:txBody>
          <a:bodyPr wrap="square" lIns="27432" rIns="27432" tIns="27432" bIns="27432" anchor="t">
            <a:spAutoFit/>
          </a:bodyPr>
          <a:lstStyle/>
          <a:p>
            <a:pPr algn="ctr"/>
            <a:r>
              <a:rPr sz="1000" b="1">
                <a:solidFill>
                  <a:srgbClr val="C58A2A"/>
                </a:solidFill>
                <a:latin typeface="Aptos"/>
              </a:rPr>
              <a:t>Q3</a:t>
            </a:r>
          </a:p>
        </p:txBody>
      </p:sp>
      <p:sp>
        <p:nvSpPr>
          <p:cNvPr id="9" name="TextBox 8"/>
          <p:cNvSpPr txBox="1"/>
          <p:nvPr/>
        </p:nvSpPr>
        <p:spPr>
          <a:xfrm>
            <a:off x="11631168" y="6519672"/>
            <a:ext cx="274320" cy="164592"/>
          </a:xfrm>
          <a:prstGeom prst="rect">
            <a:avLst/>
          </a:prstGeom>
          <a:noFill/>
        </p:spPr>
        <p:txBody>
          <a:bodyPr wrap="square" lIns="27432" rIns="27432" tIns="27432" bIns="27432" anchor="t">
            <a:spAutoFit/>
          </a:bodyPr>
          <a:lstStyle/>
          <a:p>
            <a:pPr algn="r"/>
            <a:r>
              <a:rPr sz="900" b="0">
                <a:solidFill>
                  <a:srgbClr val="5F6B63"/>
                </a:solidFill>
                <a:latin typeface="Aptos"/>
              </a:rPr>
              <a:t>10</a:t>
            </a:r>
          </a:p>
        </p:txBody>
      </p:sp>
      <p:sp>
        <p:nvSpPr>
          <p:cNvPr id="10" name="TextBox 9"/>
          <p:cNvSpPr txBox="1"/>
          <p:nvPr/>
        </p:nvSpPr>
        <p:spPr>
          <a:xfrm>
            <a:off x="548640" y="658368"/>
            <a:ext cx="10332720" cy="868680"/>
          </a:xfrm>
          <a:prstGeom prst="rect">
            <a:avLst/>
          </a:prstGeom>
          <a:noFill/>
        </p:spPr>
        <p:txBody>
          <a:bodyPr wrap="square" lIns="27432" rIns="27432" tIns="27432" bIns="27432" anchor="t">
            <a:spAutoFit/>
          </a:bodyPr>
          <a:lstStyle/>
          <a:p>
            <a:pPr algn="l"/>
            <a:r>
              <a:rPr sz="2700" b="1">
                <a:solidFill>
                  <a:srgbClr val="355C47"/>
                </a:solidFill>
                <a:latin typeface="Aptos Display"/>
              </a:rPr>
              <a:t>Within each product type, the price-volume relationship is nearly flat</a:t>
            </a:r>
          </a:p>
        </p:txBody>
      </p:sp>
      <p:sp>
        <p:nvSpPr>
          <p:cNvPr id="11" name="Rounded Rectangle 10"/>
          <p:cNvSpPr/>
          <p:nvPr/>
        </p:nvSpPr>
        <p:spPr>
          <a:xfrm>
            <a:off x="749808" y="1737360"/>
            <a:ext cx="5266944" cy="4315968"/>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1865376"/>
            <a:ext cx="1755648" cy="146304"/>
          </a:xfrm>
          <a:prstGeom prst="rect">
            <a:avLst/>
          </a:prstGeom>
          <a:noFill/>
        </p:spPr>
        <p:txBody>
          <a:bodyPr wrap="square" lIns="27432" rIns="27432" tIns="27432" bIns="27432" anchor="t">
            <a:spAutoFit/>
          </a:bodyPr>
          <a:lstStyle/>
          <a:p>
            <a:pPr algn="l"/>
            <a:r>
              <a:rPr sz="1000" b="1">
                <a:solidFill>
                  <a:srgbClr val="5F6B63"/>
                </a:solidFill>
                <a:latin typeface="Aptos"/>
              </a:rPr>
              <a:t>CONVENTIONAL OBSERVATIONS</a:t>
            </a:r>
          </a:p>
        </p:txBody>
      </p:sp>
      <p:cxnSp>
        <p:nvCxnSpPr>
          <p:cNvPr id="13" name="Connector 12"/>
          <p:cNvCxnSpPr/>
          <p:nvPr/>
        </p:nvCxnSpPr>
        <p:spPr>
          <a:xfrm>
            <a:off x="1700784" y="4681728"/>
            <a:ext cx="3895344" cy="0"/>
          </a:xfrm>
          <a:prstGeom prst="line">
            <a:avLst/>
          </a:prstGeom>
          <a:ln w="15240">
            <a:solidFill>
              <a:srgbClr val="D8D1C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700784" y="2340864"/>
            <a:ext cx="0" cy="2340864"/>
          </a:xfrm>
          <a:prstGeom prst="line">
            <a:avLst/>
          </a:prstGeom>
          <a:ln w="15240">
            <a:solidFill>
              <a:srgbClr val="D8D1C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1700784" y="2340864"/>
            <a:ext cx="0" cy="2340864"/>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444752" y="4754880"/>
            <a:ext cx="512064" cy="146304"/>
          </a:xfrm>
          <a:prstGeom prst="rect">
            <a:avLst/>
          </a:prstGeom>
          <a:noFill/>
        </p:spPr>
        <p:txBody>
          <a:bodyPr wrap="square" lIns="27432" rIns="27432" tIns="27432" bIns="27432" anchor="t">
            <a:spAutoFit/>
          </a:bodyPr>
          <a:lstStyle/>
          <a:p>
            <a:pPr algn="ctr"/>
            <a:r>
              <a:rPr sz="800" b="0">
                <a:solidFill>
                  <a:srgbClr val="5F6B63"/>
                </a:solidFill>
                <a:latin typeface="Aptos"/>
              </a:rPr>
              <a:t>$0.75</a:t>
            </a:r>
          </a:p>
        </p:txBody>
      </p:sp>
      <p:cxnSp>
        <p:nvCxnSpPr>
          <p:cNvPr id="17" name="Connector 16"/>
          <p:cNvCxnSpPr/>
          <p:nvPr/>
        </p:nvCxnSpPr>
        <p:spPr>
          <a:xfrm flipV="1">
            <a:off x="2674620" y="2340864"/>
            <a:ext cx="0" cy="2340864"/>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2418588" y="4754880"/>
            <a:ext cx="512064" cy="146304"/>
          </a:xfrm>
          <a:prstGeom prst="rect">
            <a:avLst/>
          </a:prstGeom>
          <a:noFill/>
        </p:spPr>
        <p:txBody>
          <a:bodyPr wrap="square" lIns="27432" rIns="27432" tIns="27432" bIns="27432" anchor="t">
            <a:spAutoFit/>
          </a:bodyPr>
          <a:lstStyle/>
          <a:p>
            <a:pPr algn="ctr"/>
            <a:r>
              <a:rPr sz="800" b="0">
                <a:solidFill>
                  <a:srgbClr val="5F6B63"/>
                </a:solidFill>
                <a:latin typeface="Aptos"/>
              </a:rPr>
              <a:t>$1.00</a:t>
            </a:r>
          </a:p>
        </p:txBody>
      </p:sp>
      <p:cxnSp>
        <p:nvCxnSpPr>
          <p:cNvPr id="19" name="Connector 18"/>
          <p:cNvCxnSpPr/>
          <p:nvPr/>
        </p:nvCxnSpPr>
        <p:spPr>
          <a:xfrm flipV="1">
            <a:off x="3648456" y="2340864"/>
            <a:ext cx="0" cy="2340864"/>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392424" y="4754880"/>
            <a:ext cx="512064" cy="146304"/>
          </a:xfrm>
          <a:prstGeom prst="rect">
            <a:avLst/>
          </a:prstGeom>
          <a:noFill/>
        </p:spPr>
        <p:txBody>
          <a:bodyPr wrap="square" lIns="27432" rIns="27432" tIns="27432" bIns="27432" anchor="t">
            <a:spAutoFit/>
          </a:bodyPr>
          <a:lstStyle/>
          <a:p>
            <a:pPr algn="ctr"/>
            <a:r>
              <a:rPr sz="800" b="0">
                <a:solidFill>
                  <a:srgbClr val="5F6B63"/>
                </a:solidFill>
                <a:latin typeface="Aptos"/>
              </a:rPr>
              <a:t>$1.25</a:t>
            </a:r>
          </a:p>
        </p:txBody>
      </p:sp>
      <p:cxnSp>
        <p:nvCxnSpPr>
          <p:cNvPr id="21" name="Connector 20"/>
          <p:cNvCxnSpPr/>
          <p:nvPr/>
        </p:nvCxnSpPr>
        <p:spPr>
          <a:xfrm flipV="1">
            <a:off x="4622292" y="2340864"/>
            <a:ext cx="0" cy="2340864"/>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366260" y="4754880"/>
            <a:ext cx="512064" cy="146304"/>
          </a:xfrm>
          <a:prstGeom prst="rect">
            <a:avLst/>
          </a:prstGeom>
          <a:noFill/>
        </p:spPr>
        <p:txBody>
          <a:bodyPr wrap="square" lIns="27432" rIns="27432" tIns="27432" bIns="27432" anchor="t">
            <a:spAutoFit/>
          </a:bodyPr>
          <a:lstStyle/>
          <a:p>
            <a:pPr algn="ctr"/>
            <a:r>
              <a:rPr sz="800" b="0">
                <a:solidFill>
                  <a:srgbClr val="5F6B63"/>
                </a:solidFill>
                <a:latin typeface="Aptos"/>
              </a:rPr>
              <a:t>$1.50</a:t>
            </a:r>
          </a:p>
        </p:txBody>
      </p:sp>
      <p:cxnSp>
        <p:nvCxnSpPr>
          <p:cNvPr id="23" name="Connector 22"/>
          <p:cNvCxnSpPr/>
          <p:nvPr/>
        </p:nvCxnSpPr>
        <p:spPr>
          <a:xfrm flipV="1">
            <a:off x="5596128" y="2340864"/>
            <a:ext cx="0" cy="2340864"/>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340096" y="4754880"/>
            <a:ext cx="512064" cy="146304"/>
          </a:xfrm>
          <a:prstGeom prst="rect">
            <a:avLst/>
          </a:prstGeom>
          <a:noFill/>
        </p:spPr>
        <p:txBody>
          <a:bodyPr wrap="square" lIns="27432" rIns="27432" tIns="27432" bIns="27432" anchor="t">
            <a:spAutoFit/>
          </a:bodyPr>
          <a:lstStyle/>
          <a:p>
            <a:pPr algn="ctr"/>
            <a:r>
              <a:rPr sz="800" b="0">
                <a:solidFill>
                  <a:srgbClr val="5F6B63"/>
                </a:solidFill>
                <a:latin typeface="Aptos"/>
              </a:rPr>
              <a:t>$1.75</a:t>
            </a:r>
          </a:p>
        </p:txBody>
      </p:sp>
      <p:cxnSp>
        <p:nvCxnSpPr>
          <p:cNvPr id="25" name="Connector 24"/>
          <p:cNvCxnSpPr/>
          <p:nvPr/>
        </p:nvCxnSpPr>
        <p:spPr>
          <a:xfrm>
            <a:off x="1700784" y="4681728"/>
            <a:ext cx="3895344" cy="0"/>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69264" y="4608576"/>
            <a:ext cx="585216" cy="146304"/>
          </a:xfrm>
          <a:prstGeom prst="rect">
            <a:avLst/>
          </a:prstGeom>
          <a:noFill/>
        </p:spPr>
        <p:txBody>
          <a:bodyPr wrap="square" lIns="27432" rIns="27432" tIns="27432" bIns="27432" anchor="t">
            <a:spAutoFit/>
          </a:bodyPr>
          <a:lstStyle/>
          <a:p>
            <a:pPr algn="r"/>
            <a:r>
              <a:rPr sz="800" b="0">
                <a:solidFill>
                  <a:srgbClr val="5F6B63"/>
                </a:solidFill>
                <a:latin typeface="Aptos"/>
              </a:rPr>
              <a:t>0M</a:t>
            </a:r>
          </a:p>
        </p:txBody>
      </p:sp>
      <p:cxnSp>
        <p:nvCxnSpPr>
          <p:cNvPr id="27" name="Connector 26"/>
          <p:cNvCxnSpPr/>
          <p:nvPr/>
        </p:nvCxnSpPr>
        <p:spPr>
          <a:xfrm>
            <a:off x="1700784" y="4096512"/>
            <a:ext cx="3895344" cy="0"/>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969264" y="4023360"/>
            <a:ext cx="585216" cy="146304"/>
          </a:xfrm>
          <a:prstGeom prst="rect">
            <a:avLst/>
          </a:prstGeom>
          <a:noFill/>
        </p:spPr>
        <p:txBody>
          <a:bodyPr wrap="square" lIns="27432" rIns="27432" tIns="27432" bIns="27432" anchor="t">
            <a:spAutoFit/>
          </a:bodyPr>
          <a:lstStyle/>
          <a:p>
            <a:pPr algn="r"/>
            <a:r>
              <a:rPr sz="800" b="0">
                <a:solidFill>
                  <a:srgbClr val="5F6B63"/>
                </a:solidFill>
                <a:latin typeface="Aptos"/>
              </a:rPr>
              <a:t>50M</a:t>
            </a:r>
          </a:p>
        </p:txBody>
      </p:sp>
      <p:cxnSp>
        <p:nvCxnSpPr>
          <p:cNvPr id="29" name="Connector 28"/>
          <p:cNvCxnSpPr/>
          <p:nvPr/>
        </p:nvCxnSpPr>
        <p:spPr>
          <a:xfrm>
            <a:off x="1700784" y="3511296"/>
            <a:ext cx="3895344" cy="0"/>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969264" y="3438144"/>
            <a:ext cx="585216" cy="146304"/>
          </a:xfrm>
          <a:prstGeom prst="rect">
            <a:avLst/>
          </a:prstGeom>
          <a:noFill/>
        </p:spPr>
        <p:txBody>
          <a:bodyPr wrap="square" lIns="27432" rIns="27432" tIns="27432" bIns="27432" anchor="t">
            <a:spAutoFit/>
          </a:bodyPr>
          <a:lstStyle/>
          <a:p>
            <a:pPr algn="r"/>
            <a:r>
              <a:rPr sz="800" b="0">
                <a:solidFill>
                  <a:srgbClr val="5F6B63"/>
                </a:solidFill>
                <a:latin typeface="Aptos"/>
              </a:rPr>
              <a:t>100M</a:t>
            </a:r>
          </a:p>
        </p:txBody>
      </p:sp>
      <p:cxnSp>
        <p:nvCxnSpPr>
          <p:cNvPr id="31" name="Connector 30"/>
          <p:cNvCxnSpPr/>
          <p:nvPr/>
        </p:nvCxnSpPr>
        <p:spPr>
          <a:xfrm>
            <a:off x="1700784" y="2926080"/>
            <a:ext cx="3895344" cy="0"/>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969264" y="2852928"/>
            <a:ext cx="585216" cy="146304"/>
          </a:xfrm>
          <a:prstGeom prst="rect">
            <a:avLst/>
          </a:prstGeom>
          <a:noFill/>
        </p:spPr>
        <p:txBody>
          <a:bodyPr wrap="square" lIns="27432" rIns="27432" tIns="27432" bIns="27432" anchor="t">
            <a:spAutoFit/>
          </a:bodyPr>
          <a:lstStyle/>
          <a:p>
            <a:pPr algn="r"/>
            <a:r>
              <a:rPr sz="800" b="0">
                <a:solidFill>
                  <a:srgbClr val="5F6B63"/>
                </a:solidFill>
                <a:latin typeface="Aptos"/>
              </a:rPr>
              <a:t>150M</a:t>
            </a:r>
          </a:p>
        </p:txBody>
      </p:sp>
      <p:cxnSp>
        <p:nvCxnSpPr>
          <p:cNvPr id="33" name="Connector 32"/>
          <p:cNvCxnSpPr/>
          <p:nvPr/>
        </p:nvCxnSpPr>
        <p:spPr>
          <a:xfrm>
            <a:off x="1700784" y="2340864"/>
            <a:ext cx="3895344" cy="0"/>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969264" y="2267712"/>
            <a:ext cx="585216" cy="146304"/>
          </a:xfrm>
          <a:prstGeom prst="rect">
            <a:avLst/>
          </a:prstGeom>
          <a:noFill/>
        </p:spPr>
        <p:txBody>
          <a:bodyPr wrap="square" lIns="27432" rIns="27432" tIns="27432" bIns="27432" anchor="t">
            <a:spAutoFit/>
          </a:bodyPr>
          <a:lstStyle/>
          <a:p>
            <a:pPr algn="r"/>
            <a:r>
              <a:rPr sz="800" b="0">
                <a:solidFill>
                  <a:srgbClr val="5F6B63"/>
                </a:solidFill>
                <a:latin typeface="Aptos"/>
              </a:rPr>
              <a:t>200M</a:t>
            </a:r>
          </a:p>
        </p:txBody>
      </p:sp>
      <p:sp>
        <p:nvSpPr>
          <p:cNvPr id="35" name="Oval 34"/>
          <p:cNvSpPr/>
          <p:nvPr/>
        </p:nvSpPr>
        <p:spPr>
          <a:xfrm>
            <a:off x="3637665" y="4575336"/>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3056452" y="4254704"/>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4342475" y="4156873"/>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4161653" y="4582796"/>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4393019" y="4295837"/>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3849723" y="4545929"/>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3738199" y="4476721"/>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4251075" y="4212880"/>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3148094" y="4474535"/>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2928668" y="4508279"/>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2235396" y="3800476"/>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3495169" y="4118832"/>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3317618" y="4383598"/>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4433521" y="4544768"/>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3479558" y="4470958"/>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4393862" y="4464001"/>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2148150" y="3975352"/>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3049319" y="4506266"/>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3249008" y="4523993"/>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3152348" y="4445668"/>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3517001" y="3033585"/>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3241936" y="4574970"/>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2895396" y="4490023"/>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2754267" y="4466015"/>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4529909" y="3719698"/>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3109940" y="4367648"/>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4019666" y="4353461"/>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2330202" y="3949736"/>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3637156" y="4576867"/>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3935085" y="4302210"/>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3505770" y="4428878"/>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3235848" y="4476851"/>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4420605" y="4368852"/>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3727119" y="4372355"/>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4639854" y="4149384"/>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4906544" y="4348804"/>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4204051" y="4598079"/>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3641794" y="4536676"/>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3828495" y="4597044"/>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3020391" y="4341875"/>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3766846" y="4558771"/>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2451626" y="4155458"/>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3822914" y="4033823"/>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3408804" y="4567651"/>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4340857" y="4225437"/>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3069160" y="4516923"/>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3197738" y="4430291"/>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3619364" y="4098562"/>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2657487" y="4445213"/>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2406007" y="4480410"/>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1810056" y="3642247"/>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2992307" y="4017631"/>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2694530" y="4342200"/>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3866126" y="4528394"/>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3067178" y="4415710"/>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4276484" y="4422931"/>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1814031" y="3860193"/>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2440133" y="4475164"/>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2737290" y="4499278"/>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2620290" y="4398654"/>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3303706" y="2808444"/>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2468025" y="4559212"/>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2322745" y="4458209"/>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2169190" y="4436815"/>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3939908" y="3436408"/>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2528167" y="4287077"/>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3322619" y="4260045"/>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1982088" y="3801179"/>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3027931" y="4561143"/>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3213068" y="4206676"/>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2968828" y="4369676"/>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2595237" y="4433655"/>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3868088" y="4327321"/>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3246662" y="4308314"/>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4256807" y="4092043"/>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4305332" y="4271854"/>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3395292" y="4589433"/>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2852213" y="4510482"/>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3412596" y="4585261"/>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2538819" y="4277694"/>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2880239" y="4558530"/>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2728086" y="4188441"/>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3809603" y="4075913"/>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3293664" y="4568872"/>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4251137" y="4264803"/>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3335567" y="4529123"/>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3359016" y="4437409"/>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3405980" y="4114624"/>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2868023" y="4461388"/>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2727758" y="4491985"/>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Oval 124"/>
          <p:cNvSpPr/>
          <p:nvPr/>
        </p:nvSpPr>
        <p:spPr>
          <a:xfrm>
            <a:off x="1902997" y="3740350"/>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val 125"/>
          <p:cNvSpPr/>
          <p:nvPr/>
        </p:nvSpPr>
        <p:spPr>
          <a:xfrm>
            <a:off x="2914639" y="4048819"/>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val 126"/>
          <p:cNvSpPr/>
          <p:nvPr/>
        </p:nvSpPr>
        <p:spPr>
          <a:xfrm>
            <a:off x="2831098" y="4366257"/>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3767142" y="4534504"/>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2983080" y="4409392"/>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4045030" y="4423995"/>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2034889" y="3975712"/>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2626187" y="4485050"/>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2924037" y="4506632"/>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val 133"/>
          <p:cNvSpPr/>
          <p:nvPr/>
        </p:nvSpPr>
        <p:spPr>
          <a:xfrm>
            <a:off x="2551066" y="4398928"/>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3469427" y="2850325"/>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Oval 135"/>
          <p:cNvSpPr/>
          <p:nvPr/>
        </p:nvSpPr>
        <p:spPr>
          <a:xfrm>
            <a:off x="2740146" y="4564606"/>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2769083" y="4467003"/>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Oval 137"/>
          <p:cNvSpPr/>
          <p:nvPr/>
        </p:nvSpPr>
        <p:spPr>
          <a:xfrm>
            <a:off x="2271693" y="4446165"/>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val 138"/>
          <p:cNvSpPr/>
          <p:nvPr/>
        </p:nvSpPr>
        <p:spPr>
          <a:xfrm>
            <a:off x="3584486" y="3465807"/>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Oval 139"/>
          <p:cNvSpPr/>
          <p:nvPr/>
        </p:nvSpPr>
        <p:spPr>
          <a:xfrm>
            <a:off x="2788187" y="4302179"/>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Oval 140"/>
          <p:cNvSpPr/>
          <p:nvPr/>
        </p:nvSpPr>
        <p:spPr>
          <a:xfrm>
            <a:off x="3045425" y="4260402"/>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Oval 141"/>
          <p:cNvSpPr/>
          <p:nvPr/>
        </p:nvSpPr>
        <p:spPr>
          <a:xfrm>
            <a:off x="1991209" y="3835138"/>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Oval 142"/>
          <p:cNvSpPr/>
          <p:nvPr/>
        </p:nvSpPr>
        <p:spPr>
          <a:xfrm>
            <a:off x="3075730" y="4565455"/>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Oval 143"/>
          <p:cNvSpPr/>
          <p:nvPr/>
        </p:nvSpPr>
        <p:spPr>
          <a:xfrm>
            <a:off x="3348605" y="4233744"/>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Oval 144"/>
          <p:cNvSpPr/>
          <p:nvPr/>
        </p:nvSpPr>
        <p:spPr>
          <a:xfrm>
            <a:off x="3107655" y="4379638"/>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Oval 145"/>
          <p:cNvSpPr/>
          <p:nvPr/>
        </p:nvSpPr>
        <p:spPr>
          <a:xfrm>
            <a:off x="2903485" y="4451659"/>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Oval 146"/>
          <p:cNvSpPr/>
          <p:nvPr/>
        </p:nvSpPr>
        <p:spPr>
          <a:xfrm>
            <a:off x="4086534" y="4354780"/>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Oval 147"/>
          <p:cNvSpPr/>
          <p:nvPr/>
        </p:nvSpPr>
        <p:spPr>
          <a:xfrm>
            <a:off x="3568401" y="4313872"/>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Oval 148"/>
          <p:cNvSpPr/>
          <p:nvPr/>
        </p:nvSpPr>
        <p:spPr>
          <a:xfrm>
            <a:off x="4291907" y="4164614"/>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Oval 149"/>
          <p:cNvSpPr/>
          <p:nvPr/>
        </p:nvSpPr>
        <p:spPr>
          <a:xfrm>
            <a:off x="4421755" y="4303889"/>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Oval 150"/>
          <p:cNvSpPr/>
          <p:nvPr/>
        </p:nvSpPr>
        <p:spPr>
          <a:xfrm>
            <a:off x="3485050" y="4590982"/>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Oval 151"/>
          <p:cNvSpPr/>
          <p:nvPr/>
        </p:nvSpPr>
        <p:spPr>
          <a:xfrm>
            <a:off x="2533794" y="4512037"/>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Oval 152"/>
          <p:cNvSpPr/>
          <p:nvPr/>
        </p:nvSpPr>
        <p:spPr>
          <a:xfrm>
            <a:off x="3179805" y="4587172"/>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Oval 153"/>
          <p:cNvSpPr/>
          <p:nvPr/>
        </p:nvSpPr>
        <p:spPr>
          <a:xfrm>
            <a:off x="2695557" y="4289270"/>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Oval 154"/>
          <p:cNvSpPr/>
          <p:nvPr/>
        </p:nvSpPr>
        <p:spPr>
          <a:xfrm>
            <a:off x="3479718" y="4568066"/>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Oval 155"/>
          <p:cNvSpPr/>
          <p:nvPr/>
        </p:nvSpPr>
        <p:spPr>
          <a:xfrm>
            <a:off x="3479416" y="4204951"/>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Oval 156"/>
          <p:cNvSpPr/>
          <p:nvPr/>
        </p:nvSpPr>
        <p:spPr>
          <a:xfrm>
            <a:off x="4291001" y="4105468"/>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Oval 157"/>
          <p:cNvSpPr/>
          <p:nvPr/>
        </p:nvSpPr>
        <p:spPr>
          <a:xfrm>
            <a:off x="3954837" y="4573377"/>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Oval 158"/>
          <p:cNvSpPr/>
          <p:nvPr/>
        </p:nvSpPr>
        <p:spPr>
          <a:xfrm>
            <a:off x="4813022" y="4303050"/>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Oval 159"/>
          <p:cNvSpPr/>
          <p:nvPr/>
        </p:nvSpPr>
        <p:spPr>
          <a:xfrm>
            <a:off x="3984106" y="4535786"/>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Oval 160"/>
          <p:cNvSpPr/>
          <p:nvPr/>
        </p:nvSpPr>
        <p:spPr>
          <a:xfrm>
            <a:off x="4151261" y="4449056"/>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Oval 161"/>
          <p:cNvSpPr/>
          <p:nvPr/>
        </p:nvSpPr>
        <p:spPr>
          <a:xfrm>
            <a:off x="4343287" y="4102237"/>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Oval 162"/>
          <p:cNvSpPr/>
          <p:nvPr/>
        </p:nvSpPr>
        <p:spPr>
          <a:xfrm>
            <a:off x="3552205" y="4466583"/>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Oval 163"/>
          <p:cNvSpPr/>
          <p:nvPr/>
        </p:nvSpPr>
        <p:spPr>
          <a:xfrm>
            <a:off x="3408697" y="4496368"/>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Oval 164"/>
          <p:cNvSpPr/>
          <p:nvPr/>
        </p:nvSpPr>
        <p:spPr>
          <a:xfrm>
            <a:off x="2678617" y="3818842"/>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Oval 165"/>
          <p:cNvSpPr/>
          <p:nvPr/>
        </p:nvSpPr>
        <p:spPr>
          <a:xfrm>
            <a:off x="3824432" y="4101627"/>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Oval 166"/>
          <p:cNvSpPr/>
          <p:nvPr/>
        </p:nvSpPr>
        <p:spPr>
          <a:xfrm>
            <a:off x="3495249" y="4378549"/>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Oval 167"/>
          <p:cNvSpPr/>
          <p:nvPr/>
        </p:nvSpPr>
        <p:spPr>
          <a:xfrm>
            <a:off x="4370252" y="4545259"/>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Oval 168"/>
          <p:cNvSpPr/>
          <p:nvPr/>
        </p:nvSpPr>
        <p:spPr>
          <a:xfrm>
            <a:off x="3765089" y="4429229"/>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Oval 169"/>
          <p:cNvSpPr/>
          <p:nvPr/>
        </p:nvSpPr>
        <p:spPr>
          <a:xfrm>
            <a:off x="4476881" y="4448015"/>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Oval 170"/>
          <p:cNvSpPr/>
          <p:nvPr/>
        </p:nvSpPr>
        <p:spPr>
          <a:xfrm>
            <a:off x="2751848" y="4106762"/>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Oval 171"/>
          <p:cNvSpPr/>
          <p:nvPr/>
        </p:nvSpPr>
        <p:spPr>
          <a:xfrm>
            <a:off x="3275329" y="4491260"/>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Oval 172"/>
          <p:cNvSpPr/>
          <p:nvPr/>
        </p:nvSpPr>
        <p:spPr>
          <a:xfrm>
            <a:off x="3776424" y="4521863"/>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Oval 173"/>
          <p:cNvSpPr/>
          <p:nvPr/>
        </p:nvSpPr>
        <p:spPr>
          <a:xfrm>
            <a:off x="3267576" y="4404592"/>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 name="Oval 174"/>
          <p:cNvSpPr/>
          <p:nvPr/>
        </p:nvSpPr>
        <p:spPr>
          <a:xfrm>
            <a:off x="4083541" y="2927182"/>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Oval 175"/>
          <p:cNvSpPr/>
          <p:nvPr/>
        </p:nvSpPr>
        <p:spPr>
          <a:xfrm>
            <a:off x="3248677" y="4566021"/>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Oval 176"/>
          <p:cNvSpPr/>
          <p:nvPr/>
        </p:nvSpPr>
        <p:spPr>
          <a:xfrm>
            <a:off x="3460589" y="4473108"/>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Oval 177"/>
          <p:cNvSpPr/>
          <p:nvPr/>
        </p:nvSpPr>
        <p:spPr>
          <a:xfrm>
            <a:off x="2941732" y="4463870"/>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Oval 178"/>
          <p:cNvSpPr/>
          <p:nvPr/>
        </p:nvSpPr>
        <p:spPr>
          <a:xfrm>
            <a:off x="4375115" y="3578899"/>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Oval 179"/>
          <p:cNvSpPr/>
          <p:nvPr/>
        </p:nvSpPr>
        <p:spPr>
          <a:xfrm>
            <a:off x="3680321" y="4357605"/>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Oval 180"/>
          <p:cNvSpPr/>
          <p:nvPr/>
        </p:nvSpPr>
        <p:spPr>
          <a:xfrm>
            <a:off x="3947024" y="4305986"/>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Oval 181"/>
          <p:cNvSpPr/>
          <p:nvPr/>
        </p:nvSpPr>
        <p:spPr>
          <a:xfrm>
            <a:off x="2855024" y="3923427"/>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Oval 182"/>
          <p:cNvSpPr/>
          <p:nvPr/>
        </p:nvSpPr>
        <p:spPr>
          <a:xfrm>
            <a:off x="3891804" y="4563033"/>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Oval 183"/>
          <p:cNvSpPr/>
          <p:nvPr/>
        </p:nvSpPr>
        <p:spPr>
          <a:xfrm>
            <a:off x="4174176" y="4277759"/>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Oval 184"/>
          <p:cNvSpPr/>
          <p:nvPr/>
        </p:nvSpPr>
        <p:spPr>
          <a:xfrm>
            <a:off x="3979993" y="4408209"/>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Oval 185"/>
          <p:cNvSpPr/>
          <p:nvPr/>
        </p:nvSpPr>
        <p:spPr>
          <a:xfrm>
            <a:off x="3656315" y="4463089"/>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Oval 186"/>
          <p:cNvSpPr/>
          <p:nvPr/>
        </p:nvSpPr>
        <p:spPr>
          <a:xfrm>
            <a:off x="4922214" y="4378392"/>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Oval 187"/>
          <p:cNvSpPr/>
          <p:nvPr/>
        </p:nvSpPr>
        <p:spPr>
          <a:xfrm>
            <a:off x="4083256" y="4316891"/>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Oval 188"/>
          <p:cNvSpPr/>
          <p:nvPr/>
        </p:nvSpPr>
        <p:spPr>
          <a:xfrm>
            <a:off x="5032150" y="4174759"/>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Oval 189"/>
          <p:cNvSpPr/>
          <p:nvPr/>
        </p:nvSpPr>
        <p:spPr>
          <a:xfrm>
            <a:off x="5341320" y="4334726"/>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Oval 190"/>
          <p:cNvSpPr/>
          <p:nvPr/>
        </p:nvSpPr>
        <p:spPr>
          <a:xfrm>
            <a:off x="4553126" y="4596032"/>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Oval 191"/>
          <p:cNvSpPr/>
          <p:nvPr/>
        </p:nvSpPr>
        <p:spPr>
          <a:xfrm>
            <a:off x="3193755" y="4518664"/>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Oval 192"/>
          <p:cNvSpPr/>
          <p:nvPr/>
        </p:nvSpPr>
        <p:spPr>
          <a:xfrm>
            <a:off x="3825655" y="4592720"/>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Oval 193"/>
          <p:cNvSpPr/>
          <p:nvPr/>
        </p:nvSpPr>
        <p:spPr>
          <a:xfrm>
            <a:off x="3515268" y="4329967"/>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Oval 194"/>
          <p:cNvSpPr/>
          <p:nvPr/>
        </p:nvSpPr>
        <p:spPr>
          <a:xfrm>
            <a:off x="2899486" y="4564032"/>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Oval 195"/>
          <p:cNvSpPr/>
          <p:nvPr/>
        </p:nvSpPr>
        <p:spPr>
          <a:xfrm>
            <a:off x="2765934" y="4176478"/>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Oval 196"/>
          <p:cNvSpPr/>
          <p:nvPr/>
        </p:nvSpPr>
        <p:spPr>
          <a:xfrm>
            <a:off x="3583533" y="4071178"/>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Oval 197"/>
          <p:cNvSpPr/>
          <p:nvPr/>
        </p:nvSpPr>
        <p:spPr>
          <a:xfrm>
            <a:off x="3069597" y="4570440"/>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Oval 198"/>
          <p:cNvSpPr/>
          <p:nvPr/>
        </p:nvSpPr>
        <p:spPr>
          <a:xfrm>
            <a:off x="3788408" y="4273589"/>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Oval 199"/>
          <p:cNvSpPr/>
          <p:nvPr/>
        </p:nvSpPr>
        <p:spPr>
          <a:xfrm>
            <a:off x="2793309" y="4527492"/>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Oval 200"/>
          <p:cNvSpPr/>
          <p:nvPr/>
        </p:nvSpPr>
        <p:spPr>
          <a:xfrm>
            <a:off x="3261890" y="4411962"/>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Oval 201"/>
          <p:cNvSpPr/>
          <p:nvPr/>
        </p:nvSpPr>
        <p:spPr>
          <a:xfrm>
            <a:off x="2798461" y="4040449"/>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Oval 202"/>
          <p:cNvSpPr/>
          <p:nvPr/>
        </p:nvSpPr>
        <p:spPr>
          <a:xfrm>
            <a:off x="3015888" y="4464300"/>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Oval 203"/>
          <p:cNvSpPr/>
          <p:nvPr/>
        </p:nvSpPr>
        <p:spPr>
          <a:xfrm>
            <a:off x="2968472" y="4493540"/>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Oval 204"/>
          <p:cNvSpPr/>
          <p:nvPr/>
        </p:nvSpPr>
        <p:spPr>
          <a:xfrm>
            <a:off x="2018333" y="3767321"/>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Oval 205"/>
          <p:cNvSpPr/>
          <p:nvPr/>
        </p:nvSpPr>
        <p:spPr>
          <a:xfrm>
            <a:off x="2941864" y="4052236"/>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Oval 206"/>
          <p:cNvSpPr/>
          <p:nvPr/>
        </p:nvSpPr>
        <p:spPr>
          <a:xfrm>
            <a:off x="2819633" y="4382312"/>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Oval 207"/>
          <p:cNvSpPr/>
          <p:nvPr/>
        </p:nvSpPr>
        <p:spPr>
          <a:xfrm>
            <a:off x="3271642" y="4534588"/>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Oval 208"/>
          <p:cNvSpPr/>
          <p:nvPr/>
        </p:nvSpPr>
        <p:spPr>
          <a:xfrm>
            <a:off x="2993529" y="4406693"/>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Oval 209"/>
          <p:cNvSpPr/>
          <p:nvPr/>
        </p:nvSpPr>
        <p:spPr>
          <a:xfrm>
            <a:off x="3759985" y="4432931"/>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Oval 210"/>
          <p:cNvSpPr/>
          <p:nvPr/>
        </p:nvSpPr>
        <p:spPr>
          <a:xfrm>
            <a:off x="2134425" y="4069712"/>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Oval 211"/>
          <p:cNvSpPr/>
          <p:nvPr/>
        </p:nvSpPr>
        <p:spPr>
          <a:xfrm>
            <a:off x="2688513" y="4482489"/>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Oval 212"/>
          <p:cNvSpPr/>
          <p:nvPr/>
        </p:nvSpPr>
        <p:spPr>
          <a:xfrm>
            <a:off x="2858983" y="4490400"/>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Oval 213"/>
          <p:cNvSpPr/>
          <p:nvPr/>
        </p:nvSpPr>
        <p:spPr>
          <a:xfrm>
            <a:off x="2619996" y="4388577"/>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Oval 214"/>
          <p:cNvSpPr/>
          <p:nvPr/>
        </p:nvSpPr>
        <p:spPr>
          <a:xfrm>
            <a:off x="3394091" y="2840037"/>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Oval 215"/>
          <p:cNvSpPr/>
          <p:nvPr/>
        </p:nvSpPr>
        <p:spPr>
          <a:xfrm>
            <a:off x="2646888" y="4557338"/>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Oval 216"/>
          <p:cNvSpPr/>
          <p:nvPr/>
        </p:nvSpPr>
        <p:spPr>
          <a:xfrm>
            <a:off x="2612687" y="4452792"/>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Oval 217"/>
          <p:cNvSpPr/>
          <p:nvPr/>
        </p:nvSpPr>
        <p:spPr>
          <a:xfrm>
            <a:off x="2014497" y="4454718"/>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Oval 218"/>
          <p:cNvSpPr/>
          <p:nvPr/>
        </p:nvSpPr>
        <p:spPr>
          <a:xfrm>
            <a:off x="3631745" y="3492984"/>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Oval 219"/>
          <p:cNvSpPr/>
          <p:nvPr/>
        </p:nvSpPr>
        <p:spPr>
          <a:xfrm>
            <a:off x="2715758" y="4264361"/>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Oval 220"/>
          <p:cNvSpPr/>
          <p:nvPr/>
        </p:nvSpPr>
        <p:spPr>
          <a:xfrm>
            <a:off x="2947560" y="4279730"/>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Oval 221"/>
          <p:cNvSpPr/>
          <p:nvPr/>
        </p:nvSpPr>
        <p:spPr>
          <a:xfrm>
            <a:off x="2276450" y="3857560"/>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Oval 222"/>
          <p:cNvSpPr/>
          <p:nvPr/>
        </p:nvSpPr>
        <p:spPr>
          <a:xfrm>
            <a:off x="3148604" y="4554497"/>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Oval 223"/>
          <p:cNvSpPr/>
          <p:nvPr/>
        </p:nvSpPr>
        <p:spPr>
          <a:xfrm>
            <a:off x="3259879" y="4263877"/>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Oval 224"/>
          <p:cNvSpPr/>
          <p:nvPr/>
        </p:nvSpPr>
        <p:spPr>
          <a:xfrm>
            <a:off x="3046137" y="4372438"/>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Oval 225"/>
          <p:cNvSpPr/>
          <p:nvPr/>
        </p:nvSpPr>
        <p:spPr>
          <a:xfrm>
            <a:off x="2814620" y="4446979"/>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Oval 226"/>
          <p:cNvSpPr/>
          <p:nvPr/>
        </p:nvSpPr>
        <p:spPr>
          <a:xfrm>
            <a:off x="3822193" y="4368387"/>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Oval 227"/>
          <p:cNvSpPr/>
          <p:nvPr/>
        </p:nvSpPr>
        <p:spPr>
          <a:xfrm>
            <a:off x="3386568" y="4312951"/>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Oval 228"/>
          <p:cNvSpPr/>
          <p:nvPr/>
        </p:nvSpPr>
        <p:spPr>
          <a:xfrm>
            <a:off x="3720906" y="4178057"/>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Oval 229"/>
          <p:cNvSpPr/>
          <p:nvPr/>
        </p:nvSpPr>
        <p:spPr>
          <a:xfrm>
            <a:off x="4135626" y="4325726"/>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Oval 230"/>
          <p:cNvSpPr/>
          <p:nvPr/>
        </p:nvSpPr>
        <p:spPr>
          <a:xfrm>
            <a:off x="3366913" y="4593290"/>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Oval 231"/>
          <p:cNvSpPr/>
          <p:nvPr/>
        </p:nvSpPr>
        <p:spPr>
          <a:xfrm>
            <a:off x="2277712" y="4504468"/>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Oval 232"/>
          <p:cNvSpPr/>
          <p:nvPr/>
        </p:nvSpPr>
        <p:spPr>
          <a:xfrm>
            <a:off x="2825827" y="4588660"/>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Oval 233"/>
          <p:cNvSpPr/>
          <p:nvPr/>
        </p:nvSpPr>
        <p:spPr>
          <a:xfrm>
            <a:off x="2648659" y="4238256"/>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Oval 234"/>
          <p:cNvSpPr/>
          <p:nvPr/>
        </p:nvSpPr>
        <p:spPr>
          <a:xfrm>
            <a:off x="2852530" y="4551280"/>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Oval 235"/>
          <p:cNvSpPr/>
          <p:nvPr/>
        </p:nvSpPr>
        <p:spPr>
          <a:xfrm>
            <a:off x="3309400" y="4136659"/>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Oval 236"/>
          <p:cNvSpPr/>
          <p:nvPr/>
        </p:nvSpPr>
        <p:spPr>
          <a:xfrm>
            <a:off x="3333390" y="3886232"/>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Oval 237"/>
          <p:cNvSpPr/>
          <p:nvPr/>
        </p:nvSpPr>
        <p:spPr>
          <a:xfrm>
            <a:off x="3892863" y="4567958"/>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Oval 238"/>
          <p:cNvSpPr/>
          <p:nvPr/>
        </p:nvSpPr>
        <p:spPr>
          <a:xfrm>
            <a:off x="3559998" y="4197790"/>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Oval 239"/>
          <p:cNvSpPr/>
          <p:nvPr/>
        </p:nvSpPr>
        <p:spPr>
          <a:xfrm>
            <a:off x="2945600" y="4490004"/>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Oval 240"/>
          <p:cNvSpPr/>
          <p:nvPr/>
        </p:nvSpPr>
        <p:spPr>
          <a:xfrm>
            <a:off x="3236047" y="4366861"/>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Oval 241"/>
          <p:cNvSpPr/>
          <p:nvPr/>
        </p:nvSpPr>
        <p:spPr>
          <a:xfrm>
            <a:off x="2724136" y="3820917"/>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Oval 242"/>
          <p:cNvSpPr/>
          <p:nvPr/>
        </p:nvSpPr>
        <p:spPr>
          <a:xfrm>
            <a:off x="3619528" y="4447507"/>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Oval 243"/>
          <p:cNvSpPr/>
          <p:nvPr/>
        </p:nvSpPr>
        <p:spPr>
          <a:xfrm>
            <a:off x="3489012" y="4472560"/>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Oval 244"/>
          <p:cNvSpPr/>
          <p:nvPr/>
        </p:nvSpPr>
        <p:spPr>
          <a:xfrm>
            <a:off x="2398244" y="3728307"/>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Oval 245"/>
          <p:cNvSpPr/>
          <p:nvPr/>
        </p:nvSpPr>
        <p:spPr>
          <a:xfrm>
            <a:off x="3879430" y="4064647"/>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Oval 246"/>
          <p:cNvSpPr/>
          <p:nvPr/>
        </p:nvSpPr>
        <p:spPr>
          <a:xfrm>
            <a:off x="3521733" y="4354316"/>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Oval 247"/>
          <p:cNvSpPr/>
          <p:nvPr/>
        </p:nvSpPr>
        <p:spPr>
          <a:xfrm>
            <a:off x="3489012" y="4509479"/>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Oval 248"/>
          <p:cNvSpPr/>
          <p:nvPr/>
        </p:nvSpPr>
        <p:spPr>
          <a:xfrm>
            <a:off x="3122509" y="4356218"/>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Oval 249"/>
          <p:cNvSpPr/>
          <p:nvPr/>
        </p:nvSpPr>
        <p:spPr>
          <a:xfrm>
            <a:off x="3472723" y="4370435"/>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Oval 250"/>
          <p:cNvSpPr/>
          <p:nvPr/>
        </p:nvSpPr>
        <p:spPr>
          <a:xfrm>
            <a:off x="2717905" y="4039750"/>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Oval 251"/>
          <p:cNvSpPr/>
          <p:nvPr/>
        </p:nvSpPr>
        <p:spPr>
          <a:xfrm>
            <a:off x="3290720" y="4463303"/>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Oval 252"/>
          <p:cNvSpPr/>
          <p:nvPr/>
        </p:nvSpPr>
        <p:spPr>
          <a:xfrm>
            <a:off x="3044350" y="4461325"/>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Oval 253"/>
          <p:cNvSpPr/>
          <p:nvPr/>
        </p:nvSpPr>
        <p:spPr>
          <a:xfrm>
            <a:off x="3434700" y="4394711"/>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5" name="Oval 254"/>
          <p:cNvSpPr/>
          <p:nvPr/>
        </p:nvSpPr>
        <p:spPr>
          <a:xfrm>
            <a:off x="3615195" y="2665915"/>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Oval 255"/>
          <p:cNvSpPr/>
          <p:nvPr/>
        </p:nvSpPr>
        <p:spPr>
          <a:xfrm>
            <a:off x="3417070" y="4545570"/>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Oval 256"/>
          <p:cNvSpPr/>
          <p:nvPr/>
        </p:nvSpPr>
        <p:spPr>
          <a:xfrm>
            <a:off x="3160897" y="4427850"/>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Oval 257"/>
          <p:cNvSpPr/>
          <p:nvPr/>
        </p:nvSpPr>
        <p:spPr>
          <a:xfrm>
            <a:off x="2434984" y="4460908"/>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Oval 258"/>
          <p:cNvSpPr/>
          <p:nvPr/>
        </p:nvSpPr>
        <p:spPr>
          <a:xfrm>
            <a:off x="3818991" y="3191882"/>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Oval 259"/>
          <p:cNvSpPr/>
          <p:nvPr/>
        </p:nvSpPr>
        <p:spPr>
          <a:xfrm>
            <a:off x="2880919" y="4162486"/>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Oval 260"/>
          <p:cNvSpPr/>
          <p:nvPr/>
        </p:nvSpPr>
        <p:spPr>
          <a:xfrm>
            <a:off x="3064858" y="4197893"/>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Oval 261"/>
          <p:cNvSpPr/>
          <p:nvPr/>
        </p:nvSpPr>
        <p:spPr>
          <a:xfrm>
            <a:off x="2979799" y="3888379"/>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Oval 262"/>
          <p:cNvSpPr/>
          <p:nvPr/>
        </p:nvSpPr>
        <p:spPr>
          <a:xfrm>
            <a:off x="2804117" y="4512051"/>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Oval 263"/>
          <p:cNvSpPr/>
          <p:nvPr/>
        </p:nvSpPr>
        <p:spPr>
          <a:xfrm>
            <a:off x="3959501" y="4267286"/>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Oval 264"/>
          <p:cNvSpPr/>
          <p:nvPr/>
        </p:nvSpPr>
        <p:spPr>
          <a:xfrm>
            <a:off x="3140886" y="4331022"/>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Oval 265"/>
          <p:cNvSpPr/>
          <p:nvPr/>
        </p:nvSpPr>
        <p:spPr>
          <a:xfrm>
            <a:off x="3051991" y="4419389"/>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Oval 266"/>
          <p:cNvSpPr/>
          <p:nvPr/>
        </p:nvSpPr>
        <p:spPr>
          <a:xfrm>
            <a:off x="3868433" y="4349795"/>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Oval 267"/>
          <p:cNvSpPr/>
          <p:nvPr/>
        </p:nvSpPr>
        <p:spPr>
          <a:xfrm>
            <a:off x="3503885" y="4272232"/>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Oval 268"/>
          <p:cNvSpPr/>
          <p:nvPr/>
        </p:nvSpPr>
        <p:spPr>
          <a:xfrm>
            <a:off x="3761967" y="4162650"/>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Oval 269"/>
          <p:cNvSpPr/>
          <p:nvPr/>
        </p:nvSpPr>
        <p:spPr>
          <a:xfrm>
            <a:off x="5201360" y="4321782"/>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Oval 270"/>
          <p:cNvSpPr/>
          <p:nvPr/>
        </p:nvSpPr>
        <p:spPr>
          <a:xfrm>
            <a:off x="4181979" y="4590828"/>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Oval 271"/>
          <p:cNvSpPr/>
          <p:nvPr/>
        </p:nvSpPr>
        <p:spPr>
          <a:xfrm>
            <a:off x="2168534" y="4461017"/>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Oval 272"/>
          <p:cNvSpPr/>
          <p:nvPr/>
        </p:nvSpPr>
        <p:spPr>
          <a:xfrm>
            <a:off x="2834536" y="4571859"/>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Oval 273"/>
          <p:cNvSpPr/>
          <p:nvPr/>
        </p:nvSpPr>
        <p:spPr>
          <a:xfrm>
            <a:off x="2946605" y="4175418"/>
            <a:ext cx="82296" cy="822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5" name="Connector 274"/>
          <p:cNvCxnSpPr/>
          <p:nvPr/>
        </p:nvCxnSpPr>
        <p:spPr>
          <a:xfrm>
            <a:off x="1700784" y="4308808"/>
            <a:ext cx="3895344" cy="50387"/>
          </a:xfrm>
          <a:prstGeom prst="line">
            <a:avLst/>
          </a:prstGeom>
          <a:ln w="25400">
            <a:solidFill>
              <a:srgbClr val="C58A2A"/>
            </a:solidFill>
          </a:ln>
        </p:spPr>
        <p:style>
          <a:lnRef idx="2">
            <a:schemeClr val="accent1"/>
          </a:lnRef>
          <a:fillRef idx="0">
            <a:schemeClr val="accent1"/>
          </a:fillRef>
          <a:effectRef idx="1">
            <a:schemeClr val="accent1"/>
          </a:effectRef>
          <a:fontRef idx="minor">
            <a:schemeClr val="tx1"/>
          </a:fontRef>
        </p:style>
      </p:cxnSp>
      <p:sp>
        <p:nvSpPr>
          <p:cNvPr id="276" name="TextBox 275"/>
          <p:cNvSpPr txBox="1"/>
          <p:nvPr/>
        </p:nvSpPr>
        <p:spPr>
          <a:xfrm>
            <a:off x="2276856" y="5010912"/>
            <a:ext cx="2194560" cy="146304"/>
          </a:xfrm>
          <a:prstGeom prst="rect">
            <a:avLst/>
          </a:prstGeom>
          <a:noFill/>
        </p:spPr>
        <p:txBody>
          <a:bodyPr wrap="square" lIns="27432" rIns="27432" tIns="27432" bIns="27432" anchor="t">
            <a:spAutoFit/>
          </a:bodyPr>
          <a:lstStyle/>
          <a:p>
            <a:pPr algn="ctr"/>
            <a:r>
              <a:rPr sz="900" b="1">
                <a:solidFill>
                  <a:srgbClr val="5F6B63"/>
                </a:solidFill>
                <a:latin typeface="Aptos"/>
              </a:rPr>
              <a:t>AVERAGE ANNUAL PRICE</a:t>
            </a:r>
          </a:p>
        </p:txBody>
      </p:sp>
      <p:sp>
        <p:nvSpPr>
          <p:cNvPr id="277" name="TextBox 276"/>
          <p:cNvSpPr txBox="1"/>
          <p:nvPr/>
        </p:nvSpPr>
        <p:spPr>
          <a:xfrm>
            <a:off x="914400" y="3438144"/>
            <a:ext cx="640080" cy="402336"/>
          </a:xfrm>
          <a:prstGeom prst="rect">
            <a:avLst/>
          </a:prstGeom>
          <a:noFill/>
        </p:spPr>
        <p:txBody>
          <a:bodyPr wrap="square" lIns="27432" rIns="27432" tIns="27432" bIns="27432" anchor="t">
            <a:spAutoFit/>
          </a:bodyPr>
          <a:lstStyle/>
          <a:p>
            <a:pPr algn="ctr"/>
            <a:r>
              <a:rPr sz="800" b="1">
                <a:solidFill>
                  <a:srgbClr val="5F6B63"/>
                </a:solidFill>
                <a:latin typeface="Aptos"/>
              </a:rPr>
              <a:t>VOLUME (M)</a:t>
            </a:r>
          </a:p>
        </p:txBody>
      </p:sp>
      <p:sp>
        <p:nvSpPr>
          <p:cNvPr id="278" name="Rounded Rectangle 277"/>
          <p:cNvSpPr/>
          <p:nvPr/>
        </p:nvSpPr>
        <p:spPr>
          <a:xfrm>
            <a:off x="969264" y="1828800"/>
            <a:ext cx="1207008" cy="749808"/>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TextBox 278"/>
          <p:cNvSpPr txBox="1"/>
          <p:nvPr/>
        </p:nvSpPr>
        <p:spPr>
          <a:xfrm>
            <a:off x="1097280" y="1938528"/>
            <a:ext cx="950976" cy="164592"/>
          </a:xfrm>
          <a:prstGeom prst="rect">
            <a:avLst/>
          </a:prstGeom>
          <a:noFill/>
        </p:spPr>
        <p:txBody>
          <a:bodyPr wrap="square" lIns="27432" rIns="27432" tIns="27432" bIns="27432" anchor="t">
            <a:spAutoFit/>
          </a:bodyPr>
          <a:lstStyle/>
          <a:p>
            <a:pPr algn="ctr"/>
            <a:r>
              <a:rPr sz="1000" b="1">
                <a:solidFill>
                  <a:srgbClr val="5F6B63"/>
                </a:solidFill>
                <a:latin typeface="Aptos"/>
              </a:rPr>
              <a:t>PEARSON R</a:t>
            </a:r>
          </a:p>
        </p:txBody>
      </p:sp>
      <p:sp>
        <p:nvSpPr>
          <p:cNvPr id="280" name="TextBox 279"/>
          <p:cNvSpPr txBox="1"/>
          <p:nvPr/>
        </p:nvSpPr>
        <p:spPr>
          <a:xfrm>
            <a:off x="1097280" y="2139696"/>
            <a:ext cx="950976" cy="329184"/>
          </a:xfrm>
          <a:prstGeom prst="rect">
            <a:avLst/>
          </a:prstGeom>
          <a:noFill/>
        </p:spPr>
        <p:txBody>
          <a:bodyPr wrap="square" lIns="27432" rIns="27432" tIns="27432" bIns="27432" anchor="ctr">
            <a:spAutoFit/>
          </a:bodyPr>
          <a:lstStyle/>
          <a:p>
            <a:pPr algn="ctr"/>
            <a:r>
              <a:rPr sz="1900" b="1">
                <a:solidFill>
                  <a:srgbClr val="355C47"/>
                </a:solidFill>
                <a:latin typeface="Aptos Display"/>
              </a:rPr>
              <a:t>-0.03</a:t>
            </a:r>
          </a:p>
        </p:txBody>
      </p:sp>
      <p:sp>
        <p:nvSpPr>
          <p:cNvPr id="281" name="Rounded Rectangle 280"/>
          <p:cNvSpPr/>
          <p:nvPr/>
        </p:nvSpPr>
        <p:spPr>
          <a:xfrm>
            <a:off x="2304288" y="1828800"/>
            <a:ext cx="1097280" cy="749808"/>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TextBox 281"/>
          <p:cNvSpPr txBox="1"/>
          <p:nvPr/>
        </p:nvSpPr>
        <p:spPr>
          <a:xfrm>
            <a:off x="2432304" y="1938528"/>
            <a:ext cx="841248" cy="164592"/>
          </a:xfrm>
          <a:prstGeom prst="rect">
            <a:avLst/>
          </a:prstGeom>
          <a:noFill/>
        </p:spPr>
        <p:txBody>
          <a:bodyPr wrap="square" lIns="27432" rIns="27432" tIns="27432" bIns="27432" anchor="t">
            <a:spAutoFit/>
          </a:bodyPr>
          <a:lstStyle/>
          <a:p>
            <a:pPr algn="ctr"/>
            <a:r>
              <a:rPr sz="1000" b="1">
                <a:solidFill>
                  <a:srgbClr val="5F6B63"/>
                </a:solidFill>
                <a:latin typeface="Aptos"/>
              </a:rPr>
              <a:t>R2</a:t>
            </a:r>
          </a:p>
        </p:txBody>
      </p:sp>
      <p:sp>
        <p:nvSpPr>
          <p:cNvPr id="283" name="TextBox 282"/>
          <p:cNvSpPr txBox="1"/>
          <p:nvPr/>
        </p:nvSpPr>
        <p:spPr>
          <a:xfrm>
            <a:off x="2432304" y="2139696"/>
            <a:ext cx="841248" cy="329184"/>
          </a:xfrm>
          <a:prstGeom prst="rect">
            <a:avLst/>
          </a:prstGeom>
          <a:noFill/>
        </p:spPr>
        <p:txBody>
          <a:bodyPr wrap="square" lIns="27432" rIns="27432" tIns="27432" bIns="27432" anchor="ctr">
            <a:spAutoFit/>
          </a:bodyPr>
          <a:lstStyle/>
          <a:p>
            <a:pPr algn="ctr"/>
            <a:r>
              <a:rPr sz="1900" b="1">
                <a:solidFill>
                  <a:srgbClr val="C58A2A"/>
                </a:solidFill>
                <a:latin typeface="Aptos Display"/>
              </a:rPr>
              <a:t>0.001</a:t>
            </a:r>
          </a:p>
        </p:txBody>
      </p:sp>
      <p:sp>
        <p:nvSpPr>
          <p:cNvPr id="284" name="TextBox 283"/>
          <p:cNvSpPr txBox="1"/>
          <p:nvPr/>
        </p:nvSpPr>
        <p:spPr>
          <a:xfrm>
            <a:off x="3584448" y="1920240"/>
            <a:ext cx="1920240" cy="164592"/>
          </a:xfrm>
          <a:prstGeom prst="rect">
            <a:avLst/>
          </a:prstGeom>
          <a:noFill/>
        </p:spPr>
        <p:txBody>
          <a:bodyPr wrap="square" lIns="27432" rIns="27432" tIns="27432" bIns="27432" anchor="t">
            <a:spAutoFit/>
          </a:bodyPr>
          <a:lstStyle/>
          <a:p>
            <a:pPr algn="r"/>
            <a:r>
              <a:rPr sz="1100" b="1">
                <a:solidFill>
                  <a:srgbClr val="355C47"/>
                </a:solidFill>
                <a:latin typeface="Aptos Display"/>
              </a:rPr>
              <a:t>Relationship is weak</a:t>
            </a:r>
          </a:p>
        </p:txBody>
      </p:sp>
      <p:sp>
        <p:nvSpPr>
          <p:cNvPr id="285" name="Rounded Rectangle 284"/>
          <p:cNvSpPr/>
          <p:nvPr/>
        </p:nvSpPr>
        <p:spPr>
          <a:xfrm>
            <a:off x="6181344" y="1737360"/>
            <a:ext cx="5266944" cy="4315968"/>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TextBox 285"/>
          <p:cNvSpPr txBox="1"/>
          <p:nvPr/>
        </p:nvSpPr>
        <p:spPr>
          <a:xfrm>
            <a:off x="6400800" y="1865376"/>
            <a:ext cx="1755648" cy="146304"/>
          </a:xfrm>
          <a:prstGeom prst="rect">
            <a:avLst/>
          </a:prstGeom>
          <a:noFill/>
        </p:spPr>
        <p:txBody>
          <a:bodyPr wrap="square" lIns="27432" rIns="27432" tIns="27432" bIns="27432" anchor="t">
            <a:spAutoFit/>
          </a:bodyPr>
          <a:lstStyle/>
          <a:p>
            <a:pPr algn="l"/>
            <a:r>
              <a:rPr sz="1000" b="1">
                <a:solidFill>
                  <a:srgbClr val="5F6B63"/>
                </a:solidFill>
                <a:latin typeface="Aptos"/>
              </a:rPr>
              <a:t>ORGANIC OBSERVATIONS</a:t>
            </a:r>
          </a:p>
        </p:txBody>
      </p:sp>
      <p:cxnSp>
        <p:nvCxnSpPr>
          <p:cNvPr id="287" name="Connector 286"/>
          <p:cNvCxnSpPr/>
          <p:nvPr/>
        </p:nvCxnSpPr>
        <p:spPr>
          <a:xfrm>
            <a:off x="7132320" y="4681728"/>
            <a:ext cx="3895344" cy="0"/>
          </a:xfrm>
          <a:prstGeom prst="line">
            <a:avLst/>
          </a:prstGeom>
          <a:ln w="15240">
            <a:solidFill>
              <a:srgbClr val="D8D1C6"/>
            </a:solidFill>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7132320" y="2340864"/>
            <a:ext cx="0" cy="2340864"/>
          </a:xfrm>
          <a:prstGeom prst="line">
            <a:avLst/>
          </a:prstGeom>
          <a:ln w="15240">
            <a:solidFill>
              <a:srgbClr val="D8D1C6"/>
            </a:solidFill>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flipV="1">
            <a:off x="7132320" y="2340864"/>
            <a:ext cx="0" cy="2340864"/>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290" name="TextBox 289"/>
          <p:cNvSpPr txBox="1"/>
          <p:nvPr/>
        </p:nvSpPr>
        <p:spPr>
          <a:xfrm>
            <a:off x="6876288" y="4754880"/>
            <a:ext cx="512064" cy="146304"/>
          </a:xfrm>
          <a:prstGeom prst="rect">
            <a:avLst/>
          </a:prstGeom>
          <a:noFill/>
        </p:spPr>
        <p:txBody>
          <a:bodyPr wrap="square" lIns="27432" rIns="27432" tIns="27432" bIns="27432" anchor="t">
            <a:spAutoFit/>
          </a:bodyPr>
          <a:lstStyle/>
          <a:p>
            <a:pPr algn="ctr"/>
            <a:r>
              <a:rPr sz="800" b="0">
                <a:solidFill>
                  <a:srgbClr val="5F6B63"/>
                </a:solidFill>
                <a:latin typeface="Aptos"/>
              </a:rPr>
              <a:t>$1.00</a:t>
            </a:r>
          </a:p>
        </p:txBody>
      </p:sp>
      <p:cxnSp>
        <p:nvCxnSpPr>
          <p:cNvPr id="291" name="Connector 290"/>
          <p:cNvCxnSpPr/>
          <p:nvPr/>
        </p:nvCxnSpPr>
        <p:spPr>
          <a:xfrm flipV="1">
            <a:off x="8106156" y="2340864"/>
            <a:ext cx="0" cy="2340864"/>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292" name="TextBox 291"/>
          <p:cNvSpPr txBox="1"/>
          <p:nvPr/>
        </p:nvSpPr>
        <p:spPr>
          <a:xfrm>
            <a:off x="7850124" y="4754880"/>
            <a:ext cx="512064" cy="146304"/>
          </a:xfrm>
          <a:prstGeom prst="rect">
            <a:avLst/>
          </a:prstGeom>
          <a:noFill/>
        </p:spPr>
        <p:txBody>
          <a:bodyPr wrap="square" lIns="27432" rIns="27432" tIns="27432" bIns="27432" anchor="t">
            <a:spAutoFit/>
          </a:bodyPr>
          <a:lstStyle/>
          <a:p>
            <a:pPr algn="ctr"/>
            <a:r>
              <a:rPr sz="800" b="0">
                <a:solidFill>
                  <a:srgbClr val="5F6B63"/>
                </a:solidFill>
                <a:latin typeface="Aptos"/>
              </a:rPr>
              <a:t>$1.50</a:t>
            </a:r>
          </a:p>
        </p:txBody>
      </p:sp>
      <p:cxnSp>
        <p:nvCxnSpPr>
          <p:cNvPr id="293" name="Connector 292"/>
          <p:cNvCxnSpPr/>
          <p:nvPr/>
        </p:nvCxnSpPr>
        <p:spPr>
          <a:xfrm flipV="1">
            <a:off x="9079992" y="2340864"/>
            <a:ext cx="0" cy="2340864"/>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294" name="TextBox 293"/>
          <p:cNvSpPr txBox="1"/>
          <p:nvPr/>
        </p:nvSpPr>
        <p:spPr>
          <a:xfrm>
            <a:off x="8823960" y="4754880"/>
            <a:ext cx="512064" cy="146304"/>
          </a:xfrm>
          <a:prstGeom prst="rect">
            <a:avLst/>
          </a:prstGeom>
          <a:noFill/>
        </p:spPr>
        <p:txBody>
          <a:bodyPr wrap="square" lIns="27432" rIns="27432" tIns="27432" bIns="27432" anchor="t">
            <a:spAutoFit/>
          </a:bodyPr>
          <a:lstStyle/>
          <a:p>
            <a:pPr algn="ctr"/>
            <a:r>
              <a:rPr sz="800" b="0">
                <a:solidFill>
                  <a:srgbClr val="5F6B63"/>
                </a:solidFill>
                <a:latin typeface="Aptos"/>
              </a:rPr>
              <a:t>$2.00</a:t>
            </a:r>
          </a:p>
        </p:txBody>
      </p:sp>
      <p:cxnSp>
        <p:nvCxnSpPr>
          <p:cNvPr id="295" name="Connector 294"/>
          <p:cNvCxnSpPr/>
          <p:nvPr/>
        </p:nvCxnSpPr>
        <p:spPr>
          <a:xfrm flipV="1">
            <a:off x="10053828" y="2340864"/>
            <a:ext cx="0" cy="2340864"/>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296" name="TextBox 295"/>
          <p:cNvSpPr txBox="1"/>
          <p:nvPr/>
        </p:nvSpPr>
        <p:spPr>
          <a:xfrm>
            <a:off x="9797796" y="4754880"/>
            <a:ext cx="512064" cy="146304"/>
          </a:xfrm>
          <a:prstGeom prst="rect">
            <a:avLst/>
          </a:prstGeom>
          <a:noFill/>
        </p:spPr>
        <p:txBody>
          <a:bodyPr wrap="square" lIns="27432" rIns="27432" tIns="27432" bIns="27432" anchor="t">
            <a:spAutoFit/>
          </a:bodyPr>
          <a:lstStyle/>
          <a:p>
            <a:pPr algn="ctr"/>
            <a:r>
              <a:rPr sz="800" b="0">
                <a:solidFill>
                  <a:srgbClr val="5F6B63"/>
                </a:solidFill>
                <a:latin typeface="Aptos"/>
              </a:rPr>
              <a:t>$2.50</a:t>
            </a:r>
          </a:p>
        </p:txBody>
      </p:sp>
      <p:cxnSp>
        <p:nvCxnSpPr>
          <p:cNvPr id="297" name="Connector 296"/>
          <p:cNvCxnSpPr/>
          <p:nvPr/>
        </p:nvCxnSpPr>
        <p:spPr>
          <a:xfrm flipV="1">
            <a:off x="11027664" y="2340864"/>
            <a:ext cx="0" cy="2340864"/>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298" name="TextBox 297"/>
          <p:cNvSpPr txBox="1"/>
          <p:nvPr/>
        </p:nvSpPr>
        <p:spPr>
          <a:xfrm>
            <a:off x="10771632" y="4754880"/>
            <a:ext cx="512064" cy="146304"/>
          </a:xfrm>
          <a:prstGeom prst="rect">
            <a:avLst/>
          </a:prstGeom>
          <a:noFill/>
        </p:spPr>
        <p:txBody>
          <a:bodyPr wrap="square" lIns="27432" rIns="27432" tIns="27432" bIns="27432" anchor="t">
            <a:spAutoFit/>
          </a:bodyPr>
          <a:lstStyle/>
          <a:p>
            <a:pPr algn="ctr"/>
            <a:r>
              <a:rPr sz="800" b="0">
                <a:solidFill>
                  <a:srgbClr val="5F6B63"/>
                </a:solidFill>
                <a:latin typeface="Aptos"/>
              </a:rPr>
              <a:t>$3.00</a:t>
            </a:r>
          </a:p>
        </p:txBody>
      </p:sp>
      <p:cxnSp>
        <p:nvCxnSpPr>
          <p:cNvPr id="299" name="Connector 298"/>
          <p:cNvCxnSpPr/>
          <p:nvPr/>
        </p:nvCxnSpPr>
        <p:spPr>
          <a:xfrm>
            <a:off x="7132320" y="4681728"/>
            <a:ext cx="3895344" cy="0"/>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300" name="TextBox 299"/>
          <p:cNvSpPr txBox="1"/>
          <p:nvPr/>
        </p:nvSpPr>
        <p:spPr>
          <a:xfrm>
            <a:off x="6400800" y="4608576"/>
            <a:ext cx="585216" cy="146304"/>
          </a:xfrm>
          <a:prstGeom prst="rect">
            <a:avLst/>
          </a:prstGeom>
          <a:noFill/>
        </p:spPr>
        <p:txBody>
          <a:bodyPr wrap="square" lIns="27432" rIns="27432" tIns="27432" bIns="27432" anchor="t">
            <a:spAutoFit/>
          </a:bodyPr>
          <a:lstStyle/>
          <a:p>
            <a:pPr algn="r"/>
            <a:r>
              <a:rPr sz="800" b="0">
                <a:solidFill>
                  <a:srgbClr val="5F6B63"/>
                </a:solidFill>
                <a:latin typeface="Aptos"/>
              </a:rPr>
              <a:t>0M</a:t>
            </a:r>
          </a:p>
        </p:txBody>
      </p:sp>
      <p:cxnSp>
        <p:nvCxnSpPr>
          <p:cNvPr id="301" name="Connector 300"/>
          <p:cNvCxnSpPr/>
          <p:nvPr/>
        </p:nvCxnSpPr>
        <p:spPr>
          <a:xfrm>
            <a:off x="7132320" y="4096512"/>
            <a:ext cx="3895344" cy="0"/>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302" name="TextBox 301"/>
          <p:cNvSpPr txBox="1"/>
          <p:nvPr/>
        </p:nvSpPr>
        <p:spPr>
          <a:xfrm>
            <a:off x="6400800" y="4023360"/>
            <a:ext cx="585216" cy="146304"/>
          </a:xfrm>
          <a:prstGeom prst="rect">
            <a:avLst/>
          </a:prstGeom>
          <a:noFill/>
        </p:spPr>
        <p:txBody>
          <a:bodyPr wrap="square" lIns="27432" rIns="27432" tIns="27432" bIns="27432" anchor="t">
            <a:spAutoFit/>
          </a:bodyPr>
          <a:lstStyle/>
          <a:p>
            <a:pPr algn="r"/>
            <a:r>
              <a:rPr sz="800" b="0">
                <a:solidFill>
                  <a:srgbClr val="5F6B63"/>
                </a:solidFill>
                <a:latin typeface="Aptos"/>
              </a:rPr>
              <a:t>2M</a:t>
            </a:r>
          </a:p>
        </p:txBody>
      </p:sp>
      <p:cxnSp>
        <p:nvCxnSpPr>
          <p:cNvPr id="303" name="Connector 302"/>
          <p:cNvCxnSpPr/>
          <p:nvPr/>
        </p:nvCxnSpPr>
        <p:spPr>
          <a:xfrm>
            <a:off x="7132320" y="3511296"/>
            <a:ext cx="3895344" cy="0"/>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304" name="TextBox 303"/>
          <p:cNvSpPr txBox="1"/>
          <p:nvPr/>
        </p:nvSpPr>
        <p:spPr>
          <a:xfrm>
            <a:off x="6400800" y="3438144"/>
            <a:ext cx="585216" cy="146304"/>
          </a:xfrm>
          <a:prstGeom prst="rect">
            <a:avLst/>
          </a:prstGeom>
          <a:noFill/>
        </p:spPr>
        <p:txBody>
          <a:bodyPr wrap="square" lIns="27432" rIns="27432" tIns="27432" bIns="27432" anchor="t">
            <a:spAutoFit/>
          </a:bodyPr>
          <a:lstStyle/>
          <a:p>
            <a:pPr algn="r"/>
            <a:r>
              <a:rPr sz="800" b="0">
                <a:solidFill>
                  <a:srgbClr val="5F6B63"/>
                </a:solidFill>
                <a:latin typeface="Aptos"/>
              </a:rPr>
              <a:t>5M</a:t>
            </a:r>
          </a:p>
        </p:txBody>
      </p:sp>
      <p:cxnSp>
        <p:nvCxnSpPr>
          <p:cNvPr id="305" name="Connector 304"/>
          <p:cNvCxnSpPr/>
          <p:nvPr/>
        </p:nvCxnSpPr>
        <p:spPr>
          <a:xfrm>
            <a:off x="7132320" y="2926080"/>
            <a:ext cx="3895344" cy="0"/>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306" name="TextBox 305"/>
          <p:cNvSpPr txBox="1"/>
          <p:nvPr/>
        </p:nvSpPr>
        <p:spPr>
          <a:xfrm>
            <a:off x="6400800" y="2852928"/>
            <a:ext cx="585216" cy="146304"/>
          </a:xfrm>
          <a:prstGeom prst="rect">
            <a:avLst/>
          </a:prstGeom>
          <a:noFill/>
        </p:spPr>
        <p:txBody>
          <a:bodyPr wrap="square" lIns="27432" rIns="27432" tIns="27432" bIns="27432" anchor="t">
            <a:spAutoFit/>
          </a:bodyPr>
          <a:lstStyle/>
          <a:p>
            <a:pPr algn="r"/>
            <a:r>
              <a:rPr sz="800" b="0">
                <a:solidFill>
                  <a:srgbClr val="5F6B63"/>
                </a:solidFill>
                <a:latin typeface="Aptos"/>
              </a:rPr>
              <a:t>8M</a:t>
            </a:r>
          </a:p>
        </p:txBody>
      </p:sp>
      <p:cxnSp>
        <p:nvCxnSpPr>
          <p:cNvPr id="307" name="Connector 306"/>
          <p:cNvCxnSpPr/>
          <p:nvPr/>
        </p:nvCxnSpPr>
        <p:spPr>
          <a:xfrm>
            <a:off x="7132320" y="2340864"/>
            <a:ext cx="3895344" cy="0"/>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308" name="TextBox 307"/>
          <p:cNvSpPr txBox="1"/>
          <p:nvPr/>
        </p:nvSpPr>
        <p:spPr>
          <a:xfrm>
            <a:off x="6400800" y="2267712"/>
            <a:ext cx="585216" cy="146304"/>
          </a:xfrm>
          <a:prstGeom prst="rect">
            <a:avLst/>
          </a:prstGeom>
          <a:noFill/>
        </p:spPr>
        <p:txBody>
          <a:bodyPr wrap="square" lIns="27432" rIns="27432" tIns="27432" bIns="27432" anchor="t">
            <a:spAutoFit/>
          </a:bodyPr>
          <a:lstStyle/>
          <a:p>
            <a:pPr algn="r"/>
            <a:r>
              <a:rPr sz="800" b="0">
                <a:solidFill>
                  <a:srgbClr val="5F6B63"/>
                </a:solidFill>
                <a:latin typeface="Aptos"/>
              </a:rPr>
              <a:t>10M</a:t>
            </a:r>
          </a:p>
        </p:txBody>
      </p:sp>
      <p:sp>
        <p:nvSpPr>
          <p:cNvPr id="309" name="Oval 308"/>
          <p:cNvSpPr/>
          <p:nvPr/>
        </p:nvSpPr>
        <p:spPr>
          <a:xfrm>
            <a:off x="8491191" y="4607038"/>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Oval 309"/>
          <p:cNvSpPr/>
          <p:nvPr/>
        </p:nvSpPr>
        <p:spPr>
          <a:xfrm>
            <a:off x="8926095" y="4376603"/>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Oval 310"/>
          <p:cNvSpPr/>
          <p:nvPr/>
        </p:nvSpPr>
        <p:spPr>
          <a:xfrm>
            <a:off x="8375474" y="4055293"/>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Oval 311"/>
          <p:cNvSpPr/>
          <p:nvPr/>
        </p:nvSpPr>
        <p:spPr>
          <a:xfrm>
            <a:off x="9165680" y="4599285"/>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Oval 312"/>
          <p:cNvSpPr/>
          <p:nvPr/>
        </p:nvSpPr>
        <p:spPr>
          <a:xfrm>
            <a:off x="9001481" y="4398635"/>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Oval 313"/>
          <p:cNvSpPr/>
          <p:nvPr/>
        </p:nvSpPr>
        <p:spPr>
          <a:xfrm>
            <a:off x="8448100" y="4513787"/>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Oval 314"/>
          <p:cNvSpPr/>
          <p:nvPr/>
        </p:nvSpPr>
        <p:spPr>
          <a:xfrm>
            <a:off x="8432891" y="4454627"/>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Oval 315"/>
          <p:cNvSpPr/>
          <p:nvPr/>
        </p:nvSpPr>
        <p:spPr>
          <a:xfrm>
            <a:off x="8425933" y="4117879"/>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Oval 316"/>
          <p:cNvSpPr/>
          <p:nvPr/>
        </p:nvSpPr>
        <p:spPr>
          <a:xfrm>
            <a:off x="9099402" y="4462817"/>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Oval 317"/>
          <p:cNvSpPr/>
          <p:nvPr/>
        </p:nvSpPr>
        <p:spPr>
          <a:xfrm>
            <a:off x="8826540" y="4530429"/>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Oval 318"/>
          <p:cNvSpPr/>
          <p:nvPr/>
        </p:nvSpPr>
        <p:spPr>
          <a:xfrm>
            <a:off x="8046928" y="4319324"/>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0" name="Oval 319"/>
          <p:cNvSpPr/>
          <p:nvPr/>
        </p:nvSpPr>
        <p:spPr>
          <a:xfrm>
            <a:off x="8488720" y="4266664"/>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Oval 320"/>
          <p:cNvSpPr/>
          <p:nvPr/>
        </p:nvSpPr>
        <p:spPr>
          <a:xfrm>
            <a:off x="8750237" y="4453493"/>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 name="Oval 321"/>
          <p:cNvSpPr/>
          <p:nvPr/>
        </p:nvSpPr>
        <p:spPr>
          <a:xfrm>
            <a:off x="8512275" y="4569247"/>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Oval 322"/>
          <p:cNvSpPr/>
          <p:nvPr/>
        </p:nvSpPr>
        <p:spPr>
          <a:xfrm>
            <a:off x="8045478" y="4441134"/>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Oval 323"/>
          <p:cNvSpPr/>
          <p:nvPr/>
        </p:nvSpPr>
        <p:spPr>
          <a:xfrm>
            <a:off x="9052227" y="4465636"/>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 name="Oval 324"/>
          <p:cNvSpPr/>
          <p:nvPr/>
        </p:nvSpPr>
        <p:spPr>
          <a:xfrm>
            <a:off x="8442860" y="4437567"/>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6" name="Oval 325"/>
          <p:cNvSpPr/>
          <p:nvPr/>
        </p:nvSpPr>
        <p:spPr>
          <a:xfrm>
            <a:off x="8779429" y="4556012"/>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Oval 326"/>
          <p:cNvSpPr/>
          <p:nvPr/>
        </p:nvSpPr>
        <p:spPr>
          <a:xfrm>
            <a:off x="8132269" y="4561783"/>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8" name="Oval 327"/>
          <p:cNvSpPr/>
          <p:nvPr/>
        </p:nvSpPr>
        <p:spPr>
          <a:xfrm>
            <a:off x="8613338" y="4507520"/>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9" name="Oval 328"/>
          <p:cNvSpPr/>
          <p:nvPr/>
        </p:nvSpPr>
        <p:spPr>
          <a:xfrm>
            <a:off x="8623781" y="3452578"/>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Oval 329"/>
          <p:cNvSpPr/>
          <p:nvPr/>
        </p:nvSpPr>
        <p:spPr>
          <a:xfrm>
            <a:off x="8913131" y="4580887"/>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1" name="Oval 330"/>
          <p:cNvSpPr/>
          <p:nvPr/>
        </p:nvSpPr>
        <p:spPr>
          <a:xfrm>
            <a:off x="8900537" y="4514151"/>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2" name="Oval 331"/>
          <p:cNvSpPr/>
          <p:nvPr/>
        </p:nvSpPr>
        <p:spPr>
          <a:xfrm>
            <a:off x="7858349" y="4559942"/>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Oval 332"/>
          <p:cNvSpPr/>
          <p:nvPr/>
        </p:nvSpPr>
        <p:spPr>
          <a:xfrm>
            <a:off x="8720572" y="3512180"/>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4" name="Oval 333"/>
          <p:cNvSpPr/>
          <p:nvPr/>
        </p:nvSpPr>
        <p:spPr>
          <a:xfrm>
            <a:off x="7900675" y="4457787"/>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5" name="Oval 334"/>
          <p:cNvSpPr/>
          <p:nvPr/>
        </p:nvSpPr>
        <p:spPr>
          <a:xfrm>
            <a:off x="8215497" y="4261143"/>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Oval 335"/>
          <p:cNvSpPr/>
          <p:nvPr/>
        </p:nvSpPr>
        <p:spPr>
          <a:xfrm>
            <a:off x="7795491" y="4221198"/>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7" name="Oval 336"/>
          <p:cNvSpPr/>
          <p:nvPr/>
        </p:nvSpPr>
        <p:spPr>
          <a:xfrm>
            <a:off x="8306512" y="4550302"/>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8" name="Oval 337"/>
          <p:cNvSpPr/>
          <p:nvPr/>
        </p:nvSpPr>
        <p:spPr>
          <a:xfrm>
            <a:off x="9200946" y="4299295"/>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9" name="Oval 338"/>
          <p:cNvSpPr/>
          <p:nvPr/>
        </p:nvSpPr>
        <p:spPr>
          <a:xfrm>
            <a:off x="8342193" y="4405864"/>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0" name="Oval 339"/>
          <p:cNvSpPr/>
          <p:nvPr/>
        </p:nvSpPr>
        <p:spPr>
          <a:xfrm>
            <a:off x="8341544" y="4460230"/>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1" name="Oval 340"/>
          <p:cNvSpPr/>
          <p:nvPr/>
        </p:nvSpPr>
        <p:spPr>
          <a:xfrm>
            <a:off x="8972422" y="4486517"/>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2" name="Oval 341"/>
          <p:cNvSpPr/>
          <p:nvPr/>
        </p:nvSpPr>
        <p:spPr>
          <a:xfrm>
            <a:off x="8965757" y="4382971"/>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3" name="Oval 342"/>
          <p:cNvSpPr/>
          <p:nvPr/>
        </p:nvSpPr>
        <p:spPr>
          <a:xfrm>
            <a:off x="9244567" y="4103565"/>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4" name="Oval 343"/>
          <p:cNvSpPr/>
          <p:nvPr/>
        </p:nvSpPr>
        <p:spPr>
          <a:xfrm>
            <a:off x="8924179" y="3858492"/>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5" name="Oval 344"/>
          <p:cNvSpPr/>
          <p:nvPr/>
        </p:nvSpPr>
        <p:spPr>
          <a:xfrm>
            <a:off x="9353878" y="4599383"/>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6" name="Oval 345"/>
          <p:cNvSpPr/>
          <p:nvPr/>
        </p:nvSpPr>
        <p:spPr>
          <a:xfrm>
            <a:off x="9191182" y="4552278"/>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7" name="Oval 346"/>
          <p:cNvSpPr/>
          <p:nvPr/>
        </p:nvSpPr>
        <p:spPr>
          <a:xfrm>
            <a:off x="8405246" y="4592209"/>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8" name="Oval 347"/>
          <p:cNvSpPr/>
          <p:nvPr/>
        </p:nvSpPr>
        <p:spPr>
          <a:xfrm>
            <a:off x="7568302" y="4477642"/>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9" name="Oval 348"/>
          <p:cNvSpPr/>
          <p:nvPr/>
        </p:nvSpPr>
        <p:spPr>
          <a:xfrm>
            <a:off x="8580783" y="4607181"/>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0" name="Oval 349"/>
          <p:cNvSpPr/>
          <p:nvPr/>
        </p:nvSpPr>
        <p:spPr>
          <a:xfrm>
            <a:off x="8570736" y="4322944"/>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1" name="Oval 350"/>
          <p:cNvSpPr/>
          <p:nvPr/>
        </p:nvSpPr>
        <p:spPr>
          <a:xfrm>
            <a:off x="8461960" y="3988647"/>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2" name="Oval 351"/>
          <p:cNvSpPr/>
          <p:nvPr/>
        </p:nvSpPr>
        <p:spPr>
          <a:xfrm>
            <a:off x="8798681" y="4580454"/>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3" name="Oval 352"/>
          <p:cNvSpPr/>
          <p:nvPr/>
        </p:nvSpPr>
        <p:spPr>
          <a:xfrm>
            <a:off x="9108889" y="4318330"/>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4" name="Oval 353"/>
          <p:cNvSpPr/>
          <p:nvPr/>
        </p:nvSpPr>
        <p:spPr>
          <a:xfrm>
            <a:off x="8428046" y="4500266"/>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5" name="Oval 354"/>
          <p:cNvSpPr/>
          <p:nvPr/>
        </p:nvSpPr>
        <p:spPr>
          <a:xfrm>
            <a:off x="8317779" y="4431683"/>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6" name="Oval 355"/>
          <p:cNvSpPr/>
          <p:nvPr/>
        </p:nvSpPr>
        <p:spPr>
          <a:xfrm>
            <a:off x="8662173" y="4022820"/>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7" name="Oval 356"/>
          <p:cNvSpPr/>
          <p:nvPr/>
        </p:nvSpPr>
        <p:spPr>
          <a:xfrm>
            <a:off x="8549904" y="4455643"/>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 name="Oval 357"/>
          <p:cNvSpPr/>
          <p:nvPr/>
        </p:nvSpPr>
        <p:spPr>
          <a:xfrm>
            <a:off x="8418905" y="4528276"/>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9" name="Oval 358"/>
          <p:cNvSpPr/>
          <p:nvPr/>
        </p:nvSpPr>
        <p:spPr>
          <a:xfrm>
            <a:off x="7995306" y="4211696"/>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0" name="Oval 359"/>
          <p:cNvSpPr/>
          <p:nvPr/>
        </p:nvSpPr>
        <p:spPr>
          <a:xfrm>
            <a:off x="7928420" y="4106905"/>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1" name="Oval 360"/>
          <p:cNvSpPr/>
          <p:nvPr/>
        </p:nvSpPr>
        <p:spPr>
          <a:xfrm>
            <a:off x="8097963" y="4394128"/>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2" name="Oval 361"/>
          <p:cNvSpPr/>
          <p:nvPr/>
        </p:nvSpPr>
        <p:spPr>
          <a:xfrm>
            <a:off x="7778575" y="4549645"/>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3" name="Oval 362"/>
          <p:cNvSpPr/>
          <p:nvPr/>
        </p:nvSpPr>
        <p:spPr>
          <a:xfrm>
            <a:off x="8137716" y="4462987"/>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4" name="Oval 363"/>
          <p:cNvSpPr/>
          <p:nvPr/>
        </p:nvSpPr>
        <p:spPr>
          <a:xfrm>
            <a:off x="9243594" y="4460297"/>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5" name="Oval 364"/>
          <p:cNvSpPr/>
          <p:nvPr/>
        </p:nvSpPr>
        <p:spPr>
          <a:xfrm>
            <a:off x="8302199" y="4479808"/>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6" name="Oval 365"/>
          <p:cNvSpPr/>
          <p:nvPr/>
        </p:nvSpPr>
        <p:spPr>
          <a:xfrm>
            <a:off x="8337978" y="4548726"/>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7" name="Oval 366"/>
          <p:cNvSpPr/>
          <p:nvPr/>
        </p:nvSpPr>
        <p:spPr>
          <a:xfrm>
            <a:off x="7999084" y="4527030"/>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8" name="Oval 367"/>
          <p:cNvSpPr/>
          <p:nvPr/>
        </p:nvSpPr>
        <p:spPr>
          <a:xfrm>
            <a:off x="8224621" y="4482352"/>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9" name="Oval 368"/>
          <p:cNvSpPr/>
          <p:nvPr/>
        </p:nvSpPr>
        <p:spPr>
          <a:xfrm>
            <a:off x="8804727" y="3157679"/>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0" name="Oval 369"/>
          <p:cNvSpPr/>
          <p:nvPr/>
        </p:nvSpPr>
        <p:spPr>
          <a:xfrm>
            <a:off x="8568111" y="4583691"/>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1" name="Oval 370"/>
          <p:cNvSpPr/>
          <p:nvPr/>
        </p:nvSpPr>
        <p:spPr>
          <a:xfrm>
            <a:off x="8558600" y="4499491"/>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2" name="Oval 371"/>
          <p:cNvSpPr/>
          <p:nvPr/>
        </p:nvSpPr>
        <p:spPr>
          <a:xfrm>
            <a:off x="7539178" y="4522609"/>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3" name="Oval 372"/>
          <p:cNvSpPr/>
          <p:nvPr/>
        </p:nvSpPr>
        <p:spPr>
          <a:xfrm>
            <a:off x="8738270" y="3473964"/>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4" name="Oval 373"/>
          <p:cNvSpPr/>
          <p:nvPr/>
        </p:nvSpPr>
        <p:spPr>
          <a:xfrm>
            <a:off x="7933880" y="4367331"/>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5" name="Oval 374"/>
          <p:cNvSpPr/>
          <p:nvPr/>
        </p:nvSpPr>
        <p:spPr>
          <a:xfrm>
            <a:off x="8547386" y="4266604"/>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6" name="Oval 375"/>
          <p:cNvSpPr/>
          <p:nvPr/>
        </p:nvSpPr>
        <p:spPr>
          <a:xfrm>
            <a:off x="7805936" y="4299083"/>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7" name="Oval 376"/>
          <p:cNvSpPr/>
          <p:nvPr/>
        </p:nvSpPr>
        <p:spPr>
          <a:xfrm>
            <a:off x="8231751" y="4533033"/>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8" name="Oval 377"/>
          <p:cNvSpPr/>
          <p:nvPr/>
        </p:nvSpPr>
        <p:spPr>
          <a:xfrm>
            <a:off x="9022748" y="4206760"/>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9" name="Oval 378"/>
          <p:cNvSpPr/>
          <p:nvPr/>
        </p:nvSpPr>
        <p:spPr>
          <a:xfrm>
            <a:off x="8179403" y="4353212"/>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0" name="Oval 379"/>
          <p:cNvSpPr/>
          <p:nvPr/>
        </p:nvSpPr>
        <p:spPr>
          <a:xfrm>
            <a:off x="7980463" y="4428474"/>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1" name="Oval 380"/>
          <p:cNvSpPr/>
          <p:nvPr/>
        </p:nvSpPr>
        <p:spPr>
          <a:xfrm>
            <a:off x="8651294" y="4399340"/>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2" name="Oval 381"/>
          <p:cNvSpPr/>
          <p:nvPr/>
        </p:nvSpPr>
        <p:spPr>
          <a:xfrm>
            <a:off x="8975801" y="4292846"/>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3" name="Oval 382"/>
          <p:cNvSpPr/>
          <p:nvPr/>
        </p:nvSpPr>
        <p:spPr>
          <a:xfrm>
            <a:off x="9102251" y="3871069"/>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4" name="Oval 383"/>
          <p:cNvSpPr/>
          <p:nvPr/>
        </p:nvSpPr>
        <p:spPr>
          <a:xfrm>
            <a:off x="8980564" y="3833868"/>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5" name="Oval 384"/>
          <p:cNvSpPr/>
          <p:nvPr/>
        </p:nvSpPr>
        <p:spPr>
          <a:xfrm>
            <a:off x="9209857" y="4595212"/>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6" name="Oval 385"/>
          <p:cNvSpPr/>
          <p:nvPr/>
        </p:nvSpPr>
        <p:spPr>
          <a:xfrm>
            <a:off x="9108890" y="4553553"/>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7" name="Oval 386"/>
          <p:cNvSpPr/>
          <p:nvPr/>
        </p:nvSpPr>
        <p:spPr>
          <a:xfrm>
            <a:off x="8403437" y="4591484"/>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8" name="Oval 387"/>
          <p:cNvSpPr/>
          <p:nvPr/>
        </p:nvSpPr>
        <p:spPr>
          <a:xfrm>
            <a:off x="7630425" y="4409678"/>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9" name="Oval 388"/>
          <p:cNvSpPr/>
          <p:nvPr/>
        </p:nvSpPr>
        <p:spPr>
          <a:xfrm>
            <a:off x="8336866" y="4598851"/>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0" name="Oval 389"/>
          <p:cNvSpPr/>
          <p:nvPr/>
        </p:nvSpPr>
        <p:spPr>
          <a:xfrm>
            <a:off x="8401809" y="4277883"/>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1" name="Oval 390"/>
          <p:cNvSpPr/>
          <p:nvPr/>
        </p:nvSpPr>
        <p:spPr>
          <a:xfrm>
            <a:off x="7957203" y="3812850"/>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2" name="Oval 391"/>
          <p:cNvSpPr/>
          <p:nvPr/>
        </p:nvSpPr>
        <p:spPr>
          <a:xfrm>
            <a:off x="8865562" y="4565864"/>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3" name="Oval 392"/>
          <p:cNvSpPr/>
          <p:nvPr/>
        </p:nvSpPr>
        <p:spPr>
          <a:xfrm>
            <a:off x="8842954" y="4218559"/>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4" name="Oval 393"/>
          <p:cNvSpPr/>
          <p:nvPr/>
        </p:nvSpPr>
        <p:spPr>
          <a:xfrm>
            <a:off x="8266246" y="4474018"/>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5" name="Oval 394"/>
          <p:cNvSpPr/>
          <p:nvPr/>
        </p:nvSpPr>
        <p:spPr>
          <a:xfrm>
            <a:off x="8245240" y="4409543"/>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6" name="Oval 395"/>
          <p:cNvSpPr/>
          <p:nvPr/>
        </p:nvSpPr>
        <p:spPr>
          <a:xfrm>
            <a:off x="8343566" y="4041391"/>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7" name="Oval 396"/>
          <p:cNvSpPr/>
          <p:nvPr/>
        </p:nvSpPr>
        <p:spPr>
          <a:xfrm>
            <a:off x="8867082" y="4467671"/>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8" name="Oval 397"/>
          <p:cNvSpPr/>
          <p:nvPr/>
        </p:nvSpPr>
        <p:spPr>
          <a:xfrm>
            <a:off x="8551418" y="4525636"/>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9" name="Oval 398"/>
          <p:cNvSpPr/>
          <p:nvPr/>
        </p:nvSpPr>
        <p:spPr>
          <a:xfrm>
            <a:off x="7972714" y="4084178"/>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0" name="Oval 399"/>
          <p:cNvSpPr/>
          <p:nvPr/>
        </p:nvSpPr>
        <p:spPr>
          <a:xfrm>
            <a:off x="8170260" y="4093369"/>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1" name="Oval 400"/>
          <p:cNvSpPr/>
          <p:nvPr/>
        </p:nvSpPr>
        <p:spPr>
          <a:xfrm>
            <a:off x="7865547" y="4397505"/>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2" name="Oval 401"/>
          <p:cNvSpPr/>
          <p:nvPr/>
        </p:nvSpPr>
        <p:spPr>
          <a:xfrm>
            <a:off x="7254085" y="4503249"/>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Oval 402"/>
          <p:cNvSpPr/>
          <p:nvPr/>
        </p:nvSpPr>
        <p:spPr>
          <a:xfrm>
            <a:off x="7863325" y="4422679"/>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Oval 403"/>
          <p:cNvSpPr/>
          <p:nvPr/>
        </p:nvSpPr>
        <p:spPr>
          <a:xfrm>
            <a:off x="8936551" y="4425257"/>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Oval 404"/>
          <p:cNvSpPr/>
          <p:nvPr/>
        </p:nvSpPr>
        <p:spPr>
          <a:xfrm>
            <a:off x="8491359" y="4457275"/>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Oval 405"/>
          <p:cNvSpPr/>
          <p:nvPr/>
        </p:nvSpPr>
        <p:spPr>
          <a:xfrm>
            <a:off x="8246106" y="4535302"/>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Oval 406"/>
          <p:cNvSpPr/>
          <p:nvPr/>
        </p:nvSpPr>
        <p:spPr>
          <a:xfrm>
            <a:off x="7503868" y="4446800"/>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Oval 407"/>
          <p:cNvSpPr/>
          <p:nvPr/>
        </p:nvSpPr>
        <p:spPr>
          <a:xfrm>
            <a:off x="8335301" y="4460703"/>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Oval 408"/>
          <p:cNvSpPr/>
          <p:nvPr/>
        </p:nvSpPr>
        <p:spPr>
          <a:xfrm>
            <a:off x="8580002" y="2954646"/>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Oval 409"/>
          <p:cNvSpPr/>
          <p:nvPr/>
        </p:nvSpPr>
        <p:spPr>
          <a:xfrm>
            <a:off x="8932985" y="4576908"/>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Oval 410"/>
          <p:cNvSpPr/>
          <p:nvPr/>
        </p:nvSpPr>
        <p:spPr>
          <a:xfrm>
            <a:off x="8490397" y="4464924"/>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Oval 411"/>
          <p:cNvSpPr/>
          <p:nvPr/>
        </p:nvSpPr>
        <p:spPr>
          <a:xfrm>
            <a:off x="7379349" y="4472392"/>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Oval 412"/>
          <p:cNvSpPr/>
          <p:nvPr/>
        </p:nvSpPr>
        <p:spPr>
          <a:xfrm>
            <a:off x="8508947" y="3343388"/>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Oval 413"/>
          <p:cNvSpPr/>
          <p:nvPr/>
        </p:nvSpPr>
        <p:spPr>
          <a:xfrm>
            <a:off x="7306413" y="4141752"/>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Oval 414"/>
          <p:cNvSpPr/>
          <p:nvPr/>
        </p:nvSpPr>
        <p:spPr>
          <a:xfrm>
            <a:off x="8461630" y="4303647"/>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Oval 415"/>
          <p:cNvSpPr/>
          <p:nvPr/>
        </p:nvSpPr>
        <p:spPr>
          <a:xfrm>
            <a:off x="8044639" y="4286493"/>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Oval 416"/>
          <p:cNvSpPr/>
          <p:nvPr/>
        </p:nvSpPr>
        <p:spPr>
          <a:xfrm>
            <a:off x="7932380" y="4502783"/>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Oval 417"/>
          <p:cNvSpPr/>
          <p:nvPr/>
        </p:nvSpPr>
        <p:spPr>
          <a:xfrm>
            <a:off x="9246409" y="4192409"/>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Oval 418"/>
          <p:cNvSpPr/>
          <p:nvPr/>
        </p:nvSpPr>
        <p:spPr>
          <a:xfrm>
            <a:off x="8198552" y="4337147"/>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Oval 419"/>
          <p:cNvSpPr/>
          <p:nvPr/>
        </p:nvSpPr>
        <p:spPr>
          <a:xfrm>
            <a:off x="7512544" y="4332617"/>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Oval 420"/>
          <p:cNvSpPr/>
          <p:nvPr/>
        </p:nvSpPr>
        <p:spPr>
          <a:xfrm>
            <a:off x="8528232" y="4329901"/>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Oval 421"/>
          <p:cNvSpPr/>
          <p:nvPr/>
        </p:nvSpPr>
        <p:spPr>
          <a:xfrm>
            <a:off x="8902222" y="4271771"/>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Oval 422"/>
          <p:cNvSpPr/>
          <p:nvPr/>
        </p:nvSpPr>
        <p:spPr>
          <a:xfrm>
            <a:off x="8824241" y="3702698"/>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Oval 423"/>
          <p:cNvSpPr/>
          <p:nvPr/>
        </p:nvSpPr>
        <p:spPr>
          <a:xfrm>
            <a:off x="9088908" y="3884447"/>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Oval 424"/>
          <p:cNvSpPr/>
          <p:nvPr/>
        </p:nvSpPr>
        <p:spPr>
          <a:xfrm>
            <a:off x="9282058" y="4590147"/>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Oval 425"/>
          <p:cNvSpPr/>
          <p:nvPr/>
        </p:nvSpPr>
        <p:spPr>
          <a:xfrm>
            <a:off x="9091160" y="4560106"/>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Oval 426"/>
          <p:cNvSpPr/>
          <p:nvPr/>
        </p:nvSpPr>
        <p:spPr>
          <a:xfrm>
            <a:off x="8361957" y="4588597"/>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Oval 427"/>
          <p:cNvSpPr/>
          <p:nvPr/>
        </p:nvSpPr>
        <p:spPr>
          <a:xfrm>
            <a:off x="7092109" y="4183533"/>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Oval 428"/>
          <p:cNvSpPr/>
          <p:nvPr/>
        </p:nvSpPr>
        <p:spPr>
          <a:xfrm>
            <a:off x="9000300" y="4602019"/>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Oval 429"/>
          <p:cNvSpPr/>
          <p:nvPr/>
        </p:nvSpPr>
        <p:spPr>
          <a:xfrm>
            <a:off x="8267470" y="4240585"/>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Oval 430"/>
          <p:cNvSpPr/>
          <p:nvPr/>
        </p:nvSpPr>
        <p:spPr>
          <a:xfrm>
            <a:off x="8842233" y="4001581"/>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Oval 431"/>
          <p:cNvSpPr/>
          <p:nvPr/>
        </p:nvSpPr>
        <p:spPr>
          <a:xfrm>
            <a:off x="9832475" y="4576049"/>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Oval 432"/>
          <p:cNvSpPr/>
          <p:nvPr/>
        </p:nvSpPr>
        <p:spPr>
          <a:xfrm>
            <a:off x="8759165" y="4242475"/>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Oval 433"/>
          <p:cNvSpPr/>
          <p:nvPr/>
        </p:nvSpPr>
        <p:spPr>
          <a:xfrm>
            <a:off x="8540433" y="4499089"/>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Oval 434"/>
          <p:cNvSpPr/>
          <p:nvPr/>
        </p:nvSpPr>
        <p:spPr>
          <a:xfrm>
            <a:off x="8502284" y="4411544"/>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Oval 435"/>
          <p:cNvSpPr/>
          <p:nvPr/>
        </p:nvSpPr>
        <p:spPr>
          <a:xfrm>
            <a:off x="8507990" y="4189103"/>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Oval 436"/>
          <p:cNvSpPr/>
          <p:nvPr/>
        </p:nvSpPr>
        <p:spPr>
          <a:xfrm>
            <a:off x="9201542" y="4490401"/>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Oval 437"/>
          <p:cNvSpPr/>
          <p:nvPr/>
        </p:nvSpPr>
        <p:spPr>
          <a:xfrm>
            <a:off x="8963483" y="4543225"/>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Oval 438"/>
          <p:cNvSpPr/>
          <p:nvPr/>
        </p:nvSpPr>
        <p:spPr>
          <a:xfrm>
            <a:off x="8313469" y="4201576"/>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Oval 439"/>
          <p:cNvSpPr/>
          <p:nvPr/>
        </p:nvSpPr>
        <p:spPr>
          <a:xfrm>
            <a:off x="8791285" y="4213658"/>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Oval 440"/>
          <p:cNvSpPr/>
          <p:nvPr/>
        </p:nvSpPr>
        <p:spPr>
          <a:xfrm>
            <a:off x="8443222" y="4440329"/>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Oval 441"/>
          <p:cNvSpPr/>
          <p:nvPr/>
        </p:nvSpPr>
        <p:spPr>
          <a:xfrm>
            <a:off x="7931466" y="4535997"/>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Oval 442"/>
          <p:cNvSpPr/>
          <p:nvPr/>
        </p:nvSpPr>
        <p:spPr>
          <a:xfrm>
            <a:off x="8400757" y="4469973"/>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Oval 443"/>
          <p:cNvSpPr/>
          <p:nvPr/>
        </p:nvSpPr>
        <p:spPr>
          <a:xfrm>
            <a:off x="8921990" y="4432733"/>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Oval 444"/>
          <p:cNvSpPr/>
          <p:nvPr/>
        </p:nvSpPr>
        <p:spPr>
          <a:xfrm>
            <a:off x="8327243" y="4425485"/>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Oval 445"/>
          <p:cNvSpPr/>
          <p:nvPr/>
        </p:nvSpPr>
        <p:spPr>
          <a:xfrm>
            <a:off x="8691513" y="4542409"/>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Oval 446"/>
          <p:cNvSpPr/>
          <p:nvPr/>
        </p:nvSpPr>
        <p:spPr>
          <a:xfrm>
            <a:off x="7535816" y="4373395"/>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Oval 447"/>
          <p:cNvSpPr/>
          <p:nvPr/>
        </p:nvSpPr>
        <p:spPr>
          <a:xfrm>
            <a:off x="8783968" y="4494947"/>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Oval 448"/>
          <p:cNvSpPr/>
          <p:nvPr/>
        </p:nvSpPr>
        <p:spPr>
          <a:xfrm>
            <a:off x="8959262" y="3230342"/>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Oval 449"/>
          <p:cNvSpPr/>
          <p:nvPr/>
        </p:nvSpPr>
        <p:spPr>
          <a:xfrm>
            <a:off x="9008449" y="4574707"/>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Oval 450"/>
          <p:cNvSpPr/>
          <p:nvPr/>
        </p:nvSpPr>
        <p:spPr>
          <a:xfrm>
            <a:off x="9016094" y="4470739"/>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Oval 451"/>
          <p:cNvSpPr/>
          <p:nvPr/>
        </p:nvSpPr>
        <p:spPr>
          <a:xfrm>
            <a:off x="7848140" y="4511627"/>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Oval 452"/>
          <p:cNvSpPr/>
          <p:nvPr/>
        </p:nvSpPr>
        <p:spPr>
          <a:xfrm>
            <a:off x="8697413" y="3430089"/>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Oval 453"/>
          <p:cNvSpPr/>
          <p:nvPr/>
        </p:nvSpPr>
        <p:spPr>
          <a:xfrm>
            <a:off x="7403005" y="3804474"/>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Oval 454"/>
          <p:cNvSpPr/>
          <p:nvPr/>
        </p:nvSpPr>
        <p:spPr>
          <a:xfrm>
            <a:off x="8853725" y="4319655"/>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Oval 455"/>
          <p:cNvSpPr/>
          <p:nvPr/>
        </p:nvSpPr>
        <p:spPr>
          <a:xfrm>
            <a:off x="8530646" y="4329257"/>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Oval 456"/>
          <p:cNvSpPr/>
          <p:nvPr/>
        </p:nvSpPr>
        <p:spPr>
          <a:xfrm>
            <a:off x="8446383" y="4547126"/>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Oval 457"/>
          <p:cNvSpPr/>
          <p:nvPr/>
        </p:nvSpPr>
        <p:spPr>
          <a:xfrm>
            <a:off x="9670076" y="4240648"/>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Oval 458"/>
          <p:cNvSpPr/>
          <p:nvPr/>
        </p:nvSpPr>
        <p:spPr>
          <a:xfrm>
            <a:off x="8450938" y="4325052"/>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Oval 459"/>
          <p:cNvSpPr/>
          <p:nvPr/>
        </p:nvSpPr>
        <p:spPr>
          <a:xfrm>
            <a:off x="8212224" y="4408165"/>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Oval 460"/>
          <p:cNvSpPr/>
          <p:nvPr/>
        </p:nvSpPr>
        <p:spPr>
          <a:xfrm>
            <a:off x="8723955" y="4339739"/>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Oval 461"/>
          <p:cNvSpPr/>
          <p:nvPr/>
        </p:nvSpPr>
        <p:spPr>
          <a:xfrm>
            <a:off x="9320599" y="4365269"/>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Oval 462"/>
          <p:cNvSpPr/>
          <p:nvPr/>
        </p:nvSpPr>
        <p:spPr>
          <a:xfrm>
            <a:off x="9241845" y="3816886"/>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Oval 463"/>
          <p:cNvSpPr/>
          <p:nvPr/>
        </p:nvSpPr>
        <p:spPr>
          <a:xfrm>
            <a:off x="9644685" y="3927957"/>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Oval 464"/>
          <p:cNvSpPr/>
          <p:nvPr/>
        </p:nvSpPr>
        <p:spPr>
          <a:xfrm>
            <a:off x="9814902" y="4589356"/>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Oval 465"/>
          <p:cNvSpPr/>
          <p:nvPr/>
        </p:nvSpPr>
        <p:spPr>
          <a:xfrm>
            <a:off x="9061133" y="4557638"/>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Oval 466"/>
          <p:cNvSpPr/>
          <p:nvPr/>
        </p:nvSpPr>
        <p:spPr>
          <a:xfrm>
            <a:off x="8415085" y="4590329"/>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Oval 467"/>
          <p:cNvSpPr/>
          <p:nvPr/>
        </p:nvSpPr>
        <p:spPr>
          <a:xfrm>
            <a:off x="7321437" y="3847214"/>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Oval 468"/>
          <p:cNvSpPr/>
          <p:nvPr/>
        </p:nvSpPr>
        <p:spPr>
          <a:xfrm>
            <a:off x="8279178" y="4598941"/>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Oval 469"/>
          <p:cNvSpPr/>
          <p:nvPr/>
        </p:nvSpPr>
        <p:spPr>
          <a:xfrm>
            <a:off x="7600430" y="4127506"/>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Oval 470"/>
          <p:cNvSpPr/>
          <p:nvPr/>
        </p:nvSpPr>
        <p:spPr>
          <a:xfrm>
            <a:off x="8234625" y="3985407"/>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Oval 471"/>
          <p:cNvSpPr/>
          <p:nvPr/>
        </p:nvSpPr>
        <p:spPr>
          <a:xfrm>
            <a:off x="8745211" y="4571087"/>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Oval 472"/>
          <p:cNvSpPr/>
          <p:nvPr/>
        </p:nvSpPr>
        <p:spPr>
          <a:xfrm>
            <a:off x="8343112" y="4246007"/>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Oval 473"/>
          <p:cNvSpPr/>
          <p:nvPr/>
        </p:nvSpPr>
        <p:spPr>
          <a:xfrm>
            <a:off x="8296245" y="4481383"/>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Oval 474"/>
          <p:cNvSpPr/>
          <p:nvPr/>
        </p:nvSpPr>
        <p:spPr>
          <a:xfrm>
            <a:off x="8094879" y="4373431"/>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Oval 475"/>
          <p:cNvSpPr/>
          <p:nvPr/>
        </p:nvSpPr>
        <p:spPr>
          <a:xfrm>
            <a:off x="8192151" y="4095802"/>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Oval 476"/>
          <p:cNvSpPr/>
          <p:nvPr/>
        </p:nvSpPr>
        <p:spPr>
          <a:xfrm>
            <a:off x="8806892" y="4487412"/>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Oval 477"/>
          <p:cNvSpPr/>
          <p:nvPr/>
        </p:nvSpPr>
        <p:spPr>
          <a:xfrm>
            <a:off x="8677569" y="4521533"/>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Oval 478"/>
          <p:cNvSpPr/>
          <p:nvPr/>
        </p:nvSpPr>
        <p:spPr>
          <a:xfrm>
            <a:off x="7559175" y="4087178"/>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Oval 479"/>
          <p:cNvSpPr/>
          <p:nvPr/>
        </p:nvSpPr>
        <p:spPr>
          <a:xfrm>
            <a:off x="7697210" y="4068596"/>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Oval 480"/>
          <p:cNvSpPr/>
          <p:nvPr/>
        </p:nvSpPr>
        <p:spPr>
          <a:xfrm>
            <a:off x="8356452" y="4476984"/>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Oval 481"/>
          <p:cNvSpPr/>
          <p:nvPr/>
        </p:nvSpPr>
        <p:spPr>
          <a:xfrm>
            <a:off x="7952864" y="4573296"/>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Oval 482"/>
          <p:cNvSpPr/>
          <p:nvPr/>
        </p:nvSpPr>
        <p:spPr>
          <a:xfrm>
            <a:off x="7625453" y="4383012"/>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Oval 483"/>
          <p:cNvSpPr/>
          <p:nvPr/>
        </p:nvSpPr>
        <p:spPr>
          <a:xfrm>
            <a:off x="8550619" y="4412857"/>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Oval 484"/>
          <p:cNvSpPr/>
          <p:nvPr/>
        </p:nvSpPr>
        <p:spPr>
          <a:xfrm>
            <a:off x="7368719" y="4338352"/>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Oval 485"/>
          <p:cNvSpPr/>
          <p:nvPr/>
        </p:nvSpPr>
        <p:spPr>
          <a:xfrm>
            <a:off x="8347741" y="4529836"/>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Oval 486"/>
          <p:cNvSpPr/>
          <p:nvPr/>
        </p:nvSpPr>
        <p:spPr>
          <a:xfrm>
            <a:off x="8002990" y="4519645"/>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Oval 487"/>
          <p:cNvSpPr/>
          <p:nvPr/>
        </p:nvSpPr>
        <p:spPr>
          <a:xfrm>
            <a:off x="7844713" y="4438782"/>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Oval 488"/>
          <p:cNvSpPr/>
          <p:nvPr/>
        </p:nvSpPr>
        <p:spPr>
          <a:xfrm>
            <a:off x="8360999" y="3051051"/>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Oval 489"/>
          <p:cNvSpPr/>
          <p:nvPr/>
        </p:nvSpPr>
        <p:spPr>
          <a:xfrm>
            <a:off x="8820780" y="4565499"/>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Oval 490"/>
          <p:cNvSpPr/>
          <p:nvPr/>
        </p:nvSpPr>
        <p:spPr>
          <a:xfrm>
            <a:off x="8494068" y="4425614"/>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2" name="Oval 491"/>
          <p:cNvSpPr/>
          <p:nvPr/>
        </p:nvSpPr>
        <p:spPr>
          <a:xfrm>
            <a:off x="7603208" y="4528891"/>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Oval 492"/>
          <p:cNvSpPr/>
          <p:nvPr/>
        </p:nvSpPr>
        <p:spPr>
          <a:xfrm>
            <a:off x="8152228" y="3224979"/>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Oval 493"/>
          <p:cNvSpPr/>
          <p:nvPr/>
        </p:nvSpPr>
        <p:spPr>
          <a:xfrm>
            <a:off x="7793732" y="4292988"/>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Oval 494"/>
          <p:cNvSpPr/>
          <p:nvPr/>
        </p:nvSpPr>
        <p:spPr>
          <a:xfrm>
            <a:off x="7956757" y="4208479"/>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Oval 495"/>
          <p:cNvSpPr/>
          <p:nvPr/>
        </p:nvSpPr>
        <p:spPr>
          <a:xfrm>
            <a:off x="7799775" y="4267265"/>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Oval 496"/>
          <p:cNvSpPr/>
          <p:nvPr/>
        </p:nvSpPr>
        <p:spPr>
          <a:xfrm>
            <a:off x="8241266" y="4557901"/>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Oval 497"/>
          <p:cNvSpPr/>
          <p:nvPr/>
        </p:nvSpPr>
        <p:spPr>
          <a:xfrm>
            <a:off x="9302355" y="4255623"/>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Oval 498"/>
          <p:cNvSpPr/>
          <p:nvPr/>
        </p:nvSpPr>
        <p:spPr>
          <a:xfrm>
            <a:off x="7993211" y="4270419"/>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7885332" y="4356221"/>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7591349" y="4231464"/>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8942538" y="4366630"/>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8489539" y="3809262"/>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Oval 503"/>
          <p:cNvSpPr/>
          <p:nvPr/>
        </p:nvSpPr>
        <p:spPr>
          <a:xfrm>
            <a:off x="9678002" y="3909886"/>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Oval 504"/>
          <p:cNvSpPr/>
          <p:nvPr/>
        </p:nvSpPr>
        <p:spPr>
          <a:xfrm>
            <a:off x="9269181" y="4586973"/>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Oval 505"/>
          <p:cNvSpPr/>
          <p:nvPr/>
        </p:nvSpPr>
        <p:spPr>
          <a:xfrm>
            <a:off x="8891952" y="4549321"/>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Oval 506"/>
          <p:cNvSpPr/>
          <p:nvPr/>
        </p:nvSpPr>
        <p:spPr>
          <a:xfrm>
            <a:off x="8202454" y="4580995"/>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Oval 507"/>
          <p:cNvSpPr/>
          <p:nvPr/>
        </p:nvSpPr>
        <p:spPr>
          <a:xfrm>
            <a:off x="7724674" y="4366177"/>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Oval 508"/>
          <p:cNvSpPr/>
          <p:nvPr/>
        </p:nvSpPr>
        <p:spPr>
          <a:xfrm>
            <a:off x="7795774" y="4552220"/>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Oval 509"/>
          <p:cNvSpPr/>
          <p:nvPr/>
        </p:nvSpPr>
        <p:spPr>
          <a:xfrm>
            <a:off x="7810929" y="3854822"/>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Oval 510"/>
          <p:cNvSpPr/>
          <p:nvPr/>
        </p:nvSpPr>
        <p:spPr>
          <a:xfrm>
            <a:off x="7869930" y="3291516"/>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Oval 511"/>
          <p:cNvSpPr/>
          <p:nvPr/>
        </p:nvSpPr>
        <p:spPr>
          <a:xfrm>
            <a:off x="9285183" y="4557400"/>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Oval 512"/>
          <p:cNvSpPr/>
          <p:nvPr/>
        </p:nvSpPr>
        <p:spPr>
          <a:xfrm>
            <a:off x="8202528" y="4149128"/>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Oval 513"/>
          <p:cNvSpPr/>
          <p:nvPr/>
        </p:nvSpPr>
        <p:spPr>
          <a:xfrm>
            <a:off x="7750725" y="4355089"/>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Oval 514"/>
          <p:cNvSpPr/>
          <p:nvPr/>
        </p:nvSpPr>
        <p:spPr>
          <a:xfrm>
            <a:off x="7910741" y="4085893"/>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Oval 515"/>
          <p:cNvSpPr/>
          <p:nvPr/>
        </p:nvSpPr>
        <p:spPr>
          <a:xfrm>
            <a:off x="7851975" y="3569642"/>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Oval 516"/>
          <p:cNvSpPr/>
          <p:nvPr/>
        </p:nvSpPr>
        <p:spPr>
          <a:xfrm>
            <a:off x="9211650" y="4365495"/>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Oval 517"/>
          <p:cNvSpPr/>
          <p:nvPr/>
        </p:nvSpPr>
        <p:spPr>
          <a:xfrm>
            <a:off x="8609654" y="4443935"/>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Oval 518"/>
          <p:cNvSpPr/>
          <p:nvPr/>
        </p:nvSpPr>
        <p:spPr>
          <a:xfrm>
            <a:off x="7744230" y="3871006"/>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Oval 519"/>
          <p:cNvSpPr/>
          <p:nvPr/>
        </p:nvSpPr>
        <p:spPr>
          <a:xfrm>
            <a:off x="8033919" y="3973039"/>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Oval 520"/>
          <p:cNvSpPr/>
          <p:nvPr/>
        </p:nvSpPr>
        <p:spPr>
          <a:xfrm>
            <a:off x="8230673" y="4302445"/>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Oval 521"/>
          <p:cNvSpPr/>
          <p:nvPr/>
        </p:nvSpPr>
        <p:spPr>
          <a:xfrm>
            <a:off x="7664695" y="4517223"/>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Oval 522"/>
          <p:cNvSpPr/>
          <p:nvPr/>
        </p:nvSpPr>
        <p:spPr>
          <a:xfrm>
            <a:off x="7466441" y="4172931"/>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4" name="Oval 523"/>
          <p:cNvSpPr/>
          <p:nvPr/>
        </p:nvSpPr>
        <p:spPr>
          <a:xfrm>
            <a:off x="7810205" y="4258226"/>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Oval 524"/>
          <p:cNvSpPr/>
          <p:nvPr/>
        </p:nvSpPr>
        <p:spPr>
          <a:xfrm>
            <a:off x="7618586" y="4215319"/>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6" name="Oval 525"/>
          <p:cNvSpPr/>
          <p:nvPr/>
        </p:nvSpPr>
        <p:spPr>
          <a:xfrm>
            <a:off x="8438981" y="4457551"/>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Oval 526"/>
          <p:cNvSpPr/>
          <p:nvPr/>
        </p:nvSpPr>
        <p:spPr>
          <a:xfrm>
            <a:off x="8114675" y="4461804"/>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8" name="Oval 527"/>
          <p:cNvSpPr/>
          <p:nvPr/>
        </p:nvSpPr>
        <p:spPr>
          <a:xfrm>
            <a:off x="8091383" y="4338107"/>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Oval 528"/>
          <p:cNvSpPr/>
          <p:nvPr/>
        </p:nvSpPr>
        <p:spPr>
          <a:xfrm>
            <a:off x="8594069" y="2623516"/>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Oval 529"/>
          <p:cNvSpPr/>
          <p:nvPr/>
        </p:nvSpPr>
        <p:spPr>
          <a:xfrm>
            <a:off x="8688732" y="4519430"/>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Oval 530"/>
          <p:cNvSpPr/>
          <p:nvPr/>
        </p:nvSpPr>
        <p:spPr>
          <a:xfrm>
            <a:off x="8295069" y="4317346"/>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Oval 531"/>
          <p:cNvSpPr/>
          <p:nvPr/>
        </p:nvSpPr>
        <p:spPr>
          <a:xfrm>
            <a:off x="7641818" y="4437257"/>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Oval 532"/>
          <p:cNvSpPr/>
          <p:nvPr/>
        </p:nvSpPr>
        <p:spPr>
          <a:xfrm>
            <a:off x="7908722" y="2568600"/>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4" name="Oval 533"/>
          <p:cNvSpPr/>
          <p:nvPr/>
        </p:nvSpPr>
        <p:spPr>
          <a:xfrm>
            <a:off x="7996119" y="4152610"/>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Oval 534"/>
          <p:cNvSpPr/>
          <p:nvPr/>
        </p:nvSpPr>
        <p:spPr>
          <a:xfrm>
            <a:off x="7705250" y="3948544"/>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Oval 535"/>
          <p:cNvSpPr/>
          <p:nvPr/>
        </p:nvSpPr>
        <p:spPr>
          <a:xfrm>
            <a:off x="7831435" y="4059299"/>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Oval 536"/>
          <p:cNvSpPr/>
          <p:nvPr/>
        </p:nvSpPr>
        <p:spPr>
          <a:xfrm>
            <a:off x="7825584" y="4484489"/>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Oval 537"/>
          <p:cNvSpPr/>
          <p:nvPr/>
        </p:nvSpPr>
        <p:spPr>
          <a:xfrm>
            <a:off x="9619342" y="4171955"/>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9" name="Oval 538"/>
          <p:cNvSpPr/>
          <p:nvPr/>
        </p:nvSpPr>
        <p:spPr>
          <a:xfrm>
            <a:off x="7836482" y="4026768"/>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Oval 539"/>
          <p:cNvSpPr/>
          <p:nvPr/>
        </p:nvSpPr>
        <p:spPr>
          <a:xfrm>
            <a:off x="7891661" y="4221923"/>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Oval 540"/>
          <p:cNvSpPr/>
          <p:nvPr/>
        </p:nvSpPr>
        <p:spPr>
          <a:xfrm>
            <a:off x="8677582" y="4415789"/>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Oval 541"/>
          <p:cNvSpPr/>
          <p:nvPr/>
        </p:nvSpPr>
        <p:spPr>
          <a:xfrm>
            <a:off x="8870718" y="4306986"/>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Oval 542"/>
          <p:cNvSpPr/>
          <p:nvPr/>
        </p:nvSpPr>
        <p:spPr>
          <a:xfrm>
            <a:off x="8845996" y="3921831"/>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4" name="Oval 543"/>
          <p:cNvSpPr/>
          <p:nvPr/>
        </p:nvSpPr>
        <p:spPr>
          <a:xfrm>
            <a:off x="10196624" y="3837088"/>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Oval 544"/>
          <p:cNvSpPr/>
          <p:nvPr/>
        </p:nvSpPr>
        <p:spPr>
          <a:xfrm>
            <a:off x="9790168" y="4576435"/>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Oval 545"/>
          <p:cNvSpPr/>
          <p:nvPr/>
        </p:nvSpPr>
        <p:spPr>
          <a:xfrm>
            <a:off x="7773042" y="4403459"/>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Oval 546"/>
          <p:cNvSpPr/>
          <p:nvPr/>
        </p:nvSpPr>
        <p:spPr>
          <a:xfrm>
            <a:off x="7667279" y="4521945"/>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Oval 547"/>
          <p:cNvSpPr/>
          <p:nvPr/>
        </p:nvSpPr>
        <p:spPr>
          <a:xfrm>
            <a:off x="7912507" y="4248853"/>
            <a:ext cx="82296" cy="822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9" name="Connector 548"/>
          <p:cNvCxnSpPr/>
          <p:nvPr/>
        </p:nvCxnSpPr>
        <p:spPr>
          <a:xfrm>
            <a:off x="7132320" y="4292526"/>
            <a:ext cx="3895344" cy="104816"/>
          </a:xfrm>
          <a:prstGeom prst="line">
            <a:avLst/>
          </a:prstGeom>
          <a:ln w="25400">
            <a:solidFill>
              <a:srgbClr val="C58A2A"/>
            </a:solidFill>
          </a:ln>
        </p:spPr>
        <p:style>
          <a:lnRef idx="2">
            <a:schemeClr val="accent1"/>
          </a:lnRef>
          <a:fillRef idx="0">
            <a:schemeClr val="accent1"/>
          </a:fillRef>
          <a:effectRef idx="1">
            <a:schemeClr val="accent1"/>
          </a:effectRef>
          <a:fontRef idx="minor">
            <a:schemeClr val="tx1"/>
          </a:fontRef>
        </p:style>
      </p:cxnSp>
      <p:sp>
        <p:nvSpPr>
          <p:cNvPr id="550" name="TextBox 549"/>
          <p:cNvSpPr txBox="1"/>
          <p:nvPr/>
        </p:nvSpPr>
        <p:spPr>
          <a:xfrm>
            <a:off x="7708392" y="5010912"/>
            <a:ext cx="2194560" cy="146304"/>
          </a:xfrm>
          <a:prstGeom prst="rect">
            <a:avLst/>
          </a:prstGeom>
          <a:noFill/>
        </p:spPr>
        <p:txBody>
          <a:bodyPr wrap="square" lIns="27432" rIns="27432" tIns="27432" bIns="27432" anchor="t">
            <a:spAutoFit/>
          </a:bodyPr>
          <a:lstStyle/>
          <a:p>
            <a:pPr algn="ctr"/>
            <a:r>
              <a:rPr sz="900" b="1">
                <a:solidFill>
                  <a:srgbClr val="5F6B63"/>
                </a:solidFill>
                <a:latin typeface="Aptos"/>
              </a:rPr>
              <a:t>AVERAGE ANNUAL PRICE</a:t>
            </a:r>
          </a:p>
        </p:txBody>
      </p:sp>
      <p:sp>
        <p:nvSpPr>
          <p:cNvPr id="551" name="TextBox 550"/>
          <p:cNvSpPr txBox="1"/>
          <p:nvPr/>
        </p:nvSpPr>
        <p:spPr>
          <a:xfrm>
            <a:off x="6345936" y="3438144"/>
            <a:ext cx="640080" cy="402336"/>
          </a:xfrm>
          <a:prstGeom prst="rect">
            <a:avLst/>
          </a:prstGeom>
          <a:noFill/>
        </p:spPr>
        <p:txBody>
          <a:bodyPr wrap="square" lIns="27432" rIns="27432" tIns="27432" bIns="27432" anchor="t">
            <a:spAutoFit/>
          </a:bodyPr>
          <a:lstStyle/>
          <a:p>
            <a:pPr algn="ctr"/>
            <a:r>
              <a:rPr sz="800" b="1">
                <a:solidFill>
                  <a:srgbClr val="5F6B63"/>
                </a:solidFill>
                <a:latin typeface="Aptos"/>
              </a:rPr>
              <a:t>VOLUME (M)</a:t>
            </a:r>
          </a:p>
        </p:txBody>
      </p:sp>
      <p:sp>
        <p:nvSpPr>
          <p:cNvPr id="552" name="Rounded Rectangle 551"/>
          <p:cNvSpPr/>
          <p:nvPr/>
        </p:nvSpPr>
        <p:spPr>
          <a:xfrm>
            <a:off x="6400800" y="1828800"/>
            <a:ext cx="1207008" cy="749808"/>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3" name="TextBox 552"/>
          <p:cNvSpPr txBox="1"/>
          <p:nvPr/>
        </p:nvSpPr>
        <p:spPr>
          <a:xfrm>
            <a:off x="6528816" y="1938528"/>
            <a:ext cx="950976" cy="164592"/>
          </a:xfrm>
          <a:prstGeom prst="rect">
            <a:avLst/>
          </a:prstGeom>
          <a:noFill/>
        </p:spPr>
        <p:txBody>
          <a:bodyPr wrap="square" lIns="27432" rIns="27432" tIns="27432" bIns="27432" anchor="t">
            <a:spAutoFit/>
          </a:bodyPr>
          <a:lstStyle/>
          <a:p>
            <a:pPr algn="ctr"/>
            <a:r>
              <a:rPr sz="1000" b="1">
                <a:solidFill>
                  <a:srgbClr val="5F6B63"/>
                </a:solidFill>
                <a:latin typeface="Aptos"/>
              </a:rPr>
              <a:t>PEARSON R</a:t>
            </a:r>
          </a:p>
        </p:txBody>
      </p:sp>
      <p:sp>
        <p:nvSpPr>
          <p:cNvPr id="554" name="TextBox 553"/>
          <p:cNvSpPr txBox="1"/>
          <p:nvPr/>
        </p:nvSpPr>
        <p:spPr>
          <a:xfrm>
            <a:off x="6528816" y="2139696"/>
            <a:ext cx="950976" cy="329184"/>
          </a:xfrm>
          <a:prstGeom prst="rect">
            <a:avLst/>
          </a:prstGeom>
          <a:noFill/>
        </p:spPr>
        <p:txBody>
          <a:bodyPr wrap="square" lIns="27432" rIns="27432" tIns="27432" bIns="27432" anchor="ctr">
            <a:spAutoFit/>
          </a:bodyPr>
          <a:lstStyle/>
          <a:p>
            <a:pPr algn="ctr"/>
            <a:r>
              <a:rPr sz="1900" b="1">
                <a:solidFill>
                  <a:srgbClr val="3F728A"/>
                </a:solidFill>
                <a:latin typeface="Aptos Display"/>
              </a:rPr>
              <a:t>-0.04</a:t>
            </a:r>
          </a:p>
        </p:txBody>
      </p:sp>
      <p:sp>
        <p:nvSpPr>
          <p:cNvPr id="555" name="Rounded Rectangle 554"/>
          <p:cNvSpPr/>
          <p:nvPr/>
        </p:nvSpPr>
        <p:spPr>
          <a:xfrm>
            <a:off x="7735824" y="1828800"/>
            <a:ext cx="1097280" cy="749808"/>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TextBox 555"/>
          <p:cNvSpPr txBox="1"/>
          <p:nvPr/>
        </p:nvSpPr>
        <p:spPr>
          <a:xfrm>
            <a:off x="7863840" y="1938528"/>
            <a:ext cx="841248" cy="164592"/>
          </a:xfrm>
          <a:prstGeom prst="rect">
            <a:avLst/>
          </a:prstGeom>
          <a:noFill/>
        </p:spPr>
        <p:txBody>
          <a:bodyPr wrap="square" lIns="27432" rIns="27432" tIns="27432" bIns="27432" anchor="t">
            <a:spAutoFit/>
          </a:bodyPr>
          <a:lstStyle/>
          <a:p>
            <a:pPr algn="ctr"/>
            <a:r>
              <a:rPr sz="1000" b="1">
                <a:solidFill>
                  <a:srgbClr val="5F6B63"/>
                </a:solidFill>
                <a:latin typeface="Aptos"/>
              </a:rPr>
              <a:t>R2</a:t>
            </a:r>
          </a:p>
        </p:txBody>
      </p:sp>
      <p:sp>
        <p:nvSpPr>
          <p:cNvPr id="557" name="TextBox 556"/>
          <p:cNvSpPr txBox="1"/>
          <p:nvPr/>
        </p:nvSpPr>
        <p:spPr>
          <a:xfrm>
            <a:off x="7863840" y="2139696"/>
            <a:ext cx="841248" cy="329184"/>
          </a:xfrm>
          <a:prstGeom prst="rect">
            <a:avLst/>
          </a:prstGeom>
          <a:noFill/>
        </p:spPr>
        <p:txBody>
          <a:bodyPr wrap="square" lIns="27432" rIns="27432" tIns="27432" bIns="27432" anchor="ctr">
            <a:spAutoFit/>
          </a:bodyPr>
          <a:lstStyle/>
          <a:p>
            <a:pPr algn="ctr"/>
            <a:r>
              <a:rPr sz="1900" b="1">
                <a:solidFill>
                  <a:srgbClr val="C58A2A"/>
                </a:solidFill>
                <a:latin typeface="Aptos Display"/>
              </a:rPr>
              <a:t>0.002</a:t>
            </a:r>
          </a:p>
        </p:txBody>
      </p:sp>
      <p:sp>
        <p:nvSpPr>
          <p:cNvPr id="558" name="TextBox 557"/>
          <p:cNvSpPr txBox="1"/>
          <p:nvPr/>
        </p:nvSpPr>
        <p:spPr>
          <a:xfrm>
            <a:off x="9015984" y="1920240"/>
            <a:ext cx="1920240" cy="164592"/>
          </a:xfrm>
          <a:prstGeom prst="rect">
            <a:avLst/>
          </a:prstGeom>
          <a:noFill/>
        </p:spPr>
        <p:txBody>
          <a:bodyPr wrap="square" lIns="27432" rIns="27432" tIns="27432" bIns="27432" anchor="t">
            <a:spAutoFit/>
          </a:bodyPr>
          <a:lstStyle/>
          <a:p>
            <a:pPr algn="r"/>
            <a:r>
              <a:rPr sz="1100" b="1">
                <a:solidFill>
                  <a:srgbClr val="3F728A"/>
                </a:solidFill>
                <a:latin typeface="Aptos Display"/>
              </a:rPr>
              <a:t>Relationship is weak</a:t>
            </a:r>
          </a:p>
        </p:txBody>
      </p:sp>
      <p:sp>
        <p:nvSpPr>
          <p:cNvPr id="559" name="Rounded Rectangle 558"/>
          <p:cNvSpPr/>
          <p:nvPr/>
        </p:nvSpPr>
        <p:spPr>
          <a:xfrm>
            <a:off x="932688" y="5559552"/>
            <a:ext cx="10515600" cy="530352"/>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Rounded Rectangle 559"/>
          <p:cNvSpPr/>
          <p:nvPr/>
        </p:nvSpPr>
        <p:spPr>
          <a:xfrm>
            <a:off x="1060704" y="5669280"/>
            <a:ext cx="1051560" cy="310896"/>
          </a:xfrm>
          <a:prstGeom prst="roundRect">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1" name="TextBox 560"/>
          <p:cNvSpPr txBox="1"/>
          <p:nvPr/>
        </p:nvSpPr>
        <p:spPr>
          <a:xfrm>
            <a:off x="1115568" y="5724144"/>
            <a:ext cx="941832" cy="201168"/>
          </a:xfrm>
          <a:prstGeom prst="rect">
            <a:avLst/>
          </a:prstGeom>
          <a:noFill/>
        </p:spPr>
        <p:txBody>
          <a:bodyPr wrap="square" lIns="27432" rIns="27432" tIns="27432" bIns="27432" anchor="ctr">
            <a:spAutoFit/>
          </a:bodyPr>
          <a:lstStyle/>
          <a:p>
            <a:pPr algn="ctr"/>
            <a:r>
              <a:rPr sz="1000" b="1">
                <a:solidFill>
                  <a:srgbClr val="FCFAF5"/>
                </a:solidFill>
                <a:latin typeface="Aptos"/>
              </a:rPr>
              <a:t>TAKEAWAY</a:t>
            </a:r>
          </a:p>
        </p:txBody>
      </p:sp>
      <p:sp>
        <p:nvSpPr>
          <p:cNvPr id="562" name="TextBox 561"/>
          <p:cNvSpPr txBox="1"/>
          <p:nvPr/>
        </p:nvSpPr>
        <p:spPr>
          <a:xfrm>
            <a:off x="2304288" y="5650992"/>
            <a:ext cx="8942832" cy="347472"/>
          </a:xfrm>
          <a:prstGeom prst="rect">
            <a:avLst/>
          </a:prstGeom>
          <a:noFill/>
        </p:spPr>
        <p:txBody>
          <a:bodyPr wrap="square" lIns="27432" rIns="27432" tIns="27432" bIns="27432" anchor="ctr">
            <a:spAutoFit/>
          </a:bodyPr>
          <a:lstStyle/>
          <a:p>
            <a:pPr algn="l"/>
            <a:r>
              <a:rPr sz="1200" b="1">
                <a:solidFill>
                  <a:srgbClr val="1F2621"/>
                </a:solidFill>
                <a:latin typeface="Aptos"/>
              </a:rPr>
              <a:t>Inside conventional and organic separately, price does almost none of the explanatory work. Mix, channel structure, and local demand still matter more.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55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46920" y="0"/>
            <a:ext cx="2542032" cy="73152"/>
          </a:xfrm>
          <a:prstGeom prst="rect">
            <a:avLst/>
          </a:prstGeom>
          <a:solidFill>
            <a:srgbClr val="C58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01168"/>
            <a:ext cx="1554480" cy="256032"/>
          </a:xfrm>
          <a:prstGeom prst="roundRect">
            <a:avLst/>
          </a:prstGeom>
          <a:solidFill>
            <a:srgbClr val="FCFAF5"/>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224028"/>
            <a:ext cx="1517904" cy="182880"/>
          </a:xfrm>
          <a:prstGeom prst="rect">
            <a:avLst/>
          </a:prstGeom>
          <a:noFill/>
        </p:spPr>
        <p:txBody>
          <a:bodyPr wrap="square" lIns="27432" rIns="27432" tIns="27432" bIns="27432" anchor="t">
            <a:spAutoFit/>
          </a:bodyPr>
          <a:lstStyle/>
          <a:p>
            <a:pPr algn="ctr"/>
            <a:r>
              <a:rPr sz="1000" b="1">
                <a:solidFill>
                  <a:srgbClr val="355C47"/>
                </a:solidFill>
                <a:latin typeface="Aptos"/>
              </a:rPr>
              <a:t>MARKET ANALYSIS</a:t>
            </a:r>
          </a:p>
        </p:txBody>
      </p:sp>
      <p:sp>
        <p:nvSpPr>
          <p:cNvPr id="7" name="Rounded Rectangle 6"/>
          <p:cNvSpPr/>
          <p:nvPr/>
        </p:nvSpPr>
        <p:spPr>
          <a:xfrm>
            <a:off x="2267712" y="201168"/>
            <a:ext cx="713232" cy="256032"/>
          </a:xfrm>
          <a:prstGeom prst="roundRect">
            <a:avLst/>
          </a:prstGeom>
          <a:solidFill>
            <a:srgbClr val="FFFDF9"/>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0" y="224028"/>
            <a:ext cx="676656" cy="182880"/>
          </a:xfrm>
          <a:prstGeom prst="rect">
            <a:avLst/>
          </a:prstGeom>
          <a:noFill/>
        </p:spPr>
        <p:txBody>
          <a:bodyPr wrap="square" lIns="27432" rIns="27432" tIns="27432" bIns="27432" anchor="t">
            <a:spAutoFit/>
          </a:bodyPr>
          <a:lstStyle/>
          <a:p>
            <a:pPr algn="ctr"/>
            <a:r>
              <a:rPr sz="1000" b="1">
                <a:solidFill>
                  <a:srgbClr val="C58A2A"/>
                </a:solidFill>
                <a:latin typeface="Aptos"/>
              </a:rPr>
              <a:t>Q4</a:t>
            </a:r>
          </a:p>
        </p:txBody>
      </p:sp>
      <p:sp>
        <p:nvSpPr>
          <p:cNvPr id="9" name="TextBox 8"/>
          <p:cNvSpPr txBox="1"/>
          <p:nvPr/>
        </p:nvSpPr>
        <p:spPr>
          <a:xfrm>
            <a:off x="11631168" y="6519672"/>
            <a:ext cx="274320" cy="164592"/>
          </a:xfrm>
          <a:prstGeom prst="rect">
            <a:avLst/>
          </a:prstGeom>
          <a:noFill/>
        </p:spPr>
        <p:txBody>
          <a:bodyPr wrap="square" lIns="27432" rIns="27432" tIns="27432" bIns="27432" anchor="t">
            <a:spAutoFit/>
          </a:bodyPr>
          <a:lstStyle/>
          <a:p>
            <a:pPr algn="r"/>
            <a:r>
              <a:rPr sz="900" b="0">
                <a:solidFill>
                  <a:srgbClr val="5F6B63"/>
                </a:solidFill>
                <a:latin typeface="Aptos"/>
              </a:rPr>
              <a:t>11</a:t>
            </a:r>
          </a:p>
        </p:txBody>
      </p:sp>
      <p:sp>
        <p:nvSpPr>
          <p:cNvPr id="10" name="Rounded Rectangle 9"/>
          <p:cNvSpPr/>
          <p:nvPr/>
        </p:nvSpPr>
        <p:spPr>
          <a:xfrm>
            <a:off x="10287000" y="256032"/>
            <a:ext cx="1234440" cy="274320"/>
          </a:xfrm>
          <a:prstGeom prst="roundRect">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05288" y="260604"/>
            <a:ext cx="1197864" cy="219456"/>
          </a:xfrm>
          <a:prstGeom prst="rect">
            <a:avLst/>
          </a:prstGeom>
          <a:noFill/>
        </p:spPr>
        <p:txBody>
          <a:bodyPr wrap="square" lIns="27432" rIns="27432" tIns="27432" bIns="27432" anchor="ctr">
            <a:spAutoFit/>
          </a:bodyPr>
          <a:lstStyle/>
          <a:p>
            <a:pPr algn="ctr"/>
            <a:r>
              <a:rPr sz="1100" b="1">
                <a:solidFill>
                  <a:srgbClr val="FCFAF5"/>
                </a:solidFill>
                <a:latin typeface="Aptos"/>
              </a:rPr>
              <a:t>CONTEXT</a:t>
            </a:r>
          </a:p>
        </p:txBody>
      </p:sp>
      <p:sp>
        <p:nvSpPr>
          <p:cNvPr id="12" name="TextBox 11"/>
          <p:cNvSpPr txBox="1"/>
          <p:nvPr/>
        </p:nvSpPr>
        <p:spPr>
          <a:xfrm>
            <a:off x="548640" y="658368"/>
            <a:ext cx="10332720" cy="868680"/>
          </a:xfrm>
          <a:prstGeom prst="rect">
            <a:avLst/>
          </a:prstGeom>
          <a:noFill/>
        </p:spPr>
        <p:txBody>
          <a:bodyPr wrap="square" lIns="27432" rIns="27432" tIns="27432" bIns="27432" anchor="t">
            <a:spAutoFit/>
          </a:bodyPr>
          <a:lstStyle/>
          <a:p>
            <a:pPr algn="l"/>
            <a:r>
              <a:rPr sz="2700" b="1">
                <a:solidFill>
                  <a:srgbClr val="355C47"/>
                </a:solidFill>
                <a:latin typeface="Aptos Display"/>
              </a:rPr>
              <a:t>Demand depends on demographics, channel fit, proximity, and competitive intensity</a:t>
            </a:r>
          </a:p>
        </p:txBody>
      </p:sp>
      <p:sp>
        <p:nvSpPr>
          <p:cNvPr id="13" name="Rounded Rectangle 12"/>
          <p:cNvSpPr/>
          <p:nvPr/>
        </p:nvSpPr>
        <p:spPr>
          <a:xfrm>
            <a:off x="841248" y="1755648"/>
            <a:ext cx="4983480" cy="1664208"/>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87552" y="1883664"/>
            <a:ext cx="4663440" cy="146304"/>
          </a:xfrm>
          <a:prstGeom prst="rect">
            <a:avLst/>
          </a:prstGeom>
          <a:noFill/>
        </p:spPr>
        <p:txBody>
          <a:bodyPr wrap="square" lIns="27432" rIns="27432" tIns="27432" bIns="27432" anchor="t">
            <a:spAutoFit/>
          </a:bodyPr>
          <a:lstStyle/>
          <a:p>
            <a:pPr algn="l"/>
            <a:r>
              <a:rPr sz="1000" b="1">
                <a:solidFill>
                  <a:srgbClr val="5F6B63"/>
                </a:solidFill>
                <a:latin typeface="Aptos"/>
              </a:rPr>
              <a:t>DEMAND DRIVER</a:t>
            </a:r>
          </a:p>
        </p:txBody>
      </p:sp>
      <p:sp>
        <p:nvSpPr>
          <p:cNvPr id="15" name="TextBox 14"/>
          <p:cNvSpPr txBox="1"/>
          <p:nvPr/>
        </p:nvSpPr>
        <p:spPr>
          <a:xfrm>
            <a:off x="987552" y="2157984"/>
            <a:ext cx="4663440" cy="310896"/>
          </a:xfrm>
          <a:prstGeom prst="rect">
            <a:avLst/>
          </a:prstGeom>
          <a:noFill/>
        </p:spPr>
        <p:txBody>
          <a:bodyPr wrap="square" lIns="27432" rIns="27432" tIns="27432" bIns="27432" anchor="t">
            <a:spAutoFit/>
          </a:bodyPr>
          <a:lstStyle/>
          <a:p>
            <a:pPr algn="l"/>
            <a:r>
              <a:rPr sz="2000" b="1">
                <a:solidFill>
                  <a:srgbClr val="355C47"/>
                </a:solidFill>
                <a:latin typeface="Aptos Display"/>
              </a:rPr>
              <a:t>Demographics + income</a:t>
            </a:r>
          </a:p>
        </p:txBody>
      </p:sp>
      <p:sp>
        <p:nvSpPr>
          <p:cNvPr id="16" name="TextBox 15"/>
          <p:cNvSpPr txBox="1"/>
          <p:nvPr/>
        </p:nvSpPr>
        <p:spPr>
          <a:xfrm>
            <a:off x="987552" y="2651760"/>
            <a:ext cx="4663440" cy="603504"/>
          </a:xfrm>
          <a:prstGeom prst="rect">
            <a:avLst/>
          </a:prstGeom>
          <a:noFill/>
        </p:spPr>
        <p:txBody>
          <a:bodyPr wrap="square" lIns="27432" rIns="27432" tIns="27432" bIns="27432" anchor="t">
            <a:spAutoFit/>
          </a:bodyPr>
          <a:lstStyle/>
          <a:p>
            <a:pPr algn="l"/>
            <a:r>
              <a:rPr sz="1300" b="0">
                <a:solidFill>
                  <a:srgbClr val="1F2621"/>
                </a:solidFill>
                <a:latin typeface="Aptos"/>
              </a:rPr>
              <a:t>Higher-income, wellness-oriented households are more likely to treat organic avocados as a premium grocery choice rather than a commodity staple.</a:t>
            </a:r>
          </a:p>
        </p:txBody>
      </p:sp>
      <p:sp>
        <p:nvSpPr>
          <p:cNvPr id="17" name="Rounded Rectangle 16"/>
          <p:cNvSpPr/>
          <p:nvPr/>
        </p:nvSpPr>
        <p:spPr>
          <a:xfrm>
            <a:off x="6254496" y="1755648"/>
            <a:ext cx="4983480" cy="1664208"/>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1883664"/>
            <a:ext cx="4663440" cy="146304"/>
          </a:xfrm>
          <a:prstGeom prst="rect">
            <a:avLst/>
          </a:prstGeom>
          <a:noFill/>
        </p:spPr>
        <p:txBody>
          <a:bodyPr wrap="square" lIns="27432" rIns="27432" tIns="27432" bIns="27432" anchor="t">
            <a:spAutoFit/>
          </a:bodyPr>
          <a:lstStyle/>
          <a:p>
            <a:pPr algn="l"/>
            <a:r>
              <a:rPr sz="1000" b="1">
                <a:solidFill>
                  <a:srgbClr val="5F6B63"/>
                </a:solidFill>
                <a:latin typeface="Aptos"/>
              </a:rPr>
              <a:t>DEMAND DRIVER</a:t>
            </a:r>
          </a:p>
        </p:txBody>
      </p:sp>
      <p:sp>
        <p:nvSpPr>
          <p:cNvPr id="19" name="TextBox 18"/>
          <p:cNvSpPr txBox="1"/>
          <p:nvPr/>
        </p:nvSpPr>
        <p:spPr>
          <a:xfrm>
            <a:off x="6400800" y="2157984"/>
            <a:ext cx="4663440" cy="310896"/>
          </a:xfrm>
          <a:prstGeom prst="rect">
            <a:avLst/>
          </a:prstGeom>
          <a:noFill/>
        </p:spPr>
        <p:txBody>
          <a:bodyPr wrap="square" lIns="27432" rIns="27432" tIns="27432" bIns="27432" anchor="t">
            <a:spAutoFit/>
          </a:bodyPr>
          <a:lstStyle/>
          <a:p>
            <a:pPr algn="l"/>
            <a:r>
              <a:rPr sz="2000" b="1">
                <a:solidFill>
                  <a:srgbClr val="3F728A"/>
                </a:solidFill>
                <a:latin typeface="Aptos Display"/>
              </a:rPr>
              <a:t>Retail + foodservice infrastructure</a:t>
            </a:r>
          </a:p>
        </p:txBody>
      </p:sp>
      <p:sp>
        <p:nvSpPr>
          <p:cNvPr id="20" name="TextBox 19"/>
          <p:cNvSpPr txBox="1"/>
          <p:nvPr/>
        </p:nvSpPr>
        <p:spPr>
          <a:xfrm>
            <a:off x="6400800" y="2651760"/>
            <a:ext cx="4663440" cy="603504"/>
          </a:xfrm>
          <a:prstGeom prst="rect">
            <a:avLst/>
          </a:prstGeom>
          <a:noFill/>
        </p:spPr>
        <p:txBody>
          <a:bodyPr wrap="square" lIns="27432" rIns="27432" tIns="27432" bIns="27432" anchor="t">
            <a:spAutoFit/>
          </a:bodyPr>
          <a:lstStyle/>
          <a:p>
            <a:pPr algn="l"/>
            <a:r>
              <a:rPr sz="1300" b="0">
                <a:solidFill>
                  <a:srgbClr val="1F2621"/>
                </a:solidFill>
                <a:latin typeface="Aptos"/>
              </a:rPr>
              <a:t>Whole Foods-style organic retail, co-ops, prepared foods, and food-service pull all raise the odds that organic turns quickly at premium price points.</a:t>
            </a:r>
          </a:p>
        </p:txBody>
      </p:sp>
      <p:sp>
        <p:nvSpPr>
          <p:cNvPr id="21" name="Rounded Rectangle 20"/>
          <p:cNvSpPr/>
          <p:nvPr/>
        </p:nvSpPr>
        <p:spPr>
          <a:xfrm>
            <a:off x="841248" y="3602736"/>
            <a:ext cx="4983480" cy="1664208"/>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87552" y="3730752"/>
            <a:ext cx="4663440" cy="146304"/>
          </a:xfrm>
          <a:prstGeom prst="rect">
            <a:avLst/>
          </a:prstGeom>
          <a:noFill/>
        </p:spPr>
        <p:txBody>
          <a:bodyPr wrap="square" lIns="27432" rIns="27432" tIns="27432" bIns="27432" anchor="t">
            <a:spAutoFit/>
          </a:bodyPr>
          <a:lstStyle/>
          <a:p>
            <a:pPr algn="l"/>
            <a:r>
              <a:rPr sz="1000" b="1">
                <a:solidFill>
                  <a:srgbClr val="5F6B63"/>
                </a:solidFill>
                <a:latin typeface="Aptos"/>
              </a:rPr>
              <a:t>DEMAND DRIVER</a:t>
            </a:r>
          </a:p>
        </p:txBody>
      </p:sp>
      <p:sp>
        <p:nvSpPr>
          <p:cNvPr id="23" name="TextBox 22"/>
          <p:cNvSpPr txBox="1"/>
          <p:nvPr/>
        </p:nvSpPr>
        <p:spPr>
          <a:xfrm>
            <a:off x="987552" y="4005072"/>
            <a:ext cx="4663440" cy="310896"/>
          </a:xfrm>
          <a:prstGeom prst="rect">
            <a:avLst/>
          </a:prstGeom>
          <a:noFill/>
        </p:spPr>
        <p:txBody>
          <a:bodyPr wrap="square" lIns="27432" rIns="27432" tIns="27432" bIns="27432" anchor="t">
            <a:spAutoFit/>
          </a:bodyPr>
          <a:lstStyle/>
          <a:p>
            <a:pPr algn="l"/>
            <a:r>
              <a:rPr sz="2000" b="1">
                <a:solidFill>
                  <a:srgbClr val="889A83"/>
                </a:solidFill>
                <a:latin typeface="Aptos Display"/>
              </a:rPr>
              <a:t>Proximity + freshness perception</a:t>
            </a:r>
          </a:p>
        </p:txBody>
      </p:sp>
      <p:sp>
        <p:nvSpPr>
          <p:cNvPr id="24" name="TextBox 23"/>
          <p:cNvSpPr txBox="1"/>
          <p:nvPr/>
        </p:nvSpPr>
        <p:spPr>
          <a:xfrm>
            <a:off x="987552" y="4498848"/>
            <a:ext cx="4663440" cy="603504"/>
          </a:xfrm>
          <a:prstGeom prst="rect">
            <a:avLst/>
          </a:prstGeom>
          <a:noFill/>
        </p:spPr>
        <p:txBody>
          <a:bodyPr wrap="square" lIns="27432" rIns="27432" tIns="27432" bIns="27432" anchor="t">
            <a:spAutoFit/>
          </a:bodyPr>
          <a:lstStyle/>
          <a:p>
            <a:pPr algn="l"/>
            <a:r>
              <a:rPr sz="1300" b="0">
                <a:solidFill>
                  <a:srgbClr val="1F2621"/>
                </a:solidFill>
                <a:latin typeface="Aptos"/>
              </a:rPr>
              <a:t>Nearness to California and Mexican supply can help availability, but it can also make avocados feel ubiquitous and price-competitive instead of premium.</a:t>
            </a:r>
          </a:p>
        </p:txBody>
      </p:sp>
      <p:sp>
        <p:nvSpPr>
          <p:cNvPr id="25" name="Rounded Rectangle 24"/>
          <p:cNvSpPr/>
          <p:nvPr/>
        </p:nvSpPr>
        <p:spPr>
          <a:xfrm>
            <a:off x="6254496" y="3602736"/>
            <a:ext cx="4983480" cy="1664208"/>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0" y="3730752"/>
            <a:ext cx="4663440" cy="146304"/>
          </a:xfrm>
          <a:prstGeom prst="rect">
            <a:avLst/>
          </a:prstGeom>
          <a:noFill/>
        </p:spPr>
        <p:txBody>
          <a:bodyPr wrap="square" lIns="27432" rIns="27432" tIns="27432" bIns="27432" anchor="t">
            <a:spAutoFit/>
          </a:bodyPr>
          <a:lstStyle/>
          <a:p>
            <a:pPr algn="l"/>
            <a:r>
              <a:rPr sz="1000" b="1">
                <a:solidFill>
                  <a:srgbClr val="5F6B63"/>
                </a:solidFill>
                <a:latin typeface="Aptos"/>
              </a:rPr>
              <a:t>DEMAND DRIVER</a:t>
            </a:r>
          </a:p>
        </p:txBody>
      </p:sp>
      <p:sp>
        <p:nvSpPr>
          <p:cNvPr id="27" name="TextBox 26"/>
          <p:cNvSpPr txBox="1"/>
          <p:nvPr/>
        </p:nvSpPr>
        <p:spPr>
          <a:xfrm>
            <a:off x="6400800" y="4005072"/>
            <a:ext cx="4663440" cy="310896"/>
          </a:xfrm>
          <a:prstGeom prst="rect">
            <a:avLst/>
          </a:prstGeom>
          <a:noFill/>
        </p:spPr>
        <p:txBody>
          <a:bodyPr wrap="square" lIns="27432" rIns="27432" tIns="27432" bIns="27432" anchor="t">
            <a:spAutoFit/>
          </a:bodyPr>
          <a:lstStyle/>
          <a:p>
            <a:pPr algn="l"/>
            <a:r>
              <a:rPr sz="2000" b="1">
                <a:solidFill>
                  <a:srgbClr val="C58A2A"/>
                </a:solidFill>
                <a:latin typeface="Aptos Display"/>
              </a:rPr>
              <a:t>Competition + market saturation</a:t>
            </a:r>
          </a:p>
        </p:txBody>
      </p:sp>
      <p:sp>
        <p:nvSpPr>
          <p:cNvPr id="28" name="TextBox 27"/>
          <p:cNvSpPr txBox="1"/>
          <p:nvPr/>
        </p:nvSpPr>
        <p:spPr>
          <a:xfrm>
            <a:off x="6400800" y="4498848"/>
            <a:ext cx="4663440" cy="603504"/>
          </a:xfrm>
          <a:prstGeom prst="rect">
            <a:avLst/>
          </a:prstGeom>
          <a:noFill/>
        </p:spPr>
        <p:txBody>
          <a:bodyPr wrap="square" lIns="27432" rIns="27432" tIns="27432" bIns="27432" anchor="t">
            <a:spAutoFit/>
          </a:bodyPr>
          <a:lstStyle/>
          <a:p>
            <a:pPr algn="l"/>
            <a:r>
              <a:rPr sz="1300" b="0">
                <a:solidFill>
                  <a:srgbClr val="1F2621"/>
                </a:solidFill>
                <a:latin typeface="Aptos"/>
              </a:rPr>
              <a:t>Large incumbent avocado markets can be harder first-entry markets because competitive density compresses price even when category demand is high.</a:t>
            </a:r>
          </a:p>
        </p:txBody>
      </p:sp>
      <p:sp>
        <p:nvSpPr>
          <p:cNvPr id="29" name="Rounded Rectangle 28"/>
          <p:cNvSpPr/>
          <p:nvPr/>
        </p:nvSpPr>
        <p:spPr>
          <a:xfrm>
            <a:off x="987552" y="5504688"/>
            <a:ext cx="10058400" cy="566928"/>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88720" y="5669280"/>
            <a:ext cx="9692640" cy="201168"/>
          </a:xfrm>
          <a:prstGeom prst="rect">
            <a:avLst/>
          </a:prstGeom>
          <a:noFill/>
        </p:spPr>
        <p:txBody>
          <a:bodyPr wrap="square" lIns="27432" rIns="27432" tIns="27432" bIns="27432" anchor="t">
            <a:spAutoFit/>
          </a:bodyPr>
          <a:lstStyle/>
          <a:p>
            <a:pPr algn="l"/>
            <a:r>
              <a:rPr sz="1200" b="1">
                <a:solidFill>
                  <a:srgbClr val="1F2621"/>
                </a:solidFill>
                <a:latin typeface="Aptos"/>
              </a:rPr>
              <a:t>Q4 answer: Los Angeles proves scale, but premium demand depends on who buys organic, where they shop, how supply is perceived, and how crowded the market already is.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55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46920" y="0"/>
            <a:ext cx="2542032" cy="73152"/>
          </a:xfrm>
          <a:prstGeom prst="rect">
            <a:avLst/>
          </a:prstGeom>
          <a:solidFill>
            <a:srgbClr val="C58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01168"/>
            <a:ext cx="1554480" cy="256032"/>
          </a:xfrm>
          <a:prstGeom prst="roundRect">
            <a:avLst/>
          </a:prstGeom>
          <a:solidFill>
            <a:srgbClr val="FCFAF5"/>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224028"/>
            <a:ext cx="1517904" cy="182880"/>
          </a:xfrm>
          <a:prstGeom prst="rect">
            <a:avLst/>
          </a:prstGeom>
          <a:noFill/>
        </p:spPr>
        <p:txBody>
          <a:bodyPr wrap="square" lIns="27432" rIns="27432" tIns="27432" bIns="27432" anchor="t">
            <a:spAutoFit/>
          </a:bodyPr>
          <a:lstStyle/>
          <a:p>
            <a:pPr algn="ctr"/>
            <a:r>
              <a:rPr sz="1000" b="1">
                <a:solidFill>
                  <a:srgbClr val="355C47"/>
                </a:solidFill>
                <a:latin typeface="Aptos"/>
              </a:rPr>
              <a:t>MARKET ANALYSIS</a:t>
            </a:r>
          </a:p>
        </p:txBody>
      </p:sp>
      <p:sp>
        <p:nvSpPr>
          <p:cNvPr id="7" name="Rounded Rectangle 6"/>
          <p:cNvSpPr/>
          <p:nvPr/>
        </p:nvSpPr>
        <p:spPr>
          <a:xfrm>
            <a:off x="2267712" y="201168"/>
            <a:ext cx="713232" cy="256032"/>
          </a:xfrm>
          <a:prstGeom prst="roundRect">
            <a:avLst/>
          </a:prstGeom>
          <a:solidFill>
            <a:srgbClr val="FFFDF9"/>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0" y="224028"/>
            <a:ext cx="676656" cy="182880"/>
          </a:xfrm>
          <a:prstGeom prst="rect">
            <a:avLst/>
          </a:prstGeom>
          <a:noFill/>
        </p:spPr>
        <p:txBody>
          <a:bodyPr wrap="square" lIns="27432" rIns="27432" tIns="27432" bIns="27432" anchor="t">
            <a:spAutoFit/>
          </a:bodyPr>
          <a:lstStyle/>
          <a:p>
            <a:pPr algn="ctr"/>
            <a:r>
              <a:rPr sz="1000" b="1">
                <a:solidFill>
                  <a:srgbClr val="C58A2A"/>
                </a:solidFill>
                <a:latin typeface="Aptos"/>
              </a:rPr>
              <a:t>Q4</a:t>
            </a:r>
          </a:p>
        </p:txBody>
      </p:sp>
      <p:sp>
        <p:nvSpPr>
          <p:cNvPr id="9" name="TextBox 8"/>
          <p:cNvSpPr txBox="1"/>
          <p:nvPr/>
        </p:nvSpPr>
        <p:spPr>
          <a:xfrm>
            <a:off x="11631168" y="6519672"/>
            <a:ext cx="274320" cy="164592"/>
          </a:xfrm>
          <a:prstGeom prst="rect">
            <a:avLst/>
          </a:prstGeom>
          <a:noFill/>
        </p:spPr>
        <p:txBody>
          <a:bodyPr wrap="square" lIns="27432" rIns="27432" tIns="27432" bIns="27432" anchor="t">
            <a:spAutoFit/>
          </a:bodyPr>
          <a:lstStyle/>
          <a:p>
            <a:pPr algn="r"/>
            <a:r>
              <a:rPr sz="900" b="0">
                <a:solidFill>
                  <a:srgbClr val="5F6B63"/>
                </a:solidFill>
                <a:latin typeface="Aptos"/>
              </a:rPr>
              <a:t>12</a:t>
            </a:r>
          </a:p>
        </p:txBody>
      </p:sp>
      <p:sp>
        <p:nvSpPr>
          <p:cNvPr id="10" name="Rounded Rectangle 9"/>
          <p:cNvSpPr/>
          <p:nvPr/>
        </p:nvSpPr>
        <p:spPr>
          <a:xfrm>
            <a:off x="10287000" y="256032"/>
            <a:ext cx="1234440" cy="274320"/>
          </a:xfrm>
          <a:prstGeom prst="roundRect">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05288" y="260604"/>
            <a:ext cx="1197864" cy="219456"/>
          </a:xfrm>
          <a:prstGeom prst="rect">
            <a:avLst/>
          </a:prstGeom>
          <a:noFill/>
        </p:spPr>
        <p:txBody>
          <a:bodyPr wrap="square" lIns="27432" rIns="27432" tIns="27432" bIns="27432" anchor="ctr">
            <a:spAutoFit/>
          </a:bodyPr>
          <a:lstStyle/>
          <a:p>
            <a:pPr algn="ctr"/>
            <a:r>
              <a:rPr sz="1100" b="1">
                <a:solidFill>
                  <a:srgbClr val="FCFAF5"/>
                </a:solidFill>
                <a:latin typeface="Aptos"/>
              </a:rPr>
              <a:t>CONTEXT</a:t>
            </a:r>
          </a:p>
        </p:txBody>
      </p:sp>
      <p:sp>
        <p:nvSpPr>
          <p:cNvPr id="12" name="TextBox 11"/>
          <p:cNvSpPr txBox="1"/>
          <p:nvPr/>
        </p:nvSpPr>
        <p:spPr>
          <a:xfrm>
            <a:off x="548640" y="658368"/>
            <a:ext cx="10332720" cy="868680"/>
          </a:xfrm>
          <a:prstGeom prst="rect">
            <a:avLst/>
          </a:prstGeom>
          <a:noFill/>
        </p:spPr>
        <p:txBody>
          <a:bodyPr wrap="square" lIns="27432" rIns="27432" tIns="27432" bIns="27432" anchor="t">
            <a:spAutoFit/>
          </a:bodyPr>
          <a:lstStyle/>
          <a:p>
            <a:pPr algn="l"/>
            <a:r>
              <a:rPr sz="2700" b="1">
                <a:solidFill>
                  <a:srgbClr val="355C47"/>
                </a:solidFill>
                <a:latin typeface="Aptos Display"/>
              </a:rPr>
              <a:t>The biggest market is not the best first market</a:t>
            </a:r>
          </a:p>
        </p:txBody>
      </p:sp>
      <p:sp>
        <p:nvSpPr>
          <p:cNvPr id="13" name="Rounded Rectangle 12"/>
          <p:cNvSpPr/>
          <p:nvPr/>
        </p:nvSpPr>
        <p:spPr>
          <a:xfrm>
            <a:off x="749808" y="1700784"/>
            <a:ext cx="5230368" cy="3822191"/>
          </a:xfrm>
          <a:prstGeom prst="roundRect">
            <a:avLst/>
          </a:prstGeom>
          <a:solidFill>
            <a:srgbClr val="F5EEE8"/>
          </a:solidFill>
          <a:ln w="12700">
            <a:solidFill>
              <a:srgbClr val="E5D7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1883664"/>
            <a:ext cx="4791456" cy="201168"/>
          </a:xfrm>
          <a:prstGeom prst="rect">
            <a:avLst/>
          </a:prstGeom>
          <a:noFill/>
        </p:spPr>
        <p:txBody>
          <a:bodyPr wrap="square" lIns="27432" rIns="27432" tIns="27432" bIns="27432" anchor="t">
            <a:spAutoFit/>
          </a:bodyPr>
          <a:lstStyle/>
          <a:p>
            <a:pPr algn="l"/>
            <a:r>
              <a:rPr sz="1000" b="1">
                <a:solidFill>
                  <a:srgbClr val="5F6B63"/>
                </a:solidFill>
                <a:latin typeface="Aptos"/>
              </a:rPr>
              <a:t>WHY LA LOSES THE PILOT</a:t>
            </a:r>
          </a:p>
        </p:txBody>
      </p:sp>
      <p:sp>
        <p:nvSpPr>
          <p:cNvPr id="15" name="TextBox 14"/>
          <p:cNvSpPr txBox="1"/>
          <p:nvPr/>
        </p:nvSpPr>
        <p:spPr>
          <a:xfrm>
            <a:off x="969264" y="2231136"/>
            <a:ext cx="2377440" cy="164592"/>
          </a:xfrm>
          <a:prstGeom prst="rect">
            <a:avLst/>
          </a:prstGeom>
          <a:noFill/>
        </p:spPr>
        <p:txBody>
          <a:bodyPr wrap="square" lIns="27432" rIns="27432" tIns="27432" bIns="27432" anchor="t">
            <a:spAutoFit/>
          </a:bodyPr>
          <a:lstStyle/>
          <a:p>
            <a:pPr algn="l"/>
            <a:r>
              <a:rPr sz="1000" b="1">
                <a:solidFill>
                  <a:srgbClr val="5F6B63"/>
                </a:solidFill>
                <a:latin typeface="Aptos"/>
              </a:rPr>
              <a:t>JUNE PRICE</a:t>
            </a:r>
          </a:p>
        </p:txBody>
      </p:sp>
      <p:sp>
        <p:nvSpPr>
          <p:cNvPr id="16" name="TextBox 15"/>
          <p:cNvSpPr txBox="1"/>
          <p:nvPr/>
        </p:nvSpPr>
        <p:spPr>
          <a:xfrm>
            <a:off x="4023360" y="2212848"/>
            <a:ext cx="1517904" cy="201168"/>
          </a:xfrm>
          <a:prstGeom prst="rect">
            <a:avLst/>
          </a:prstGeom>
          <a:noFill/>
        </p:spPr>
        <p:txBody>
          <a:bodyPr wrap="square" lIns="27432" rIns="27432" tIns="27432" bIns="27432" anchor="t">
            <a:spAutoFit/>
          </a:bodyPr>
          <a:lstStyle/>
          <a:p>
            <a:pPr algn="r"/>
            <a:r>
              <a:rPr sz="1700" b="1">
                <a:solidFill>
                  <a:srgbClr val="B5533A"/>
                </a:solidFill>
                <a:latin typeface="Aptos Display"/>
              </a:rPr>
              <a:t>$1.87</a:t>
            </a:r>
          </a:p>
        </p:txBody>
      </p:sp>
      <p:cxnSp>
        <p:nvCxnSpPr>
          <p:cNvPr id="17" name="Connector 16"/>
          <p:cNvCxnSpPr/>
          <p:nvPr/>
        </p:nvCxnSpPr>
        <p:spPr>
          <a:xfrm>
            <a:off x="969264" y="2450592"/>
            <a:ext cx="4791456" cy="0"/>
          </a:xfrm>
          <a:prstGeom prst="line">
            <a:avLst/>
          </a:prstGeom>
          <a:ln w="12700">
            <a:solidFill>
              <a:srgbClr val="E5D7CE"/>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969264" y="2542032"/>
            <a:ext cx="2377440" cy="164592"/>
          </a:xfrm>
          <a:prstGeom prst="rect">
            <a:avLst/>
          </a:prstGeom>
          <a:noFill/>
        </p:spPr>
        <p:txBody>
          <a:bodyPr wrap="square" lIns="27432" rIns="27432" tIns="27432" bIns="27432" anchor="t">
            <a:spAutoFit/>
          </a:bodyPr>
          <a:lstStyle/>
          <a:p>
            <a:pPr algn="l"/>
            <a:r>
              <a:rPr sz="1000" b="1">
                <a:solidFill>
                  <a:srgbClr val="5F6B63"/>
                </a:solidFill>
                <a:latin typeface="Aptos"/>
              </a:rPr>
              <a:t>ORGANIC SHARE</a:t>
            </a:r>
          </a:p>
        </p:txBody>
      </p:sp>
      <p:sp>
        <p:nvSpPr>
          <p:cNvPr id="19" name="TextBox 18"/>
          <p:cNvSpPr txBox="1"/>
          <p:nvPr/>
        </p:nvSpPr>
        <p:spPr>
          <a:xfrm>
            <a:off x="4023360" y="2523744"/>
            <a:ext cx="1517904" cy="201168"/>
          </a:xfrm>
          <a:prstGeom prst="rect">
            <a:avLst/>
          </a:prstGeom>
          <a:noFill/>
        </p:spPr>
        <p:txBody>
          <a:bodyPr wrap="square" lIns="27432" rIns="27432" tIns="27432" bIns="27432" anchor="t">
            <a:spAutoFit/>
          </a:bodyPr>
          <a:lstStyle/>
          <a:p>
            <a:pPr algn="r"/>
            <a:r>
              <a:rPr sz="1700" b="1">
                <a:solidFill>
                  <a:srgbClr val="3F728A"/>
                </a:solidFill>
                <a:latin typeface="Aptos Display"/>
              </a:rPr>
              <a:t>4.9%</a:t>
            </a:r>
          </a:p>
        </p:txBody>
      </p:sp>
      <p:cxnSp>
        <p:nvCxnSpPr>
          <p:cNvPr id="20" name="Connector 19"/>
          <p:cNvCxnSpPr/>
          <p:nvPr/>
        </p:nvCxnSpPr>
        <p:spPr>
          <a:xfrm>
            <a:off x="969264" y="2761488"/>
            <a:ext cx="4791456" cy="0"/>
          </a:xfrm>
          <a:prstGeom prst="line">
            <a:avLst/>
          </a:prstGeom>
          <a:ln w="12700">
            <a:solidFill>
              <a:srgbClr val="E5D7CE"/>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969264" y="2852928"/>
            <a:ext cx="2377440" cy="164592"/>
          </a:xfrm>
          <a:prstGeom prst="rect">
            <a:avLst/>
          </a:prstGeom>
          <a:noFill/>
        </p:spPr>
        <p:txBody>
          <a:bodyPr wrap="square" lIns="27432" rIns="27432" tIns="27432" bIns="27432" anchor="t">
            <a:spAutoFit/>
          </a:bodyPr>
          <a:lstStyle/>
          <a:p>
            <a:pPr algn="l"/>
            <a:r>
              <a:rPr sz="1000" b="1">
                <a:solidFill>
                  <a:srgbClr val="5F6B63"/>
                </a:solidFill>
                <a:latin typeface="Aptos"/>
              </a:rPr>
              <a:t>REVENUE ON 20K</a:t>
            </a:r>
          </a:p>
        </p:txBody>
      </p:sp>
      <p:sp>
        <p:nvSpPr>
          <p:cNvPr id="22" name="TextBox 21"/>
          <p:cNvSpPr txBox="1"/>
          <p:nvPr/>
        </p:nvSpPr>
        <p:spPr>
          <a:xfrm>
            <a:off x="4023360" y="2834640"/>
            <a:ext cx="1517904" cy="201168"/>
          </a:xfrm>
          <a:prstGeom prst="rect">
            <a:avLst/>
          </a:prstGeom>
          <a:noFill/>
        </p:spPr>
        <p:txBody>
          <a:bodyPr wrap="square" lIns="27432" rIns="27432" tIns="27432" bIns="27432" anchor="t">
            <a:spAutoFit/>
          </a:bodyPr>
          <a:lstStyle/>
          <a:p>
            <a:pPr algn="r"/>
            <a:r>
              <a:rPr sz="1700" b="1">
                <a:solidFill>
                  <a:srgbClr val="B5533A"/>
                </a:solidFill>
                <a:latin typeface="Aptos Display"/>
              </a:rPr>
              <a:t>$14,960</a:t>
            </a:r>
          </a:p>
        </p:txBody>
      </p:sp>
      <p:cxnSp>
        <p:nvCxnSpPr>
          <p:cNvPr id="23" name="Connector 22"/>
          <p:cNvCxnSpPr/>
          <p:nvPr/>
        </p:nvCxnSpPr>
        <p:spPr>
          <a:xfrm>
            <a:off x="969264" y="3072384"/>
            <a:ext cx="4791456" cy="0"/>
          </a:xfrm>
          <a:prstGeom prst="line">
            <a:avLst/>
          </a:prstGeom>
          <a:ln w="12700">
            <a:solidFill>
              <a:srgbClr val="E5D7CE"/>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969264" y="3163824"/>
            <a:ext cx="2377440" cy="164592"/>
          </a:xfrm>
          <a:prstGeom prst="rect">
            <a:avLst/>
          </a:prstGeom>
          <a:noFill/>
        </p:spPr>
        <p:txBody>
          <a:bodyPr wrap="square" lIns="27432" rIns="27432" tIns="27432" bIns="27432" anchor="t">
            <a:spAutoFit/>
          </a:bodyPr>
          <a:lstStyle/>
          <a:p>
            <a:pPr algn="l"/>
            <a:r>
              <a:rPr sz="1000" b="1">
                <a:solidFill>
                  <a:srgbClr val="5F6B63"/>
                </a:solidFill>
                <a:latin typeface="Aptos"/>
              </a:rPr>
              <a:t>PROFIT ON 20K</a:t>
            </a:r>
          </a:p>
        </p:txBody>
      </p:sp>
      <p:sp>
        <p:nvSpPr>
          <p:cNvPr id="25" name="TextBox 24"/>
          <p:cNvSpPr txBox="1"/>
          <p:nvPr/>
        </p:nvSpPr>
        <p:spPr>
          <a:xfrm>
            <a:off x="4023360" y="3145536"/>
            <a:ext cx="1517904" cy="201168"/>
          </a:xfrm>
          <a:prstGeom prst="rect">
            <a:avLst/>
          </a:prstGeom>
          <a:noFill/>
        </p:spPr>
        <p:txBody>
          <a:bodyPr wrap="square" lIns="27432" rIns="27432" tIns="27432" bIns="27432" anchor="t">
            <a:spAutoFit/>
          </a:bodyPr>
          <a:lstStyle/>
          <a:p>
            <a:pPr algn="r"/>
            <a:r>
              <a:rPr sz="1700" b="1">
                <a:solidFill>
                  <a:srgbClr val="B5533A"/>
                </a:solidFill>
                <a:latin typeface="Aptos Display"/>
              </a:rPr>
              <a:t>$9,404</a:t>
            </a:r>
          </a:p>
        </p:txBody>
      </p:sp>
      <p:cxnSp>
        <p:nvCxnSpPr>
          <p:cNvPr id="26" name="Connector 25"/>
          <p:cNvCxnSpPr/>
          <p:nvPr/>
        </p:nvCxnSpPr>
        <p:spPr>
          <a:xfrm>
            <a:off x="969264" y="3383280"/>
            <a:ext cx="4791456" cy="0"/>
          </a:xfrm>
          <a:prstGeom prst="line">
            <a:avLst/>
          </a:prstGeom>
          <a:ln w="12700">
            <a:solidFill>
              <a:srgbClr val="E5D7C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969264" y="3474720"/>
            <a:ext cx="2377440" cy="164592"/>
          </a:xfrm>
          <a:prstGeom prst="rect">
            <a:avLst/>
          </a:prstGeom>
          <a:noFill/>
        </p:spPr>
        <p:txBody>
          <a:bodyPr wrap="square" lIns="27432" rIns="27432" tIns="27432" bIns="27432" anchor="t">
            <a:spAutoFit/>
          </a:bodyPr>
          <a:lstStyle/>
          <a:p>
            <a:pPr algn="l"/>
            <a:r>
              <a:rPr sz="1000" b="1">
                <a:solidFill>
                  <a:srgbClr val="5F6B63"/>
                </a:solidFill>
                <a:latin typeface="Aptos"/>
              </a:rPr>
              <a:t>PROFIT RANK</a:t>
            </a:r>
          </a:p>
        </p:txBody>
      </p:sp>
      <p:sp>
        <p:nvSpPr>
          <p:cNvPr id="28" name="TextBox 27"/>
          <p:cNvSpPr txBox="1"/>
          <p:nvPr/>
        </p:nvSpPr>
        <p:spPr>
          <a:xfrm>
            <a:off x="4023360" y="3456432"/>
            <a:ext cx="1517904" cy="201168"/>
          </a:xfrm>
          <a:prstGeom prst="rect">
            <a:avLst/>
          </a:prstGeom>
          <a:noFill/>
        </p:spPr>
        <p:txBody>
          <a:bodyPr wrap="square" lIns="27432" rIns="27432" tIns="27432" bIns="27432" anchor="t">
            <a:spAutoFit/>
          </a:bodyPr>
          <a:lstStyle/>
          <a:p>
            <a:pPr algn="r"/>
            <a:r>
              <a:rPr sz="1700" b="1">
                <a:solidFill>
                  <a:srgbClr val="B5533A"/>
                </a:solidFill>
                <a:latin typeface="Aptos Display"/>
              </a:rPr>
              <a:t>8th of 40</a:t>
            </a:r>
          </a:p>
        </p:txBody>
      </p:sp>
      <p:sp>
        <p:nvSpPr>
          <p:cNvPr id="29" name="TextBox 28"/>
          <p:cNvSpPr txBox="1"/>
          <p:nvPr/>
        </p:nvSpPr>
        <p:spPr>
          <a:xfrm>
            <a:off x="969264" y="3877056"/>
            <a:ext cx="4791456" cy="1371600"/>
          </a:xfrm>
          <a:prstGeom prst="rect">
            <a:avLst/>
          </a:prstGeom>
          <a:noFill/>
        </p:spPr>
        <p:txBody>
          <a:bodyPr wrap="square" lIns="27432" rIns="27432" tIns="27432" bIns="27432" anchor="t">
            <a:spAutoFit/>
          </a:bodyPr>
          <a:lstStyle/>
          <a:p>
            <a:pPr algn="l"/>
            <a:r>
              <a:rPr sz="1200" b="0">
                <a:solidFill>
                  <a:srgbClr val="1F2621"/>
                </a:solidFill>
                <a:latin typeface="Aptos"/>
              </a:rPr>
              <a:t>Los Angeles sells more avocados than any other U.S. city. But that scale compresses pricing. Avocados are a commodity in LA, ubiquitous in retail and foodservice, supported by massive nearby supply from California farms and Mexican imports. The same competitive density that creates volume also prevents premium pricing for a new organic entrant.</a:t>
            </a:r>
          </a:p>
        </p:txBody>
      </p:sp>
      <p:sp>
        <p:nvSpPr>
          <p:cNvPr id="30" name="Rounded Rectangle 29"/>
          <p:cNvSpPr/>
          <p:nvPr/>
        </p:nvSpPr>
        <p:spPr>
          <a:xfrm>
            <a:off x="6217920" y="1700784"/>
            <a:ext cx="5230368" cy="3822191"/>
          </a:xfrm>
          <a:prstGeom prst="roundRect">
            <a:avLst/>
          </a:prstGeom>
          <a:solidFill>
            <a:srgbClr val="EEF4EF"/>
          </a:solidFill>
          <a:ln w="12700">
            <a:solidFill>
              <a:srgbClr val="D4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37376" y="1883664"/>
            <a:ext cx="4791456" cy="201168"/>
          </a:xfrm>
          <a:prstGeom prst="rect">
            <a:avLst/>
          </a:prstGeom>
          <a:noFill/>
        </p:spPr>
        <p:txBody>
          <a:bodyPr wrap="square" lIns="27432" rIns="27432" tIns="27432" bIns="27432" anchor="t">
            <a:spAutoFit/>
          </a:bodyPr>
          <a:lstStyle/>
          <a:p>
            <a:pPr algn="l"/>
            <a:r>
              <a:rPr sz="1000" b="1">
                <a:solidFill>
                  <a:srgbClr val="5F6B63"/>
                </a:solidFill>
                <a:latin typeface="Aptos"/>
              </a:rPr>
              <a:t>WHY THE PACIFIC NORTHWEST WINS</a:t>
            </a:r>
          </a:p>
        </p:txBody>
      </p:sp>
      <p:sp>
        <p:nvSpPr>
          <p:cNvPr id="32" name="TextBox 31"/>
          <p:cNvSpPr txBox="1"/>
          <p:nvPr/>
        </p:nvSpPr>
        <p:spPr>
          <a:xfrm>
            <a:off x="6437376" y="2231136"/>
            <a:ext cx="2377440" cy="164592"/>
          </a:xfrm>
          <a:prstGeom prst="rect">
            <a:avLst/>
          </a:prstGeom>
          <a:noFill/>
        </p:spPr>
        <p:txBody>
          <a:bodyPr wrap="square" lIns="27432" rIns="27432" tIns="27432" bIns="27432" anchor="t">
            <a:spAutoFit/>
          </a:bodyPr>
          <a:lstStyle/>
          <a:p>
            <a:pPr algn="l"/>
            <a:r>
              <a:rPr sz="1000" b="1">
                <a:solidFill>
                  <a:srgbClr val="5F6B63"/>
                </a:solidFill>
                <a:latin typeface="Aptos"/>
              </a:rPr>
              <a:t>JUNE PRICE</a:t>
            </a:r>
          </a:p>
        </p:txBody>
      </p:sp>
      <p:sp>
        <p:nvSpPr>
          <p:cNvPr id="33" name="TextBox 32"/>
          <p:cNvSpPr txBox="1"/>
          <p:nvPr/>
        </p:nvSpPr>
        <p:spPr>
          <a:xfrm>
            <a:off x="9491472" y="2212848"/>
            <a:ext cx="1517904" cy="201168"/>
          </a:xfrm>
          <a:prstGeom prst="rect">
            <a:avLst/>
          </a:prstGeom>
          <a:noFill/>
        </p:spPr>
        <p:txBody>
          <a:bodyPr wrap="square" lIns="27432" rIns="27432" tIns="27432" bIns="27432" anchor="t">
            <a:spAutoFit/>
          </a:bodyPr>
          <a:lstStyle/>
          <a:p>
            <a:pPr algn="r"/>
            <a:r>
              <a:rPr sz="1700" b="1">
                <a:solidFill>
                  <a:srgbClr val="355C47"/>
                </a:solidFill>
                <a:latin typeface="Aptos Display"/>
              </a:rPr>
              <a:t>$2.66 (Seattle)</a:t>
            </a:r>
          </a:p>
        </p:txBody>
      </p:sp>
      <p:cxnSp>
        <p:nvCxnSpPr>
          <p:cNvPr id="34" name="Connector 33"/>
          <p:cNvCxnSpPr/>
          <p:nvPr/>
        </p:nvCxnSpPr>
        <p:spPr>
          <a:xfrm>
            <a:off x="6437376" y="2450592"/>
            <a:ext cx="4791456" cy="0"/>
          </a:xfrm>
          <a:prstGeom prst="line">
            <a:avLst/>
          </a:prstGeom>
          <a:ln w="12700">
            <a:solidFill>
              <a:srgbClr val="D4E1D6"/>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437376" y="2542032"/>
            <a:ext cx="2377440" cy="164592"/>
          </a:xfrm>
          <a:prstGeom prst="rect">
            <a:avLst/>
          </a:prstGeom>
          <a:noFill/>
        </p:spPr>
        <p:txBody>
          <a:bodyPr wrap="square" lIns="27432" rIns="27432" tIns="27432" bIns="27432" anchor="t">
            <a:spAutoFit/>
          </a:bodyPr>
          <a:lstStyle/>
          <a:p>
            <a:pPr algn="l"/>
            <a:r>
              <a:rPr sz="1000" b="1">
                <a:solidFill>
                  <a:srgbClr val="5F6B63"/>
                </a:solidFill>
                <a:latin typeface="Aptos"/>
              </a:rPr>
              <a:t>ORGANIC SHARE</a:t>
            </a:r>
          </a:p>
        </p:txBody>
      </p:sp>
      <p:sp>
        <p:nvSpPr>
          <p:cNvPr id="36" name="TextBox 35"/>
          <p:cNvSpPr txBox="1"/>
          <p:nvPr/>
        </p:nvSpPr>
        <p:spPr>
          <a:xfrm>
            <a:off x="9491472" y="2523744"/>
            <a:ext cx="1517904" cy="201168"/>
          </a:xfrm>
          <a:prstGeom prst="rect">
            <a:avLst/>
          </a:prstGeom>
          <a:noFill/>
        </p:spPr>
        <p:txBody>
          <a:bodyPr wrap="square" lIns="27432" rIns="27432" tIns="27432" bIns="27432" anchor="t">
            <a:spAutoFit/>
          </a:bodyPr>
          <a:lstStyle/>
          <a:p>
            <a:pPr algn="r"/>
            <a:r>
              <a:rPr sz="1700" b="1">
                <a:solidFill>
                  <a:srgbClr val="3F728A"/>
                </a:solidFill>
                <a:latin typeface="Aptos Display"/>
              </a:rPr>
              <a:t>11.2% (Seattle)</a:t>
            </a:r>
          </a:p>
        </p:txBody>
      </p:sp>
      <p:cxnSp>
        <p:nvCxnSpPr>
          <p:cNvPr id="37" name="Connector 36"/>
          <p:cNvCxnSpPr/>
          <p:nvPr/>
        </p:nvCxnSpPr>
        <p:spPr>
          <a:xfrm>
            <a:off x="6437376" y="2761488"/>
            <a:ext cx="4791456" cy="0"/>
          </a:xfrm>
          <a:prstGeom prst="line">
            <a:avLst/>
          </a:prstGeom>
          <a:ln w="12700">
            <a:solidFill>
              <a:srgbClr val="D4E1D6"/>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6437376" y="2852928"/>
            <a:ext cx="2377440" cy="164592"/>
          </a:xfrm>
          <a:prstGeom prst="rect">
            <a:avLst/>
          </a:prstGeom>
          <a:noFill/>
        </p:spPr>
        <p:txBody>
          <a:bodyPr wrap="square" lIns="27432" rIns="27432" tIns="27432" bIns="27432" anchor="t">
            <a:spAutoFit/>
          </a:bodyPr>
          <a:lstStyle/>
          <a:p>
            <a:pPr algn="l"/>
            <a:r>
              <a:rPr sz="1000" b="1">
                <a:solidFill>
                  <a:srgbClr val="5F6B63"/>
                </a:solidFill>
                <a:latin typeface="Aptos"/>
              </a:rPr>
              <a:t>REVENUE ON 20K</a:t>
            </a:r>
          </a:p>
        </p:txBody>
      </p:sp>
      <p:sp>
        <p:nvSpPr>
          <p:cNvPr id="39" name="TextBox 38"/>
          <p:cNvSpPr txBox="1"/>
          <p:nvPr/>
        </p:nvSpPr>
        <p:spPr>
          <a:xfrm>
            <a:off x="9491472" y="2834640"/>
            <a:ext cx="1517904" cy="201168"/>
          </a:xfrm>
          <a:prstGeom prst="rect">
            <a:avLst/>
          </a:prstGeom>
          <a:noFill/>
        </p:spPr>
        <p:txBody>
          <a:bodyPr wrap="square" lIns="27432" rIns="27432" tIns="27432" bIns="27432" anchor="t">
            <a:spAutoFit/>
          </a:bodyPr>
          <a:lstStyle/>
          <a:p>
            <a:pPr algn="r"/>
            <a:r>
              <a:rPr sz="1700" b="1">
                <a:solidFill>
                  <a:srgbClr val="355C47"/>
                </a:solidFill>
                <a:latin typeface="Aptos Display"/>
              </a:rPr>
              <a:t>$21,280</a:t>
            </a:r>
          </a:p>
        </p:txBody>
      </p:sp>
      <p:cxnSp>
        <p:nvCxnSpPr>
          <p:cNvPr id="40" name="Connector 39"/>
          <p:cNvCxnSpPr/>
          <p:nvPr/>
        </p:nvCxnSpPr>
        <p:spPr>
          <a:xfrm>
            <a:off x="6437376" y="3072384"/>
            <a:ext cx="4791456" cy="0"/>
          </a:xfrm>
          <a:prstGeom prst="line">
            <a:avLst/>
          </a:prstGeom>
          <a:ln w="12700">
            <a:solidFill>
              <a:srgbClr val="D4E1D6"/>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6437376" y="3163824"/>
            <a:ext cx="2377440" cy="164592"/>
          </a:xfrm>
          <a:prstGeom prst="rect">
            <a:avLst/>
          </a:prstGeom>
          <a:noFill/>
        </p:spPr>
        <p:txBody>
          <a:bodyPr wrap="square" lIns="27432" rIns="27432" tIns="27432" bIns="27432" anchor="t">
            <a:spAutoFit/>
          </a:bodyPr>
          <a:lstStyle/>
          <a:p>
            <a:pPr algn="l"/>
            <a:r>
              <a:rPr sz="1000" b="1">
                <a:solidFill>
                  <a:srgbClr val="5F6B63"/>
                </a:solidFill>
                <a:latin typeface="Aptos"/>
              </a:rPr>
              <a:t>PROFIT ON 20K</a:t>
            </a:r>
          </a:p>
        </p:txBody>
      </p:sp>
      <p:sp>
        <p:nvSpPr>
          <p:cNvPr id="42" name="TextBox 41"/>
          <p:cNvSpPr txBox="1"/>
          <p:nvPr/>
        </p:nvSpPr>
        <p:spPr>
          <a:xfrm>
            <a:off x="9491472" y="3145536"/>
            <a:ext cx="1517904" cy="201168"/>
          </a:xfrm>
          <a:prstGeom prst="rect">
            <a:avLst/>
          </a:prstGeom>
          <a:noFill/>
        </p:spPr>
        <p:txBody>
          <a:bodyPr wrap="square" lIns="27432" rIns="27432" tIns="27432" bIns="27432" anchor="t">
            <a:spAutoFit/>
          </a:bodyPr>
          <a:lstStyle/>
          <a:p>
            <a:pPr algn="r"/>
            <a:r>
              <a:rPr sz="1700" b="1">
                <a:solidFill>
                  <a:srgbClr val="355C47"/>
                </a:solidFill>
                <a:latin typeface="Aptos Display"/>
              </a:rPr>
              <a:t>$15,266</a:t>
            </a:r>
          </a:p>
        </p:txBody>
      </p:sp>
      <p:cxnSp>
        <p:nvCxnSpPr>
          <p:cNvPr id="43" name="Connector 42"/>
          <p:cNvCxnSpPr/>
          <p:nvPr/>
        </p:nvCxnSpPr>
        <p:spPr>
          <a:xfrm>
            <a:off x="6437376" y="3383280"/>
            <a:ext cx="4791456" cy="0"/>
          </a:xfrm>
          <a:prstGeom prst="line">
            <a:avLst/>
          </a:prstGeom>
          <a:ln w="12700">
            <a:solidFill>
              <a:srgbClr val="D4E1D6"/>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6437376" y="3474720"/>
            <a:ext cx="2377440" cy="164592"/>
          </a:xfrm>
          <a:prstGeom prst="rect">
            <a:avLst/>
          </a:prstGeom>
          <a:noFill/>
        </p:spPr>
        <p:txBody>
          <a:bodyPr wrap="square" lIns="27432" rIns="27432" tIns="27432" bIns="27432" anchor="t">
            <a:spAutoFit/>
          </a:bodyPr>
          <a:lstStyle/>
          <a:p>
            <a:pPr algn="l"/>
            <a:r>
              <a:rPr sz="1000" b="1">
                <a:solidFill>
                  <a:srgbClr val="5F6B63"/>
                </a:solidFill>
                <a:latin typeface="Aptos"/>
              </a:rPr>
              <a:t>PROFIT RANK</a:t>
            </a:r>
          </a:p>
        </p:txBody>
      </p:sp>
      <p:sp>
        <p:nvSpPr>
          <p:cNvPr id="45" name="TextBox 44"/>
          <p:cNvSpPr txBox="1"/>
          <p:nvPr/>
        </p:nvSpPr>
        <p:spPr>
          <a:xfrm>
            <a:off x="9491472" y="3456432"/>
            <a:ext cx="1517904" cy="201168"/>
          </a:xfrm>
          <a:prstGeom prst="rect">
            <a:avLst/>
          </a:prstGeom>
          <a:noFill/>
        </p:spPr>
        <p:txBody>
          <a:bodyPr wrap="square" lIns="27432" rIns="27432" tIns="27432" bIns="27432" anchor="t">
            <a:spAutoFit/>
          </a:bodyPr>
          <a:lstStyle/>
          <a:p>
            <a:pPr algn="r"/>
            <a:r>
              <a:rPr sz="1700" b="1">
                <a:solidFill>
                  <a:srgbClr val="355C47"/>
                </a:solidFill>
                <a:latin typeface="Aptos Display"/>
              </a:rPr>
              <a:t>1st of 40</a:t>
            </a:r>
          </a:p>
        </p:txBody>
      </p:sp>
      <p:sp>
        <p:nvSpPr>
          <p:cNvPr id="46" name="TextBox 45"/>
          <p:cNvSpPr txBox="1"/>
          <p:nvPr/>
        </p:nvSpPr>
        <p:spPr>
          <a:xfrm>
            <a:off x="6437376" y="3877056"/>
            <a:ext cx="4791456" cy="1371600"/>
          </a:xfrm>
          <a:prstGeom prst="rect">
            <a:avLst/>
          </a:prstGeom>
          <a:noFill/>
        </p:spPr>
        <p:txBody>
          <a:bodyPr wrap="square" lIns="27432" rIns="27432" tIns="27432" bIns="27432" anchor="t">
            <a:spAutoFit/>
          </a:bodyPr>
          <a:lstStyle/>
          <a:p>
            <a:pPr algn="l"/>
            <a:r>
              <a:rPr sz="1200" b="0">
                <a:solidFill>
                  <a:srgbClr val="1F2621"/>
                </a:solidFill>
                <a:latin typeface="Aptos"/>
              </a:rPr>
              <a:t>Seattle and the Pacific Northwest treat organic avocados as a premium choice, not a staple. Higher household incomes (~$121k median in Seattle), over 60% college attainment, and concentrated organic retail infrastructure (Whole Foods, PCC co-ops) create a buyer who specifically seeks organic and will pay more for it. Organic prices in Seattle have risen from $2.05 in 2019 to $2.85 in 2025; demand is strengthening, not compressing.</a:t>
            </a:r>
          </a:p>
        </p:txBody>
      </p:sp>
      <p:sp>
        <p:nvSpPr>
          <p:cNvPr id="47" name="Rounded Rectangle 46"/>
          <p:cNvSpPr/>
          <p:nvPr/>
        </p:nvSpPr>
        <p:spPr>
          <a:xfrm>
            <a:off x="896112" y="5650992"/>
            <a:ext cx="10570464" cy="512064"/>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97280" y="5760720"/>
            <a:ext cx="877824" cy="182880"/>
          </a:xfrm>
          <a:prstGeom prst="rect">
            <a:avLst/>
          </a:prstGeom>
          <a:noFill/>
        </p:spPr>
        <p:txBody>
          <a:bodyPr wrap="square" lIns="27432" rIns="27432" tIns="27432" bIns="27432" anchor="t">
            <a:spAutoFit/>
          </a:bodyPr>
          <a:lstStyle/>
          <a:p>
            <a:pPr algn="l"/>
            <a:r>
              <a:rPr sz="1100" b="1">
                <a:solidFill>
                  <a:srgbClr val="355C47"/>
                </a:solidFill>
                <a:latin typeface="Aptos Display"/>
              </a:rPr>
              <a:t>TAKEAWAY:</a:t>
            </a:r>
          </a:p>
        </p:txBody>
      </p:sp>
      <p:sp>
        <p:nvSpPr>
          <p:cNvPr id="49" name="TextBox 48"/>
          <p:cNvSpPr txBox="1"/>
          <p:nvPr/>
        </p:nvSpPr>
        <p:spPr>
          <a:xfrm>
            <a:off x="1938528" y="5724144"/>
            <a:ext cx="9235440" cy="256032"/>
          </a:xfrm>
          <a:prstGeom prst="rect">
            <a:avLst/>
          </a:prstGeom>
          <a:noFill/>
        </p:spPr>
        <p:txBody>
          <a:bodyPr wrap="square" lIns="27432" rIns="27432" tIns="27432" bIns="27432" anchor="ctr">
            <a:spAutoFit/>
          </a:bodyPr>
          <a:lstStyle/>
          <a:p>
            <a:pPr algn="l"/>
            <a:r>
              <a:rPr sz="1200" b="1">
                <a:solidFill>
                  <a:srgbClr val="1F2621"/>
                </a:solidFill>
                <a:latin typeface="Aptos"/>
              </a:rPr>
              <a:t>You do not launch a premium product in the city with the highest total consumption. You launch where buyers already pay a premium and actively seek it out. Los Angeles proves the category works. It does not prove West Valley can win there first.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55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46920" y="0"/>
            <a:ext cx="2542032" cy="73152"/>
          </a:xfrm>
          <a:prstGeom prst="rect">
            <a:avLst/>
          </a:prstGeom>
          <a:solidFill>
            <a:srgbClr val="C58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01168"/>
            <a:ext cx="1554480" cy="256032"/>
          </a:xfrm>
          <a:prstGeom prst="roundRect">
            <a:avLst/>
          </a:prstGeom>
          <a:solidFill>
            <a:srgbClr val="FCFAF5"/>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224028"/>
            <a:ext cx="1517904" cy="182880"/>
          </a:xfrm>
          <a:prstGeom prst="rect">
            <a:avLst/>
          </a:prstGeom>
          <a:noFill/>
        </p:spPr>
        <p:txBody>
          <a:bodyPr wrap="square" lIns="27432" rIns="27432" tIns="27432" bIns="27432" anchor="t">
            <a:spAutoFit/>
          </a:bodyPr>
          <a:lstStyle/>
          <a:p>
            <a:pPr algn="ctr"/>
            <a:r>
              <a:rPr sz="1000" b="1">
                <a:solidFill>
                  <a:srgbClr val="355C47"/>
                </a:solidFill>
                <a:latin typeface="Aptos"/>
              </a:rPr>
              <a:t>RECOMMENDATION</a:t>
            </a:r>
          </a:p>
        </p:txBody>
      </p:sp>
      <p:sp>
        <p:nvSpPr>
          <p:cNvPr id="7" name="Rounded Rectangle 6"/>
          <p:cNvSpPr/>
          <p:nvPr/>
        </p:nvSpPr>
        <p:spPr>
          <a:xfrm>
            <a:off x="2267712" y="201168"/>
            <a:ext cx="713232" cy="256032"/>
          </a:xfrm>
          <a:prstGeom prst="roundRect">
            <a:avLst/>
          </a:prstGeom>
          <a:solidFill>
            <a:srgbClr val="FFFDF9"/>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0" y="224028"/>
            <a:ext cx="676656" cy="182880"/>
          </a:xfrm>
          <a:prstGeom prst="rect">
            <a:avLst/>
          </a:prstGeom>
          <a:noFill/>
        </p:spPr>
        <p:txBody>
          <a:bodyPr wrap="square" lIns="27432" rIns="27432" tIns="27432" bIns="27432" anchor="t">
            <a:spAutoFit/>
          </a:bodyPr>
          <a:lstStyle/>
          <a:p>
            <a:pPr algn="ctr"/>
            <a:r>
              <a:rPr sz="1000" b="1">
                <a:solidFill>
                  <a:srgbClr val="C58A2A"/>
                </a:solidFill>
                <a:latin typeface="Aptos"/>
              </a:rPr>
              <a:t>Q5</a:t>
            </a:r>
          </a:p>
        </p:txBody>
      </p:sp>
      <p:sp>
        <p:nvSpPr>
          <p:cNvPr id="9" name="TextBox 8"/>
          <p:cNvSpPr txBox="1"/>
          <p:nvPr/>
        </p:nvSpPr>
        <p:spPr>
          <a:xfrm>
            <a:off x="11631168" y="6519672"/>
            <a:ext cx="274320" cy="164592"/>
          </a:xfrm>
          <a:prstGeom prst="rect">
            <a:avLst/>
          </a:prstGeom>
          <a:noFill/>
        </p:spPr>
        <p:txBody>
          <a:bodyPr wrap="square" lIns="27432" rIns="27432" tIns="27432" bIns="27432" anchor="t">
            <a:spAutoFit/>
          </a:bodyPr>
          <a:lstStyle/>
          <a:p>
            <a:pPr algn="r"/>
            <a:r>
              <a:rPr sz="900" b="0">
                <a:solidFill>
                  <a:srgbClr val="5F6B63"/>
                </a:solidFill>
                <a:latin typeface="Aptos"/>
              </a:rPr>
              <a:t>13</a:t>
            </a:r>
          </a:p>
        </p:txBody>
      </p:sp>
      <p:sp>
        <p:nvSpPr>
          <p:cNvPr id="10" name="TextBox 9"/>
          <p:cNvSpPr txBox="1"/>
          <p:nvPr/>
        </p:nvSpPr>
        <p:spPr>
          <a:xfrm>
            <a:off x="548640" y="658368"/>
            <a:ext cx="10332720" cy="868680"/>
          </a:xfrm>
          <a:prstGeom prst="rect">
            <a:avLst/>
          </a:prstGeom>
          <a:noFill/>
        </p:spPr>
        <p:txBody>
          <a:bodyPr wrap="square" lIns="27432" rIns="27432" tIns="27432" bIns="27432" anchor="t">
            <a:spAutoFit/>
          </a:bodyPr>
          <a:lstStyle/>
          <a:p>
            <a:pPr algn="l"/>
            <a:r>
              <a:rPr sz="2700" b="1">
                <a:solidFill>
                  <a:srgbClr val="355C47"/>
                </a:solidFill>
                <a:latin typeface="Aptos Display"/>
              </a:rPr>
              <a:t>This is a special-order decision, not a full P&amp;L</a:t>
            </a:r>
          </a:p>
        </p:txBody>
      </p:sp>
      <p:sp>
        <p:nvSpPr>
          <p:cNvPr id="11" name="Rounded Rectangle 10"/>
          <p:cNvSpPr/>
          <p:nvPr/>
        </p:nvSpPr>
        <p:spPr>
          <a:xfrm>
            <a:off x="749808" y="1682496"/>
            <a:ext cx="6629400" cy="4315968"/>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1901952"/>
            <a:ext cx="2560320" cy="164592"/>
          </a:xfrm>
          <a:prstGeom prst="rect">
            <a:avLst/>
          </a:prstGeom>
          <a:noFill/>
        </p:spPr>
        <p:txBody>
          <a:bodyPr wrap="square" lIns="27432" rIns="27432" tIns="27432" bIns="27432" anchor="t">
            <a:spAutoFit/>
          </a:bodyPr>
          <a:lstStyle/>
          <a:p>
            <a:pPr algn="l"/>
            <a:r>
              <a:rPr sz="1000" b="1">
                <a:solidFill>
                  <a:srgbClr val="5F6B63"/>
                </a:solidFill>
                <a:latin typeface="Aptos"/>
              </a:rPr>
              <a:t>RELEVANT-COST LOGIC</a:t>
            </a:r>
          </a:p>
        </p:txBody>
      </p:sp>
      <p:sp>
        <p:nvSpPr>
          <p:cNvPr id="13" name="Rounded Rectangle 12"/>
          <p:cNvSpPr/>
          <p:nvPr/>
        </p:nvSpPr>
        <p:spPr>
          <a:xfrm>
            <a:off x="969264" y="2249424"/>
            <a:ext cx="6144768" cy="896112"/>
          </a:xfrm>
          <a:prstGeom prst="roundRect">
            <a:avLst/>
          </a:prstGeom>
          <a:solidFill>
            <a:srgbClr val="F7F3EC"/>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70432" y="2487168"/>
            <a:ext cx="5760720" cy="310896"/>
          </a:xfrm>
          <a:prstGeom prst="rect">
            <a:avLst/>
          </a:prstGeom>
          <a:noFill/>
        </p:spPr>
        <p:txBody>
          <a:bodyPr wrap="square" lIns="27432" rIns="27432" tIns="27432" bIns="27432" anchor="t">
            <a:spAutoFit/>
          </a:bodyPr>
          <a:lstStyle/>
          <a:p>
            <a:pPr algn="ctr"/>
            <a:r>
              <a:rPr sz="1900" b="1">
                <a:solidFill>
                  <a:srgbClr val="355C47"/>
                </a:solidFill>
                <a:latin typeface="Aptos Display"/>
              </a:rPr>
              <a:t>Profit(Q) = Q x (0.40 x retail price - $0.20) - ($1,500 + $50 x miles / 100)</a:t>
            </a:r>
          </a:p>
        </p:txBody>
      </p:sp>
      <p:sp>
        <p:nvSpPr>
          <p:cNvPr id="15" name="Rounded Rectangle 14"/>
          <p:cNvSpPr/>
          <p:nvPr/>
        </p:nvSpPr>
        <p:spPr>
          <a:xfrm>
            <a:off x="969264" y="3401568"/>
            <a:ext cx="1938528" cy="1499616"/>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3547872"/>
            <a:ext cx="1682496" cy="146304"/>
          </a:xfrm>
          <a:prstGeom prst="rect">
            <a:avLst/>
          </a:prstGeom>
          <a:noFill/>
        </p:spPr>
        <p:txBody>
          <a:bodyPr wrap="square" lIns="27432" rIns="27432" tIns="27432" bIns="27432" anchor="t">
            <a:spAutoFit/>
          </a:bodyPr>
          <a:lstStyle/>
          <a:p>
            <a:pPr algn="l"/>
            <a:r>
              <a:rPr sz="900" b="1">
                <a:solidFill>
                  <a:srgbClr val="5F6B63"/>
                </a:solidFill>
                <a:latin typeface="Aptos"/>
              </a:rPr>
              <a:t>RELEVANT REVENUE</a:t>
            </a:r>
          </a:p>
        </p:txBody>
      </p:sp>
      <p:sp>
        <p:nvSpPr>
          <p:cNvPr id="17" name="TextBox 16"/>
          <p:cNvSpPr txBox="1"/>
          <p:nvPr/>
        </p:nvSpPr>
        <p:spPr>
          <a:xfrm>
            <a:off x="1097280" y="3822191"/>
            <a:ext cx="1682496" cy="274320"/>
          </a:xfrm>
          <a:prstGeom prst="rect">
            <a:avLst/>
          </a:prstGeom>
          <a:noFill/>
        </p:spPr>
        <p:txBody>
          <a:bodyPr wrap="square" lIns="27432" rIns="27432" tIns="27432" bIns="27432" anchor="t">
            <a:spAutoFit/>
          </a:bodyPr>
          <a:lstStyle/>
          <a:p>
            <a:pPr algn="l"/>
            <a:r>
              <a:rPr sz="1700" b="1">
                <a:solidFill>
                  <a:srgbClr val="355C47"/>
                </a:solidFill>
                <a:latin typeface="Aptos Display"/>
              </a:rPr>
              <a:t>40% of retail</a:t>
            </a:r>
          </a:p>
        </p:txBody>
      </p:sp>
      <p:sp>
        <p:nvSpPr>
          <p:cNvPr id="18" name="TextBox 17"/>
          <p:cNvSpPr txBox="1"/>
          <p:nvPr/>
        </p:nvSpPr>
        <p:spPr>
          <a:xfrm>
            <a:off x="1097280" y="4187952"/>
            <a:ext cx="1682496" cy="457200"/>
          </a:xfrm>
          <a:prstGeom prst="rect">
            <a:avLst/>
          </a:prstGeom>
          <a:noFill/>
        </p:spPr>
        <p:txBody>
          <a:bodyPr wrap="square" lIns="27432" rIns="27432" tIns="27432" bIns="27432" anchor="t">
            <a:spAutoFit/>
          </a:bodyPr>
          <a:lstStyle/>
          <a:p>
            <a:pPr algn="l"/>
            <a:r>
              <a:rPr sz="1000" b="0">
                <a:solidFill>
                  <a:srgbClr val="1F2621"/>
                </a:solidFill>
                <a:latin typeface="Aptos"/>
              </a:rPr>
              <a:t>The case gives one June price proxy, so revenue is modeled consistently across cities.</a:t>
            </a:r>
          </a:p>
        </p:txBody>
      </p:sp>
      <p:sp>
        <p:nvSpPr>
          <p:cNvPr id="19" name="Rounded Rectangle 18"/>
          <p:cNvSpPr/>
          <p:nvPr/>
        </p:nvSpPr>
        <p:spPr>
          <a:xfrm>
            <a:off x="3017520" y="3401568"/>
            <a:ext cx="1938528" cy="1499616"/>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145536" y="3547872"/>
            <a:ext cx="1682496" cy="146304"/>
          </a:xfrm>
          <a:prstGeom prst="rect">
            <a:avLst/>
          </a:prstGeom>
          <a:noFill/>
        </p:spPr>
        <p:txBody>
          <a:bodyPr wrap="square" lIns="27432" rIns="27432" tIns="27432" bIns="27432" anchor="t">
            <a:spAutoFit/>
          </a:bodyPr>
          <a:lstStyle/>
          <a:p>
            <a:pPr algn="l"/>
            <a:r>
              <a:rPr sz="900" b="1">
                <a:solidFill>
                  <a:srgbClr val="5F6B63"/>
                </a:solidFill>
                <a:latin typeface="Aptos"/>
              </a:rPr>
              <a:t>VARIABLE COST</a:t>
            </a:r>
          </a:p>
        </p:txBody>
      </p:sp>
      <p:sp>
        <p:nvSpPr>
          <p:cNvPr id="21" name="TextBox 20"/>
          <p:cNvSpPr txBox="1"/>
          <p:nvPr/>
        </p:nvSpPr>
        <p:spPr>
          <a:xfrm>
            <a:off x="3145536" y="3822191"/>
            <a:ext cx="1682496" cy="274320"/>
          </a:xfrm>
          <a:prstGeom prst="rect">
            <a:avLst/>
          </a:prstGeom>
          <a:noFill/>
        </p:spPr>
        <p:txBody>
          <a:bodyPr wrap="square" lIns="27432" rIns="27432" tIns="27432" bIns="27432" anchor="t">
            <a:spAutoFit/>
          </a:bodyPr>
          <a:lstStyle/>
          <a:p>
            <a:pPr algn="l"/>
            <a:r>
              <a:rPr sz="1700" b="1">
                <a:solidFill>
                  <a:srgbClr val="3F728A"/>
                </a:solidFill>
                <a:latin typeface="Aptos Display"/>
              </a:rPr>
              <a:t>$0.20 / avocado</a:t>
            </a:r>
          </a:p>
        </p:txBody>
      </p:sp>
      <p:sp>
        <p:nvSpPr>
          <p:cNvPr id="22" name="TextBox 21"/>
          <p:cNvSpPr txBox="1"/>
          <p:nvPr/>
        </p:nvSpPr>
        <p:spPr>
          <a:xfrm>
            <a:off x="3145536" y="4187952"/>
            <a:ext cx="1682496" cy="457200"/>
          </a:xfrm>
          <a:prstGeom prst="rect">
            <a:avLst/>
          </a:prstGeom>
          <a:noFill/>
        </p:spPr>
        <p:txBody>
          <a:bodyPr wrap="square" lIns="27432" rIns="27432" tIns="27432" bIns="27432" anchor="t">
            <a:spAutoFit/>
          </a:bodyPr>
          <a:lstStyle/>
          <a:p>
            <a:pPr algn="l"/>
            <a:r>
              <a:rPr sz="1000" b="0">
                <a:solidFill>
                  <a:srgbClr val="1F2621"/>
                </a:solidFill>
                <a:latin typeface="Aptos"/>
              </a:rPr>
              <a:t>Acquisition is the true per-unit cost in the screen.</a:t>
            </a:r>
          </a:p>
        </p:txBody>
      </p:sp>
      <p:sp>
        <p:nvSpPr>
          <p:cNvPr id="23" name="Rounded Rectangle 22"/>
          <p:cNvSpPr/>
          <p:nvPr/>
        </p:nvSpPr>
        <p:spPr>
          <a:xfrm>
            <a:off x="5065776" y="3401568"/>
            <a:ext cx="1938528" cy="1499616"/>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93792" y="3547872"/>
            <a:ext cx="1682496" cy="146304"/>
          </a:xfrm>
          <a:prstGeom prst="rect">
            <a:avLst/>
          </a:prstGeom>
          <a:noFill/>
        </p:spPr>
        <p:txBody>
          <a:bodyPr wrap="square" lIns="27432" rIns="27432" tIns="27432" bIns="27432" anchor="t">
            <a:spAutoFit/>
          </a:bodyPr>
          <a:lstStyle/>
          <a:p>
            <a:pPr algn="l"/>
            <a:r>
              <a:rPr sz="900" b="1">
                <a:solidFill>
                  <a:srgbClr val="5F6B63"/>
                </a:solidFill>
                <a:latin typeface="Aptos"/>
              </a:rPr>
              <a:t>ROUTE-FIXED COST</a:t>
            </a:r>
          </a:p>
        </p:txBody>
      </p:sp>
      <p:sp>
        <p:nvSpPr>
          <p:cNvPr id="25" name="TextBox 24"/>
          <p:cNvSpPr txBox="1"/>
          <p:nvPr/>
        </p:nvSpPr>
        <p:spPr>
          <a:xfrm>
            <a:off x="5193792" y="3822191"/>
            <a:ext cx="1682496" cy="274320"/>
          </a:xfrm>
          <a:prstGeom prst="rect">
            <a:avLst/>
          </a:prstGeom>
          <a:noFill/>
        </p:spPr>
        <p:txBody>
          <a:bodyPr wrap="square" lIns="27432" rIns="27432" tIns="27432" bIns="27432" anchor="t">
            <a:spAutoFit/>
          </a:bodyPr>
          <a:lstStyle/>
          <a:p>
            <a:pPr algn="l"/>
            <a:r>
              <a:rPr sz="1700" b="1">
                <a:solidFill>
                  <a:srgbClr val="C58A2A"/>
                </a:solidFill>
                <a:latin typeface="Aptos Display"/>
              </a:rPr>
              <a:t>$1,500 + distance</a:t>
            </a:r>
          </a:p>
        </p:txBody>
      </p:sp>
      <p:sp>
        <p:nvSpPr>
          <p:cNvPr id="26" name="TextBox 25"/>
          <p:cNvSpPr txBox="1"/>
          <p:nvPr/>
        </p:nvSpPr>
        <p:spPr>
          <a:xfrm>
            <a:off x="5193792" y="4187952"/>
            <a:ext cx="1682496" cy="457200"/>
          </a:xfrm>
          <a:prstGeom prst="rect">
            <a:avLst/>
          </a:prstGeom>
          <a:noFill/>
        </p:spPr>
        <p:txBody>
          <a:bodyPr wrap="square" lIns="27432" rIns="27432" tIns="27432" bIns="27432" anchor="t">
            <a:spAutoFit/>
          </a:bodyPr>
          <a:lstStyle/>
          <a:p>
            <a:pPr algn="l"/>
            <a:r>
              <a:rPr sz="1000" b="0">
                <a:solidFill>
                  <a:srgbClr val="1F2621"/>
                </a:solidFill>
                <a:latin typeface="Aptos"/>
              </a:rPr>
              <a:t>Shipping behaves like a route cost paid once per destination.</a:t>
            </a:r>
          </a:p>
        </p:txBody>
      </p:sp>
      <p:sp>
        <p:nvSpPr>
          <p:cNvPr id="27" name="TextBox 26"/>
          <p:cNvSpPr txBox="1"/>
          <p:nvPr/>
        </p:nvSpPr>
        <p:spPr>
          <a:xfrm>
            <a:off x="969264" y="5102352"/>
            <a:ext cx="6126480" cy="402336"/>
          </a:xfrm>
          <a:prstGeom prst="rect">
            <a:avLst/>
          </a:prstGeom>
          <a:noFill/>
        </p:spPr>
        <p:txBody>
          <a:bodyPr wrap="square" lIns="27432" rIns="27432" tIns="27432" bIns="27432" anchor="t">
            <a:spAutoFit/>
          </a:bodyPr>
          <a:lstStyle/>
          <a:p>
            <a:pPr algn="l"/>
            <a:r>
              <a:rPr sz="1300" b="0">
                <a:solidFill>
                  <a:srgbClr val="1F2621"/>
                </a:solidFill>
                <a:latin typeface="Aptos"/>
              </a:rPr>
              <a:t>Because the case assumes idle capacity and no extra overhead, this is a textbook special-order screen: accept if incremental contribution covers route cost, then optimize city choice.</a:t>
            </a:r>
          </a:p>
        </p:txBody>
      </p:sp>
      <p:sp>
        <p:nvSpPr>
          <p:cNvPr id="28" name="Rounded Rectangle 27"/>
          <p:cNvSpPr/>
          <p:nvPr/>
        </p:nvSpPr>
        <p:spPr>
          <a:xfrm>
            <a:off x="7644383" y="1682496"/>
            <a:ext cx="3858768" cy="4315968"/>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7900416" y="1938528"/>
            <a:ext cx="1517904" cy="896112"/>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28432" y="2048256"/>
            <a:ext cx="1261872" cy="164592"/>
          </a:xfrm>
          <a:prstGeom prst="rect">
            <a:avLst/>
          </a:prstGeom>
          <a:noFill/>
        </p:spPr>
        <p:txBody>
          <a:bodyPr wrap="square" lIns="27432" rIns="27432" tIns="27432" bIns="27432" anchor="t">
            <a:spAutoFit/>
          </a:bodyPr>
          <a:lstStyle/>
          <a:p>
            <a:pPr algn="ctr"/>
            <a:r>
              <a:rPr sz="1000" b="1">
                <a:solidFill>
                  <a:srgbClr val="5F6B63"/>
                </a:solidFill>
                <a:latin typeface="Aptos"/>
              </a:rPr>
              <a:t>CITY SCREENS POSITIVE</a:t>
            </a:r>
          </a:p>
        </p:txBody>
      </p:sp>
      <p:sp>
        <p:nvSpPr>
          <p:cNvPr id="31" name="TextBox 30"/>
          <p:cNvSpPr txBox="1"/>
          <p:nvPr/>
        </p:nvSpPr>
        <p:spPr>
          <a:xfrm>
            <a:off x="8028432" y="2249424"/>
            <a:ext cx="1261872" cy="475488"/>
          </a:xfrm>
          <a:prstGeom prst="rect">
            <a:avLst/>
          </a:prstGeom>
          <a:noFill/>
        </p:spPr>
        <p:txBody>
          <a:bodyPr wrap="square" lIns="27432" rIns="27432" tIns="27432" bIns="27432" anchor="ctr">
            <a:spAutoFit/>
          </a:bodyPr>
          <a:lstStyle/>
          <a:p>
            <a:pPr algn="ctr"/>
            <a:r>
              <a:rPr sz="1900" b="1">
                <a:solidFill>
                  <a:srgbClr val="355C47"/>
                </a:solidFill>
                <a:latin typeface="Aptos Display"/>
              </a:rPr>
              <a:t>40/40</a:t>
            </a:r>
          </a:p>
        </p:txBody>
      </p:sp>
      <p:sp>
        <p:nvSpPr>
          <p:cNvPr id="32" name="Rounded Rectangle 31"/>
          <p:cNvSpPr/>
          <p:nvPr/>
        </p:nvSpPr>
        <p:spPr>
          <a:xfrm>
            <a:off x="9546336" y="1938528"/>
            <a:ext cx="1609344" cy="896112"/>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674352" y="2048256"/>
            <a:ext cx="1353312" cy="164592"/>
          </a:xfrm>
          <a:prstGeom prst="rect">
            <a:avLst/>
          </a:prstGeom>
          <a:noFill/>
        </p:spPr>
        <p:txBody>
          <a:bodyPr wrap="square" lIns="27432" rIns="27432" tIns="27432" bIns="27432" anchor="t">
            <a:spAutoFit/>
          </a:bodyPr>
          <a:lstStyle/>
          <a:p>
            <a:pPr algn="ctr"/>
            <a:r>
              <a:rPr sz="1000" b="1">
                <a:solidFill>
                  <a:srgbClr val="5F6B63"/>
                </a:solidFill>
                <a:latin typeface="Aptos"/>
              </a:rPr>
              <a:t>LOWEST PROFIT</a:t>
            </a:r>
          </a:p>
        </p:txBody>
      </p:sp>
      <p:sp>
        <p:nvSpPr>
          <p:cNvPr id="34" name="TextBox 33"/>
          <p:cNvSpPr txBox="1"/>
          <p:nvPr/>
        </p:nvSpPr>
        <p:spPr>
          <a:xfrm>
            <a:off x="9674352" y="2249424"/>
            <a:ext cx="1353312" cy="475488"/>
          </a:xfrm>
          <a:prstGeom prst="rect">
            <a:avLst/>
          </a:prstGeom>
          <a:noFill/>
        </p:spPr>
        <p:txBody>
          <a:bodyPr wrap="square" lIns="27432" rIns="27432" tIns="27432" bIns="27432" anchor="ctr">
            <a:spAutoFit/>
          </a:bodyPr>
          <a:lstStyle/>
          <a:p>
            <a:pPr algn="ctr"/>
            <a:r>
              <a:rPr sz="1900" b="1">
                <a:solidFill>
                  <a:srgbClr val="3F728A"/>
                </a:solidFill>
                <a:latin typeface="Aptos Display"/>
              </a:rPr>
              <a:t>$4.3k</a:t>
            </a:r>
          </a:p>
        </p:txBody>
      </p:sp>
      <p:sp>
        <p:nvSpPr>
          <p:cNvPr id="35" name="Rounded Rectangle 34"/>
          <p:cNvSpPr/>
          <p:nvPr/>
        </p:nvSpPr>
        <p:spPr>
          <a:xfrm>
            <a:off x="7900416" y="3017520"/>
            <a:ext cx="3255264" cy="896112"/>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28432" y="3127248"/>
            <a:ext cx="2999232" cy="164592"/>
          </a:xfrm>
          <a:prstGeom prst="rect">
            <a:avLst/>
          </a:prstGeom>
          <a:noFill/>
        </p:spPr>
        <p:txBody>
          <a:bodyPr wrap="square" lIns="27432" rIns="27432" tIns="27432" bIns="27432" anchor="t">
            <a:spAutoFit/>
          </a:bodyPr>
          <a:lstStyle/>
          <a:p>
            <a:pPr algn="ctr"/>
            <a:r>
              <a:rPr sz="1000" b="1">
                <a:solidFill>
                  <a:srgbClr val="5F6B63"/>
                </a:solidFill>
                <a:latin typeface="Aptos"/>
              </a:rPr>
              <a:t>DECISION RULE</a:t>
            </a:r>
          </a:p>
        </p:txBody>
      </p:sp>
      <p:sp>
        <p:nvSpPr>
          <p:cNvPr id="37" name="TextBox 36"/>
          <p:cNvSpPr txBox="1"/>
          <p:nvPr/>
        </p:nvSpPr>
        <p:spPr>
          <a:xfrm>
            <a:off x="8028432" y="3328416"/>
            <a:ext cx="2999232" cy="475488"/>
          </a:xfrm>
          <a:prstGeom prst="rect">
            <a:avLst/>
          </a:prstGeom>
          <a:noFill/>
        </p:spPr>
        <p:txBody>
          <a:bodyPr wrap="square" lIns="27432" rIns="27432" tIns="27432" bIns="27432" anchor="ctr">
            <a:spAutoFit/>
          </a:bodyPr>
          <a:lstStyle/>
          <a:p>
            <a:pPr algn="ctr"/>
            <a:r>
              <a:rPr sz="1900" b="1">
                <a:solidFill>
                  <a:srgbClr val="C58A2A"/>
                </a:solidFill>
                <a:latin typeface="Aptos Display"/>
              </a:rPr>
              <a:t>Optimize city mix</a:t>
            </a:r>
          </a:p>
        </p:txBody>
      </p:sp>
      <p:sp>
        <p:nvSpPr>
          <p:cNvPr id="38" name="TextBox 37"/>
          <p:cNvSpPr txBox="1"/>
          <p:nvPr/>
        </p:nvSpPr>
        <p:spPr>
          <a:xfrm>
            <a:off x="7900416" y="4187952"/>
            <a:ext cx="3017520" cy="1261872"/>
          </a:xfrm>
          <a:prstGeom prst="rect">
            <a:avLst/>
          </a:prstGeom>
          <a:noFill/>
        </p:spPr>
        <p:txBody>
          <a:bodyPr wrap="square" lIns="27432" rIns="27432" tIns="18288" bIns="18288">
            <a:spAutoFit/>
          </a:bodyPr>
          <a:lstStyle/>
          <a:p>
            <a:pPr algn="l">
              <a:lnSpc>
                <a:spcPct val="115000"/>
              </a:lnSpc>
            </a:pPr>
            <a:r>
              <a:rPr sz="1200">
                <a:solidFill>
                  <a:srgbClr val="1F2621"/>
                </a:solidFill>
                <a:latin typeface="Aptos"/>
              </a:rPr>
              <a:t>- All 40 cities clear the special-order hurdle, so the question is not whether to sell. It is where the economics are strongest.</a:t>
            </a:r>
          </a:p>
          <a:p>
            <a:pPr algn="l">
              <a:lnSpc>
                <a:spcPct val="115000"/>
              </a:lnSpc>
            </a:pPr>
            <a:r>
              <a:rPr sz="1200">
                <a:solidFill>
                  <a:srgbClr val="1F2621"/>
                </a:solidFill>
                <a:latin typeface="Aptos"/>
              </a:rPr>
              <a:t>- Idle capacity makes existing overhead irrelevant here, which is why this is a relevant-cost screen rather than a full absorption-costing exercise.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55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46920" y="0"/>
            <a:ext cx="2542032" cy="73152"/>
          </a:xfrm>
          <a:prstGeom prst="rect">
            <a:avLst/>
          </a:prstGeom>
          <a:solidFill>
            <a:srgbClr val="C58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01168"/>
            <a:ext cx="1554480" cy="256032"/>
          </a:xfrm>
          <a:prstGeom prst="roundRect">
            <a:avLst/>
          </a:prstGeom>
          <a:solidFill>
            <a:srgbClr val="FCFAF5"/>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224028"/>
            <a:ext cx="1517904" cy="182880"/>
          </a:xfrm>
          <a:prstGeom prst="rect">
            <a:avLst/>
          </a:prstGeom>
          <a:noFill/>
        </p:spPr>
        <p:txBody>
          <a:bodyPr wrap="square" lIns="27432" rIns="27432" tIns="27432" bIns="27432" anchor="t">
            <a:spAutoFit/>
          </a:bodyPr>
          <a:lstStyle/>
          <a:p>
            <a:pPr algn="ctr"/>
            <a:r>
              <a:rPr sz="1000" b="1">
                <a:solidFill>
                  <a:srgbClr val="355C47"/>
                </a:solidFill>
                <a:latin typeface="Aptos"/>
              </a:rPr>
              <a:t>RECOMMENDATION</a:t>
            </a:r>
          </a:p>
        </p:txBody>
      </p:sp>
      <p:sp>
        <p:nvSpPr>
          <p:cNvPr id="7" name="Rounded Rectangle 6"/>
          <p:cNvSpPr/>
          <p:nvPr/>
        </p:nvSpPr>
        <p:spPr>
          <a:xfrm>
            <a:off x="2267712" y="201168"/>
            <a:ext cx="713232" cy="256032"/>
          </a:xfrm>
          <a:prstGeom prst="roundRect">
            <a:avLst/>
          </a:prstGeom>
          <a:solidFill>
            <a:srgbClr val="FFFDF9"/>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0" y="224028"/>
            <a:ext cx="676656" cy="182880"/>
          </a:xfrm>
          <a:prstGeom prst="rect">
            <a:avLst/>
          </a:prstGeom>
          <a:noFill/>
        </p:spPr>
        <p:txBody>
          <a:bodyPr wrap="square" lIns="27432" rIns="27432" tIns="27432" bIns="27432" anchor="t">
            <a:spAutoFit/>
          </a:bodyPr>
          <a:lstStyle/>
          <a:p>
            <a:pPr algn="ctr"/>
            <a:r>
              <a:rPr sz="1000" b="1">
                <a:solidFill>
                  <a:srgbClr val="C58A2A"/>
                </a:solidFill>
                <a:latin typeface="Aptos"/>
              </a:rPr>
              <a:t>Q5</a:t>
            </a:r>
          </a:p>
        </p:txBody>
      </p:sp>
      <p:sp>
        <p:nvSpPr>
          <p:cNvPr id="9" name="TextBox 8"/>
          <p:cNvSpPr txBox="1"/>
          <p:nvPr/>
        </p:nvSpPr>
        <p:spPr>
          <a:xfrm>
            <a:off x="11631168" y="6519672"/>
            <a:ext cx="274320" cy="164592"/>
          </a:xfrm>
          <a:prstGeom prst="rect">
            <a:avLst/>
          </a:prstGeom>
          <a:noFill/>
        </p:spPr>
        <p:txBody>
          <a:bodyPr wrap="square" lIns="27432" rIns="27432" tIns="27432" bIns="27432" anchor="t">
            <a:spAutoFit/>
          </a:bodyPr>
          <a:lstStyle/>
          <a:p>
            <a:pPr algn="r"/>
            <a:r>
              <a:rPr sz="900" b="0">
                <a:solidFill>
                  <a:srgbClr val="5F6B63"/>
                </a:solidFill>
                <a:latin typeface="Aptos"/>
              </a:rPr>
              <a:t>14</a:t>
            </a:r>
          </a:p>
        </p:txBody>
      </p:sp>
      <p:sp>
        <p:nvSpPr>
          <p:cNvPr id="10" name="TextBox 9"/>
          <p:cNvSpPr txBox="1"/>
          <p:nvPr/>
        </p:nvSpPr>
        <p:spPr>
          <a:xfrm>
            <a:off x="548640" y="658368"/>
            <a:ext cx="10332720" cy="868680"/>
          </a:xfrm>
          <a:prstGeom prst="rect">
            <a:avLst/>
          </a:prstGeom>
          <a:noFill/>
        </p:spPr>
        <p:txBody>
          <a:bodyPr wrap="square" lIns="27432" rIns="27432" tIns="27432" bIns="27432" anchor="t">
            <a:spAutoFit/>
          </a:bodyPr>
          <a:lstStyle/>
          <a:p>
            <a:pPr algn="l"/>
            <a:r>
              <a:rPr sz="2700" b="1">
                <a:solidFill>
                  <a:srgbClr val="355C47"/>
                </a:solidFill>
                <a:latin typeface="Aptos Display"/>
              </a:rPr>
              <a:t>Top-five markets break even at only 12%-14% of planned volume</a:t>
            </a:r>
          </a:p>
        </p:txBody>
      </p:sp>
      <p:sp>
        <p:nvSpPr>
          <p:cNvPr id="11" name="Rounded Rectangle 10"/>
          <p:cNvSpPr/>
          <p:nvPr/>
        </p:nvSpPr>
        <p:spPr>
          <a:xfrm>
            <a:off x="749808" y="1682496"/>
            <a:ext cx="6949440" cy="4315968"/>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1901952"/>
            <a:ext cx="2743200" cy="164592"/>
          </a:xfrm>
          <a:prstGeom prst="rect">
            <a:avLst/>
          </a:prstGeom>
          <a:noFill/>
        </p:spPr>
        <p:txBody>
          <a:bodyPr wrap="square" lIns="27432" rIns="27432" tIns="27432" bIns="27432" anchor="t">
            <a:spAutoFit/>
          </a:bodyPr>
          <a:lstStyle/>
          <a:p>
            <a:pPr algn="l"/>
            <a:r>
              <a:rPr sz="1000" b="1">
                <a:solidFill>
                  <a:srgbClr val="5F6B63"/>
                </a:solidFill>
                <a:latin typeface="Aptos"/>
              </a:rPr>
              <a:t>BREAK-EVEN VOLUME VS 20K SCREEN</a:t>
            </a:r>
          </a:p>
        </p:txBody>
      </p:sp>
      <p:sp>
        <p:nvSpPr>
          <p:cNvPr id="13" name="TextBox 12"/>
          <p:cNvSpPr txBox="1"/>
          <p:nvPr/>
        </p:nvSpPr>
        <p:spPr>
          <a:xfrm>
            <a:off x="987552" y="2359152"/>
            <a:ext cx="1097280" cy="164592"/>
          </a:xfrm>
          <a:prstGeom prst="rect">
            <a:avLst/>
          </a:prstGeom>
          <a:noFill/>
        </p:spPr>
        <p:txBody>
          <a:bodyPr wrap="square" lIns="27432" rIns="27432" tIns="27432" bIns="27432" anchor="t">
            <a:spAutoFit/>
          </a:bodyPr>
          <a:lstStyle/>
          <a:p>
            <a:pPr algn="l"/>
            <a:r>
              <a:rPr sz="1100" b="1">
                <a:solidFill>
                  <a:srgbClr val="1F2621"/>
                </a:solidFill>
                <a:latin typeface="Aptos"/>
              </a:rPr>
              <a:t>Seattle</a:t>
            </a:r>
          </a:p>
        </p:txBody>
      </p:sp>
      <p:sp>
        <p:nvSpPr>
          <p:cNvPr id="14" name="Rounded Rectangle 13"/>
          <p:cNvSpPr/>
          <p:nvPr/>
        </p:nvSpPr>
        <p:spPr>
          <a:xfrm>
            <a:off x="2212848" y="2386584"/>
            <a:ext cx="4480560" cy="164592"/>
          </a:xfrm>
          <a:prstGeom prst="roundRect">
            <a:avLst/>
          </a:prstGeom>
          <a:solidFill>
            <a:srgbClr val="F7F3EC"/>
          </a:solidFill>
          <a:ln>
            <a:solidFill>
              <a:srgbClr val="F7F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212848" y="2386584"/>
            <a:ext cx="522343" cy="164592"/>
          </a:xfrm>
          <a:prstGeom prst="roundRect">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66560" y="2350008"/>
            <a:ext cx="731520" cy="164592"/>
          </a:xfrm>
          <a:prstGeom prst="rect">
            <a:avLst/>
          </a:prstGeom>
          <a:noFill/>
        </p:spPr>
        <p:txBody>
          <a:bodyPr wrap="square" lIns="27432" rIns="27432" tIns="27432" bIns="27432" anchor="t">
            <a:spAutoFit/>
          </a:bodyPr>
          <a:lstStyle/>
          <a:p>
            <a:pPr algn="r"/>
            <a:r>
              <a:rPr sz="1100" b="1">
                <a:solidFill>
                  <a:srgbClr val="355C47"/>
                </a:solidFill>
                <a:latin typeface="Aptos"/>
              </a:rPr>
              <a:t>2,332</a:t>
            </a:r>
          </a:p>
        </p:txBody>
      </p:sp>
      <p:sp>
        <p:nvSpPr>
          <p:cNvPr id="17" name="TextBox 16"/>
          <p:cNvSpPr txBox="1"/>
          <p:nvPr/>
        </p:nvSpPr>
        <p:spPr>
          <a:xfrm>
            <a:off x="5614416" y="2560320"/>
            <a:ext cx="1005840" cy="146304"/>
          </a:xfrm>
          <a:prstGeom prst="rect">
            <a:avLst/>
          </a:prstGeom>
          <a:noFill/>
        </p:spPr>
        <p:txBody>
          <a:bodyPr wrap="square" lIns="27432" rIns="27432" tIns="27432" bIns="27432" anchor="t">
            <a:spAutoFit/>
          </a:bodyPr>
          <a:lstStyle/>
          <a:p>
            <a:pPr algn="r"/>
            <a:r>
              <a:rPr sz="900" b="0">
                <a:solidFill>
                  <a:srgbClr val="5F6B63"/>
                </a:solidFill>
                <a:latin typeface="Aptos"/>
              </a:rPr>
              <a:t>MOS 88.3%</a:t>
            </a:r>
          </a:p>
        </p:txBody>
      </p:sp>
      <p:sp>
        <p:nvSpPr>
          <p:cNvPr id="18" name="TextBox 17"/>
          <p:cNvSpPr txBox="1"/>
          <p:nvPr/>
        </p:nvSpPr>
        <p:spPr>
          <a:xfrm>
            <a:off x="987552" y="2926080"/>
            <a:ext cx="1097280" cy="164592"/>
          </a:xfrm>
          <a:prstGeom prst="rect">
            <a:avLst/>
          </a:prstGeom>
          <a:noFill/>
        </p:spPr>
        <p:txBody>
          <a:bodyPr wrap="square" lIns="27432" rIns="27432" tIns="27432" bIns="27432" anchor="t">
            <a:spAutoFit/>
          </a:bodyPr>
          <a:lstStyle/>
          <a:p>
            <a:pPr algn="l"/>
            <a:r>
              <a:rPr sz="1100" b="1">
                <a:solidFill>
                  <a:srgbClr val="1F2621"/>
                </a:solidFill>
                <a:latin typeface="Aptos"/>
              </a:rPr>
              <a:t>Boise</a:t>
            </a:r>
          </a:p>
        </p:txBody>
      </p:sp>
      <p:sp>
        <p:nvSpPr>
          <p:cNvPr id="19" name="Rounded Rectangle 18"/>
          <p:cNvSpPr/>
          <p:nvPr/>
        </p:nvSpPr>
        <p:spPr>
          <a:xfrm>
            <a:off x="2212848" y="2953512"/>
            <a:ext cx="4480560" cy="164592"/>
          </a:xfrm>
          <a:prstGeom prst="roundRect">
            <a:avLst/>
          </a:prstGeom>
          <a:solidFill>
            <a:srgbClr val="F7F3EC"/>
          </a:solidFill>
          <a:ln>
            <a:solidFill>
              <a:srgbClr val="F7F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2212848" y="2953512"/>
            <a:ext cx="511792" cy="164592"/>
          </a:xfrm>
          <a:prstGeom prst="roundRect">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66560" y="2916936"/>
            <a:ext cx="731520" cy="164592"/>
          </a:xfrm>
          <a:prstGeom prst="rect">
            <a:avLst/>
          </a:prstGeom>
          <a:noFill/>
        </p:spPr>
        <p:txBody>
          <a:bodyPr wrap="square" lIns="27432" rIns="27432" tIns="27432" bIns="27432" anchor="t">
            <a:spAutoFit/>
          </a:bodyPr>
          <a:lstStyle/>
          <a:p>
            <a:pPr algn="r"/>
            <a:r>
              <a:rPr sz="1100" b="1">
                <a:solidFill>
                  <a:srgbClr val="355C47"/>
                </a:solidFill>
                <a:latin typeface="Aptos"/>
              </a:rPr>
              <a:t>2,285</a:t>
            </a:r>
          </a:p>
        </p:txBody>
      </p:sp>
      <p:sp>
        <p:nvSpPr>
          <p:cNvPr id="22" name="TextBox 21"/>
          <p:cNvSpPr txBox="1"/>
          <p:nvPr/>
        </p:nvSpPr>
        <p:spPr>
          <a:xfrm>
            <a:off x="5614416" y="3127248"/>
            <a:ext cx="1005840" cy="146304"/>
          </a:xfrm>
          <a:prstGeom prst="rect">
            <a:avLst/>
          </a:prstGeom>
          <a:noFill/>
        </p:spPr>
        <p:txBody>
          <a:bodyPr wrap="square" lIns="27432" rIns="27432" tIns="27432" bIns="27432" anchor="t">
            <a:spAutoFit/>
          </a:bodyPr>
          <a:lstStyle/>
          <a:p>
            <a:pPr algn="r"/>
            <a:r>
              <a:rPr sz="900" b="0">
                <a:solidFill>
                  <a:srgbClr val="5F6B63"/>
                </a:solidFill>
                <a:latin typeface="Aptos"/>
              </a:rPr>
              <a:t>MOS 88.6%</a:t>
            </a:r>
          </a:p>
        </p:txBody>
      </p:sp>
      <p:sp>
        <p:nvSpPr>
          <p:cNvPr id="23" name="TextBox 22"/>
          <p:cNvSpPr txBox="1"/>
          <p:nvPr/>
        </p:nvSpPr>
        <p:spPr>
          <a:xfrm>
            <a:off x="987552" y="3493008"/>
            <a:ext cx="1097280" cy="164592"/>
          </a:xfrm>
          <a:prstGeom prst="rect">
            <a:avLst/>
          </a:prstGeom>
          <a:noFill/>
        </p:spPr>
        <p:txBody>
          <a:bodyPr wrap="square" lIns="27432" rIns="27432" tIns="27432" bIns="27432" anchor="t">
            <a:spAutoFit/>
          </a:bodyPr>
          <a:lstStyle/>
          <a:p>
            <a:pPr algn="l"/>
            <a:r>
              <a:rPr sz="1100" b="1">
                <a:solidFill>
                  <a:srgbClr val="1F2621"/>
                </a:solidFill>
                <a:latin typeface="Aptos"/>
              </a:rPr>
              <a:t>Portland</a:t>
            </a:r>
          </a:p>
        </p:txBody>
      </p:sp>
      <p:sp>
        <p:nvSpPr>
          <p:cNvPr id="24" name="Rounded Rectangle 23"/>
          <p:cNvSpPr/>
          <p:nvPr/>
        </p:nvSpPr>
        <p:spPr>
          <a:xfrm>
            <a:off x="2212848" y="3520440"/>
            <a:ext cx="4480560" cy="164592"/>
          </a:xfrm>
          <a:prstGeom prst="roundRect">
            <a:avLst/>
          </a:prstGeom>
          <a:solidFill>
            <a:srgbClr val="F7F3EC"/>
          </a:solidFill>
          <a:ln>
            <a:solidFill>
              <a:srgbClr val="F7F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2212848" y="3520440"/>
            <a:ext cx="528665" cy="164592"/>
          </a:xfrm>
          <a:prstGeom prst="roundRect">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66560" y="3483864"/>
            <a:ext cx="731520" cy="164592"/>
          </a:xfrm>
          <a:prstGeom prst="rect">
            <a:avLst/>
          </a:prstGeom>
          <a:noFill/>
        </p:spPr>
        <p:txBody>
          <a:bodyPr wrap="square" lIns="27432" rIns="27432" tIns="27432" bIns="27432" anchor="t">
            <a:spAutoFit/>
          </a:bodyPr>
          <a:lstStyle/>
          <a:p>
            <a:pPr algn="r"/>
            <a:r>
              <a:rPr sz="1100" b="1">
                <a:solidFill>
                  <a:srgbClr val="355C47"/>
                </a:solidFill>
                <a:latin typeface="Aptos"/>
              </a:rPr>
              <a:t>2,360</a:t>
            </a:r>
          </a:p>
        </p:txBody>
      </p:sp>
      <p:sp>
        <p:nvSpPr>
          <p:cNvPr id="27" name="TextBox 26"/>
          <p:cNvSpPr txBox="1"/>
          <p:nvPr/>
        </p:nvSpPr>
        <p:spPr>
          <a:xfrm>
            <a:off x="5614416" y="3694176"/>
            <a:ext cx="1005840" cy="146304"/>
          </a:xfrm>
          <a:prstGeom prst="rect">
            <a:avLst/>
          </a:prstGeom>
          <a:noFill/>
        </p:spPr>
        <p:txBody>
          <a:bodyPr wrap="square" lIns="27432" rIns="27432" tIns="27432" bIns="27432" anchor="t">
            <a:spAutoFit/>
          </a:bodyPr>
          <a:lstStyle/>
          <a:p>
            <a:pPr algn="r"/>
            <a:r>
              <a:rPr sz="900" b="0">
                <a:solidFill>
                  <a:srgbClr val="5F6B63"/>
                </a:solidFill>
                <a:latin typeface="Aptos"/>
              </a:rPr>
              <a:t>MOS 88.2%</a:t>
            </a:r>
          </a:p>
        </p:txBody>
      </p:sp>
      <p:sp>
        <p:nvSpPr>
          <p:cNvPr id="28" name="TextBox 27"/>
          <p:cNvSpPr txBox="1"/>
          <p:nvPr/>
        </p:nvSpPr>
        <p:spPr>
          <a:xfrm>
            <a:off x="987552" y="4059935"/>
            <a:ext cx="1097280" cy="164592"/>
          </a:xfrm>
          <a:prstGeom prst="rect">
            <a:avLst/>
          </a:prstGeom>
          <a:noFill/>
        </p:spPr>
        <p:txBody>
          <a:bodyPr wrap="square" lIns="27432" rIns="27432" tIns="27432" bIns="27432" anchor="t">
            <a:spAutoFit/>
          </a:bodyPr>
          <a:lstStyle/>
          <a:p>
            <a:pPr algn="l"/>
            <a:r>
              <a:rPr sz="1100" b="1">
                <a:solidFill>
                  <a:srgbClr val="1F2621"/>
                </a:solidFill>
                <a:latin typeface="Aptos"/>
              </a:rPr>
              <a:t>Spokane</a:t>
            </a:r>
          </a:p>
        </p:txBody>
      </p:sp>
      <p:sp>
        <p:nvSpPr>
          <p:cNvPr id="29" name="Rounded Rectangle 28"/>
          <p:cNvSpPr/>
          <p:nvPr/>
        </p:nvSpPr>
        <p:spPr>
          <a:xfrm>
            <a:off x="2212848" y="4087367"/>
            <a:ext cx="4480560" cy="164592"/>
          </a:xfrm>
          <a:prstGeom prst="roundRect">
            <a:avLst/>
          </a:prstGeom>
          <a:solidFill>
            <a:srgbClr val="F7F3EC"/>
          </a:solidFill>
          <a:ln>
            <a:solidFill>
              <a:srgbClr val="F7F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2212848" y="4087367"/>
            <a:ext cx="610267" cy="164592"/>
          </a:xfrm>
          <a:prstGeom prst="roundRect">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66560" y="4050791"/>
            <a:ext cx="731520" cy="164592"/>
          </a:xfrm>
          <a:prstGeom prst="rect">
            <a:avLst/>
          </a:prstGeom>
          <a:noFill/>
        </p:spPr>
        <p:txBody>
          <a:bodyPr wrap="square" lIns="27432" rIns="27432" tIns="27432" bIns="27432" anchor="t">
            <a:spAutoFit/>
          </a:bodyPr>
          <a:lstStyle/>
          <a:p>
            <a:pPr algn="r"/>
            <a:r>
              <a:rPr sz="1100" b="1">
                <a:solidFill>
                  <a:srgbClr val="355C47"/>
                </a:solidFill>
                <a:latin typeface="Aptos"/>
              </a:rPr>
              <a:t>2,724</a:t>
            </a:r>
          </a:p>
        </p:txBody>
      </p:sp>
      <p:sp>
        <p:nvSpPr>
          <p:cNvPr id="32" name="TextBox 31"/>
          <p:cNvSpPr txBox="1"/>
          <p:nvPr/>
        </p:nvSpPr>
        <p:spPr>
          <a:xfrm>
            <a:off x="5614416" y="4261103"/>
            <a:ext cx="1005840" cy="146304"/>
          </a:xfrm>
          <a:prstGeom prst="rect">
            <a:avLst/>
          </a:prstGeom>
          <a:noFill/>
        </p:spPr>
        <p:txBody>
          <a:bodyPr wrap="square" lIns="27432" rIns="27432" tIns="27432" bIns="27432" anchor="t">
            <a:spAutoFit/>
          </a:bodyPr>
          <a:lstStyle/>
          <a:p>
            <a:pPr algn="r"/>
            <a:r>
              <a:rPr sz="900" b="0">
                <a:solidFill>
                  <a:srgbClr val="5F6B63"/>
                </a:solidFill>
                <a:latin typeface="Aptos"/>
              </a:rPr>
              <a:t>MOS 86.4%</a:t>
            </a:r>
          </a:p>
        </p:txBody>
      </p:sp>
      <p:sp>
        <p:nvSpPr>
          <p:cNvPr id="33" name="TextBox 32"/>
          <p:cNvSpPr txBox="1"/>
          <p:nvPr/>
        </p:nvSpPr>
        <p:spPr>
          <a:xfrm>
            <a:off x="987552" y="4626864"/>
            <a:ext cx="1097280" cy="164592"/>
          </a:xfrm>
          <a:prstGeom prst="rect">
            <a:avLst/>
          </a:prstGeom>
          <a:noFill/>
        </p:spPr>
        <p:txBody>
          <a:bodyPr wrap="square" lIns="27432" rIns="27432" tIns="27432" bIns="27432" anchor="t">
            <a:spAutoFit/>
          </a:bodyPr>
          <a:lstStyle/>
          <a:p>
            <a:pPr algn="l"/>
            <a:r>
              <a:rPr sz="1100" b="1">
                <a:solidFill>
                  <a:srgbClr val="1F2621"/>
                </a:solidFill>
                <a:latin typeface="Aptos"/>
              </a:rPr>
              <a:t>San Diego</a:t>
            </a:r>
          </a:p>
        </p:txBody>
      </p:sp>
      <p:sp>
        <p:nvSpPr>
          <p:cNvPr id="34" name="Rounded Rectangle 33"/>
          <p:cNvSpPr/>
          <p:nvPr/>
        </p:nvSpPr>
        <p:spPr>
          <a:xfrm>
            <a:off x="2212848" y="4654296"/>
            <a:ext cx="4480560" cy="164592"/>
          </a:xfrm>
          <a:prstGeom prst="roundRect">
            <a:avLst/>
          </a:prstGeom>
          <a:solidFill>
            <a:srgbClr val="F7F3EC"/>
          </a:solidFill>
          <a:ln>
            <a:solidFill>
              <a:srgbClr val="F7F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2212848" y="4654296"/>
            <a:ext cx="571489" cy="164592"/>
          </a:xfrm>
          <a:prstGeom prst="roundRect">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66560" y="4617720"/>
            <a:ext cx="731520" cy="164592"/>
          </a:xfrm>
          <a:prstGeom prst="rect">
            <a:avLst/>
          </a:prstGeom>
          <a:noFill/>
        </p:spPr>
        <p:txBody>
          <a:bodyPr wrap="square" lIns="27432" rIns="27432" tIns="27432" bIns="27432" anchor="t">
            <a:spAutoFit/>
          </a:bodyPr>
          <a:lstStyle/>
          <a:p>
            <a:pPr algn="r"/>
            <a:r>
              <a:rPr sz="1100" b="1">
                <a:solidFill>
                  <a:srgbClr val="355C47"/>
                </a:solidFill>
                <a:latin typeface="Aptos"/>
              </a:rPr>
              <a:t>2,551</a:t>
            </a:r>
          </a:p>
        </p:txBody>
      </p:sp>
      <p:sp>
        <p:nvSpPr>
          <p:cNvPr id="37" name="TextBox 36"/>
          <p:cNvSpPr txBox="1"/>
          <p:nvPr/>
        </p:nvSpPr>
        <p:spPr>
          <a:xfrm>
            <a:off x="5614416" y="4828032"/>
            <a:ext cx="1005840" cy="146304"/>
          </a:xfrm>
          <a:prstGeom prst="rect">
            <a:avLst/>
          </a:prstGeom>
          <a:noFill/>
        </p:spPr>
        <p:txBody>
          <a:bodyPr wrap="square" lIns="27432" rIns="27432" tIns="27432" bIns="27432" anchor="t">
            <a:spAutoFit/>
          </a:bodyPr>
          <a:lstStyle/>
          <a:p>
            <a:pPr algn="r"/>
            <a:r>
              <a:rPr sz="900" b="0">
                <a:solidFill>
                  <a:srgbClr val="5F6B63"/>
                </a:solidFill>
                <a:latin typeface="Aptos"/>
              </a:rPr>
              <a:t>MOS 87.2%</a:t>
            </a:r>
          </a:p>
        </p:txBody>
      </p:sp>
      <p:cxnSp>
        <p:nvCxnSpPr>
          <p:cNvPr id="38" name="Connector 37"/>
          <p:cNvCxnSpPr/>
          <p:nvPr/>
        </p:nvCxnSpPr>
        <p:spPr>
          <a:xfrm>
            <a:off x="6693408" y="2240280"/>
            <a:ext cx="0" cy="2834640"/>
          </a:xfrm>
          <a:prstGeom prst="line">
            <a:avLst/>
          </a:prstGeom>
          <a:ln w="17780">
            <a:solidFill>
              <a:srgbClr val="C58A2A"/>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5669280" y="5230368"/>
            <a:ext cx="1645920" cy="146304"/>
          </a:xfrm>
          <a:prstGeom prst="rect">
            <a:avLst/>
          </a:prstGeom>
          <a:noFill/>
        </p:spPr>
        <p:txBody>
          <a:bodyPr wrap="square" lIns="27432" rIns="27432" tIns="27432" bIns="27432" anchor="t">
            <a:spAutoFit/>
          </a:bodyPr>
          <a:lstStyle/>
          <a:p>
            <a:pPr algn="ctr"/>
            <a:r>
              <a:rPr sz="1000" b="0">
                <a:solidFill>
                  <a:srgbClr val="C58A2A"/>
                </a:solidFill>
                <a:latin typeface="Aptos"/>
              </a:rPr>
              <a:t>20,000-unit screen</a:t>
            </a:r>
          </a:p>
        </p:txBody>
      </p:sp>
      <p:sp>
        <p:nvSpPr>
          <p:cNvPr id="40" name="TextBox 39"/>
          <p:cNvSpPr txBox="1"/>
          <p:nvPr/>
        </p:nvSpPr>
        <p:spPr>
          <a:xfrm>
            <a:off x="987552" y="5394960"/>
            <a:ext cx="6126480" cy="164592"/>
          </a:xfrm>
          <a:prstGeom prst="rect">
            <a:avLst/>
          </a:prstGeom>
          <a:noFill/>
        </p:spPr>
        <p:txBody>
          <a:bodyPr wrap="square" lIns="27432" rIns="27432" tIns="27432" bIns="27432" anchor="t">
            <a:spAutoFit/>
          </a:bodyPr>
          <a:lstStyle/>
          <a:p>
            <a:pPr algn="l"/>
            <a:r>
              <a:rPr sz="1100" b="0">
                <a:solidFill>
                  <a:srgbClr val="5F6B63"/>
                </a:solidFill>
                <a:latin typeface="Aptos"/>
              </a:rPr>
              <a:t>Each bar shows the units needed to cover route-fixed shipping. The rest of the 20,000-unit screen is margin-of-safety.</a:t>
            </a:r>
          </a:p>
        </p:txBody>
      </p:sp>
      <p:sp>
        <p:nvSpPr>
          <p:cNvPr id="41" name="Rounded Rectangle 40"/>
          <p:cNvSpPr/>
          <p:nvPr/>
        </p:nvSpPr>
        <p:spPr>
          <a:xfrm>
            <a:off x="7936992" y="1682496"/>
            <a:ext cx="3566160" cy="4315968"/>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8174736" y="1956816"/>
            <a:ext cx="1444752" cy="877824"/>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302752" y="2066544"/>
            <a:ext cx="1188720" cy="164592"/>
          </a:xfrm>
          <a:prstGeom prst="rect">
            <a:avLst/>
          </a:prstGeom>
          <a:noFill/>
        </p:spPr>
        <p:txBody>
          <a:bodyPr wrap="square" lIns="27432" rIns="27432" tIns="27432" bIns="27432" anchor="t">
            <a:spAutoFit/>
          </a:bodyPr>
          <a:lstStyle/>
          <a:p>
            <a:pPr algn="ctr"/>
            <a:r>
              <a:rPr sz="1000" b="1">
                <a:solidFill>
                  <a:srgbClr val="5F6B63"/>
                </a:solidFill>
                <a:latin typeface="Aptos"/>
              </a:rPr>
              <a:t>BEST BREAK-EVEN</a:t>
            </a:r>
          </a:p>
        </p:txBody>
      </p:sp>
      <p:sp>
        <p:nvSpPr>
          <p:cNvPr id="44" name="TextBox 43"/>
          <p:cNvSpPr txBox="1"/>
          <p:nvPr/>
        </p:nvSpPr>
        <p:spPr>
          <a:xfrm>
            <a:off x="8302752" y="2267712"/>
            <a:ext cx="1188720" cy="457200"/>
          </a:xfrm>
          <a:prstGeom prst="rect">
            <a:avLst/>
          </a:prstGeom>
          <a:noFill/>
        </p:spPr>
        <p:txBody>
          <a:bodyPr wrap="square" lIns="27432" rIns="27432" tIns="27432" bIns="27432" anchor="ctr">
            <a:spAutoFit/>
          </a:bodyPr>
          <a:lstStyle/>
          <a:p>
            <a:pPr algn="ctr"/>
            <a:r>
              <a:rPr sz="1900" b="1">
                <a:solidFill>
                  <a:srgbClr val="355C47"/>
                </a:solidFill>
                <a:latin typeface="Aptos Display"/>
              </a:rPr>
              <a:t>2,285</a:t>
            </a:r>
          </a:p>
        </p:txBody>
      </p:sp>
      <p:sp>
        <p:nvSpPr>
          <p:cNvPr id="45" name="Rounded Rectangle 44"/>
          <p:cNvSpPr/>
          <p:nvPr/>
        </p:nvSpPr>
        <p:spPr>
          <a:xfrm>
            <a:off x="9747504" y="1956816"/>
            <a:ext cx="1444752" cy="877824"/>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875520" y="2066544"/>
            <a:ext cx="1188720" cy="164592"/>
          </a:xfrm>
          <a:prstGeom prst="rect">
            <a:avLst/>
          </a:prstGeom>
          <a:noFill/>
        </p:spPr>
        <p:txBody>
          <a:bodyPr wrap="square" lIns="27432" rIns="27432" tIns="27432" bIns="27432" anchor="t">
            <a:spAutoFit/>
          </a:bodyPr>
          <a:lstStyle/>
          <a:p>
            <a:pPr algn="ctr"/>
            <a:r>
              <a:rPr sz="1000" b="1">
                <a:solidFill>
                  <a:srgbClr val="5F6B63"/>
                </a:solidFill>
                <a:latin typeface="Aptos"/>
              </a:rPr>
              <a:t>WORST BREAK-EVEN</a:t>
            </a:r>
          </a:p>
        </p:txBody>
      </p:sp>
      <p:sp>
        <p:nvSpPr>
          <p:cNvPr id="47" name="TextBox 46"/>
          <p:cNvSpPr txBox="1"/>
          <p:nvPr/>
        </p:nvSpPr>
        <p:spPr>
          <a:xfrm>
            <a:off x="9875520" y="2267712"/>
            <a:ext cx="1188720" cy="457200"/>
          </a:xfrm>
          <a:prstGeom prst="rect">
            <a:avLst/>
          </a:prstGeom>
          <a:noFill/>
        </p:spPr>
        <p:txBody>
          <a:bodyPr wrap="square" lIns="27432" rIns="27432" tIns="27432" bIns="27432" anchor="ctr">
            <a:spAutoFit/>
          </a:bodyPr>
          <a:lstStyle/>
          <a:p>
            <a:pPr algn="ctr"/>
            <a:r>
              <a:rPr sz="1900" b="1">
                <a:solidFill>
                  <a:srgbClr val="3F728A"/>
                </a:solidFill>
                <a:latin typeface="Aptos Display"/>
              </a:rPr>
              <a:t>2,724</a:t>
            </a:r>
          </a:p>
        </p:txBody>
      </p:sp>
      <p:sp>
        <p:nvSpPr>
          <p:cNvPr id="48" name="Rounded Rectangle 47"/>
          <p:cNvSpPr/>
          <p:nvPr/>
        </p:nvSpPr>
        <p:spPr>
          <a:xfrm>
            <a:off x="8174736" y="3054096"/>
            <a:ext cx="3017520" cy="877824"/>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302752" y="3163824"/>
            <a:ext cx="2761488" cy="164592"/>
          </a:xfrm>
          <a:prstGeom prst="rect">
            <a:avLst/>
          </a:prstGeom>
          <a:noFill/>
        </p:spPr>
        <p:txBody>
          <a:bodyPr wrap="square" lIns="27432" rIns="27432" tIns="27432" bIns="27432" anchor="t">
            <a:spAutoFit/>
          </a:bodyPr>
          <a:lstStyle/>
          <a:p>
            <a:pPr algn="ctr"/>
            <a:r>
              <a:rPr sz="1000" b="1">
                <a:solidFill>
                  <a:srgbClr val="5F6B63"/>
                </a:solidFill>
                <a:latin typeface="Aptos"/>
              </a:rPr>
              <a:t>BREAK-EVEN RETAIL RANGE</a:t>
            </a:r>
          </a:p>
        </p:txBody>
      </p:sp>
      <p:sp>
        <p:nvSpPr>
          <p:cNvPr id="50" name="TextBox 49"/>
          <p:cNvSpPr txBox="1"/>
          <p:nvPr/>
        </p:nvSpPr>
        <p:spPr>
          <a:xfrm>
            <a:off x="8302752" y="3364992"/>
            <a:ext cx="2761488" cy="457200"/>
          </a:xfrm>
          <a:prstGeom prst="rect">
            <a:avLst/>
          </a:prstGeom>
          <a:noFill/>
        </p:spPr>
        <p:txBody>
          <a:bodyPr wrap="square" lIns="27432" rIns="27432" tIns="27432" bIns="27432" anchor="ctr">
            <a:spAutoFit/>
          </a:bodyPr>
          <a:lstStyle/>
          <a:p>
            <a:pPr algn="ctr"/>
            <a:r>
              <a:rPr sz="1900" b="1">
                <a:solidFill>
                  <a:srgbClr val="C58A2A"/>
                </a:solidFill>
                <a:latin typeface="Aptos Display"/>
              </a:rPr>
              <a:t>$0.70-$0.76</a:t>
            </a:r>
          </a:p>
        </p:txBody>
      </p:sp>
      <p:sp>
        <p:nvSpPr>
          <p:cNvPr id="51" name="TextBox 50"/>
          <p:cNvSpPr txBox="1"/>
          <p:nvPr/>
        </p:nvSpPr>
        <p:spPr>
          <a:xfrm>
            <a:off x="8174736" y="4224528"/>
            <a:ext cx="2743200" cy="1234440"/>
          </a:xfrm>
          <a:prstGeom prst="rect">
            <a:avLst/>
          </a:prstGeom>
          <a:noFill/>
        </p:spPr>
        <p:txBody>
          <a:bodyPr wrap="square" lIns="27432" rIns="27432" tIns="18288" bIns="18288">
            <a:spAutoFit/>
          </a:bodyPr>
          <a:lstStyle/>
          <a:p>
            <a:pPr algn="l">
              <a:lnSpc>
                <a:spcPct val="115000"/>
              </a:lnSpc>
            </a:pPr>
            <a:r>
              <a:rPr sz="1200">
                <a:solidFill>
                  <a:srgbClr val="1F2621"/>
                </a:solidFill>
                <a:latin typeface="Aptos"/>
              </a:rPr>
              <a:t>- Seattle breaks even at roughly 2.3k units; Spokane, the weakest of the five, still breaks even at only 2.7k.</a:t>
            </a:r>
          </a:p>
          <a:p>
            <a:pPr algn="l">
              <a:lnSpc>
                <a:spcPct val="115000"/>
              </a:lnSpc>
            </a:pPr>
            <a:r>
              <a:rPr sz="1200">
                <a:solidFill>
                  <a:srgbClr val="1F2621"/>
                </a:solidFill>
                <a:latin typeface="Aptos"/>
              </a:rPr>
              <a:t>- That means every recommended city has an 86%+ margin of safety under the screen assumptions.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55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46920" y="0"/>
            <a:ext cx="2542032" cy="73152"/>
          </a:xfrm>
          <a:prstGeom prst="rect">
            <a:avLst/>
          </a:prstGeom>
          <a:solidFill>
            <a:srgbClr val="C58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01168"/>
            <a:ext cx="1554480" cy="256032"/>
          </a:xfrm>
          <a:prstGeom prst="roundRect">
            <a:avLst/>
          </a:prstGeom>
          <a:solidFill>
            <a:srgbClr val="FCFAF5"/>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224028"/>
            <a:ext cx="1517904" cy="182880"/>
          </a:xfrm>
          <a:prstGeom prst="rect">
            <a:avLst/>
          </a:prstGeom>
          <a:noFill/>
        </p:spPr>
        <p:txBody>
          <a:bodyPr wrap="square" lIns="27432" rIns="27432" tIns="27432" bIns="27432" anchor="t">
            <a:spAutoFit/>
          </a:bodyPr>
          <a:lstStyle/>
          <a:p>
            <a:pPr algn="ctr"/>
            <a:r>
              <a:rPr sz="1000" b="1">
                <a:solidFill>
                  <a:srgbClr val="355C47"/>
                </a:solidFill>
                <a:latin typeface="Aptos"/>
              </a:rPr>
              <a:t>RECOMMENDATION</a:t>
            </a:r>
          </a:p>
        </p:txBody>
      </p:sp>
      <p:sp>
        <p:nvSpPr>
          <p:cNvPr id="7" name="Rounded Rectangle 6"/>
          <p:cNvSpPr/>
          <p:nvPr/>
        </p:nvSpPr>
        <p:spPr>
          <a:xfrm>
            <a:off x="2267712" y="201168"/>
            <a:ext cx="713232" cy="256032"/>
          </a:xfrm>
          <a:prstGeom prst="roundRect">
            <a:avLst/>
          </a:prstGeom>
          <a:solidFill>
            <a:srgbClr val="FFFDF9"/>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0" y="224028"/>
            <a:ext cx="676656" cy="182880"/>
          </a:xfrm>
          <a:prstGeom prst="rect">
            <a:avLst/>
          </a:prstGeom>
          <a:noFill/>
        </p:spPr>
        <p:txBody>
          <a:bodyPr wrap="square" lIns="27432" rIns="27432" tIns="27432" bIns="27432" anchor="t">
            <a:spAutoFit/>
          </a:bodyPr>
          <a:lstStyle/>
          <a:p>
            <a:pPr algn="ctr"/>
            <a:r>
              <a:rPr sz="1000" b="1">
                <a:solidFill>
                  <a:srgbClr val="C58A2A"/>
                </a:solidFill>
                <a:latin typeface="Aptos"/>
              </a:rPr>
              <a:t>Q5</a:t>
            </a:r>
          </a:p>
        </p:txBody>
      </p:sp>
      <p:sp>
        <p:nvSpPr>
          <p:cNvPr id="9" name="TextBox 8"/>
          <p:cNvSpPr txBox="1"/>
          <p:nvPr/>
        </p:nvSpPr>
        <p:spPr>
          <a:xfrm>
            <a:off x="11631168" y="6519672"/>
            <a:ext cx="274320" cy="164592"/>
          </a:xfrm>
          <a:prstGeom prst="rect">
            <a:avLst/>
          </a:prstGeom>
          <a:noFill/>
        </p:spPr>
        <p:txBody>
          <a:bodyPr wrap="square" lIns="27432" rIns="27432" tIns="27432" bIns="27432" anchor="t">
            <a:spAutoFit/>
          </a:bodyPr>
          <a:lstStyle/>
          <a:p>
            <a:pPr algn="r"/>
            <a:r>
              <a:rPr sz="900" b="0">
                <a:solidFill>
                  <a:srgbClr val="5F6B63"/>
                </a:solidFill>
                <a:latin typeface="Aptos"/>
              </a:rPr>
              <a:t>15</a:t>
            </a:r>
          </a:p>
        </p:txBody>
      </p:sp>
      <p:sp>
        <p:nvSpPr>
          <p:cNvPr id="10" name="TextBox 9"/>
          <p:cNvSpPr txBox="1"/>
          <p:nvPr/>
        </p:nvSpPr>
        <p:spPr>
          <a:xfrm>
            <a:off x="548640" y="658368"/>
            <a:ext cx="10332720" cy="868680"/>
          </a:xfrm>
          <a:prstGeom prst="rect">
            <a:avLst/>
          </a:prstGeom>
          <a:noFill/>
        </p:spPr>
        <p:txBody>
          <a:bodyPr wrap="square" lIns="27432" rIns="27432" tIns="27432" bIns="27432" anchor="t">
            <a:spAutoFit/>
          </a:bodyPr>
          <a:lstStyle/>
          <a:p>
            <a:pPr algn="l"/>
            <a:r>
              <a:rPr sz="2700" b="1">
                <a:solidFill>
                  <a:srgbClr val="355C47"/>
                </a:solidFill>
                <a:latin typeface="Aptos Display"/>
              </a:rPr>
              <a:t>Seattle screens first because premium pricing outweighs Los Angeles's freight edge</a:t>
            </a:r>
          </a:p>
        </p:txBody>
      </p:sp>
      <p:sp>
        <p:nvSpPr>
          <p:cNvPr id="11" name="Rounded Rectangle 10"/>
          <p:cNvSpPr/>
          <p:nvPr/>
        </p:nvSpPr>
        <p:spPr>
          <a:xfrm>
            <a:off x="713232" y="1700784"/>
            <a:ext cx="7818120" cy="4261104"/>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901952"/>
            <a:ext cx="2560320" cy="164592"/>
          </a:xfrm>
          <a:prstGeom prst="rect">
            <a:avLst/>
          </a:prstGeom>
          <a:noFill/>
        </p:spPr>
        <p:txBody>
          <a:bodyPr wrap="square" lIns="27432" rIns="27432" tIns="27432" bIns="27432" anchor="t">
            <a:spAutoFit/>
          </a:bodyPr>
          <a:lstStyle/>
          <a:p>
            <a:pPr algn="l"/>
            <a:r>
              <a:rPr sz="1000" b="1">
                <a:solidFill>
                  <a:srgbClr val="5F6B63"/>
                </a:solidFill>
                <a:latin typeface="Aptos"/>
              </a:rPr>
              <a:t>ENTRY SCREEN LEADERBOARD</a:t>
            </a:r>
          </a:p>
        </p:txBody>
      </p:sp>
      <p:graphicFrame>
        <p:nvGraphicFramePr>
          <p:cNvPr id="13" name="Table 12"/>
          <p:cNvGraphicFramePr>
            <a:graphicFrameLocks noGrp="1"/>
          </p:cNvGraphicFramePr>
          <p:nvPr/>
        </p:nvGraphicFramePr>
        <p:xfrm>
          <a:off x="914400" y="2212848"/>
          <a:ext cx="6400800" cy="3474720"/>
        </p:xfrm>
        <a:graphic>
          <a:graphicData uri="http://schemas.openxmlformats.org/drawingml/2006/table">
            <a:tbl>
              <a:tblPr firstRow="1" bandRow="1">
                <a:tableStyleId>{5C22544A-7EE6-4342-B048-85BDC9FD1C3A}</a:tableStyleId>
              </a:tblPr>
              <a:tblGrid>
                <a:gridCol w="1371600"/>
                <a:gridCol w="914400"/>
                <a:gridCol w="1188720"/>
                <a:gridCol w="914400"/>
                <a:gridCol w="1143000"/>
                <a:gridCol w="868680"/>
              </a:tblGrid>
              <a:tr h="386080">
                <a:tc>
                  <a:txBody>
                    <a:bodyPr/>
                    <a:lstStyle/>
                    <a:p>
                      <a:r>
                        <a:rPr sz="1000" b="0">
                          <a:solidFill>
                            <a:srgbClr val="1F2621"/>
                          </a:solidFill>
                          <a:latin typeface="Aptos"/>
                        </a:rPr>
                        <a:t>City</a:t>
                      </a:r>
                    </a:p>
                  </a:txBody>
                  <a:tcPr>
                    <a:solidFill>
                      <a:srgbClr val="355C47"/>
                    </a:solidFill>
                  </a:tcPr>
                </a:tc>
                <a:tc>
                  <a:txBody>
                    <a:bodyPr/>
                    <a:lstStyle/>
                    <a:p>
                      <a:r>
                        <a:rPr sz="1000" b="0">
                          <a:solidFill>
                            <a:srgbClr val="1F2621"/>
                          </a:solidFill>
                          <a:latin typeface="Aptos"/>
                        </a:rPr>
                        <a:t>Price</a:t>
                      </a:r>
                    </a:p>
                  </a:txBody>
                  <a:tcPr>
                    <a:solidFill>
                      <a:srgbClr val="355C47"/>
                    </a:solidFill>
                  </a:tcPr>
                </a:tc>
                <a:tc>
                  <a:txBody>
                    <a:bodyPr/>
                    <a:lstStyle/>
                    <a:p>
                      <a:r>
                        <a:rPr sz="1000" b="0">
                          <a:solidFill>
                            <a:srgbClr val="1F2621"/>
                          </a:solidFill>
                          <a:latin typeface="Aptos"/>
                        </a:rPr>
                        <a:t>Organic share</a:t>
                      </a:r>
                    </a:p>
                  </a:txBody>
                  <a:tcPr>
                    <a:solidFill>
                      <a:srgbClr val="355C47"/>
                    </a:solidFill>
                  </a:tcPr>
                </a:tc>
                <a:tc>
                  <a:txBody>
                    <a:bodyPr/>
                    <a:lstStyle/>
                    <a:p>
                      <a:r>
                        <a:rPr sz="1000" b="0">
                          <a:solidFill>
                            <a:srgbClr val="1F2621"/>
                          </a:solidFill>
                          <a:latin typeface="Aptos"/>
                        </a:rPr>
                        <a:t>Miles</a:t>
                      </a:r>
                    </a:p>
                  </a:txBody>
                  <a:tcPr>
                    <a:solidFill>
                      <a:srgbClr val="355C47"/>
                    </a:solidFill>
                  </a:tcPr>
                </a:tc>
                <a:tc>
                  <a:txBody>
                    <a:bodyPr/>
                    <a:lstStyle/>
                    <a:p>
                      <a:r>
                        <a:rPr sz="1000" b="0">
                          <a:solidFill>
                            <a:srgbClr val="1F2621"/>
                          </a:solidFill>
                          <a:latin typeface="Aptos"/>
                        </a:rPr>
                        <a:t>Profit</a:t>
                      </a:r>
                    </a:p>
                  </a:txBody>
                  <a:tcPr>
                    <a:solidFill>
                      <a:srgbClr val="355C47"/>
                    </a:solidFill>
                  </a:tcPr>
                </a:tc>
                <a:tc>
                  <a:txBody>
                    <a:bodyPr/>
                    <a:lstStyle/>
                    <a:p>
                      <a:r>
                        <a:rPr sz="1000" b="0">
                          <a:solidFill>
                            <a:srgbClr val="1F2621"/>
                          </a:solidFill>
                          <a:latin typeface="Aptos"/>
                        </a:rPr>
                        <a:t>Pilot</a:t>
                      </a:r>
                    </a:p>
                  </a:txBody>
                  <a:tcPr>
                    <a:solidFill>
                      <a:srgbClr val="355C47"/>
                    </a:solidFill>
                  </a:tcPr>
                </a:tc>
              </a:tr>
              <a:tr h="386080">
                <a:tc>
                  <a:txBody>
                    <a:bodyPr/>
                    <a:lstStyle/>
                    <a:p>
                      <a:r>
                        <a:rPr sz="1000" b="0">
                          <a:solidFill>
                            <a:srgbClr val="1F2621"/>
                          </a:solidFill>
                          <a:latin typeface="Aptos"/>
                        </a:rPr>
                        <a:t>Seattle</a:t>
                      </a:r>
                    </a:p>
                  </a:txBody>
                  <a:tcPr>
                    <a:solidFill>
                      <a:srgbClr val="FCFAF5"/>
                    </a:solidFill>
                  </a:tcPr>
                </a:tc>
                <a:tc>
                  <a:txBody>
                    <a:bodyPr/>
                    <a:lstStyle/>
                    <a:p>
                      <a:r>
                        <a:rPr sz="1000" b="0">
                          <a:solidFill>
                            <a:srgbClr val="1F2621"/>
                          </a:solidFill>
                          <a:latin typeface="Aptos"/>
                        </a:rPr>
                        <a:t>$2.66</a:t>
                      </a:r>
                    </a:p>
                  </a:txBody>
                  <a:tcPr>
                    <a:solidFill>
                      <a:srgbClr val="FCFAF5"/>
                    </a:solidFill>
                  </a:tcPr>
                </a:tc>
                <a:tc>
                  <a:txBody>
                    <a:bodyPr/>
                    <a:lstStyle/>
                    <a:p>
                      <a:r>
                        <a:rPr sz="1000" b="0">
                          <a:solidFill>
                            <a:srgbClr val="1F2621"/>
                          </a:solidFill>
                          <a:latin typeface="Aptos"/>
                        </a:rPr>
                        <a:t>11.2%</a:t>
                      </a:r>
                    </a:p>
                  </a:txBody>
                  <a:tcPr>
                    <a:solidFill>
                      <a:srgbClr val="FCFAF5"/>
                    </a:solidFill>
                  </a:tcPr>
                </a:tc>
                <a:tc>
                  <a:txBody>
                    <a:bodyPr/>
                    <a:lstStyle/>
                    <a:p>
                      <a:r>
                        <a:rPr sz="1000" b="0">
                          <a:solidFill>
                            <a:srgbClr val="1F2621"/>
                          </a:solidFill>
                          <a:latin typeface="Aptos"/>
                        </a:rPr>
                        <a:t>1,029</a:t>
                      </a:r>
                    </a:p>
                  </a:txBody>
                  <a:tcPr>
                    <a:solidFill>
                      <a:srgbClr val="FCFAF5"/>
                    </a:solidFill>
                  </a:tcPr>
                </a:tc>
                <a:tc>
                  <a:txBody>
                    <a:bodyPr/>
                    <a:lstStyle/>
                    <a:p>
                      <a:r>
                        <a:rPr sz="1000" b="0">
                          <a:solidFill>
                            <a:srgbClr val="1F2621"/>
                          </a:solidFill>
                          <a:latin typeface="Aptos"/>
                        </a:rPr>
                        <a:t>$15,266</a:t>
                      </a:r>
                    </a:p>
                  </a:txBody>
                  <a:tcPr>
                    <a:solidFill>
                      <a:srgbClr val="FCFAF5"/>
                    </a:solidFill>
                  </a:tcPr>
                </a:tc>
                <a:tc>
                  <a:txBody>
                    <a:bodyPr/>
                    <a:lstStyle/>
                    <a:p>
                      <a:r>
                        <a:rPr sz="1000" b="0">
                          <a:solidFill>
                            <a:srgbClr val="1F2621"/>
                          </a:solidFill>
                          <a:latin typeface="Aptos"/>
                        </a:rPr>
                        <a:t>Selected</a:t>
                      </a:r>
                    </a:p>
                  </a:txBody>
                  <a:tcPr>
                    <a:solidFill>
                      <a:srgbClr val="FCFAF5"/>
                    </a:solidFill>
                  </a:tcPr>
                </a:tc>
              </a:tr>
              <a:tr h="386080">
                <a:tc>
                  <a:txBody>
                    <a:bodyPr/>
                    <a:lstStyle/>
                    <a:p>
                      <a:r>
                        <a:rPr sz="1000" b="0">
                          <a:solidFill>
                            <a:srgbClr val="1F2621"/>
                          </a:solidFill>
                          <a:latin typeface="Aptos"/>
                        </a:rPr>
                        <a:t>Boise</a:t>
                      </a:r>
                    </a:p>
                  </a:txBody>
                  <a:tcPr>
                    <a:solidFill>
                      <a:srgbClr val="F7F3EC"/>
                    </a:solidFill>
                  </a:tcPr>
                </a:tc>
                <a:tc>
                  <a:txBody>
                    <a:bodyPr/>
                    <a:lstStyle/>
                    <a:p>
                      <a:r>
                        <a:rPr sz="1000" b="0">
                          <a:solidFill>
                            <a:srgbClr val="1F2621"/>
                          </a:solidFill>
                          <a:latin typeface="Aptos"/>
                        </a:rPr>
                        <a:t>$2.59</a:t>
                      </a:r>
                    </a:p>
                  </a:txBody>
                  <a:tcPr>
                    <a:solidFill>
                      <a:srgbClr val="F7F3EC"/>
                    </a:solidFill>
                  </a:tcPr>
                </a:tc>
                <a:tc>
                  <a:txBody>
                    <a:bodyPr/>
                    <a:lstStyle/>
                    <a:p>
                      <a:r>
                        <a:rPr sz="1000" b="0">
                          <a:solidFill>
                            <a:srgbClr val="1F2621"/>
                          </a:solidFill>
                          <a:latin typeface="Aptos"/>
                        </a:rPr>
                        <a:t>5.4%</a:t>
                      </a:r>
                    </a:p>
                  </a:txBody>
                  <a:tcPr>
                    <a:solidFill>
                      <a:srgbClr val="F7F3EC"/>
                    </a:solidFill>
                  </a:tcPr>
                </a:tc>
                <a:tc>
                  <a:txBody>
                    <a:bodyPr/>
                    <a:lstStyle/>
                    <a:p>
                      <a:r>
                        <a:rPr sz="1000" b="0">
                          <a:solidFill>
                            <a:srgbClr val="1F2621"/>
                          </a:solidFill>
                          <a:latin typeface="Aptos"/>
                        </a:rPr>
                        <a:t>827</a:t>
                      </a:r>
                    </a:p>
                  </a:txBody>
                  <a:tcPr>
                    <a:solidFill>
                      <a:srgbClr val="F7F3EC"/>
                    </a:solidFill>
                  </a:tcPr>
                </a:tc>
                <a:tc>
                  <a:txBody>
                    <a:bodyPr/>
                    <a:lstStyle/>
                    <a:p>
                      <a:r>
                        <a:rPr sz="1000" b="0">
                          <a:solidFill>
                            <a:srgbClr val="1F2621"/>
                          </a:solidFill>
                          <a:latin typeface="Aptos"/>
                        </a:rPr>
                        <a:t>$14,838</a:t>
                      </a:r>
                    </a:p>
                  </a:txBody>
                  <a:tcPr>
                    <a:solidFill>
                      <a:srgbClr val="F7F3EC"/>
                    </a:solidFill>
                  </a:tcPr>
                </a:tc>
                <a:tc>
                  <a:txBody>
                    <a:bodyPr/>
                    <a:lstStyle/>
                    <a:p>
                      <a:r>
                        <a:rPr sz="1000" b="0">
                          <a:solidFill>
                            <a:srgbClr val="1F2621"/>
                          </a:solidFill>
                          <a:latin typeface="Aptos"/>
                        </a:rPr>
                        <a:t>Selected</a:t>
                      </a:r>
                    </a:p>
                  </a:txBody>
                  <a:tcPr>
                    <a:solidFill>
                      <a:srgbClr val="F7F3EC"/>
                    </a:solidFill>
                  </a:tcPr>
                </a:tc>
              </a:tr>
              <a:tr h="386080">
                <a:tc>
                  <a:txBody>
                    <a:bodyPr/>
                    <a:lstStyle/>
                    <a:p>
                      <a:r>
                        <a:rPr sz="1000" b="0">
                          <a:solidFill>
                            <a:srgbClr val="1F2621"/>
                          </a:solidFill>
                          <a:latin typeface="Aptos"/>
                        </a:rPr>
                        <a:t>Portland</a:t>
                      </a:r>
                    </a:p>
                  </a:txBody>
                  <a:tcPr>
                    <a:solidFill>
                      <a:srgbClr val="FCFAF5"/>
                    </a:solidFill>
                  </a:tcPr>
                </a:tc>
                <a:tc>
                  <a:txBody>
                    <a:bodyPr/>
                    <a:lstStyle/>
                    <a:p>
                      <a:r>
                        <a:rPr sz="1000" b="0">
                          <a:solidFill>
                            <a:srgbClr val="1F2621"/>
                          </a:solidFill>
                          <a:latin typeface="Aptos"/>
                        </a:rPr>
                        <a:t>$2.54</a:t>
                      </a:r>
                    </a:p>
                  </a:txBody>
                  <a:tcPr>
                    <a:solidFill>
                      <a:srgbClr val="FCFAF5"/>
                    </a:solidFill>
                  </a:tcPr>
                </a:tc>
                <a:tc>
                  <a:txBody>
                    <a:bodyPr/>
                    <a:lstStyle/>
                    <a:p>
                      <a:r>
                        <a:rPr sz="1000" b="0">
                          <a:solidFill>
                            <a:srgbClr val="1F2621"/>
                          </a:solidFill>
                          <a:latin typeface="Aptos"/>
                        </a:rPr>
                        <a:t>5.9%</a:t>
                      </a:r>
                    </a:p>
                  </a:txBody>
                  <a:tcPr>
                    <a:solidFill>
                      <a:srgbClr val="FCFAF5"/>
                    </a:solidFill>
                  </a:tcPr>
                </a:tc>
                <a:tc>
                  <a:txBody>
                    <a:bodyPr/>
                    <a:lstStyle/>
                    <a:p>
                      <a:r>
                        <a:rPr sz="1000" b="0">
                          <a:solidFill>
                            <a:srgbClr val="1F2621"/>
                          </a:solidFill>
                          <a:latin typeface="Aptos"/>
                        </a:rPr>
                        <a:t>855</a:t>
                      </a:r>
                    </a:p>
                  </a:txBody>
                  <a:tcPr>
                    <a:solidFill>
                      <a:srgbClr val="FCFAF5"/>
                    </a:solidFill>
                  </a:tcPr>
                </a:tc>
                <a:tc>
                  <a:txBody>
                    <a:bodyPr/>
                    <a:lstStyle/>
                    <a:p>
                      <a:r>
                        <a:rPr sz="1000" b="0">
                          <a:solidFill>
                            <a:srgbClr val="1F2621"/>
                          </a:solidFill>
                          <a:latin typeface="Aptos"/>
                        </a:rPr>
                        <a:t>$14,408</a:t>
                      </a:r>
                    </a:p>
                  </a:txBody>
                  <a:tcPr>
                    <a:solidFill>
                      <a:srgbClr val="FCFAF5"/>
                    </a:solidFill>
                  </a:tcPr>
                </a:tc>
                <a:tc>
                  <a:txBody>
                    <a:bodyPr/>
                    <a:lstStyle/>
                    <a:p>
                      <a:r>
                        <a:rPr sz="1000" b="0">
                          <a:solidFill>
                            <a:srgbClr val="1F2621"/>
                          </a:solidFill>
                          <a:latin typeface="Aptos"/>
                        </a:rPr>
                        <a:t>Selected</a:t>
                      </a:r>
                    </a:p>
                  </a:txBody>
                  <a:tcPr>
                    <a:solidFill>
                      <a:srgbClr val="FCFAF5"/>
                    </a:solidFill>
                  </a:tcPr>
                </a:tc>
              </a:tr>
              <a:tr h="386080">
                <a:tc>
                  <a:txBody>
                    <a:bodyPr/>
                    <a:lstStyle/>
                    <a:p>
                      <a:r>
                        <a:rPr sz="1000" b="0">
                          <a:solidFill>
                            <a:srgbClr val="1F2621"/>
                          </a:solidFill>
                          <a:latin typeface="Aptos"/>
                        </a:rPr>
                        <a:t>Spokane</a:t>
                      </a:r>
                    </a:p>
                  </a:txBody>
                  <a:tcPr>
                    <a:solidFill>
                      <a:srgbClr val="F7F3EC"/>
                    </a:solidFill>
                  </a:tcPr>
                </a:tc>
                <a:tc>
                  <a:txBody>
                    <a:bodyPr/>
                    <a:lstStyle/>
                    <a:p>
                      <a:r>
                        <a:rPr sz="1000" b="0">
                          <a:solidFill>
                            <a:srgbClr val="1F2621"/>
                          </a:solidFill>
                          <a:latin typeface="Aptos"/>
                        </a:rPr>
                        <a:t>$2.38</a:t>
                      </a:r>
                    </a:p>
                  </a:txBody>
                  <a:tcPr>
                    <a:solidFill>
                      <a:srgbClr val="F7F3EC"/>
                    </a:solidFill>
                  </a:tcPr>
                </a:tc>
                <a:tc>
                  <a:txBody>
                    <a:bodyPr/>
                    <a:lstStyle/>
                    <a:p>
                      <a:r>
                        <a:rPr sz="1000" b="0">
                          <a:solidFill>
                            <a:srgbClr val="1F2621"/>
                          </a:solidFill>
                          <a:latin typeface="Aptos"/>
                        </a:rPr>
                        <a:t>6.1%</a:t>
                      </a:r>
                    </a:p>
                  </a:txBody>
                  <a:tcPr>
                    <a:solidFill>
                      <a:srgbClr val="F7F3EC"/>
                    </a:solidFill>
                  </a:tcPr>
                </a:tc>
                <a:tc>
                  <a:txBody>
                    <a:bodyPr/>
                    <a:lstStyle/>
                    <a:p>
                      <a:r>
                        <a:rPr sz="1000" b="0">
                          <a:solidFill>
                            <a:srgbClr val="1F2621"/>
                          </a:solidFill>
                          <a:latin typeface="Aptos"/>
                        </a:rPr>
                        <a:t>1,097</a:t>
                      </a:r>
                    </a:p>
                  </a:txBody>
                  <a:tcPr>
                    <a:solidFill>
                      <a:srgbClr val="F7F3EC"/>
                    </a:solidFill>
                  </a:tcPr>
                </a:tc>
                <a:tc>
                  <a:txBody>
                    <a:bodyPr/>
                    <a:lstStyle/>
                    <a:p>
                      <a:r>
                        <a:rPr sz="1000" b="0">
                          <a:solidFill>
                            <a:srgbClr val="1F2621"/>
                          </a:solidFill>
                          <a:latin typeface="Aptos"/>
                        </a:rPr>
                        <a:t>$12,992</a:t>
                      </a:r>
                    </a:p>
                  </a:txBody>
                  <a:tcPr>
                    <a:solidFill>
                      <a:srgbClr val="F7F3EC"/>
                    </a:solidFill>
                  </a:tcPr>
                </a:tc>
                <a:tc>
                  <a:txBody>
                    <a:bodyPr/>
                    <a:lstStyle/>
                    <a:p>
                      <a:r>
                        <a:rPr sz="1000" b="0">
                          <a:solidFill>
                            <a:srgbClr val="1F2621"/>
                          </a:solidFill>
                          <a:latin typeface="Aptos"/>
                        </a:rPr>
                        <a:t>Selected</a:t>
                      </a:r>
                    </a:p>
                  </a:txBody>
                  <a:tcPr>
                    <a:solidFill>
                      <a:srgbClr val="F7F3EC"/>
                    </a:solidFill>
                  </a:tcPr>
                </a:tc>
              </a:tr>
              <a:tr h="386080">
                <a:tc>
                  <a:txBody>
                    <a:bodyPr/>
                    <a:lstStyle/>
                    <a:p>
                      <a:r>
                        <a:rPr sz="1000" b="0">
                          <a:solidFill>
                            <a:srgbClr val="1F2621"/>
                          </a:solidFill>
                          <a:latin typeface="Aptos"/>
                        </a:rPr>
                        <a:t>San Diego</a:t>
                      </a:r>
                    </a:p>
                  </a:txBody>
                  <a:tcPr>
                    <a:solidFill>
                      <a:srgbClr val="FCFAF5"/>
                    </a:solidFill>
                  </a:tcPr>
                </a:tc>
                <a:tc>
                  <a:txBody>
                    <a:bodyPr/>
                    <a:lstStyle/>
                    <a:p>
                      <a:r>
                        <a:rPr sz="1000" b="0">
                          <a:solidFill>
                            <a:srgbClr val="1F2621"/>
                          </a:solidFill>
                          <a:latin typeface="Aptos"/>
                        </a:rPr>
                        <a:t>$2.09</a:t>
                      </a:r>
                    </a:p>
                  </a:txBody>
                  <a:tcPr>
                    <a:solidFill>
                      <a:srgbClr val="FCFAF5"/>
                    </a:solidFill>
                  </a:tcPr>
                </a:tc>
                <a:tc>
                  <a:txBody>
                    <a:bodyPr/>
                    <a:lstStyle/>
                    <a:p>
                      <a:r>
                        <a:rPr sz="1000" b="0">
                          <a:solidFill>
                            <a:srgbClr val="1F2621"/>
                          </a:solidFill>
                          <a:latin typeface="Aptos"/>
                        </a:rPr>
                        <a:t>4.3%</a:t>
                      </a:r>
                    </a:p>
                  </a:txBody>
                  <a:tcPr>
                    <a:solidFill>
                      <a:srgbClr val="FCFAF5"/>
                    </a:solidFill>
                  </a:tcPr>
                </a:tc>
                <a:tc>
                  <a:txBody>
                    <a:bodyPr/>
                    <a:lstStyle/>
                    <a:p>
                      <a:r>
                        <a:rPr sz="1000" b="0">
                          <a:solidFill>
                            <a:srgbClr val="1F2621"/>
                          </a:solidFill>
                          <a:latin typeface="Aptos"/>
                        </a:rPr>
                        <a:t>253</a:t>
                      </a:r>
                    </a:p>
                  </a:txBody>
                  <a:tcPr>
                    <a:solidFill>
                      <a:srgbClr val="FCFAF5"/>
                    </a:solidFill>
                  </a:tcPr>
                </a:tc>
                <a:tc>
                  <a:txBody>
                    <a:bodyPr/>
                    <a:lstStyle/>
                    <a:p>
                      <a:r>
                        <a:rPr sz="1000" b="0">
                          <a:solidFill>
                            <a:srgbClr val="1F2621"/>
                          </a:solidFill>
                          <a:latin typeface="Aptos"/>
                        </a:rPr>
                        <a:t>$11,126</a:t>
                      </a:r>
                    </a:p>
                  </a:txBody>
                  <a:tcPr>
                    <a:solidFill>
                      <a:srgbClr val="FCFAF5"/>
                    </a:solidFill>
                  </a:tcPr>
                </a:tc>
                <a:tc>
                  <a:txBody>
                    <a:bodyPr/>
                    <a:lstStyle/>
                    <a:p>
                      <a:r>
                        <a:rPr sz="1000" b="0">
                          <a:solidFill>
                            <a:srgbClr val="1F2621"/>
                          </a:solidFill>
                          <a:latin typeface="Aptos"/>
                        </a:rPr>
                        <a:t>Selected</a:t>
                      </a:r>
                    </a:p>
                  </a:txBody>
                  <a:tcPr>
                    <a:solidFill>
                      <a:srgbClr val="FCFAF5"/>
                    </a:solidFill>
                  </a:tcPr>
                </a:tc>
              </a:tr>
              <a:tr h="386080">
                <a:tc>
                  <a:txBody>
                    <a:bodyPr/>
                    <a:lstStyle/>
                    <a:p>
                      <a:r>
                        <a:rPr sz="1000" b="0">
                          <a:solidFill>
                            <a:srgbClr val="1F2621"/>
                          </a:solidFill>
                          <a:latin typeface="Aptos"/>
                        </a:rPr>
                        <a:t>San Francisco</a:t>
                      </a:r>
                    </a:p>
                  </a:txBody>
                  <a:tcPr>
                    <a:solidFill>
                      <a:srgbClr val="F7F3EC"/>
                    </a:solidFill>
                  </a:tcPr>
                </a:tc>
                <a:tc>
                  <a:txBody>
                    <a:bodyPr/>
                    <a:lstStyle/>
                    <a:p>
                      <a:r>
                        <a:rPr sz="1000" b="0">
                          <a:solidFill>
                            <a:srgbClr val="1F2621"/>
                          </a:solidFill>
                          <a:latin typeface="Aptos"/>
                        </a:rPr>
                        <a:t>$1.97</a:t>
                      </a:r>
                    </a:p>
                  </a:txBody>
                  <a:tcPr>
                    <a:solidFill>
                      <a:srgbClr val="F7F3EC"/>
                    </a:solidFill>
                  </a:tcPr>
                </a:tc>
                <a:tc>
                  <a:txBody>
                    <a:bodyPr/>
                    <a:lstStyle/>
                    <a:p>
                      <a:r>
                        <a:rPr sz="1000" b="0">
                          <a:solidFill>
                            <a:srgbClr val="1F2621"/>
                          </a:solidFill>
                          <a:latin typeface="Aptos"/>
                        </a:rPr>
                        <a:t>7.0%</a:t>
                      </a:r>
                    </a:p>
                  </a:txBody>
                  <a:tcPr>
                    <a:solidFill>
                      <a:srgbClr val="F7F3EC"/>
                    </a:solidFill>
                  </a:tcPr>
                </a:tc>
                <a:tc>
                  <a:txBody>
                    <a:bodyPr/>
                    <a:lstStyle/>
                    <a:p>
                      <a:r>
                        <a:rPr sz="1000" b="0">
                          <a:solidFill>
                            <a:srgbClr val="1F2621"/>
                          </a:solidFill>
                          <a:latin typeface="Aptos"/>
                        </a:rPr>
                        <a:t>283</a:t>
                      </a:r>
                    </a:p>
                  </a:txBody>
                  <a:tcPr>
                    <a:solidFill>
                      <a:srgbClr val="F7F3EC"/>
                    </a:solidFill>
                  </a:tcPr>
                </a:tc>
                <a:tc>
                  <a:txBody>
                    <a:bodyPr/>
                    <a:lstStyle/>
                    <a:p>
                      <a:r>
                        <a:rPr sz="1000" b="0">
                          <a:solidFill>
                            <a:srgbClr val="1F2621"/>
                          </a:solidFill>
                          <a:latin typeface="Aptos"/>
                        </a:rPr>
                        <a:t>$10,118</a:t>
                      </a:r>
                    </a:p>
                  </a:txBody>
                  <a:tcPr>
                    <a:solidFill>
                      <a:srgbClr val="F7F3EC"/>
                    </a:solidFill>
                  </a:tcPr>
                </a:tc>
                <a:tc>
                  <a:txBody>
                    <a:bodyPr/>
                    <a:lstStyle/>
                    <a:p>
                      <a:r>
                        <a:rPr sz="1000" b="0">
                          <a:solidFill>
                            <a:srgbClr val="1F2621"/>
                          </a:solidFill>
                          <a:latin typeface="Aptos"/>
                        </a:rPr>
                        <a:t>Not selected</a:t>
                      </a:r>
                    </a:p>
                  </a:txBody>
                  <a:tcPr>
                    <a:solidFill>
                      <a:srgbClr val="F7F3EC"/>
                    </a:solidFill>
                  </a:tcPr>
                </a:tc>
              </a:tr>
              <a:tr h="386080">
                <a:tc>
                  <a:txBody>
                    <a:bodyPr/>
                    <a:lstStyle/>
                    <a:p>
                      <a:r>
                        <a:rPr sz="1000" b="0">
                          <a:solidFill>
                            <a:srgbClr val="1F2621"/>
                          </a:solidFill>
                          <a:latin typeface="Aptos"/>
                        </a:rPr>
                        <a:t>Sacramento</a:t>
                      </a:r>
                    </a:p>
                  </a:txBody>
                  <a:tcPr>
                    <a:solidFill>
                      <a:srgbClr val="FCFAF5"/>
                    </a:solidFill>
                  </a:tcPr>
                </a:tc>
                <a:tc>
                  <a:txBody>
                    <a:bodyPr/>
                    <a:lstStyle/>
                    <a:p>
                      <a:r>
                        <a:rPr sz="1000" b="0">
                          <a:solidFill>
                            <a:srgbClr val="1F2621"/>
                          </a:solidFill>
                          <a:latin typeface="Aptos"/>
                        </a:rPr>
                        <a:t>$1.90</a:t>
                      </a:r>
                    </a:p>
                  </a:txBody>
                  <a:tcPr>
                    <a:solidFill>
                      <a:srgbClr val="FCFAF5"/>
                    </a:solidFill>
                  </a:tcPr>
                </a:tc>
                <a:tc>
                  <a:txBody>
                    <a:bodyPr/>
                    <a:lstStyle/>
                    <a:p>
                      <a:r>
                        <a:rPr sz="1000" b="0">
                          <a:solidFill>
                            <a:srgbClr val="1F2621"/>
                          </a:solidFill>
                          <a:latin typeface="Aptos"/>
                        </a:rPr>
                        <a:t>3.7%</a:t>
                      </a:r>
                    </a:p>
                  </a:txBody>
                  <a:tcPr>
                    <a:solidFill>
                      <a:srgbClr val="FCFAF5"/>
                    </a:solidFill>
                  </a:tcPr>
                </a:tc>
                <a:tc>
                  <a:txBody>
                    <a:bodyPr/>
                    <a:lstStyle/>
                    <a:p>
                      <a:r>
                        <a:rPr sz="1000" b="0">
                          <a:solidFill>
                            <a:srgbClr val="1F2621"/>
                          </a:solidFill>
                          <a:latin typeface="Aptos"/>
                        </a:rPr>
                        <a:t>277</a:t>
                      </a:r>
                    </a:p>
                  </a:txBody>
                  <a:tcPr>
                    <a:solidFill>
                      <a:srgbClr val="FCFAF5"/>
                    </a:solidFill>
                  </a:tcPr>
                </a:tc>
                <a:tc>
                  <a:txBody>
                    <a:bodyPr/>
                    <a:lstStyle/>
                    <a:p>
                      <a:r>
                        <a:rPr sz="1000" b="0">
                          <a:solidFill>
                            <a:srgbClr val="1F2621"/>
                          </a:solidFill>
                          <a:latin typeface="Aptos"/>
                        </a:rPr>
                        <a:t>$9,578</a:t>
                      </a:r>
                    </a:p>
                  </a:txBody>
                  <a:tcPr>
                    <a:solidFill>
                      <a:srgbClr val="FCFAF5"/>
                    </a:solidFill>
                  </a:tcPr>
                </a:tc>
                <a:tc>
                  <a:txBody>
                    <a:bodyPr/>
                    <a:lstStyle/>
                    <a:p>
                      <a:r>
                        <a:rPr sz="1000" b="0">
                          <a:solidFill>
                            <a:srgbClr val="1F2621"/>
                          </a:solidFill>
                          <a:latin typeface="Aptos"/>
                        </a:rPr>
                        <a:t>Not selected</a:t>
                      </a:r>
                    </a:p>
                  </a:txBody>
                  <a:tcPr>
                    <a:solidFill>
                      <a:srgbClr val="FCFAF5"/>
                    </a:solidFill>
                  </a:tcPr>
                </a:tc>
              </a:tr>
              <a:tr h="386080">
                <a:tc>
                  <a:txBody>
                    <a:bodyPr/>
                    <a:lstStyle/>
                    <a:p>
                      <a:r>
                        <a:rPr sz="1000" b="0">
                          <a:solidFill>
                            <a:srgbClr val="1F2621"/>
                          </a:solidFill>
                          <a:latin typeface="Aptos"/>
                        </a:rPr>
                        <a:t>Los Angeles</a:t>
                      </a:r>
                    </a:p>
                  </a:txBody>
                  <a:tcPr>
                    <a:solidFill>
                      <a:srgbClr val="F7F3EC"/>
                    </a:solidFill>
                  </a:tcPr>
                </a:tc>
                <a:tc>
                  <a:txBody>
                    <a:bodyPr/>
                    <a:lstStyle/>
                    <a:p>
                      <a:r>
                        <a:rPr sz="1000" b="0">
                          <a:solidFill>
                            <a:srgbClr val="1F2621"/>
                          </a:solidFill>
                          <a:latin typeface="Aptos"/>
                        </a:rPr>
                        <a:t>$1.87</a:t>
                      </a:r>
                    </a:p>
                  </a:txBody>
                  <a:tcPr>
                    <a:solidFill>
                      <a:srgbClr val="F7F3EC"/>
                    </a:solidFill>
                  </a:tcPr>
                </a:tc>
                <a:tc>
                  <a:txBody>
                    <a:bodyPr/>
                    <a:lstStyle/>
                    <a:p>
                      <a:r>
                        <a:rPr sz="1000" b="0">
                          <a:solidFill>
                            <a:srgbClr val="1F2621"/>
                          </a:solidFill>
                          <a:latin typeface="Aptos"/>
                        </a:rPr>
                        <a:t>4.9%</a:t>
                      </a:r>
                    </a:p>
                  </a:txBody>
                  <a:tcPr>
                    <a:solidFill>
                      <a:srgbClr val="F7F3EC"/>
                    </a:solidFill>
                  </a:tcPr>
                </a:tc>
                <a:tc>
                  <a:txBody>
                    <a:bodyPr/>
                    <a:lstStyle/>
                    <a:p>
                      <a:r>
                        <a:rPr sz="1000" b="0">
                          <a:solidFill>
                            <a:srgbClr val="1F2621"/>
                          </a:solidFill>
                          <a:latin typeface="Aptos"/>
                        </a:rPr>
                        <a:t>111</a:t>
                      </a:r>
                    </a:p>
                  </a:txBody>
                  <a:tcPr>
                    <a:solidFill>
                      <a:srgbClr val="F7F3EC"/>
                    </a:solidFill>
                  </a:tcPr>
                </a:tc>
                <a:tc>
                  <a:txBody>
                    <a:bodyPr/>
                    <a:lstStyle/>
                    <a:p>
                      <a:r>
                        <a:rPr sz="1000" b="0">
                          <a:solidFill>
                            <a:srgbClr val="1F2621"/>
                          </a:solidFill>
                          <a:latin typeface="Aptos"/>
                        </a:rPr>
                        <a:t>$9,404</a:t>
                      </a:r>
                    </a:p>
                  </a:txBody>
                  <a:tcPr>
                    <a:solidFill>
                      <a:srgbClr val="F7F3EC"/>
                    </a:solidFill>
                  </a:tcPr>
                </a:tc>
                <a:tc>
                  <a:txBody>
                    <a:bodyPr/>
                    <a:lstStyle/>
                    <a:p>
                      <a:r>
                        <a:rPr sz="1000" b="0">
                          <a:solidFill>
                            <a:srgbClr val="1F2621"/>
                          </a:solidFill>
                          <a:latin typeface="Aptos"/>
                        </a:rPr>
                        <a:t>Not selected</a:t>
                      </a:r>
                    </a:p>
                  </a:txBody>
                  <a:tcPr>
                    <a:solidFill>
                      <a:srgbClr val="F7F3EC"/>
                    </a:solidFill>
                  </a:tcPr>
                </a:tc>
              </a:tr>
            </a:tbl>
          </a:graphicData>
        </a:graphic>
      </p:graphicFrame>
      <p:sp>
        <p:nvSpPr>
          <p:cNvPr id="14" name="Rounded Rectangle 13"/>
          <p:cNvSpPr/>
          <p:nvPr/>
        </p:nvSpPr>
        <p:spPr>
          <a:xfrm>
            <a:off x="8759952" y="1700784"/>
            <a:ext cx="2761488" cy="4261104"/>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15984" y="1901952"/>
            <a:ext cx="2194560" cy="164592"/>
          </a:xfrm>
          <a:prstGeom prst="rect">
            <a:avLst/>
          </a:prstGeom>
          <a:noFill/>
        </p:spPr>
        <p:txBody>
          <a:bodyPr wrap="square" lIns="27432" rIns="27432" tIns="27432" bIns="27432" anchor="t">
            <a:spAutoFit/>
          </a:bodyPr>
          <a:lstStyle/>
          <a:p>
            <a:pPr algn="l"/>
            <a:r>
              <a:rPr sz="1000" b="1">
                <a:solidFill>
                  <a:srgbClr val="5F6B63"/>
                </a:solidFill>
                <a:latin typeface="Aptos"/>
              </a:rPr>
              <a:t>WORKED CITY EXAMPLE</a:t>
            </a:r>
          </a:p>
        </p:txBody>
      </p:sp>
      <p:sp>
        <p:nvSpPr>
          <p:cNvPr id="16" name="TextBox 15"/>
          <p:cNvSpPr txBox="1"/>
          <p:nvPr/>
        </p:nvSpPr>
        <p:spPr>
          <a:xfrm>
            <a:off x="9015984" y="2194560"/>
            <a:ext cx="950976" cy="164592"/>
          </a:xfrm>
          <a:prstGeom prst="rect">
            <a:avLst/>
          </a:prstGeom>
          <a:noFill/>
        </p:spPr>
        <p:txBody>
          <a:bodyPr wrap="square" lIns="27432" rIns="27432" tIns="27432" bIns="27432" anchor="t">
            <a:spAutoFit/>
          </a:bodyPr>
          <a:lstStyle/>
          <a:p>
            <a:pPr algn="l"/>
            <a:r>
              <a:rPr sz="900" b="1">
                <a:solidFill>
                  <a:srgbClr val="5F6B63"/>
                </a:solidFill>
                <a:latin typeface="Aptos"/>
              </a:rPr>
              <a:t>REVENUE</a:t>
            </a:r>
          </a:p>
        </p:txBody>
      </p:sp>
      <p:sp>
        <p:nvSpPr>
          <p:cNvPr id="17" name="TextBox 16"/>
          <p:cNvSpPr txBox="1"/>
          <p:nvPr/>
        </p:nvSpPr>
        <p:spPr>
          <a:xfrm>
            <a:off x="9985248" y="2176272"/>
            <a:ext cx="1024128" cy="310896"/>
          </a:xfrm>
          <a:prstGeom prst="rect">
            <a:avLst/>
          </a:prstGeom>
          <a:noFill/>
        </p:spPr>
        <p:txBody>
          <a:bodyPr wrap="square" lIns="27432" rIns="27432" tIns="27432" bIns="27432" anchor="t">
            <a:spAutoFit/>
          </a:bodyPr>
          <a:lstStyle/>
          <a:p>
            <a:pPr algn="l"/>
            <a:r>
              <a:rPr sz="1000" b="0">
                <a:solidFill>
                  <a:srgbClr val="1F2621"/>
                </a:solidFill>
                <a:latin typeface="Aptos"/>
              </a:rPr>
              <a:t>20,000 x (40% x $2.66) = $21,280</a:t>
            </a:r>
          </a:p>
        </p:txBody>
      </p:sp>
      <p:sp>
        <p:nvSpPr>
          <p:cNvPr id="18" name="TextBox 17"/>
          <p:cNvSpPr txBox="1"/>
          <p:nvPr/>
        </p:nvSpPr>
        <p:spPr>
          <a:xfrm>
            <a:off x="9015984" y="2779776"/>
            <a:ext cx="950976" cy="164592"/>
          </a:xfrm>
          <a:prstGeom prst="rect">
            <a:avLst/>
          </a:prstGeom>
          <a:noFill/>
        </p:spPr>
        <p:txBody>
          <a:bodyPr wrap="square" lIns="27432" rIns="27432" tIns="27432" bIns="27432" anchor="t">
            <a:spAutoFit/>
          </a:bodyPr>
          <a:lstStyle/>
          <a:p>
            <a:pPr algn="l"/>
            <a:r>
              <a:rPr sz="900" b="1">
                <a:solidFill>
                  <a:srgbClr val="5F6B63"/>
                </a:solidFill>
                <a:latin typeface="Aptos"/>
              </a:rPr>
              <a:t>ACQUISITION</a:t>
            </a:r>
          </a:p>
        </p:txBody>
      </p:sp>
      <p:sp>
        <p:nvSpPr>
          <p:cNvPr id="19" name="TextBox 18"/>
          <p:cNvSpPr txBox="1"/>
          <p:nvPr/>
        </p:nvSpPr>
        <p:spPr>
          <a:xfrm>
            <a:off x="9985248" y="2761488"/>
            <a:ext cx="1024128" cy="310896"/>
          </a:xfrm>
          <a:prstGeom prst="rect">
            <a:avLst/>
          </a:prstGeom>
          <a:noFill/>
        </p:spPr>
        <p:txBody>
          <a:bodyPr wrap="square" lIns="27432" rIns="27432" tIns="27432" bIns="27432" anchor="t">
            <a:spAutoFit/>
          </a:bodyPr>
          <a:lstStyle/>
          <a:p>
            <a:pPr algn="l"/>
            <a:r>
              <a:rPr sz="1000" b="0">
                <a:solidFill>
                  <a:srgbClr val="1F2621"/>
                </a:solidFill>
                <a:latin typeface="Aptos"/>
              </a:rPr>
              <a:t>20,000 x $0.20 = $4,000</a:t>
            </a:r>
          </a:p>
        </p:txBody>
      </p:sp>
      <p:sp>
        <p:nvSpPr>
          <p:cNvPr id="20" name="TextBox 19"/>
          <p:cNvSpPr txBox="1"/>
          <p:nvPr/>
        </p:nvSpPr>
        <p:spPr>
          <a:xfrm>
            <a:off x="9015984" y="3364991"/>
            <a:ext cx="950976" cy="164592"/>
          </a:xfrm>
          <a:prstGeom prst="rect">
            <a:avLst/>
          </a:prstGeom>
          <a:noFill/>
        </p:spPr>
        <p:txBody>
          <a:bodyPr wrap="square" lIns="27432" rIns="27432" tIns="27432" bIns="27432" anchor="t">
            <a:spAutoFit/>
          </a:bodyPr>
          <a:lstStyle/>
          <a:p>
            <a:pPr algn="l"/>
            <a:r>
              <a:rPr sz="900" b="1">
                <a:solidFill>
                  <a:srgbClr val="5F6B63"/>
                </a:solidFill>
                <a:latin typeface="Aptos"/>
              </a:rPr>
              <a:t>SHIPPING</a:t>
            </a:r>
          </a:p>
        </p:txBody>
      </p:sp>
      <p:sp>
        <p:nvSpPr>
          <p:cNvPr id="21" name="TextBox 20"/>
          <p:cNvSpPr txBox="1"/>
          <p:nvPr/>
        </p:nvSpPr>
        <p:spPr>
          <a:xfrm>
            <a:off x="9985248" y="3346703"/>
            <a:ext cx="1024128" cy="310896"/>
          </a:xfrm>
          <a:prstGeom prst="rect">
            <a:avLst/>
          </a:prstGeom>
          <a:noFill/>
        </p:spPr>
        <p:txBody>
          <a:bodyPr wrap="square" lIns="27432" rIns="27432" tIns="27432" bIns="27432" anchor="t">
            <a:spAutoFit/>
          </a:bodyPr>
          <a:lstStyle/>
          <a:p>
            <a:pPr algn="l"/>
            <a:r>
              <a:rPr sz="1000" b="0">
                <a:solidFill>
                  <a:srgbClr val="1F2621"/>
                </a:solidFill>
                <a:latin typeface="Aptos"/>
              </a:rPr>
              <a:t>$1,500 + ($50 x 1,029 / 100) = $2,014</a:t>
            </a:r>
          </a:p>
        </p:txBody>
      </p:sp>
      <p:sp>
        <p:nvSpPr>
          <p:cNvPr id="22" name="TextBox 21"/>
          <p:cNvSpPr txBox="1"/>
          <p:nvPr/>
        </p:nvSpPr>
        <p:spPr>
          <a:xfrm>
            <a:off x="9015984" y="3950208"/>
            <a:ext cx="950976" cy="164592"/>
          </a:xfrm>
          <a:prstGeom prst="rect">
            <a:avLst/>
          </a:prstGeom>
          <a:noFill/>
        </p:spPr>
        <p:txBody>
          <a:bodyPr wrap="square" lIns="27432" rIns="27432" tIns="27432" bIns="27432" anchor="t">
            <a:spAutoFit/>
          </a:bodyPr>
          <a:lstStyle/>
          <a:p>
            <a:pPr algn="l"/>
            <a:r>
              <a:rPr sz="900" b="1">
                <a:solidFill>
                  <a:srgbClr val="5F6B63"/>
                </a:solidFill>
                <a:latin typeface="Aptos"/>
              </a:rPr>
              <a:t>PROFIT</a:t>
            </a:r>
          </a:p>
        </p:txBody>
      </p:sp>
      <p:sp>
        <p:nvSpPr>
          <p:cNvPr id="23" name="TextBox 22"/>
          <p:cNvSpPr txBox="1"/>
          <p:nvPr/>
        </p:nvSpPr>
        <p:spPr>
          <a:xfrm>
            <a:off x="9985248" y="3931920"/>
            <a:ext cx="1024128" cy="310896"/>
          </a:xfrm>
          <a:prstGeom prst="rect">
            <a:avLst/>
          </a:prstGeom>
          <a:noFill/>
        </p:spPr>
        <p:txBody>
          <a:bodyPr wrap="square" lIns="27432" rIns="27432" tIns="27432" bIns="27432" anchor="t">
            <a:spAutoFit/>
          </a:bodyPr>
          <a:lstStyle/>
          <a:p>
            <a:pPr algn="l"/>
            <a:r>
              <a:rPr sz="1100" b="1">
                <a:solidFill>
                  <a:srgbClr val="1F2621"/>
                </a:solidFill>
                <a:latin typeface="Aptos"/>
              </a:rPr>
              <a:t>$21,280 - $4,000 - $2,014 = $15,266</a:t>
            </a:r>
          </a:p>
        </p:txBody>
      </p:sp>
      <p:sp>
        <p:nvSpPr>
          <p:cNvPr id="24" name="Rounded Rectangle 23"/>
          <p:cNvSpPr/>
          <p:nvPr/>
        </p:nvSpPr>
        <p:spPr>
          <a:xfrm>
            <a:off x="8979408" y="4718304"/>
            <a:ext cx="2231136" cy="841248"/>
          </a:xfrm>
          <a:prstGeom prst="roundRect">
            <a:avLst/>
          </a:prstGeom>
          <a:solidFill>
            <a:srgbClr val="F7F3EC"/>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0" y="4882896"/>
            <a:ext cx="1874519" cy="310896"/>
          </a:xfrm>
          <a:prstGeom prst="rect">
            <a:avLst/>
          </a:prstGeom>
          <a:noFill/>
        </p:spPr>
        <p:txBody>
          <a:bodyPr wrap="square" lIns="27432" rIns="27432" tIns="27432" bIns="27432" anchor="t">
            <a:spAutoFit/>
          </a:bodyPr>
          <a:lstStyle/>
          <a:p>
            <a:pPr algn="l"/>
            <a:r>
              <a:rPr sz="1100" b="0">
                <a:solidFill>
                  <a:srgbClr val="1F2621"/>
                </a:solidFill>
                <a:latin typeface="Aptos"/>
              </a:rPr>
              <a:t>Los Angeles ranks 8th at only 111 miles because its $1.87 retail price cannot close the revenue gap.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55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46920" y="0"/>
            <a:ext cx="2542032" cy="73152"/>
          </a:xfrm>
          <a:prstGeom prst="rect">
            <a:avLst/>
          </a:prstGeom>
          <a:solidFill>
            <a:srgbClr val="C58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01168"/>
            <a:ext cx="1554480" cy="256032"/>
          </a:xfrm>
          <a:prstGeom prst="roundRect">
            <a:avLst/>
          </a:prstGeom>
          <a:solidFill>
            <a:srgbClr val="FCFAF5"/>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224028"/>
            <a:ext cx="1517904" cy="182880"/>
          </a:xfrm>
          <a:prstGeom prst="rect">
            <a:avLst/>
          </a:prstGeom>
          <a:noFill/>
        </p:spPr>
        <p:txBody>
          <a:bodyPr wrap="square" lIns="27432" rIns="27432" tIns="27432" bIns="27432" anchor="t">
            <a:spAutoFit/>
          </a:bodyPr>
          <a:lstStyle/>
          <a:p>
            <a:pPr algn="ctr"/>
            <a:r>
              <a:rPr sz="1000" b="1">
                <a:solidFill>
                  <a:srgbClr val="355C47"/>
                </a:solidFill>
                <a:latin typeface="Aptos"/>
              </a:rPr>
              <a:t>RECOMMENDATION</a:t>
            </a:r>
          </a:p>
        </p:txBody>
      </p:sp>
      <p:sp>
        <p:nvSpPr>
          <p:cNvPr id="7" name="Rounded Rectangle 6"/>
          <p:cNvSpPr/>
          <p:nvPr/>
        </p:nvSpPr>
        <p:spPr>
          <a:xfrm>
            <a:off x="2267712" y="201168"/>
            <a:ext cx="713232" cy="256032"/>
          </a:xfrm>
          <a:prstGeom prst="roundRect">
            <a:avLst/>
          </a:prstGeom>
          <a:solidFill>
            <a:srgbClr val="FFFDF9"/>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0" y="224028"/>
            <a:ext cx="676656" cy="182880"/>
          </a:xfrm>
          <a:prstGeom prst="rect">
            <a:avLst/>
          </a:prstGeom>
          <a:noFill/>
        </p:spPr>
        <p:txBody>
          <a:bodyPr wrap="square" lIns="27432" rIns="27432" tIns="27432" bIns="27432" anchor="t">
            <a:spAutoFit/>
          </a:bodyPr>
          <a:lstStyle/>
          <a:p>
            <a:pPr algn="ctr"/>
            <a:r>
              <a:rPr sz="1000" b="1">
                <a:solidFill>
                  <a:srgbClr val="C58A2A"/>
                </a:solidFill>
                <a:latin typeface="Aptos"/>
              </a:rPr>
              <a:t>Q5</a:t>
            </a:r>
          </a:p>
        </p:txBody>
      </p:sp>
      <p:sp>
        <p:nvSpPr>
          <p:cNvPr id="9" name="TextBox 8"/>
          <p:cNvSpPr txBox="1"/>
          <p:nvPr/>
        </p:nvSpPr>
        <p:spPr>
          <a:xfrm>
            <a:off x="11631168" y="6519672"/>
            <a:ext cx="274320" cy="164592"/>
          </a:xfrm>
          <a:prstGeom prst="rect">
            <a:avLst/>
          </a:prstGeom>
          <a:noFill/>
        </p:spPr>
        <p:txBody>
          <a:bodyPr wrap="square" lIns="27432" rIns="27432" tIns="27432" bIns="27432" anchor="t">
            <a:spAutoFit/>
          </a:bodyPr>
          <a:lstStyle/>
          <a:p>
            <a:pPr algn="r"/>
            <a:r>
              <a:rPr sz="900" b="0">
                <a:solidFill>
                  <a:srgbClr val="5F6B63"/>
                </a:solidFill>
                <a:latin typeface="Aptos"/>
              </a:rPr>
              <a:t>16</a:t>
            </a:r>
          </a:p>
        </p:txBody>
      </p:sp>
      <p:sp>
        <p:nvSpPr>
          <p:cNvPr id="10" name="TextBox 9"/>
          <p:cNvSpPr txBox="1"/>
          <p:nvPr/>
        </p:nvSpPr>
        <p:spPr>
          <a:xfrm>
            <a:off x="548640" y="658368"/>
            <a:ext cx="10332720" cy="868680"/>
          </a:xfrm>
          <a:prstGeom prst="rect">
            <a:avLst/>
          </a:prstGeom>
          <a:noFill/>
        </p:spPr>
        <p:txBody>
          <a:bodyPr wrap="square" lIns="27432" rIns="27432" tIns="27432" bIns="27432" anchor="t">
            <a:spAutoFit/>
          </a:bodyPr>
          <a:lstStyle/>
          <a:p>
            <a:pPr algn="l"/>
            <a:r>
              <a:rPr sz="2700" b="1">
                <a:solidFill>
                  <a:srgbClr val="355C47"/>
                </a:solidFill>
                <a:latin typeface="Aptos Display"/>
              </a:rPr>
              <a:t>The recommendation is a West Coast cluster</a:t>
            </a:r>
          </a:p>
        </p:txBody>
      </p:sp>
      <p:sp>
        <p:nvSpPr>
          <p:cNvPr id="11" name="Rounded Rectangle 10"/>
          <p:cNvSpPr/>
          <p:nvPr/>
        </p:nvSpPr>
        <p:spPr>
          <a:xfrm>
            <a:off x="749808" y="1572768"/>
            <a:ext cx="1353312" cy="274320"/>
          </a:xfrm>
          <a:prstGeom prst="roundRect">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1577340"/>
            <a:ext cx="1316736" cy="219456"/>
          </a:xfrm>
          <a:prstGeom prst="rect">
            <a:avLst/>
          </a:prstGeom>
          <a:noFill/>
        </p:spPr>
        <p:txBody>
          <a:bodyPr wrap="square" lIns="27432" rIns="27432" tIns="27432" bIns="27432" anchor="ctr">
            <a:spAutoFit/>
          </a:bodyPr>
          <a:lstStyle/>
          <a:p>
            <a:pPr algn="ctr"/>
            <a:r>
              <a:rPr sz="1100" b="1">
                <a:solidFill>
                  <a:srgbClr val="FCFAF5"/>
                </a:solidFill>
                <a:latin typeface="Aptos"/>
              </a:rPr>
              <a:t>SEATTLE</a:t>
            </a:r>
          </a:p>
        </p:txBody>
      </p:sp>
      <p:sp>
        <p:nvSpPr>
          <p:cNvPr id="13" name="Rounded Rectangle 12"/>
          <p:cNvSpPr/>
          <p:nvPr/>
        </p:nvSpPr>
        <p:spPr>
          <a:xfrm>
            <a:off x="2807208" y="1572768"/>
            <a:ext cx="1353312" cy="274320"/>
          </a:xfrm>
          <a:prstGeom prst="roundRect">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825496" y="1577340"/>
            <a:ext cx="1316736" cy="219456"/>
          </a:xfrm>
          <a:prstGeom prst="rect">
            <a:avLst/>
          </a:prstGeom>
          <a:noFill/>
        </p:spPr>
        <p:txBody>
          <a:bodyPr wrap="square" lIns="27432" rIns="27432" tIns="27432" bIns="27432" anchor="ctr">
            <a:spAutoFit/>
          </a:bodyPr>
          <a:lstStyle/>
          <a:p>
            <a:pPr algn="ctr"/>
            <a:r>
              <a:rPr sz="1100" b="1">
                <a:solidFill>
                  <a:srgbClr val="FCFAF5"/>
                </a:solidFill>
                <a:latin typeface="Aptos"/>
              </a:rPr>
              <a:t>BOISE</a:t>
            </a:r>
          </a:p>
        </p:txBody>
      </p:sp>
      <p:sp>
        <p:nvSpPr>
          <p:cNvPr id="15" name="Rounded Rectangle 14"/>
          <p:cNvSpPr/>
          <p:nvPr/>
        </p:nvSpPr>
        <p:spPr>
          <a:xfrm>
            <a:off x="4864608" y="1572768"/>
            <a:ext cx="1353312" cy="274320"/>
          </a:xfrm>
          <a:prstGeom prst="roundRect">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82896" y="1577340"/>
            <a:ext cx="1316736" cy="219456"/>
          </a:xfrm>
          <a:prstGeom prst="rect">
            <a:avLst/>
          </a:prstGeom>
          <a:noFill/>
        </p:spPr>
        <p:txBody>
          <a:bodyPr wrap="square" lIns="27432" rIns="27432" tIns="27432" bIns="27432" anchor="ctr">
            <a:spAutoFit/>
          </a:bodyPr>
          <a:lstStyle/>
          <a:p>
            <a:pPr algn="ctr"/>
            <a:r>
              <a:rPr sz="1100" b="1">
                <a:solidFill>
                  <a:srgbClr val="FCFAF5"/>
                </a:solidFill>
                <a:latin typeface="Aptos"/>
              </a:rPr>
              <a:t>PORTLAND</a:t>
            </a:r>
          </a:p>
        </p:txBody>
      </p:sp>
      <p:sp>
        <p:nvSpPr>
          <p:cNvPr id="17" name="Rounded Rectangle 16"/>
          <p:cNvSpPr/>
          <p:nvPr/>
        </p:nvSpPr>
        <p:spPr>
          <a:xfrm>
            <a:off x="6922008" y="1572768"/>
            <a:ext cx="1353312" cy="274320"/>
          </a:xfrm>
          <a:prstGeom prst="roundRect">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40296" y="1577340"/>
            <a:ext cx="1316736" cy="219456"/>
          </a:xfrm>
          <a:prstGeom prst="rect">
            <a:avLst/>
          </a:prstGeom>
          <a:noFill/>
        </p:spPr>
        <p:txBody>
          <a:bodyPr wrap="square" lIns="27432" rIns="27432" tIns="27432" bIns="27432" anchor="ctr">
            <a:spAutoFit/>
          </a:bodyPr>
          <a:lstStyle/>
          <a:p>
            <a:pPr algn="ctr"/>
            <a:r>
              <a:rPr sz="1100" b="1">
                <a:solidFill>
                  <a:srgbClr val="FCFAF5"/>
                </a:solidFill>
                <a:latin typeface="Aptos"/>
              </a:rPr>
              <a:t>SPOKANE</a:t>
            </a:r>
          </a:p>
        </p:txBody>
      </p:sp>
      <p:sp>
        <p:nvSpPr>
          <p:cNvPr id="19" name="Rounded Rectangle 18"/>
          <p:cNvSpPr/>
          <p:nvPr/>
        </p:nvSpPr>
        <p:spPr>
          <a:xfrm>
            <a:off x="8979408" y="1572768"/>
            <a:ext cx="1600200" cy="274320"/>
          </a:xfrm>
          <a:prstGeom prst="roundRect">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997696" y="1577340"/>
            <a:ext cx="1563624" cy="219456"/>
          </a:xfrm>
          <a:prstGeom prst="rect">
            <a:avLst/>
          </a:prstGeom>
          <a:noFill/>
        </p:spPr>
        <p:txBody>
          <a:bodyPr wrap="square" lIns="27432" rIns="27432" tIns="27432" bIns="27432" anchor="ctr">
            <a:spAutoFit/>
          </a:bodyPr>
          <a:lstStyle/>
          <a:p>
            <a:pPr algn="ctr"/>
            <a:r>
              <a:rPr sz="1100" b="1">
                <a:solidFill>
                  <a:srgbClr val="FCFAF5"/>
                </a:solidFill>
                <a:latin typeface="Aptos"/>
              </a:rPr>
              <a:t>SAN DIEGO</a:t>
            </a:r>
          </a:p>
        </p:txBody>
      </p:sp>
      <p:sp>
        <p:nvSpPr>
          <p:cNvPr id="21" name="Rounded Rectangle 20"/>
          <p:cNvSpPr/>
          <p:nvPr/>
        </p:nvSpPr>
        <p:spPr>
          <a:xfrm>
            <a:off x="713232" y="1975104"/>
            <a:ext cx="6903720" cy="3950208"/>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2688" y="2121408"/>
            <a:ext cx="6355080" cy="146304"/>
          </a:xfrm>
          <a:prstGeom prst="rect">
            <a:avLst/>
          </a:prstGeom>
          <a:noFill/>
        </p:spPr>
        <p:txBody>
          <a:bodyPr wrap="square" lIns="27432" rIns="27432" tIns="27432" bIns="27432" anchor="t">
            <a:spAutoFit/>
          </a:bodyPr>
          <a:lstStyle/>
          <a:p>
            <a:pPr algn="l"/>
            <a:r>
              <a:rPr sz="1000" b="1">
                <a:solidFill>
                  <a:srgbClr val="5F6B63"/>
                </a:solidFill>
                <a:latin typeface="Aptos"/>
              </a:rPr>
              <a:t>GEOGRAPHIC CLUSTER</a:t>
            </a:r>
          </a:p>
        </p:txBody>
      </p:sp>
      <p:cxnSp>
        <p:nvCxnSpPr>
          <p:cNvPr id="23" name="Connector 22"/>
          <p:cNvCxnSpPr/>
          <p:nvPr/>
        </p:nvCxnSpPr>
        <p:spPr>
          <a:xfrm>
            <a:off x="2148474" y="2955889"/>
            <a:ext cx="230795" cy="1908902"/>
          </a:xfrm>
          <a:prstGeom prst="line">
            <a:avLst/>
          </a:prstGeom>
          <a:ln w="15240">
            <a:solidFill>
              <a:srgbClr val="D8D1C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379269" y="4864791"/>
            <a:ext cx="923178" cy="168432"/>
          </a:xfrm>
          <a:prstGeom prst="line">
            <a:avLst/>
          </a:prstGeom>
          <a:ln w="15240">
            <a:solidFill>
              <a:srgbClr val="D8D1C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3302447" y="4471782"/>
            <a:ext cx="576986" cy="561441"/>
          </a:xfrm>
          <a:prstGeom prst="line">
            <a:avLst/>
          </a:prstGeom>
          <a:ln w="15240">
            <a:solidFill>
              <a:srgbClr val="D8D1C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3879433" y="3741908"/>
            <a:ext cx="346192" cy="729874"/>
          </a:xfrm>
          <a:prstGeom prst="line">
            <a:avLst/>
          </a:prstGeom>
          <a:ln w="15240">
            <a:solidFill>
              <a:srgbClr val="D8D1C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4225625" y="3012034"/>
            <a:ext cx="1038576" cy="729874"/>
          </a:xfrm>
          <a:prstGeom prst="line">
            <a:avLst/>
          </a:prstGeom>
          <a:ln w="15240">
            <a:solidFill>
              <a:srgbClr val="D8D1C6"/>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3879433" y="3798052"/>
            <a:ext cx="1846357" cy="0"/>
          </a:xfrm>
          <a:prstGeom prst="line">
            <a:avLst/>
          </a:prstGeom>
          <a:ln w="15240">
            <a:solidFill>
              <a:srgbClr val="D8D1C6"/>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533242" y="4303349"/>
            <a:ext cx="1846356" cy="0"/>
          </a:xfrm>
          <a:prstGeom prst="line">
            <a:avLst/>
          </a:prstGeom>
          <a:ln w="15240">
            <a:solidFill>
              <a:srgbClr val="D8D1C6"/>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456420" y="3348899"/>
            <a:ext cx="0" cy="1179027"/>
          </a:xfrm>
          <a:prstGeom prst="line">
            <a:avLst/>
          </a:prstGeom>
          <a:ln w="15240">
            <a:solidFill>
              <a:srgbClr val="D8D1C6"/>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280160" y="2560320"/>
            <a:ext cx="493776" cy="146304"/>
          </a:xfrm>
          <a:prstGeom prst="rect">
            <a:avLst/>
          </a:prstGeom>
          <a:noFill/>
        </p:spPr>
        <p:txBody>
          <a:bodyPr wrap="square" lIns="27432" rIns="27432" tIns="27432" bIns="27432" anchor="t">
            <a:spAutoFit/>
          </a:bodyPr>
          <a:lstStyle/>
          <a:p>
            <a:pPr algn="l"/>
            <a:r>
              <a:rPr sz="900" b="1">
                <a:solidFill>
                  <a:srgbClr val="5F6B63"/>
                </a:solidFill>
                <a:latin typeface="Aptos"/>
              </a:rPr>
              <a:t>WA</a:t>
            </a:r>
          </a:p>
        </p:txBody>
      </p:sp>
      <p:sp>
        <p:nvSpPr>
          <p:cNvPr id="32" name="TextBox 31"/>
          <p:cNvSpPr txBox="1"/>
          <p:nvPr/>
        </p:nvSpPr>
        <p:spPr>
          <a:xfrm>
            <a:off x="1353312" y="3438144"/>
            <a:ext cx="493776" cy="146304"/>
          </a:xfrm>
          <a:prstGeom prst="rect">
            <a:avLst/>
          </a:prstGeom>
          <a:noFill/>
        </p:spPr>
        <p:txBody>
          <a:bodyPr wrap="square" lIns="27432" rIns="27432" tIns="27432" bIns="27432" anchor="t">
            <a:spAutoFit/>
          </a:bodyPr>
          <a:lstStyle/>
          <a:p>
            <a:pPr algn="l"/>
            <a:r>
              <a:rPr sz="900" b="1">
                <a:solidFill>
                  <a:srgbClr val="5F6B63"/>
                </a:solidFill>
                <a:latin typeface="Aptos"/>
              </a:rPr>
              <a:t>OR</a:t>
            </a:r>
          </a:p>
        </p:txBody>
      </p:sp>
      <p:sp>
        <p:nvSpPr>
          <p:cNvPr id="33" name="TextBox 32"/>
          <p:cNvSpPr txBox="1"/>
          <p:nvPr/>
        </p:nvSpPr>
        <p:spPr>
          <a:xfrm>
            <a:off x="1408176" y="4325111"/>
            <a:ext cx="493776" cy="146304"/>
          </a:xfrm>
          <a:prstGeom prst="rect">
            <a:avLst/>
          </a:prstGeom>
          <a:noFill/>
        </p:spPr>
        <p:txBody>
          <a:bodyPr wrap="square" lIns="27432" rIns="27432" tIns="27432" bIns="27432" anchor="t">
            <a:spAutoFit/>
          </a:bodyPr>
          <a:lstStyle/>
          <a:p>
            <a:pPr algn="l"/>
            <a:r>
              <a:rPr sz="900" b="1">
                <a:solidFill>
                  <a:srgbClr val="5F6B63"/>
                </a:solidFill>
                <a:latin typeface="Aptos"/>
              </a:rPr>
              <a:t>CA</a:t>
            </a:r>
          </a:p>
        </p:txBody>
      </p:sp>
      <p:sp>
        <p:nvSpPr>
          <p:cNvPr id="34" name="TextBox 33"/>
          <p:cNvSpPr txBox="1"/>
          <p:nvPr/>
        </p:nvSpPr>
        <p:spPr>
          <a:xfrm>
            <a:off x="3008376" y="3346704"/>
            <a:ext cx="493776" cy="146304"/>
          </a:xfrm>
          <a:prstGeom prst="rect">
            <a:avLst/>
          </a:prstGeom>
          <a:noFill/>
        </p:spPr>
        <p:txBody>
          <a:bodyPr wrap="square" lIns="27432" rIns="27432" tIns="27432" bIns="27432" anchor="t">
            <a:spAutoFit/>
          </a:bodyPr>
          <a:lstStyle/>
          <a:p>
            <a:pPr algn="l"/>
            <a:r>
              <a:rPr sz="900" b="1">
                <a:solidFill>
                  <a:srgbClr val="5F6B63"/>
                </a:solidFill>
                <a:latin typeface="Aptos"/>
              </a:rPr>
              <a:t>ID</a:t>
            </a:r>
          </a:p>
        </p:txBody>
      </p:sp>
      <p:sp>
        <p:nvSpPr>
          <p:cNvPr id="35" name="Oval 34"/>
          <p:cNvSpPr/>
          <p:nvPr/>
        </p:nvSpPr>
        <p:spPr>
          <a:xfrm>
            <a:off x="3566343" y="4108765"/>
            <a:ext cx="164592" cy="164592"/>
          </a:xfrm>
          <a:prstGeom prst="ellipse">
            <a:avLst/>
          </a:prstGeom>
          <a:solidFill>
            <a:srgbClr val="B5533A"/>
          </a:solidFill>
          <a:ln>
            <a:solidFill>
              <a:srgbClr val="B55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557199" y="4264213"/>
            <a:ext cx="1005840" cy="201168"/>
          </a:xfrm>
          <a:prstGeom prst="rect">
            <a:avLst/>
          </a:prstGeom>
          <a:noFill/>
        </p:spPr>
        <p:txBody>
          <a:bodyPr wrap="square" lIns="27432" rIns="27432" tIns="27432" bIns="27432" anchor="t">
            <a:spAutoFit/>
          </a:bodyPr>
          <a:lstStyle/>
          <a:p>
            <a:pPr algn="ctr"/>
            <a:r>
              <a:rPr sz="900" b="1">
                <a:solidFill>
                  <a:srgbClr val="B5533A"/>
                </a:solidFill>
                <a:latin typeface="Aptos"/>
              </a:rPr>
              <a:t>West Valley
hub</a:t>
            </a:r>
          </a:p>
        </p:txBody>
      </p:sp>
      <p:cxnSp>
        <p:nvCxnSpPr>
          <p:cNvPr id="37" name="Connector 36"/>
          <p:cNvCxnSpPr/>
          <p:nvPr/>
        </p:nvCxnSpPr>
        <p:spPr>
          <a:xfrm flipH="1" flipV="1">
            <a:off x="2263872" y="2843601"/>
            <a:ext cx="1384767" cy="1347460"/>
          </a:xfrm>
          <a:prstGeom prst="line">
            <a:avLst/>
          </a:prstGeom>
          <a:ln w="17780">
            <a:solidFill>
              <a:srgbClr val="889A83"/>
            </a:solidFill>
          </a:ln>
        </p:spPr>
        <p:style>
          <a:lnRef idx="2">
            <a:schemeClr val="accent1"/>
          </a:lnRef>
          <a:fillRef idx="0">
            <a:schemeClr val="accent1"/>
          </a:fillRef>
          <a:effectRef idx="1">
            <a:schemeClr val="accent1"/>
          </a:effectRef>
          <a:fontRef idx="minor">
            <a:schemeClr val="tx1"/>
          </a:fontRef>
        </p:style>
      </p:cxnSp>
      <p:sp>
        <p:nvSpPr>
          <p:cNvPr id="38" name="Oval 37"/>
          <p:cNvSpPr/>
          <p:nvPr/>
        </p:nvSpPr>
        <p:spPr>
          <a:xfrm>
            <a:off x="2190720" y="2770449"/>
            <a:ext cx="146304" cy="146304"/>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2318736" y="2733873"/>
            <a:ext cx="1005840" cy="164592"/>
          </a:xfrm>
          <a:prstGeom prst="roundRect">
            <a:avLst/>
          </a:prstGeom>
          <a:solidFill>
            <a:srgbClr val="FCF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337024" y="2752161"/>
            <a:ext cx="969264" cy="146304"/>
          </a:xfrm>
          <a:prstGeom prst="rect">
            <a:avLst/>
          </a:prstGeom>
          <a:noFill/>
        </p:spPr>
        <p:txBody>
          <a:bodyPr wrap="square" lIns="27432" rIns="27432" tIns="27432" bIns="27432" anchor="t">
            <a:spAutoFit/>
          </a:bodyPr>
          <a:lstStyle/>
          <a:p>
            <a:pPr algn="l"/>
            <a:r>
              <a:rPr sz="900" b="1">
                <a:solidFill>
                  <a:srgbClr val="355C47"/>
                </a:solidFill>
                <a:latin typeface="Aptos"/>
              </a:rPr>
              <a:t>Seattle</a:t>
            </a:r>
          </a:p>
        </p:txBody>
      </p:sp>
      <p:cxnSp>
        <p:nvCxnSpPr>
          <p:cNvPr id="41" name="Connector 40"/>
          <p:cNvCxnSpPr/>
          <p:nvPr/>
        </p:nvCxnSpPr>
        <p:spPr>
          <a:xfrm flipH="1" flipV="1">
            <a:off x="2494666" y="3405043"/>
            <a:ext cx="1153973" cy="786018"/>
          </a:xfrm>
          <a:prstGeom prst="line">
            <a:avLst/>
          </a:prstGeom>
          <a:ln w="17780">
            <a:solidFill>
              <a:srgbClr val="889A83"/>
            </a:solidFill>
          </a:ln>
        </p:spPr>
        <p:style>
          <a:lnRef idx="2">
            <a:schemeClr val="accent1"/>
          </a:lnRef>
          <a:fillRef idx="0">
            <a:schemeClr val="accent1"/>
          </a:fillRef>
          <a:effectRef idx="1">
            <a:schemeClr val="accent1"/>
          </a:effectRef>
          <a:fontRef idx="minor">
            <a:schemeClr val="tx1"/>
          </a:fontRef>
        </p:style>
      </p:cxnSp>
      <p:sp>
        <p:nvSpPr>
          <p:cNvPr id="42" name="Oval 41"/>
          <p:cNvSpPr/>
          <p:nvPr/>
        </p:nvSpPr>
        <p:spPr>
          <a:xfrm>
            <a:off x="2421514" y="3331891"/>
            <a:ext cx="146304" cy="146304"/>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2458090" y="3203875"/>
            <a:ext cx="932688" cy="182880"/>
          </a:xfrm>
          <a:prstGeom prst="roundRect">
            <a:avLst/>
          </a:prstGeom>
          <a:solidFill>
            <a:srgbClr val="FCF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476378" y="3222163"/>
            <a:ext cx="896112" cy="164592"/>
          </a:xfrm>
          <a:prstGeom prst="rect">
            <a:avLst/>
          </a:prstGeom>
          <a:noFill/>
        </p:spPr>
        <p:txBody>
          <a:bodyPr wrap="square" lIns="27432" rIns="27432" tIns="27432" bIns="27432" anchor="t">
            <a:spAutoFit/>
          </a:bodyPr>
          <a:lstStyle/>
          <a:p>
            <a:pPr algn="l"/>
            <a:r>
              <a:rPr sz="900" b="1">
                <a:solidFill>
                  <a:srgbClr val="355C47"/>
                </a:solidFill>
                <a:latin typeface="Aptos"/>
              </a:rPr>
              <a:t>Portland</a:t>
            </a:r>
          </a:p>
        </p:txBody>
      </p:sp>
      <p:cxnSp>
        <p:nvCxnSpPr>
          <p:cNvPr id="45" name="Connector 44"/>
          <p:cNvCxnSpPr/>
          <p:nvPr/>
        </p:nvCxnSpPr>
        <p:spPr>
          <a:xfrm flipV="1">
            <a:off x="3648639" y="3068178"/>
            <a:ext cx="1615562" cy="1122883"/>
          </a:xfrm>
          <a:prstGeom prst="line">
            <a:avLst/>
          </a:prstGeom>
          <a:ln w="17780">
            <a:solidFill>
              <a:srgbClr val="889A83"/>
            </a:solidFill>
          </a:ln>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5191049" y="2995026"/>
            <a:ext cx="146304" cy="146304"/>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5337353" y="2958450"/>
            <a:ext cx="1005840" cy="164592"/>
          </a:xfrm>
          <a:prstGeom prst="roundRect">
            <a:avLst/>
          </a:prstGeom>
          <a:solidFill>
            <a:srgbClr val="FCF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355641" y="2976738"/>
            <a:ext cx="969264" cy="146304"/>
          </a:xfrm>
          <a:prstGeom prst="rect">
            <a:avLst/>
          </a:prstGeom>
          <a:noFill/>
        </p:spPr>
        <p:txBody>
          <a:bodyPr wrap="square" lIns="27432" rIns="27432" tIns="27432" bIns="27432" anchor="t">
            <a:spAutoFit/>
          </a:bodyPr>
          <a:lstStyle/>
          <a:p>
            <a:pPr algn="l"/>
            <a:r>
              <a:rPr sz="900" b="1">
                <a:solidFill>
                  <a:srgbClr val="355C47"/>
                </a:solidFill>
                <a:latin typeface="Aptos"/>
              </a:rPr>
              <a:t>Spokane</a:t>
            </a:r>
          </a:p>
        </p:txBody>
      </p:sp>
      <p:cxnSp>
        <p:nvCxnSpPr>
          <p:cNvPr id="49" name="Connector 48"/>
          <p:cNvCxnSpPr/>
          <p:nvPr/>
        </p:nvCxnSpPr>
        <p:spPr>
          <a:xfrm flipV="1">
            <a:off x="3648639" y="3629619"/>
            <a:ext cx="1153973" cy="561442"/>
          </a:xfrm>
          <a:prstGeom prst="line">
            <a:avLst/>
          </a:prstGeom>
          <a:ln w="17780">
            <a:solidFill>
              <a:srgbClr val="889A83"/>
            </a:solidFill>
          </a:ln>
        </p:spPr>
        <p:style>
          <a:lnRef idx="2">
            <a:schemeClr val="accent1"/>
          </a:lnRef>
          <a:fillRef idx="0">
            <a:schemeClr val="accent1"/>
          </a:fillRef>
          <a:effectRef idx="1">
            <a:schemeClr val="accent1"/>
          </a:effectRef>
          <a:fontRef idx="minor">
            <a:schemeClr val="tx1"/>
          </a:fontRef>
        </p:style>
      </p:cxnSp>
      <p:sp>
        <p:nvSpPr>
          <p:cNvPr id="50" name="Oval 49"/>
          <p:cNvSpPr/>
          <p:nvPr/>
        </p:nvSpPr>
        <p:spPr>
          <a:xfrm>
            <a:off x="4729460" y="3556467"/>
            <a:ext cx="146304" cy="146304"/>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4894052" y="3647907"/>
            <a:ext cx="1005840" cy="164592"/>
          </a:xfrm>
          <a:prstGeom prst="roundRect">
            <a:avLst/>
          </a:prstGeom>
          <a:solidFill>
            <a:srgbClr val="FCF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912340" y="3666195"/>
            <a:ext cx="969264" cy="146304"/>
          </a:xfrm>
          <a:prstGeom prst="rect">
            <a:avLst/>
          </a:prstGeom>
          <a:noFill/>
        </p:spPr>
        <p:txBody>
          <a:bodyPr wrap="square" lIns="27432" rIns="27432" tIns="27432" bIns="27432" anchor="t">
            <a:spAutoFit/>
          </a:bodyPr>
          <a:lstStyle/>
          <a:p>
            <a:pPr algn="l"/>
            <a:r>
              <a:rPr sz="900" b="1">
                <a:solidFill>
                  <a:srgbClr val="355C47"/>
                </a:solidFill>
                <a:latin typeface="Aptos"/>
              </a:rPr>
              <a:t>Boise</a:t>
            </a:r>
          </a:p>
        </p:txBody>
      </p:sp>
      <p:cxnSp>
        <p:nvCxnSpPr>
          <p:cNvPr id="53" name="Connector 52"/>
          <p:cNvCxnSpPr/>
          <p:nvPr/>
        </p:nvCxnSpPr>
        <p:spPr>
          <a:xfrm flipH="1">
            <a:off x="3302447" y="4191061"/>
            <a:ext cx="346192" cy="673730"/>
          </a:xfrm>
          <a:prstGeom prst="line">
            <a:avLst/>
          </a:prstGeom>
          <a:ln w="17780">
            <a:solidFill>
              <a:srgbClr val="889A83"/>
            </a:solidFill>
          </a:ln>
        </p:spPr>
        <p:style>
          <a:lnRef idx="2">
            <a:schemeClr val="accent1"/>
          </a:lnRef>
          <a:fillRef idx="0">
            <a:schemeClr val="accent1"/>
          </a:fillRef>
          <a:effectRef idx="1">
            <a:schemeClr val="accent1"/>
          </a:effectRef>
          <a:fontRef idx="minor">
            <a:schemeClr val="tx1"/>
          </a:fontRef>
        </p:style>
      </p:cxnSp>
      <p:sp>
        <p:nvSpPr>
          <p:cNvPr id="54" name="Oval 53"/>
          <p:cNvSpPr/>
          <p:nvPr/>
        </p:nvSpPr>
        <p:spPr>
          <a:xfrm>
            <a:off x="3229295" y="4791639"/>
            <a:ext cx="146304" cy="146304"/>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3375599" y="4828215"/>
            <a:ext cx="1024128" cy="182880"/>
          </a:xfrm>
          <a:prstGeom prst="roundRect">
            <a:avLst/>
          </a:prstGeom>
          <a:solidFill>
            <a:srgbClr val="FCFA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393887" y="4846503"/>
            <a:ext cx="987552" cy="164592"/>
          </a:xfrm>
          <a:prstGeom prst="rect">
            <a:avLst/>
          </a:prstGeom>
          <a:noFill/>
        </p:spPr>
        <p:txBody>
          <a:bodyPr wrap="square" lIns="27432" rIns="27432" tIns="27432" bIns="27432" anchor="t">
            <a:spAutoFit/>
          </a:bodyPr>
          <a:lstStyle/>
          <a:p>
            <a:pPr algn="l"/>
            <a:r>
              <a:rPr sz="900" b="1">
                <a:solidFill>
                  <a:srgbClr val="355C47"/>
                </a:solidFill>
                <a:latin typeface="Aptos"/>
              </a:rPr>
              <a:t>San Diego</a:t>
            </a:r>
          </a:p>
        </p:txBody>
      </p:sp>
      <p:sp>
        <p:nvSpPr>
          <p:cNvPr id="57" name="Rounded Rectangle 56"/>
          <p:cNvSpPr/>
          <p:nvPr/>
        </p:nvSpPr>
        <p:spPr>
          <a:xfrm>
            <a:off x="7845552" y="1975104"/>
            <a:ext cx="3657600" cy="3950208"/>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101583" y="2194560"/>
            <a:ext cx="2194560" cy="164592"/>
          </a:xfrm>
          <a:prstGeom prst="rect">
            <a:avLst/>
          </a:prstGeom>
          <a:noFill/>
        </p:spPr>
        <p:txBody>
          <a:bodyPr wrap="square" lIns="27432" rIns="27432" tIns="27432" bIns="27432" anchor="t">
            <a:spAutoFit/>
          </a:bodyPr>
          <a:lstStyle/>
          <a:p>
            <a:pPr algn="l"/>
            <a:r>
              <a:rPr sz="1000" b="1">
                <a:solidFill>
                  <a:srgbClr val="5F6B63"/>
                </a:solidFill>
                <a:latin typeface="Aptos"/>
              </a:rPr>
              <a:t>WHY THE CLUSTER WINS</a:t>
            </a:r>
          </a:p>
        </p:txBody>
      </p:sp>
      <p:sp>
        <p:nvSpPr>
          <p:cNvPr id="59" name="Rounded Rectangle 58"/>
          <p:cNvSpPr/>
          <p:nvPr/>
        </p:nvSpPr>
        <p:spPr>
          <a:xfrm>
            <a:off x="8101583" y="2505456"/>
            <a:ext cx="1554480" cy="859536"/>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229599" y="2615184"/>
            <a:ext cx="1298448" cy="164592"/>
          </a:xfrm>
          <a:prstGeom prst="rect">
            <a:avLst/>
          </a:prstGeom>
          <a:noFill/>
        </p:spPr>
        <p:txBody>
          <a:bodyPr wrap="square" lIns="27432" rIns="27432" tIns="27432" bIns="27432" anchor="t">
            <a:spAutoFit/>
          </a:bodyPr>
          <a:lstStyle/>
          <a:p>
            <a:pPr algn="ctr"/>
            <a:r>
              <a:rPr sz="1000" b="1">
                <a:solidFill>
                  <a:srgbClr val="5F6B63"/>
                </a:solidFill>
                <a:latin typeface="Aptos"/>
              </a:rPr>
              <a:t>AVG MILES</a:t>
            </a:r>
          </a:p>
        </p:txBody>
      </p:sp>
      <p:sp>
        <p:nvSpPr>
          <p:cNvPr id="61" name="TextBox 60"/>
          <p:cNvSpPr txBox="1"/>
          <p:nvPr/>
        </p:nvSpPr>
        <p:spPr>
          <a:xfrm>
            <a:off x="8229599" y="2816352"/>
            <a:ext cx="1298448" cy="438912"/>
          </a:xfrm>
          <a:prstGeom prst="rect">
            <a:avLst/>
          </a:prstGeom>
          <a:noFill/>
        </p:spPr>
        <p:txBody>
          <a:bodyPr wrap="square" lIns="27432" rIns="27432" tIns="27432" bIns="27432" anchor="ctr">
            <a:spAutoFit/>
          </a:bodyPr>
          <a:lstStyle/>
          <a:p>
            <a:pPr algn="ctr"/>
            <a:r>
              <a:rPr sz="1900" b="1">
                <a:solidFill>
                  <a:srgbClr val="3F728A"/>
                </a:solidFill>
                <a:latin typeface="Aptos Display"/>
              </a:rPr>
              <a:t>812</a:t>
            </a:r>
          </a:p>
        </p:txBody>
      </p:sp>
      <p:sp>
        <p:nvSpPr>
          <p:cNvPr id="62" name="Rounded Rectangle 61"/>
          <p:cNvSpPr/>
          <p:nvPr/>
        </p:nvSpPr>
        <p:spPr>
          <a:xfrm>
            <a:off x="9784080" y="2505456"/>
            <a:ext cx="1426464" cy="859536"/>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912096" y="2615184"/>
            <a:ext cx="1170432" cy="164592"/>
          </a:xfrm>
          <a:prstGeom prst="rect">
            <a:avLst/>
          </a:prstGeom>
          <a:noFill/>
        </p:spPr>
        <p:txBody>
          <a:bodyPr wrap="square" lIns="27432" rIns="27432" tIns="27432" bIns="27432" anchor="t">
            <a:spAutoFit/>
          </a:bodyPr>
          <a:lstStyle/>
          <a:p>
            <a:pPr algn="ctr"/>
            <a:r>
              <a:rPr sz="1000" b="1">
                <a:solidFill>
                  <a:srgbClr val="5F6B63"/>
                </a:solidFill>
                <a:latin typeface="Aptos"/>
              </a:rPr>
              <a:t>AVG PRICE</a:t>
            </a:r>
          </a:p>
        </p:txBody>
      </p:sp>
      <p:sp>
        <p:nvSpPr>
          <p:cNvPr id="64" name="TextBox 63"/>
          <p:cNvSpPr txBox="1"/>
          <p:nvPr/>
        </p:nvSpPr>
        <p:spPr>
          <a:xfrm>
            <a:off x="9912096" y="2816352"/>
            <a:ext cx="1170432" cy="438912"/>
          </a:xfrm>
          <a:prstGeom prst="rect">
            <a:avLst/>
          </a:prstGeom>
          <a:noFill/>
        </p:spPr>
        <p:txBody>
          <a:bodyPr wrap="square" lIns="27432" rIns="27432" tIns="27432" bIns="27432" anchor="ctr">
            <a:spAutoFit/>
          </a:bodyPr>
          <a:lstStyle/>
          <a:p>
            <a:pPr algn="ctr"/>
            <a:r>
              <a:rPr sz="1900" b="1">
                <a:solidFill>
                  <a:srgbClr val="C58A2A"/>
                </a:solidFill>
                <a:latin typeface="Aptos Display"/>
              </a:rPr>
              <a:t>$2.45</a:t>
            </a:r>
          </a:p>
        </p:txBody>
      </p:sp>
      <p:sp>
        <p:nvSpPr>
          <p:cNvPr id="65" name="Rounded Rectangle 64"/>
          <p:cNvSpPr/>
          <p:nvPr/>
        </p:nvSpPr>
        <p:spPr>
          <a:xfrm>
            <a:off x="8101583" y="3529584"/>
            <a:ext cx="3108960" cy="859536"/>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229599" y="3639312"/>
            <a:ext cx="2852928" cy="164592"/>
          </a:xfrm>
          <a:prstGeom prst="rect">
            <a:avLst/>
          </a:prstGeom>
          <a:noFill/>
        </p:spPr>
        <p:txBody>
          <a:bodyPr wrap="square" lIns="27432" rIns="27432" tIns="27432" bIns="27432" anchor="t">
            <a:spAutoFit/>
          </a:bodyPr>
          <a:lstStyle/>
          <a:p>
            <a:pPr algn="ctr"/>
            <a:r>
              <a:rPr sz="1000" b="1">
                <a:solidFill>
                  <a:srgbClr val="5F6B63"/>
                </a:solidFill>
                <a:latin typeface="Aptos"/>
              </a:rPr>
              <a:t>LOW-MILE HEDGE</a:t>
            </a:r>
          </a:p>
        </p:txBody>
      </p:sp>
      <p:sp>
        <p:nvSpPr>
          <p:cNvPr id="67" name="TextBox 66"/>
          <p:cNvSpPr txBox="1"/>
          <p:nvPr/>
        </p:nvSpPr>
        <p:spPr>
          <a:xfrm>
            <a:off x="8229599" y="3840480"/>
            <a:ext cx="2852928" cy="438912"/>
          </a:xfrm>
          <a:prstGeom prst="rect">
            <a:avLst/>
          </a:prstGeom>
          <a:noFill/>
        </p:spPr>
        <p:txBody>
          <a:bodyPr wrap="square" lIns="27432" rIns="27432" tIns="27432" bIns="27432" anchor="ctr">
            <a:spAutoFit/>
          </a:bodyPr>
          <a:lstStyle/>
          <a:p>
            <a:pPr algn="ctr"/>
            <a:r>
              <a:rPr sz="1900" b="1">
                <a:solidFill>
                  <a:srgbClr val="355C47"/>
                </a:solidFill>
                <a:latin typeface="Aptos Display"/>
              </a:rPr>
              <a:t>San Diego</a:t>
            </a:r>
          </a:p>
        </p:txBody>
      </p:sp>
      <p:sp>
        <p:nvSpPr>
          <p:cNvPr id="68" name="TextBox 67"/>
          <p:cNvSpPr txBox="1"/>
          <p:nvPr/>
        </p:nvSpPr>
        <p:spPr>
          <a:xfrm>
            <a:off x="8101583" y="4590288"/>
            <a:ext cx="2926080" cy="914400"/>
          </a:xfrm>
          <a:prstGeom prst="rect">
            <a:avLst/>
          </a:prstGeom>
          <a:noFill/>
        </p:spPr>
        <p:txBody>
          <a:bodyPr wrap="square" lIns="27432" rIns="27432" tIns="18288" bIns="18288">
            <a:spAutoFit/>
          </a:bodyPr>
          <a:lstStyle/>
          <a:p>
            <a:pPr algn="l">
              <a:lnSpc>
                <a:spcPct val="115000"/>
              </a:lnSpc>
            </a:pPr>
            <a:r>
              <a:rPr sz="1200">
                <a:solidFill>
                  <a:srgbClr val="1F2621"/>
                </a:solidFill>
                <a:latin typeface="Aptos"/>
              </a:rPr>
              <a:t>- This is one coherent western lane system, not five disconnected bets.</a:t>
            </a:r>
          </a:p>
          <a:p>
            <a:pPr algn="l">
              <a:lnSpc>
                <a:spcPct val="115000"/>
              </a:lnSpc>
            </a:pPr>
            <a:r>
              <a:rPr sz="1200">
                <a:solidFill>
                  <a:srgbClr val="1F2621"/>
                </a:solidFill>
                <a:latin typeface="Aptos"/>
              </a:rPr>
              <a:t>- The Northwest supplies the premium; San Diego supplies the short-haul hedge.</a:t>
            </a:r>
          </a:p>
          <a:p>
            <a:pPr algn="l">
              <a:lnSpc>
                <a:spcPct val="115000"/>
              </a:lnSpc>
            </a:pPr>
            <a:r>
              <a:rPr sz="1200">
                <a:solidFill>
                  <a:srgbClr val="1F2621"/>
                </a:solidFill>
                <a:latin typeface="Aptos"/>
              </a:rPr>
              <a:t>- That makes the recommendation operational, not just analytical.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55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46920" y="0"/>
            <a:ext cx="2542032" cy="73152"/>
          </a:xfrm>
          <a:prstGeom prst="rect">
            <a:avLst/>
          </a:prstGeom>
          <a:solidFill>
            <a:srgbClr val="C58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01168"/>
            <a:ext cx="1554480" cy="256032"/>
          </a:xfrm>
          <a:prstGeom prst="roundRect">
            <a:avLst/>
          </a:prstGeom>
          <a:solidFill>
            <a:srgbClr val="FCFAF5"/>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224028"/>
            <a:ext cx="1517904" cy="182880"/>
          </a:xfrm>
          <a:prstGeom prst="rect">
            <a:avLst/>
          </a:prstGeom>
          <a:noFill/>
        </p:spPr>
        <p:txBody>
          <a:bodyPr wrap="square" lIns="27432" rIns="27432" tIns="27432" bIns="27432" anchor="t">
            <a:spAutoFit/>
          </a:bodyPr>
          <a:lstStyle/>
          <a:p>
            <a:pPr algn="ctr"/>
            <a:r>
              <a:rPr sz="1000" b="1">
                <a:solidFill>
                  <a:srgbClr val="355C47"/>
                </a:solidFill>
                <a:latin typeface="Aptos"/>
              </a:rPr>
              <a:t>RECOMMENDATION</a:t>
            </a:r>
          </a:p>
        </p:txBody>
      </p:sp>
      <p:sp>
        <p:nvSpPr>
          <p:cNvPr id="7" name="Rounded Rectangle 6"/>
          <p:cNvSpPr/>
          <p:nvPr/>
        </p:nvSpPr>
        <p:spPr>
          <a:xfrm>
            <a:off x="2267712" y="201168"/>
            <a:ext cx="713232" cy="256032"/>
          </a:xfrm>
          <a:prstGeom prst="roundRect">
            <a:avLst/>
          </a:prstGeom>
          <a:solidFill>
            <a:srgbClr val="FFFDF9"/>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0" y="224028"/>
            <a:ext cx="676656" cy="182880"/>
          </a:xfrm>
          <a:prstGeom prst="rect">
            <a:avLst/>
          </a:prstGeom>
          <a:noFill/>
        </p:spPr>
        <p:txBody>
          <a:bodyPr wrap="square" lIns="27432" rIns="27432" tIns="27432" bIns="27432" anchor="t">
            <a:spAutoFit/>
          </a:bodyPr>
          <a:lstStyle/>
          <a:p>
            <a:pPr algn="ctr"/>
            <a:r>
              <a:rPr sz="1000" b="1">
                <a:solidFill>
                  <a:srgbClr val="C58A2A"/>
                </a:solidFill>
                <a:latin typeface="Aptos"/>
              </a:rPr>
              <a:t>Q5</a:t>
            </a:r>
          </a:p>
        </p:txBody>
      </p:sp>
      <p:sp>
        <p:nvSpPr>
          <p:cNvPr id="9" name="TextBox 8"/>
          <p:cNvSpPr txBox="1"/>
          <p:nvPr/>
        </p:nvSpPr>
        <p:spPr>
          <a:xfrm>
            <a:off x="11631168" y="6519672"/>
            <a:ext cx="274320" cy="164592"/>
          </a:xfrm>
          <a:prstGeom prst="rect">
            <a:avLst/>
          </a:prstGeom>
          <a:noFill/>
        </p:spPr>
        <p:txBody>
          <a:bodyPr wrap="square" lIns="27432" rIns="27432" tIns="27432" bIns="27432" anchor="t">
            <a:spAutoFit/>
          </a:bodyPr>
          <a:lstStyle/>
          <a:p>
            <a:pPr algn="r"/>
            <a:r>
              <a:rPr sz="900" b="0">
                <a:solidFill>
                  <a:srgbClr val="5F6B63"/>
                </a:solidFill>
                <a:latin typeface="Aptos"/>
              </a:rPr>
              <a:t>17</a:t>
            </a:r>
          </a:p>
        </p:txBody>
      </p:sp>
      <p:sp>
        <p:nvSpPr>
          <p:cNvPr id="10" name="TextBox 9"/>
          <p:cNvSpPr txBox="1"/>
          <p:nvPr/>
        </p:nvSpPr>
        <p:spPr>
          <a:xfrm>
            <a:off x="548640" y="658368"/>
            <a:ext cx="10332720" cy="868680"/>
          </a:xfrm>
          <a:prstGeom prst="rect">
            <a:avLst/>
          </a:prstGeom>
          <a:noFill/>
        </p:spPr>
        <p:txBody>
          <a:bodyPr wrap="square" lIns="27432" rIns="27432" tIns="27432" bIns="27432" anchor="t">
            <a:spAutoFit/>
          </a:bodyPr>
          <a:lstStyle/>
          <a:p>
            <a:pPr algn="l"/>
            <a:r>
              <a:rPr sz="2700" b="1">
                <a:solidFill>
                  <a:srgbClr val="355C47"/>
                </a:solidFill>
                <a:latin typeface="Aptos Display"/>
              </a:rPr>
              <a:t>Price support beats proximity</a:t>
            </a:r>
          </a:p>
        </p:txBody>
      </p:sp>
      <p:sp>
        <p:nvSpPr>
          <p:cNvPr id="11" name="Rounded Rectangle 10"/>
          <p:cNvSpPr/>
          <p:nvPr/>
        </p:nvSpPr>
        <p:spPr>
          <a:xfrm>
            <a:off x="749808" y="1664208"/>
            <a:ext cx="6812280" cy="4251960"/>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1865376"/>
            <a:ext cx="2011680" cy="164592"/>
          </a:xfrm>
          <a:prstGeom prst="rect">
            <a:avLst/>
          </a:prstGeom>
          <a:noFill/>
        </p:spPr>
        <p:txBody>
          <a:bodyPr wrap="square" lIns="27432" rIns="27432" tIns="27432" bIns="27432" anchor="t">
            <a:spAutoFit/>
          </a:bodyPr>
          <a:lstStyle/>
          <a:p>
            <a:pPr algn="l"/>
            <a:r>
              <a:rPr sz="1000" b="1">
                <a:solidFill>
                  <a:srgbClr val="5F6B63"/>
                </a:solidFill>
                <a:latin typeface="Aptos"/>
              </a:rPr>
              <a:t>PRICE VS MILES</a:t>
            </a:r>
          </a:p>
        </p:txBody>
      </p:sp>
      <p:cxnSp>
        <p:nvCxnSpPr>
          <p:cNvPr id="13" name="Connector 12"/>
          <p:cNvCxnSpPr/>
          <p:nvPr/>
        </p:nvCxnSpPr>
        <p:spPr>
          <a:xfrm>
            <a:off x="2167128" y="4937760"/>
            <a:ext cx="3749040" cy="0"/>
          </a:xfrm>
          <a:prstGeom prst="line">
            <a:avLst/>
          </a:prstGeom>
          <a:ln w="17780">
            <a:solidFill>
              <a:srgbClr val="D8D1C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167128" y="2377440"/>
            <a:ext cx="0" cy="2560320"/>
          </a:xfrm>
          <a:prstGeom prst="line">
            <a:avLst/>
          </a:prstGeom>
          <a:ln w="17780">
            <a:solidFill>
              <a:srgbClr val="D8D1C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2167128" y="2377440"/>
            <a:ext cx="0" cy="2560320"/>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892808" y="5010912"/>
            <a:ext cx="548640" cy="146304"/>
          </a:xfrm>
          <a:prstGeom prst="rect">
            <a:avLst/>
          </a:prstGeom>
          <a:noFill/>
        </p:spPr>
        <p:txBody>
          <a:bodyPr wrap="square" lIns="27432" rIns="27432" tIns="27432" bIns="27432" anchor="t">
            <a:spAutoFit/>
          </a:bodyPr>
          <a:lstStyle/>
          <a:p>
            <a:pPr algn="ctr"/>
            <a:r>
              <a:rPr sz="800" b="0">
                <a:solidFill>
                  <a:srgbClr val="5F6B63"/>
                </a:solidFill>
                <a:latin typeface="Aptos"/>
              </a:rPr>
              <a:t>0</a:t>
            </a:r>
          </a:p>
        </p:txBody>
      </p:sp>
      <p:cxnSp>
        <p:nvCxnSpPr>
          <p:cNvPr id="17" name="Connector 16"/>
          <p:cNvCxnSpPr/>
          <p:nvPr/>
        </p:nvCxnSpPr>
        <p:spPr>
          <a:xfrm flipV="1">
            <a:off x="2916936" y="2377440"/>
            <a:ext cx="0" cy="2560320"/>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2642616" y="5010912"/>
            <a:ext cx="548640" cy="146304"/>
          </a:xfrm>
          <a:prstGeom prst="rect">
            <a:avLst/>
          </a:prstGeom>
          <a:noFill/>
        </p:spPr>
        <p:txBody>
          <a:bodyPr wrap="square" lIns="27432" rIns="27432" tIns="27432" bIns="27432" anchor="t">
            <a:spAutoFit/>
          </a:bodyPr>
          <a:lstStyle/>
          <a:p>
            <a:pPr algn="ctr"/>
            <a:r>
              <a:rPr sz="800" b="0">
                <a:solidFill>
                  <a:srgbClr val="5F6B63"/>
                </a:solidFill>
                <a:latin typeface="Aptos"/>
              </a:rPr>
              <a:t>250</a:t>
            </a:r>
          </a:p>
        </p:txBody>
      </p:sp>
      <p:cxnSp>
        <p:nvCxnSpPr>
          <p:cNvPr id="19" name="Connector 18"/>
          <p:cNvCxnSpPr/>
          <p:nvPr/>
        </p:nvCxnSpPr>
        <p:spPr>
          <a:xfrm flipV="1">
            <a:off x="3666744" y="2377440"/>
            <a:ext cx="0" cy="2560320"/>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392424" y="5010912"/>
            <a:ext cx="548640" cy="146304"/>
          </a:xfrm>
          <a:prstGeom prst="rect">
            <a:avLst/>
          </a:prstGeom>
          <a:noFill/>
        </p:spPr>
        <p:txBody>
          <a:bodyPr wrap="square" lIns="27432" rIns="27432" tIns="27432" bIns="27432" anchor="t">
            <a:spAutoFit/>
          </a:bodyPr>
          <a:lstStyle/>
          <a:p>
            <a:pPr algn="ctr"/>
            <a:r>
              <a:rPr sz="800" b="0">
                <a:solidFill>
                  <a:srgbClr val="5F6B63"/>
                </a:solidFill>
                <a:latin typeface="Aptos"/>
              </a:rPr>
              <a:t>500</a:t>
            </a:r>
          </a:p>
        </p:txBody>
      </p:sp>
      <p:cxnSp>
        <p:nvCxnSpPr>
          <p:cNvPr id="21" name="Connector 20"/>
          <p:cNvCxnSpPr/>
          <p:nvPr/>
        </p:nvCxnSpPr>
        <p:spPr>
          <a:xfrm flipV="1">
            <a:off x="4416552" y="2377440"/>
            <a:ext cx="0" cy="2560320"/>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142232" y="5010912"/>
            <a:ext cx="548640" cy="146304"/>
          </a:xfrm>
          <a:prstGeom prst="rect">
            <a:avLst/>
          </a:prstGeom>
          <a:noFill/>
        </p:spPr>
        <p:txBody>
          <a:bodyPr wrap="square" lIns="27432" rIns="27432" tIns="27432" bIns="27432" anchor="t">
            <a:spAutoFit/>
          </a:bodyPr>
          <a:lstStyle/>
          <a:p>
            <a:pPr algn="ctr"/>
            <a:r>
              <a:rPr sz="800" b="0">
                <a:solidFill>
                  <a:srgbClr val="5F6B63"/>
                </a:solidFill>
                <a:latin typeface="Aptos"/>
              </a:rPr>
              <a:t>750</a:t>
            </a:r>
          </a:p>
        </p:txBody>
      </p:sp>
      <p:cxnSp>
        <p:nvCxnSpPr>
          <p:cNvPr id="23" name="Connector 22"/>
          <p:cNvCxnSpPr/>
          <p:nvPr/>
        </p:nvCxnSpPr>
        <p:spPr>
          <a:xfrm flipV="1">
            <a:off x="5166360" y="2377440"/>
            <a:ext cx="0" cy="2560320"/>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892040" y="5010912"/>
            <a:ext cx="548640" cy="146304"/>
          </a:xfrm>
          <a:prstGeom prst="rect">
            <a:avLst/>
          </a:prstGeom>
          <a:noFill/>
        </p:spPr>
        <p:txBody>
          <a:bodyPr wrap="square" lIns="27432" rIns="27432" tIns="27432" bIns="27432" anchor="t">
            <a:spAutoFit/>
          </a:bodyPr>
          <a:lstStyle/>
          <a:p>
            <a:pPr algn="ctr"/>
            <a:r>
              <a:rPr sz="800" b="0">
                <a:solidFill>
                  <a:srgbClr val="5F6B63"/>
                </a:solidFill>
                <a:latin typeface="Aptos"/>
              </a:rPr>
              <a:t>1,000</a:t>
            </a:r>
          </a:p>
        </p:txBody>
      </p:sp>
      <p:cxnSp>
        <p:nvCxnSpPr>
          <p:cNvPr id="25" name="Connector 24"/>
          <p:cNvCxnSpPr/>
          <p:nvPr/>
        </p:nvCxnSpPr>
        <p:spPr>
          <a:xfrm flipV="1">
            <a:off x="5916168" y="2377440"/>
            <a:ext cx="0" cy="2560320"/>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641848" y="5010912"/>
            <a:ext cx="548640" cy="146304"/>
          </a:xfrm>
          <a:prstGeom prst="rect">
            <a:avLst/>
          </a:prstGeom>
          <a:noFill/>
        </p:spPr>
        <p:txBody>
          <a:bodyPr wrap="square" lIns="27432" rIns="27432" tIns="27432" bIns="27432" anchor="t">
            <a:spAutoFit/>
          </a:bodyPr>
          <a:lstStyle/>
          <a:p>
            <a:pPr algn="ctr"/>
            <a:r>
              <a:rPr sz="800" b="0">
                <a:solidFill>
                  <a:srgbClr val="5F6B63"/>
                </a:solidFill>
                <a:latin typeface="Aptos"/>
              </a:rPr>
              <a:t>1,250</a:t>
            </a:r>
          </a:p>
        </p:txBody>
      </p:sp>
      <p:cxnSp>
        <p:nvCxnSpPr>
          <p:cNvPr id="27" name="Connector 26"/>
          <p:cNvCxnSpPr/>
          <p:nvPr/>
        </p:nvCxnSpPr>
        <p:spPr>
          <a:xfrm>
            <a:off x="2167128" y="4937760"/>
            <a:ext cx="3749040" cy="0"/>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41248" y="4864608"/>
            <a:ext cx="548640" cy="146304"/>
          </a:xfrm>
          <a:prstGeom prst="rect">
            <a:avLst/>
          </a:prstGeom>
          <a:noFill/>
        </p:spPr>
        <p:txBody>
          <a:bodyPr wrap="square" lIns="27432" rIns="27432" tIns="27432" bIns="27432" anchor="t">
            <a:spAutoFit/>
          </a:bodyPr>
          <a:lstStyle/>
          <a:p>
            <a:pPr algn="r"/>
            <a:r>
              <a:rPr sz="800" b="0">
                <a:solidFill>
                  <a:srgbClr val="5F6B63"/>
                </a:solidFill>
                <a:latin typeface="Aptos"/>
              </a:rPr>
              <a:t>$1.50</a:t>
            </a:r>
          </a:p>
        </p:txBody>
      </p:sp>
      <p:cxnSp>
        <p:nvCxnSpPr>
          <p:cNvPr id="29" name="Connector 28"/>
          <p:cNvCxnSpPr/>
          <p:nvPr/>
        </p:nvCxnSpPr>
        <p:spPr>
          <a:xfrm>
            <a:off x="2167128" y="4462272"/>
            <a:ext cx="3749040" cy="0"/>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41248" y="4389120"/>
            <a:ext cx="548640" cy="146304"/>
          </a:xfrm>
          <a:prstGeom prst="rect">
            <a:avLst/>
          </a:prstGeom>
          <a:noFill/>
        </p:spPr>
        <p:txBody>
          <a:bodyPr wrap="square" lIns="27432" rIns="27432" tIns="27432" bIns="27432" anchor="t">
            <a:spAutoFit/>
          </a:bodyPr>
          <a:lstStyle/>
          <a:p>
            <a:pPr algn="r"/>
            <a:r>
              <a:rPr sz="800" b="0">
                <a:solidFill>
                  <a:srgbClr val="5F6B63"/>
                </a:solidFill>
                <a:latin typeface="Aptos"/>
              </a:rPr>
              <a:t>$1.75</a:t>
            </a:r>
          </a:p>
        </p:txBody>
      </p:sp>
      <p:cxnSp>
        <p:nvCxnSpPr>
          <p:cNvPr id="31" name="Connector 30"/>
          <p:cNvCxnSpPr/>
          <p:nvPr/>
        </p:nvCxnSpPr>
        <p:spPr>
          <a:xfrm>
            <a:off x="2167128" y="3986784"/>
            <a:ext cx="3749040" cy="0"/>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41248" y="3913632"/>
            <a:ext cx="548640" cy="146304"/>
          </a:xfrm>
          <a:prstGeom prst="rect">
            <a:avLst/>
          </a:prstGeom>
          <a:noFill/>
        </p:spPr>
        <p:txBody>
          <a:bodyPr wrap="square" lIns="27432" rIns="27432" tIns="27432" bIns="27432" anchor="t">
            <a:spAutoFit/>
          </a:bodyPr>
          <a:lstStyle/>
          <a:p>
            <a:pPr algn="r"/>
            <a:r>
              <a:rPr sz="800" b="0">
                <a:solidFill>
                  <a:srgbClr val="5F6B63"/>
                </a:solidFill>
                <a:latin typeface="Aptos"/>
              </a:rPr>
              <a:t>$2.00</a:t>
            </a:r>
          </a:p>
        </p:txBody>
      </p:sp>
      <p:cxnSp>
        <p:nvCxnSpPr>
          <p:cNvPr id="33" name="Connector 32"/>
          <p:cNvCxnSpPr/>
          <p:nvPr/>
        </p:nvCxnSpPr>
        <p:spPr>
          <a:xfrm>
            <a:off x="2167128" y="3511296"/>
            <a:ext cx="3749040" cy="0"/>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841248" y="3438144"/>
            <a:ext cx="548640" cy="146304"/>
          </a:xfrm>
          <a:prstGeom prst="rect">
            <a:avLst/>
          </a:prstGeom>
          <a:noFill/>
        </p:spPr>
        <p:txBody>
          <a:bodyPr wrap="square" lIns="27432" rIns="27432" tIns="27432" bIns="27432" anchor="t">
            <a:spAutoFit/>
          </a:bodyPr>
          <a:lstStyle/>
          <a:p>
            <a:pPr algn="r"/>
            <a:r>
              <a:rPr sz="800" b="0">
                <a:solidFill>
                  <a:srgbClr val="5F6B63"/>
                </a:solidFill>
                <a:latin typeface="Aptos"/>
              </a:rPr>
              <a:t>$2.25</a:t>
            </a:r>
          </a:p>
        </p:txBody>
      </p:sp>
      <p:cxnSp>
        <p:nvCxnSpPr>
          <p:cNvPr id="35" name="Connector 34"/>
          <p:cNvCxnSpPr/>
          <p:nvPr/>
        </p:nvCxnSpPr>
        <p:spPr>
          <a:xfrm>
            <a:off x="2167128" y="3035808"/>
            <a:ext cx="3749040" cy="0"/>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41248" y="2962656"/>
            <a:ext cx="548640" cy="146304"/>
          </a:xfrm>
          <a:prstGeom prst="rect">
            <a:avLst/>
          </a:prstGeom>
          <a:noFill/>
        </p:spPr>
        <p:txBody>
          <a:bodyPr wrap="square" lIns="27432" rIns="27432" tIns="27432" bIns="27432" anchor="t">
            <a:spAutoFit/>
          </a:bodyPr>
          <a:lstStyle/>
          <a:p>
            <a:pPr algn="r"/>
            <a:r>
              <a:rPr sz="800" b="0">
                <a:solidFill>
                  <a:srgbClr val="5F6B63"/>
                </a:solidFill>
                <a:latin typeface="Aptos"/>
              </a:rPr>
              <a:t>$2.50</a:t>
            </a:r>
          </a:p>
        </p:txBody>
      </p:sp>
      <p:cxnSp>
        <p:nvCxnSpPr>
          <p:cNvPr id="37" name="Connector 36"/>
          <p:cNvCxnSpPr/>
          <p:nvPr/>
        </p:nvCxnSpPr>
        <p:spPr>
          <a:xfrm>
            <a:off x="2167128" y="2560320"/>
            <a:ext cx="3749040" cy="0"/>
          </a:xfrm>
          <a:prstGeom prst="line">
            <a:avLst/>
          </a:prstGeom>
          <a:ln w="8890">
            <a:solidFill>
              <a:srgbClr val="D8D1C6"/>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841248" y="2487168"/>
            <a:ext cx="548640" cy="146304"/>
          </a:xfrm>
          <a:prstGeom prst="rect">
            <a:avLst/>
          </a:prstGeom>
          <a:noFill/>
        </p:spPr>
        <p:txBody>
          <a:bodyPr wrap="square" lIns="27432" rIns="27432" tIns="27432" bIns="27432" anchor="t">
            <a:spAutoFit/>
          </a:bodyPr>
          <a:lstStyle/>
          <a:p>
            <a:pPr algn="r"/>
            <a:r>
              <a:rPr sz="800" b="0">
                <a:solidFill>
                  <a:srgbClr val="5F6B63"/>
                </a:solidFill>
                <a:latin typeface="Aptos"/>
              </a:rPr>
              <a:t>$2.75</a:t>
            </a:r>
          </a:p>
        </p:txBody>
      </p:sp>
      <p:sp>
        <p:nvSpPr>
          <p:cNvPr id="39" name="Oval 38"/>
          <p:cNvSpPr/>
          <p:nvPr/>
        </p:nvSpPr>
        <p:spPr>
          <a:xfrm>
            <a:off x="5171041" y="2649199"/>
            <a:ext cx="164592" cy="164592"/>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4565196" y="2774728"/>
            <a:ext cx="164592" cy="164592"/>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4649175" y="2873630"/>
            <a:ext cx="164592" cy="164592"/>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5374989" y="3181746"/>
            <a:ext cx="164592" cy="164592"/>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2843637" y="3725704"/>
            <a:ext cx="164592" cy="164592"/>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2417746" y="4151741"/>
            <a:ext cx="164592" cy="164592"/>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2915619" y="4090879"/>
            <a:ext cx="164592" cy="164592"/>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2933614" y="3961546"/>
            <a:ext cx="164592" cy="164592"/>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2942612" y="4414211"/>
            <a:ext cx="164592" cy="164592"/>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8" name="Connector 47"/>
          <p:cNvCxnSpPr/>
          <p:nvPr/>
        </p:nvCxnSpPr>
        <p:spPr>
          <a:xfrm flipH="1" flipV="1">
            <a:off x="1133856" y="4043842"/>
            <a:ext cx="1918630" cy="54864"/>
          </a:xfrm>
          <a:prstGeom prst="line">
            <a:avLst/>
          </a:prstGeom>
          <a:ln w="11430">
            <a:solidFill>
              <a:srgbClr val="1F2621"/>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1170432" y="3970690"/>
            <a:ext cx="896112" cy="146304"/>
          </a:xfrm>
          <a:prstGeom prst="rect">
            <a:avLst/>
          </a:prstGeom>
          <a:noFill/>
        </p:spPr>
        <p:txBody>
          <a:bodyPr wrap="square" lIns="27432" rIns="27432" tIns="27432" bIns="27432" anchor="t">
            <a:spAutoFit/>
          </a:bodyPr>
          <a:lstStyle/>
          <a:p>
            <a:pPr algn="l"/>
            <a:r>
              <a:rPr sz="800" b="1">
                <a:solidFill>
                  <a:srgbClr val="1F2621"/>
                </a:solidFill>
                <a:latin typeface="Aptos"/>
              </a:rPr>
              <a:t>San Fran</a:t>
            </a:r>
          </a:p>
        </p:txBody>
      </p:sp>
      <p:cxnSp>
        <p:nvCxnSpPr>
          <p:cNvPr id="50" name="Connector 49"/>
          <p:cNvCxnSpPr/>
          <p:nvPr/>
        </p:nvCxnSpPr>
        <p:spPr>
          <a:xfrm flipH="1" flipV="1">
            <a:off x="1133856" y="4173175"/>
            <a:ext cx="1900635" cy="126699"/>
          </a:xfrm>
          <a:prstGeom prst="line">
            <a:avLst/>
          </a:prstGeom>
          <a:ln w="11430">
            <a:solidFill>
              <a:srgbClr val="1F2621"/>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1170432" y="4171858"/>
            <a:ext cx="896112" cy="146304"/>
          </a:xfrm>
          <a:prstGeom prst="rect">
            <a:avLst/>
          </a:prstGeom>
          <a:noFill/>
        </p:spPr>
        <p:txBody>
          <a:bodyPr wrap="square" lIns="27432" rIns="27432" tIns="27432" bIns="27432" anchor="t">
            <a:spAutoFit/>
          </a:bodyPr>
          <a:lstStyle/>
          <a:p>
            <a:pPr algn="l"/>
            <a:r>
              <a:rPr sz="800" b="1">
                <a:solidFill>
                  <a:srgbClr val="1F2621"/>
                </a:solidFill>
                <a:latin typeface="Aptos"/>
              </a:rPr>
              <a:t>Sacramento</a:t>
            </a:r>
          </a:p>
        </p:txBody>
      </p:sp>
      <p:cxnSp>
        <p:nvCxnSpPr>
          <p:cNvPr id="52" name="Connector 51"/>
          <p:cNvCxnSpPr/>
          <p:nvPr/>
        </p:nvCxnSpPr>
        <p:spPr>
          <a:xfrm flipH="1" flipV="1">
            <a:off x="1133856" y="4234037"/>
            <a:ext cx="1402762" cy="267005"/>
          </a:xfrm>
          <a:prstGeom prst="line">
            <a:avLst/>
          </a:prstGeom>
          <a:ln w="11430">
            <a:solidFill>
              <a:srgbClr val="1F2621"/>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1170432" y="4373026"/>
            <a:ext cx="896112" cy="146304"/>
          </a:xfrm>
          <a:prstGeom prst="rect">
            <a:avLst/>
          </a:prstGeom>
          <a:noFill/>
        </p:spPr>
        <p:txBody>
          <a:bodyPr wrap="square" lIns="27432" rIns="27432" tIns="27432" bIns="27432" anchor="t">
            <a:spAutoFit/>
          </a:bodyPr>
          <a:lstStyle/>
          <a:p>
            <a:pPr algn="l"/>
            <a:r>
              <a:rPr sz="800" b="1">
                <a:solidFill>
                  <a:srgbClr val="1F2621"/>
                </a:solidFill>
                <a:latin typeface="Aptos"/>
              </a:rPr>
              <a:t>Los Angeles</a:t>
            </a:r>
          </a:p>
        </p:txBody>
      </p:sp>
      <p:cxnSp>
        <p:nvCxnSpPr>
          <p:cNvPr id="54" name="Connector 53"/>
          <p:cNvCxnSpPr/>
          <p:nvPr/>
        </p:nvCxnSpPr>
        <p:spPr>
          <a:xfrm flipH="1" flipV="1">
            <a:off x="1133856" y="4496507"/>
            <a:ext cx="1927628" cy="205703"/>
          </a:xfrm>
          <a:prstGeom prst="line">
            <a:avLst/>
          </a:prstGeom>
          <a:ln w="11430">
            <a:solidFill>
              <a:srgbClr val="1F2621"/>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1170432" y="4574194"/>
            <a:ext cx="896112" cy="146304"/>
          </a:xfrm>
          <a:prstGeom prst="rect">
            <a:avLst/>
          </a:prstGeom>
          <a:noFill/>
        </p:spPr>
        <p:txBody>
          <a:bodyPr wrap="square" lIns="27432" rIns="27432" tIns="27432" bIns="27432" anchor="t">
            <a:spAutoFit/>
          </a:bodyPr>
          <a:lstStyle/>
          <a:p>
            <a:pPr algn="l"/>
            <a:r>
              <a:rPr sz="800" b="1">
                <a:solidFill>
                  <a:srgbClr val="1F2621"/>
                </a:solidFill>
                <a:latin typeface="Aptos"/>
              </a:rPr>
              <a:t>Las Vegas</a:t>
            </a:r>
          </a:p>
        </p:txBody>
      </p:sp>
      <p:cxnSp>
        <p:nvCxnSpPr>
          <p:cNvPr id="56" name="Connector 55"/>
          <p:cNvCxnSpPr/>
          <p:nvPr/>
        </p:nvCxnSpPr>
        <p:spPr>
          <a:xfrm flipV="1">
            <a:off x="5289913" y="2731495"/>
            <a:ext cx="754271" cy="54864"/>
          </a:xfrm>
          <a:prstGeom prst="line">
            <a:avLst/>
          </a:prstGeom>
          <a:ln w="11430">
            <a:solidFill>
              <a:srgbClr val="355C47"/>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6080760" y="2658343"/>
            <a:ext cx="896112" cy="146304"/>
          </a:xfrm>
          <a:prstGeom prst="rect">
            <a:avLst/>
          </a:prstGeom>
          <a:noFill/>
        </p:spPr>
        <p:txBody>
          <a:bodyPr wrap="square" lIns="27432" rIns="27432" tIns="27432" bIns="27432" anchor="t">
            <a:spAutoFit/>
          </a:bodyPr>
          <a:lstStyle/>
          <a:p>
            <a:pPr algn="l"/>
            <a:r>
              <a:rPr sz="800" b="1">
                <a:solidFill>
                  <a:srgbClr val="355C47"/>
                </a:solidFill>
                <a:latin typeface="Aptos"/>
              </a:rPr>
              <a:t>Seattle</a:t>
            </a:r>
          </a:p>
        </p:txBody>
      </p:sp>
      <p:cxnSp>
        <p:nvCxnSpPr>
          <p:cNvPr id="58" name="Connector 57"/>
          <p:cNvCxnSpPr/>
          <p:nvPr/>
        </p:nvCxnSpPr>
        <p:spPr>
          <a:xfrm flipV="1">
            <a:off x="4684068" y="2857024"/>
            <a:ext cx="1360116" cy="130503"/>
          </a:xfrm>
          <a:prstGeom prst="line">
            <a:avLst/>
          </a:prstGeom>
          <a:ln w="11430">
            <a:solidFill>
              <a:srgbClr val="355C47"/>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6080760" y="2859511"/>
            <a:ext cx="896112" cy="146304"/>
          </a:xfrm>
          <a:prstGeom prst="rect">
            <a:avLst/>
          </a:prstGeom>
          <a:noFill/>
        </p:spPr>
        <p:txBody>
          <a:bodyPr wrap="square" lIns="27432" rIns="27432" tIns="27432" bIns="27432" anchor="t">
            <a:spAutoFit/>
          </a:bodyPr>
          <a:lstStyle/>
          <a:p>
            <a:pPr algn="l"/>
            <a:r>
              <a:rPr sz="800" b="1">
                <a:solidFill>
                  <a:srgbClr val="355C47"/>
                </a:solidFill>
                <a:latin typeface="Aptos"/>
              </a:rPr>
              <a:t>Boise</a:t>
            </a:r>
          </a:p>
        </p:txBody>
      </p:sp>
      <p:cxnSp>
        <p:nvCxnSpPr>
          <p:cNvPr id="60" name="Connector 59"/>
          <p:cNvCxnSpPr/>
          <p:nvPr/>
        </p:nvCxnSpPr>
        <p:spPr>
          <a:xfrm flipV="1">
            <a:off x="4768047" y="2955926"/>
            <a:ext cx="1276137" cy="232769"/>
          </a:xfrm>
          <a:prstGeom prst="line">
            <a:avLst/>
          </a:prstGeom>
          <a:ln w="11430">
            <a:solidFill>
              <a:srgbClr val="355C47"/>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6080760" y="3060679"/>
            <a:ext cx="896112" cy="146304"/>
          </a:xfrm>
          <a:prstGeom prst="rect">
            <a:avLst/>
          </a:prstGeom>
          <a:noFill/>
        </p:spPr>
        <p:txBody>
          <a:bodyPr wrap="square" lIns="27432" rIns="27432" tIns="27432" bIns="27432" anchor="t">
            <a:spAutoFit/>
          </a:bodyPr>
          <a:lstStyle/>
          <a:p>
            <a:pPr algn="l"/>
            <a:r>
              <a:rPr sz="800" b="1">
                <a:solidFill>
                  <a:srgbClr val="355C47"/>
                </a:solidFill>
                <a:latin typeface="Aptos"/>
              </a:rPr>
              <a:t>Portland</a:t>
            </a:r>
          </a:p>
        </p:txBody>
      </p:sp>
      <p:cxnSp>
        <p:nvCxnSpPr>
          <p:cNvPr id="62" name="Connector 61"/>
          <p:cNvCxnSpPr/>
          <p:nvPr/>
        </p:nvCxnSpPr>
        <p:spPr>
          <a:xfrm flipV="1">
            <a:off x="5493861" y="3264042"/>
            <a:ext cx="550323" cy="125821"/>
          </a:xfrm>
          <a:prstGeom prst="line">
            <a:avLst/>
          </a:prstGeom>
          <a:ln w="11430">
            <a:solidFill>
              <a:srgbClr val="355C47"/>
            </a:solidFill>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6080760" y="3261847"/>
            <a:ext cx="896112" cy="146304"/>
          </a:xfrm>
          <a:prstGeom prst="rect">
            <a:avLst/>
          </a:prstGeom>
          <a:noFill/>
        </p:spPr>
        <p:txBody>
          <a:bodyPr wrap="square" lIns="27432" rIns="27432" tIns="27432" bIns="27432" anchor="t">
            <a:spAutoFit/>
          </a:bodyPr>
          <a:lstStyle/>
          <a:p>
            <a:pPr algn="l"/>
            <a:r>
              <a:rPr sz="800" b="1">
                <a:solidFill>
                  <a:srgbClr val="355C47"/>
                </a:solidFill>
                <a:latin typeface="Aptos"/>
              </a:rPr>
              <a:t>Spokane</a:t>
            </a:r>
          </a:p>
        </p:txBody>
      </p:sp>
      <p:cxnSp>
        <p:nvCxnSpPr>
          <p:cNvPr id="64" name="Connector 63"/>
          <p:cNvCxnSpPr/>
          <p:nvPr/>
        </p:nvCxnSpPr>
        <p:spPr>
          <a:xfrm flipV="1">
            <a:off x="2962509" y="3808000"/>
            <a:ext cx="3081675" cy="54864"/>
          </a:xfrm>
          <a:prstGeom prst="line">
            <a:avLst/>
          </a:prstGeom>
          <a:ln w="11430">
            <a:solidFill>
              <a:srgbClr val="355C47"/>
            </a:solidFill>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6080760" y="3734848"/>
            <a:ext cx="896112" cy="146304"/>
          </a:xfrm>
          <a:prstGeom prst="rect">
            <a:avLst/>
          </a:prstGeom>
          <a:noFill/>
        </p:spPr>
        <p:txBody>
          <a:bodyPr wrap="square" lIns="27432" rIns="27432" tIns="27432" bIns="27432" anchor="t">
            <a:spAutoFit/>
          </a:bodyPr>
          <a:lstStyle/>
          <a:p>
            <a:pPr algn="l"/>
            <a:r>
              <a:rPr sz="800" b="1">
                <a:solidFill>
                  <a:srgbClr val="355C47"/>
                </a:solidFill>
                <a:latin typeface="Aptos"/>
              </a:rPr>
              <a:t>San Diego</a:t>
            </a:r>
          </a:p>
        </p:txBody>
      </p:sp>
      <p:sp>
        <p:nvSpPr>
          <p:cNvPr id="66" name="TextBox 65"/>
          <p:cNvSpPr txBox="1"/>
          <p:nvPr/>
        </p:nvSpPr>
        <p:spPr>
          <a:xfrm>
            <a:off x="2898648" y="5413248"/>
            <a:ext cx="2743200" cy="146304"/>
          </a:xfrm>
          <a:prstGeom prst="rect">
            <a:avLst/>
          </a:prstGeom>
          <a:noFill/>
        </p:spPr>
        <p:txBody>
          <a:bodyPr wrap="square" lIns="27432" rIns="27432" tIns="27432" bIns="27432" anchor="t">
            <a:spAutoFit/>
          </a:bodyPr>
          <a:lstStyle/>
          <a:p>
            <a:pPr algn="ctr"/>
            <a:r>
              <a:rPr sz="1000" b="0">
                <a:solidFill>
                  <a:srgbClr val="5F6B63"/>
                </a:solidFill>
                <a:latin typeface="Aptos"/>
              </a:rPr>
              <a:t>Mileage from West Valley hub</a:t>
            </a:r>
          </a:p>
        </p:txBody>
      </p:sp>
      <p:sp>
        <p:nvSpPr>
          <p:cNvPr id="67" name="TextBox 66"/>
          <p:cNvSpPr txBox="1"/>
          <p:nvPr/>
        </p:nvSpPr>
        <p:spPr>
          <a:xfrm>
            <a:off x="786384" y="3602736"/>
            <a:ext cx="676656" cy="320040"/>
          </a:xfrm>
          <a:prstGeom prst="rect">
            <a:avLst/>
          </a:prstGeom>
          <a:noFill/>
        </p:spPr>
        <p:txBody>
          <a:bodyPr wrap="square" lIns="27432" rIns="27432" tIns="27432" bIns="27432" anchor="t">
            <a:spAutoFit/>
          </a:bodyPr>
          <a:lstStyle/>
          <a:p>
            <a:pPr algn="ctr"/>
            <a:r>
              <a:rPr sz="1000" b="0">
                <a:solidFill>
                  <a:srgbClr val="5F6B63"/>
                </a:solidFill>
                <a:latin typeface="Aptos"/>
              </a:rPr>
              <a:t>Retail
price</a:t>
            </a:r>
          </a:p>
        </p:txBody>
      </p:sp>
      <p:sp>
        <p:nvSpPr>
          <p:cNvPr id="68" name="Rounded Rectangle 67"/>
          <p:cNvSpPr/>
          <p:nvPr/>
        </p:nvSpPr>
        <p:spPr>
          <a:xfrm>
            <a:off x="7845552" y="1664208"/>
            <a:ext cx="3657600" cy="4251960"/>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ounded Rectangle 68"/>
          <p:cNvSpPr/>
          <p:nvPr/>
        </p:nvSpPr>
        <p:spPr>
          <a:xfrm>
            <a:off x="8101583" y="1938528"/>
            <a:ext cx="1572768" cy="877824"/>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229599" y="2048256"/>
            <a:ext cx="1316736" cy="164592"/>
          </a:xfrm>
          <a:prstGeom prst="rect">
            <a:avLst/>
          </a:prstGeom>
          <a:noFill/>
        </p:spPr>
        <p:txBody>
          <a:bodyPr wrap="square" lIns="27432" rIns="27432" tIns="27432" bIns="27432" anchor="t">
            <a:spAutoFit/>
          </a:bodyPr>
          <a:lstStyle/>
          <a:p>
            <a:pPr algn="l"/>
            <a:r>
              <a:rPr sz="1000" b="1">
                <a:solidFill>
                  <a:srgbClr val="5F6B63"/>
                </a:solidFill>
                <a:latin typeface="Aptos"/>
              </a:rPr>
              <a:t>SELECTED AVG PRICE</a:t>
            </a:r>
          </a:p>
        </p:txBody>
      </p:sp>
      <p:sp>
        <p:nvSpPr>
          <p:cNvPr id="71" name="TextBox 70"/>
          <p:cNvSpPr txBox="1"/>
          <p:nvPr/>
        </p:nvSpPr>
        <p:spPr>
          <a:xfrm>
            <a:off x="8229599" y="2249424"/>
            <a:ext cx="1316736" cy="457200"/>
          </a:xfrm>
          <a:prstGeom prst="rect">
            <a:avLst/>
          </a:prstGeom>
          <a:noFill/>
        </p:spPr>
        <p:txBody>
          <a:bodyPr wrap="square" lIns="27432" rIns="27432" tIns="27432" bIns="27432" anchor="ctr">
            <a:spAutoFit/>
          </a:bodyPr>
          <a:lstStyle/>
          <a:p>
            <a:pPr algn="l"/>
            <a:r>
              <a:rPr sz="1900" b="1">
                <a:solidFill>
                  <a:srgbClr val="355C47"/>
                </a:solidFill>
                <a:latin typeface="Aptos Display"/>
              </a:rPr>
              <a:t>$2.45</a:t>
            </a:r>
          </a:p>
        </p:txBody>
      </p:sp>
      <p:sp>
        <p:nvSpPr>
          <p:cNvPr id="72" name="Rounded Rectangle 71"/>
          <p:cNvSpPr/>
          <p:nvPr/>
        </p:nvSpPr>
        <p:spPr>
          <a:xfrm>
            <a:off x="9765792" y="1938528"/>
            <a:ext cx="1481328" cy="877824"/>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893808" y="2048256"/>
            <a:ext cx="1225296" cy="164592"/>
          </a:xfrm>
          <a:prstGeom prst="rect">
            <a:avLst/>
          </a:prstGeom>
          <a:noFill/>
        </p:spPr>
        <p:txBody>
          <a:bodyPr wrap="square" lIns="27432" rIns="27432" tIns="27432" bIns="27432" anchor="t">
            <a:spAutoFit/>
          </a:bodyPr>
          <a:lstStyle/>
          <a:p>
            <a:pPr algn="l"/>
            <a:r>
              <a:rPr sz="1000" b="1">
                <a:solidFill>
                  <a:srgbClr val="5F6B63"/>
                </a:solidFill>
                <a:latin typeface="Aptos"/>
              </a:rPr>
              <a:t>NEARBY ALT.</a:t>
            </a:r>
          </a:p>
        </p:txBody>
      </p:sp>
      <p:sp>
        <p:nvSpPr>
          <p:cNvPr id="74" name="TextBox 73"/>
          <p:cNvSpPr txBox="1"/>
          <p:nvPr/>
        </p:nvSpPr>
        <p:spPr>
          <a:xfrm>
            <a:off x="9893808" y="2249424"/>
            <a:ext cx="1225296" cy="457200"/>
          </a:xfrm>
          <a:prstGeom prst="rect">
            <a:avLst/>
          </a:prstGeom>
          <a:noFill/>
        </p:spPr>
        <p:txBody>
          <a:bodyPr wrap="square" lIns="27432" rIns="27432" tIns="27432" bIns="27432" anchor="ctr">
            <a:spAutoFit/>
          </a:bodyPr>
          <a:lstStyle/>
          <a:p>
            <a:pPr algn="l"/>
            <a:r>
              <a:rPr sz="1900" b="1">
                <a:solidFill>
                  <a:srgbClr val="3F728A"/>
                </a:solidFill>
                <a:latin typeface="Aptos Display"/>
              </a:rPr>
              <a:t>$1.87</a:t>
            </a:r>
          </a:p>
        </p:txBody>
      </p:sp>
      <p:sp>
        <p:nvSpPr>
          <p:cNvPr id="75" name="TextBox 74"/>
          <p:cNvSpPr txBox="1"/>
          <p:nvPr/>
        </p:nvSpPr>
        <p:spPr>
          <a:xfrm>
            <a:off x="8101583" y="3054096"/>
            <a:ext cx="2907792" cy="1737360"/>
          </a:xfrm>
          <a:prstGeom prst="rect">
            <a:avLst/>
          </a:prstGeom>
          <a:noFill/>
        </p:spPr>
        <p:txBody>
          <a:bodyPr wrap="square" lIns="27432" rIns="27432" tIns="18288" bIns="18288">
            <a:spAutoFit/>
          </a:bodyPr>
          <a:lstStyle/>
          <a:p>
            <a:pPr algn="l">
              <a:lnSpc>
                <a:spcPct val="115000"/>
              </a:lnSpc>
            </a:pPr>
            <a:r>
              <a:rPr sz="1300">
                <a:solidFill>
                  <a:srgbClr val="1F2621"/>
                </a:solidFill>
                <a:latin typeface="Aptos"/>
              </a:rPr>
              <a:t>- The winners are not simply the closest cities.</a:t>
            </a:r>
          </a:p>
          <a:p>
            <a:pPr algn="l">
              <a:lnSpc>
                <a:spcPct val="115000"/>
              </a:lnSpc>
            </a:pPr>
            <a:r>
              <a:rPr sz="1300">
                <a:solidFill>
                  <a:srgbClr val="1F2621"/>
                </a:solidFill>
                <a:latin typeface="Aptos"/>
              </a:rPr>
              <a:t>- Nearby alternatives give back the freight edge through weaker pricing.</a:t>
            </a:r>
          </a:p>
          <a:p>
            <a:pPr algn="l">
              <a:lnSpc>
                <a:spcPct val="115000"/>
              </a:lnSpc>
            </a:pPr>
            <a:r>
              <a:rPr sz="1300">
                <a:solidFill>
                  <a:srgbClr val="1F2621"/>
                </a:solidFill>
                <a:latin typeface="Aptos"/>
              </a:rPr>
              <a:t>- San Diego is the hedge that keeps the cluster grounded.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55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46920" y="0"/>
            <a:ext cx="2542032" cy="73152"/>
          </a:xfrm>
          <a:prstGeom prst="rect">
            <a:avLst/>
          </a:prstGeom>
          <a:solidFill>
            <a:srgbClr val="C58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01168"/>
            <a:ext cx="1554480" cy="256032"/>
          </a:xfrm>
          <a:prstGeom prst="roundRect">
            <a:avLst/>
          </a:prstGeom>
          <a:solidFill>
            <a:srgbClr val="FCFAF5"/>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224028"/>
            <a:ext cx="1517904" cy="182880"/>
          </a:xfrm>
          <a:prstGeom prst="rect">
            <a:avLst/>
          </a:prstGeom>
          <a:noFill/>
        </p:spPr>
        <p:txBody>
          <a:bodyPr wrap="square" lIns="27432" rIns="27432" tIns="27432" bIns="27432" anchor="t">
            <a:spAutoFit/>
          </a:bodyPr>
          <a:lstStyle/>
          <a:p>
            <a:pPr algn="ctr"/>
            <a:r>
              <a:rPr sz="1000" b="1">
                <a:solidFill>
                  <a:srgbClr val="355C47"/>
                </a:solidFill>
                <a:latin typeface="Aptos"/>
              </a:rPr>
              <a:t>RECOMMENDATION</a:t>
            </a:r>
          </a:p>
        </p:txBody>
      </p:sp>
      <p:sp>
        <p:nvSpPr>
          <p:cNvPr id="7" name="Rounded Rectangle 6"/>
          <p:cNvSpPr/>
          <p:nvPr/>
        </p:nvSpPr>
        <p:spPr>
          <a:xfrm>
            <a:off x="2267712" y="201168"/>
            <a:ext cx="713232" cy="256032"/>
          </a:xfrm>
          <a:prstGeom prst="roundRect">
            <a:avLst/>
          </a:prstGeom>
          <a:solidFill>
            <a:srgbClr val="FFFDF9"/>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0" y="224028"/>
            <a:ext cx="676656" cy="182880"/>
          </a:xfrm>
          <a:prstGeom prst="rect">
            <a:avLst/>
          </a:prstGeom>
          <a:noFill/>
        </p:spPr>
        <p:txBody>
          <a:bodyPr wrap="square" lIns="27432" rIns="27432" tIns="27432" bIns="27432" anchor="t">
            <a:spAutoFit/>
          </a:bodyPr>
          <a:lstStyle/>
          <a:p>
            <a:pPr algn="ctr"/>
            <a:r>
              <a:rPr sz="1000" b="1">
                <a:solidFill>
                  <a:srgbClr val="C58A2A"/>
                </a:solidFill>
                <a:latin typeface="Aptos"/>
              </a:rPr>
              <a:t>Q6</a:t>
            </a:r>
          </a:p>
        </p:txBody>
      </p:sp>
      <p:sp>
        <p:nvSpPr>
          <p:cNvPr id="9" name="TextBox 8"/>
          <p:cNvSpPr txBox="1"/>
          <p:nvPr/>
        </p:nvSpPr>
        <p:spPr>
          <a:xfrm>
            <a:off x="11631168" y="6519672"/>
            <a:ext cx="274320" cy="164592"/>
          </a:xfrm>
          <a:prstGeom prst="rect">
            <a:avLst/>
          </a:prstGeom>
          <a:noFill/>
        </p:spPr>
        <p:txBody>
          <a:bodyPr wrap="square" lIns="27432" rIns="27432" tIns="27432" bIns="27432" anchor="t">
            <a:spAutoFit/>
          </a:bodyPr>
          <a:lstStyle/>
          <a:p>
            <a:pPr algn="r"/>
            <a:r>
              <a:rPr sz="900" b="0">
                <a:solidFill>
                  <a:srgbClr val="5F6B63"/>
                </a:solidFill>
                <a:latin typeface="Aptos"/>
              </a:rPr>
              <a:t>18</a:t>
            </a:r>
          </a:p>
        </p:txBody>
      </p:sp>
      <p:sp>
        <p:nvSpPr>
          <p:cNvPr id="10" name="TextBox 9"/>
          <p:cNvSpPr txBox="1"/>
          <p:nvPr/>
        </p:nvSpPr>
        <p:spPr>
          <a:xfrm>
            <a:off x="548640" y="658368"/>
            <a:ext cx="10332720" cy="868680"/>
          </a:xfrm>
          <a:prstGeom prst="rect">
            <a:avLst/>
          </a:prstGeom>
          <a:noFill/>
        </p:spPr>
        <p:txBody>
          <a:bodyPr wrap="square" lIns="27432" rIns="27432" tIns="27432" bIns="27432" anchor="t">
            <a:spAutoFit/>
          </a:bodyPr>
          <a:lstStyle/>
          <a:p>
            <a:pPr algn="l"/>
            <a:r>
              <a:rPr sz="2700" b="1">
                <a:solidFill>
                  <a:srgbClr val="355C47"/>
                </a:solidFill>
                <a:latin typeface="Aptos Display"/>
              </a:rPr>
              <a:t>+50% freight cuts margin, not the city set</a:t>
            </a:r>
          </a:p>
        </p:txBody>
      </p:sp>
      <p:sp>
        <p:nvSpPr>
          <p:cNvPr id="11" name="Rounded Rectangle 10"/>
          <p:cNvSpPr/>
          <p:nvPr/>
        </p:nvSpPr>
        <p:spPr>
          <a:xfrm>
            <a:off x="713232" y="1664208"/>
            <a:ext cx="6903720" cy="4297680"/>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83664"/>
            <a:ext cx="2468880" cy="164592"/>
          </a:xfrm>
          <a:prstGeom prst="rect">
            <a:avLst/>
          </a:prstGeom>
          <a:noFill/>
        </p:spPr>
        <p:txBody>
          <a:bodyPr wrap="square" lIns="27432" rIns="27432" tIns="27432" bIns="27432" anchor="t">
            <a:spAutoFit/>
          </a:bodyPr>
          <a:lstStyle/>
          <a:p>
            <a:pPr algn="l"/>
            <a:r>
              <a:rPr sz="1000" b="1">
                <a:solidFill>
                  <a:srgbClr val="5F6B63"/>
                </a:solidFill>
                <a:latin typeface="Aptos"/>
              </a:rPr>
              <a:t>BASE VS +50% FREIGHT</a:t>
            </a:r>
          </a:p>
        </p:txBody>
      </p:sp>
      <p:sp>
        <p:nvSpPr>
          <p:cNvPr id="13" name="TextBox 12"/>
          <p:cNvSpPr txBox="1"/>
          <p:nvPr/>
        </p:nvSpPr>
        <p:spPr>
          <a:xfrm>
            <a:off x="932688" y="2304288"/>
            <a:ext cx="1188720" cy="164592"/>
          </a:xfrm>
          <a:prstGeom prst="rect">
            <a:avLst/>
          </a:prstGeom>
          <a:noFill/>
        </p:spPr>
        <p:txBody>
          <a:bodyPr wrap="square" lIns="27432" rIns="27432" tIns="27432" bIns="27432" anchor="t">
            <a:spAutoFit/>
          </a:bodyPr>
          <a:lstStyle/>
          <a:p>
            <a:pPr algn="l"/>
            <a:r>
              <a:rPr sz="1100" b="1">
                <a:solidFill>
                  <a:srgbClr val="1F2621"/>
                </a:solidFill>
                <a:latin typeface="Aptos"/>
              </a:rPr>
              <a:t>Seattle</a:t>
            </a:r>
          </a:p>
        </p:txBody>
      </p:sp>
      <p:sp>
        <p:nvSpPr>
          <p:cNvPr id="14" name="Rounded Rectangle 13"/>
          <p:cNvSpPr/>
          <p:nvPr/>
        </p:nvSpPr>
        <p:spPr>
          <a:xfrm>
            <a:off x="2212848" y="2322576"/>
            <a:ext cx="2560320" cy="146304"/>
          </a:xfrm>
          <a:prstGeom prst="roundRect">
            <a:avLst/>
          </a:prstGeom>
          <a:solidFill>
            <a:srgbClr val="889A83"/>
          </a:solidFill>
          <a:ln>
            <a:solidFill>
              <a:srgbClr val="889A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212848" y="2505456"/>
            <a:ext cx="2391384" cy="146304"/>
          </a:xfrm>
          <a:prstGeom prst="roundRect">
            <a:avLst/>
          </a:prstGeom>
          <a:solidFill>
            <a:srgbClr val="B5533A"/>
          </a:solidFill>
          <a:ln>
            <a:solidFill>
              <a:srgbClr val="B55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983480" y="2286000"/>
            <a:ext cx="914400" cy="146304"/>
          </a:xfrm>
          <a:prstGeom prst="rect">
            <a:avLst/>
          </a:prstGeom>
          <a:noFill/>
        </p:spPr>
        <p:txBody>
          <a:bodyPr wrap="square" lIns="27432" rIns="27432" tIns="27432" bIns="27432" anchor="t">
            <a:spAutoFit/>
          </a:bodyPr>
          <a:lstStyle/>
          <a:p>
            <a:pPr algn="r"/>
            <a:r>
              <a:rPr sz="1000" b="0">
                <a:solidFill>
                  <a:srgbClr val="355C47"/>
                </a:solidFill>
                <a:latin typeface="Aptos"/>
              </a:rPr>
              <a:t>$15.3k</a:t>
            </a:r>
          </a:p>
        </p:txBody>
      </p:sp>
      <p:sp>
        <p:nvSpPr>
          <p:cNvPr id="17" name="TextBox 16"/>
          <p:cNvSpPr txBox="1"/>
          <p:nvPr/>
        </p:nvSpPr>
        <p:spPr>
          <a:xfrm>
            <a:off x="4983480" y="2478024"/>
            <a:ext cx="914400" cy="146304"/>
          </a:xfrm>
          <a:prstGeom prst="rect">
            <a:avLst/>
          </a:prstGeom>
          <a:noFill/>
        </p:spPr>
        <p:txBody>
          <a:bodyPr wrap="square" lIns="27432" rIns="27432" tIns="27432" bIns="27432" anchor="t">
            <a:spAutoFit/>
          </a:bodyPr>
          <a:lstStyle/>
          <a:p>
            <a:pPr algn="r"/>
            <a:r>
              <a:rPr sz="1000" b="0">
                <a:solidFill>
                  <a:srgbClr val="B5533A"/>
                </a:solidFill>
                <a:latin typeface="Aptos"/>
              </a:rPr>
              <a:t>$14.3k</a:t>
            </a:r>
          </a:p>
        </p:txBody>
      </p:sp>
      <p:sp>
        <p:nvSpPr>
          <p:cNvPr id="18" name="TextBox 17"/>
          <p:cNvSpPr txBox="1"/>
          <p:nvPr/>
        </p:nvSpPr>
        <p:spPr>
          <a:xfrm>
            <a:off x="5989320" y="2377440"/>
            <a:ext cx="841248" cy="146304"/>
          </a:xfrm>
          <a:prstGeom prst="rect">
            <a:avLst/>
          </a:prstGeom>
          <a:noFill/>
        </p:spPr>
        <p:txBody>
          <a:bodyPr wrap="square" lIns="27432" rIns="27432" tIns="27432" bIns="27432" anchor="t">
            <a:spAutoFit/>
          </a:bodyPr>
          <a:lstStyle/>
          <a:p>
            <a:pPr algn="r"/>
            <a:r>
              <a:rPr sz="1000" b="1">
                <a:solidFill>
                  <a:srgbClr val="B5533A"/>
                </a:solidFill>
                <a:latin typeface="Aptos"/>
              </a:rPr>
              <a:t>-$1.0k</a:t>
            </a:r>
          </a:p>
        </p:txBody>
      </p:sp>
      <p:sp>
        <p:nvSpPr>
          <p:cNvPr id="19" name="TextBox 18"/>
          <p:cNvSpPr txBox="1"/>
          <p:nvPr/>
        </p:nvSpPr>
        <p:spPr>
          <a:xfrm>
            <a:off x="932688" y="2980944"/>
            <a:ext cx="1188720" cy="164592"/>
          </a:xfrm>
          <a:prstGeom prst="rect">
            <a:avLst/>
          </a:prstGeom>
          <a:noFill/>
        </p:spPr>
        <p:txBody>
          <a:bodyPr wrap="square" lIns="27432" rIns="27432" tIns="27432" bIns="27432" anchor="t">
            <a:spAutoFit/>
          </a:bodyPr>
          <a:lstStyle/>
          <a:p>
            <a:pPr algn="l"/>
            <a:r>
              <a:rPr sz="1100" b="1">
                <a:solidFill>
                  <a:srgbClr val="1F2621"/>
                </a:solidFill>
                <a:latin typeface="Aptos"/>
              </a:rPr>
              <a:t>Boise</a:t>
            </a:r>
          </a:p>
        </p:txBody>
      </p:sp>
      <p:sp>
        <p:nvSpPr>
          <p:cNvPr id="20" name="Rounded Rectangle 19"/>
          <p:cNvSpPr/>
          <p:nvPr/>
        </p:nvSpPr>
        <p:spPr>
          <a:xfrm>
            <a:off x="2212848" y="2999232"/>
            <a:ext cx="2488703" cy="146304"/>
          </a:xfrm>
          <a:prstGeom prst="roundRect">
            <a:avLst/>
          </a:prstGeom>
          <a:solidFill>
            <a:srgbClr val="889A83"/>
          </a:solidFill>
          <a:ln>
            <a:solidFill>
              <a:srgbClr val="889A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212848" y="3182112"/>
            <a:ext cx="2328238" cy="146304"/>
          </a:xfrm>
          <a:prstGeom prst="roundRect">
            <a:avLst/>
          </a:prstGeom>
          <a:solidFill>
            <a:srgbClr val="B5533A"/>
          </a:solidFill>
          <a:ln>
            <a:solidFill>
              <a:srgbClr val="B55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983480" y="2962656"/>
            <a:ext cx="914400" cy="146304"/>
          </a:xfrm>
          <a:prstGeom prst="rect">
            <a:avLst/>
          </a:prstGeom>
          <a:noFill/>
        </p:spPr>
        <p:txBody>
          <a:bodyPr wrap="square" lIns="27432" rIns="27432" tIns="27432" bIns="27432" anchor="t">
            <a:spAutoFit/>
          </a:bodyPr>
          <a:lstStyle/>
          <a:p>
            <a:pPr algn="r"/>
            <a:r>
              <a:rPr sz="1000" b="0">
                <a:solidFill>
                  <a:srgbClr val="355C47"/>
                </a:solidFill>
                <a:latin typeface="Aptos"/>
              </a:rPr>
              <a:t>$14.8k</a:t>
            </a:r>
          </a:p>
        </p:txBody>
      </p:sp>
      <p:sp>
        <p:nvSpPr>
          <p:cNvPr id="23" name="TextBox 22"/>
          <p:cNvSpPr txBox="1"/>
          <p:nvPr/>
        </p:nvSpPr>
        <p:spPr>
          <a:xfrm>
            <a:off x="4983480" y="3154680"/>
            <a:ext cx="914400" cy="146304"/>
          </a:xfrm>
          <a:prstGeom prst="rect">
            <a:avLst/>
          </a:prstGeom>
          <a:noFill/>
        </p:spPr>
        <p:txBody>
          <a:bodyPr wrap="square" lIns="27432" rIns="27432" tIns="27432" bIns="27432" anchor="t">
            <a:spAutoFit/>
          </a:bodyPr>
          <a:lstStyle/>
          <a:p>
            <a:pPr algn="r"/>
            <a:r>
              <a:rPr sz="1000" b="0">
                <a:solidFill>
                  <a:srgbClr val="B5533A"/>
                </a:solidFill>
                <a:latin typeface="Aptos"/>
              </a:rPr>
              <a:t>$13.9k</a:t>
            </a:r>
          </a:p>
        </p:txBody>
      </p:sp>
      <p:sp>
        <p:nvSpPr>
          <p:cNvPr id="24" name="TextBox 23"/>
          <p:cNvSpPr txBox="1"/>
          <p:nvPr/>
        </p:nvSpPr>
        <p:spPr>
          <a:xfrm>
            <a:off x="5989320" y="3054096"/>
            <a:ext cx="841248" cy="146304"/>
          </a:xfrm>
          <a:prstGeom prst="rect">
            <a:avLst/>
          </a:prstGeom>
          <a:noFill/>
        </p:spPr>
        <p:txBody>
          <a:bodyPr wrap="square" lIns="27432" rIns="27432" tIns="27432" bIns="27432" anchor="t">
            <a:spAutoFit/>
          </a:bodyPr>
          <a:lstStyle/>
          <a:p>
            <a:pPr algn="r"/>
            <a:r>
              <a:rPr sz="1000" b="1">
                <a:solidFill>
                  <a:srgbClr val="B5533A"/>
                </a:solidFill>
                <a:latin typeface="Aptos"/>
              </a:rPr>
              <a:t>-$957</a:t>
            </a:r>
          </a:p>
        </p:txBody>
      </p:sp>
      <p:sp>
        <p:nvSpPr>
          <p:cNvPr id="25" name="TextBox 24"/>
          <p:cNvSpPr txBox="1"/>
          <p:nvPr/>
        </p:nvSpPr>
        <p:spPr>
          <a:xfrm>
            <a:off x="932688" y="3657600"/>
            <a:ext cx="1188720" cy="164592"/>
          </a:xfrm>
          <a:prstGeom prst="rect">
            <a:avLst/>
          </a:prstGeom>
          <a:noFill/>
        </p:spPr>
        <p:txBody>
          <a:bodyPr wrap="square" lIns="27432" rIns="27432" tIns="27432" bIns="27432" anchor="t">
            <a:spAutoFit/>
          </a:bodyPr>
          <a:lstStyle/>
          <a:p>
            <a:pPr algn="l"/>
            <a:r>
              <a:rPr sz="1100" b="1">
                <a:solidFill>
                  <a:srgbClr val="1F2621"/>
                </a:solidFill>
                <a:latin typeface="Aptos"/>
              </a:rPr>
              <a:t>Portland</a:t>
            </a:r>
          </a:p>
        </p:txBody>
      </p:sp>
      <p:sp>
        <p:nvSpPr>
          <p:cNvPr id="26" name="Rounded Rectangle 25"/>
          <p:cNvSpPr/>
          <p:nvPr/>
        </p:nvSpPr>
        <p:spPr>
          <a:xfrm>
            <a:off x="2212848" y="3675888"/>
            <a:ext cx="2416584" cy="146304"/>
          </a:xfrm>
          <a:prstGeom prst="roundRect">
            <a:avLst/>
          </a:prstGeom>
          <a:solidFill>
            <a:srgbClr val="889A83"/>
          </a:solidFill>
          <a:ln>
            <a:solidFill>
              <a:srgbClr val="889A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2212848" y="3858768"/>
            <a:ext cx="2254944" cy="146304"/>
          </a:xfrm>
          <a:prstGeom prst="roundRect">
            <a:avLst/>
          </a:prstGeom>
          <a:solidFill>
            <a:srgbClr val="B5533A"/>
          </a:solidFill>
          <a:ln>
            <a:solidFill>
              <a:srgbClr val="B55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983480" y="3639312"/>
            <a:ext cx="914400" cy="146304"/>
          </a:xfrm>
          <a:prstGeom prst="rect">
            <a:avLst/>
          </a:prstGeom>
          <a:noFill/>
        </p:spPr>
        <p:txBody>
          <a:bodyPr wrap="square" lIns="27432" rIns="27432" tIns="27432" bIns="27432" anchor="t">
            <a:spAutoFit/>
          </a:bodyPr>
          <a:lstStyle/>
          <a:p>
            <a:pPr algn="r"/>
            <a:r>
              <a:rPr sz="1000" b="0">
                <a:solidFill>
                  <a:srgbClr val="355C47"/>
                </a:solidFill>
                <a:latin typeface="Aptos"/>
              </a:rPr>
              <a:t>$14.4k</a:t>
            </a:r>
          </a:p>
        </p:txBody>
      </p:sp>
      <p:sp>
        <p:nvSpPr>
          <p:cNvPr id="29" name="TextBox 28"/>
          <p:cNvSpPr txBox="1"/>
          <p:nvPr/>
        </p:nvSpPr>
        <p:spPr>
          <a:xfrm>
            <a:off x="4983480" y="3831336"/>
            <a:ext cx="914400" cy="146304"/>
          </a:xfrm>
          <a:prstGeom prst="rect">
            <a:avLst/>
          </a:prstGeom>
          <a:noFill/>
        </p:spPr>
        <p:txBody>
          <a:bodyPr wrap="square" lIns="27432" rIns="27432" tIns="27432" bIns="27432" anchor="t">
            <a:spAutoFit/>
          </a:bodyPr>
          <a:lstStyle/>
          <a:p>
            <a:pPr algn="r"/>
            <a:r>
              <a:rPr sz="1000" b="0">
                <a:solidFill>
                  <a:srgbClr val="B5533A"/>
                </a:solidFill>
                <a:latin typeface="Aptos"/>
              </a:rPr>
              <a:t>$13.4k</a:t>
            </a:r>
          </a:p>
        </p:txBody>
      </p:sp>
      <p:sp>
        <p:nvSpPr>
          <p:cNvPr id="30" name="TextBox 29"/>
          <p:cNvSpPr txBox="1"/>
          <p:nvPr/>
        </p:nvSpPr>
        <p:spPr>
          <a:xfrm>
            <a:off x="5989320" y="3730752"/>
            <a:ext cx="841248" cy="146304"/>
          </a:xfrm>
          <a:prstGeom prst="rect">
            <a:avLst/>
          </a:prstGeom>
          <a:noFill/>
        </p:spPr>
        <p:txBody>
          <a:bodyPr wrap="square" lIns="27432" rIns="27432" tIns="27432" bIns="27432" anchor="t">
            <a:spAutoFit/>
          </a:bodyPr>
          <a:lstStyle/>
          <a:p>
            <a:pPr algn="r"/>
            <a:r>
              <a:rPr sz="1000" b="1">
                <a:solidFill>
                  <a:srgbClr val="B5533A"/>
                </a:solidFill>
                <a:latin typeface="Aptos"/>
              </a:rPr>
              <a:t>-$964</a:t>
            </a:r>
          </a:p>
        </p:txBody>
      </p:sp>
      <p:sp>
        <p:nvSpPr>
          <p:cNvPr id="31" name="TextBox 30"/>
          <p:cNvSpPr txBox="1"/>
          <p:nvPr/>
        </p:nvSpPr>
        <p:spPr>
          <a:xfrm>
            <a:off x="932688" y="4334256"/>
            <a:ext cx="1188720" cy="164592"/>
          </a:xfrm>
          <a:prstGeom prst="rect">
            <a:avLst/>
          </a:prstGeom>
          <a:noFill/>
        </p:spPr>
        <p:txBody>
          <a:bodyPr wrap="square" lIns="27432" rIns="27432" tIns="27432" bIns="27432" anchor="t">
            <a:spAutoFit/>
          </a:bodyPr>
          <a:lstStyle/>
          <a:p>
            <a:pPr algn="l"/>
            <a:r>
              <a:rPr sz="1100" b="1">
                <a:solidFill>
                  <a:srgbClr val="1F2621"/>
                </a:solidFill>
                <a:latin typeface="Aptos"/>
              </a:rPr>
              <a:t>Spokane</a:t>
            </a:r>
          </a:p>
        </p:txBody>
      </p:sp>
      <p:sp>
        <p:nvSpPr>
          <p:cNvPr id="32" name="Rounded Rectangle 31"/>
          <p:cNvSpPr/>
          <p:nvPr/>
        </p:nvSpPr>
        <p:spPr>
          <a:xfrm>
            <a:off x="2212848" y="4352544"/>
            <a:ext cx="2178926" cy="146304"/>
          </a:xfrm>
          <a:prstGeom prst="roundRect">
            <a:avLst/>
          </a:prstGeom>
          <a:solidFill>
            <a:srgbClr val="889A83"/>
          </a:solidFill>
          <a:ln>
            <a:solidFill>
              <a:srgbClr val="889A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2212848" y="4535424"/>
            <a:ext cx="2007139" cy="146304"/>
          </a:xfrm>
          <a:prstGeom prst="roundRect">
            <a:avLst/>
          </a:prstGeom>
          <a:solidFill>
            <a:srgbClr val="B5533A"/>
          </a:solidFill>
          <a:ln>
            <a:solidFill>
              <a:srgbClr val="B55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983480" y="4315968"/>
            <a:ext cx="914400" cy="146304"/>
          </a:xfrm>
          <a:prstGeom prst="rect">
            <a:avLst/>
          </a:prstGeom>
          <a:noFill/>
        </p:spPr>
        <p:txBody>
          <a:bodyPr wrap="square" lIns="27432" rIns="27432" tIns="27432" bIns="27432" anchor="t">
            <a:spAutoFit/>
          </a:bodyPr>
          <a:lstStyle/>
          <a:p>
            <a:pPr algn="r"/>
            <a:r>
              <a:rPr sz="1000" b="0">
                <a:solidFill>
                  <a:srgbClr val="355C47"/>
                </a:solidFill>
                <a:latin typeface="Aptos"/>
              </a:rPr>
              <a:t>$13.0k</a:t>
            </a:r>
          </a:p>
        </p:txBody>
      </p:sp>
      <p:sp>
        <p:nvSpPr>
          <p:cNvPr id="35" name="TextBox 34"/>
          <p:cNvSpPr txBox="1"/>
          <p:nvPr/>
        </p:nvSpPr>
        <p:spPr>
          <a:xfrm>
            <a:off x="4983480" y="4507992"/>
            <a:ext cx="914400" cy="146304"/>
          </a:xfrm>
          <a:prstGeom prst="rect">
            <a:avLst/>
          </a:prstGeom>
          <a:noFill/>
        </p:spPr>
        <p:txBody>
          <a:bodyPr wrap="square" lIns="27432" rIns="27432" tIns="27432" bIns="27432" anchor="t">
            <a:spAutoFit/>
          </a:bodyPr>
          <a:lstStyle/>
          <a:p>
            <a:pPr algn="r"/>
            <a:r>
              <a:rPr sz="1000" b="0">
                <a:solidFill>
                  <a:srgbClr val="B5533A"/>
                </a:solidFill>
                <a:latin typeface="Aptos"/>
              </a:rPr>
              <a:t>$12.0k</a:t>
            </a:r>
          </a:p>
        </p:txBody>
      </p:sp>
      <p:sp>
        <p:nvSpPr>
          <p:cNvPr id="36" name="TextBox 35"/>
          <p:cNvSpPr txBox="1"/>
          <p:nvPr/>
        </p:nvSpPr>
        <p:spPr>
          <a:xfrm>
            <a:off x="5989320" y="4407408"/>
            <a:ext cx="841248" cy="146304"/>
          </a:xfrm>
          <a:prstGeom prst="rect">
            <a:avLst/>
          </a:prstGeom>
          <a:noFill/>
        </p:spPr>
        <p:txBody>
          <a:bodyPr wrap="square" lIns="27432" rIns="27432" tIns="27432" bIns="27432" anchor="t">
            <a:spAutoFit/>
          </a:bodyPr>
          <a:lstStyle/>
          <a:p>
            <a:pPr algn="r"/>
            <a:r>
              <a:rPr sz="1000" b="1">
                <a:solidFill>
                  <a:srgbClr val="B5533A"/>
                </a:solidFill>
                <a:latin typeface="Aptos"/>
              </a:rPr>
              <a:t>-$1.0k</a:t>
            </a:r>
          </a:p>
        </p:txBody>
      </p:sp>
      <p:sp>
        <p:nvSpPr>
          <p:cNvPr id="37" name="TextBox 36"/>
          <p:cNvSpPr txBox="1"/>
          <p:nvPr/>
        </p:nvSpPr>
        <p:spPr>
          <a:xfrm>
            <a:off x="932688" y="5010912"/>
            <a:ext cx="1188720" cy="164592"/>
          </a:xfrm>
          <a:prstGeom prst="rect">
            <a:avLst/>
          </a:prstGeom>
          <a:noFill/>
        </p:spPr>
        <p:txBody>
          <a:bodyPr wrap="square" lIns="27432" rIns="27432" tIns="27432" bIns="27432" anchor="t">
            <a:spAutoFit/>
          </a:bodyPr>
          <a:lstStyle/>
          <a:p>
            <a:pPr algn="l"/>
            <a:r>
              <a:rPr sz="1100" b="1">
                <a:solidFill>
                  <a:srgbClr val="1F2621"/>
                </a:solidFill>
                <a:latin typeface="Aptos"/>
              </a:rPr>
              <a:t>San Diego</a:t>
            </a:r>
          </a:p>
        </p:txBody>
      </p:sp>
      <p:sp>
        <p:nvSpPr>
          <p:cNvPr id="38" name="Rounded Rectangle 37"/>
          <p:cNvSpPr/>
          <p:nvPr/>
        </p:nvSpPr>
        <p:spPr>
          <a:xfrm>
            <a:off x="2212848" y="5029200"/>
            <a:ext cx="1865961" cy="146304"/>
          </a:xfrm>
          <a:prstGeom prst="roundRect">
            <a:avLst/>
          </a:prstGeom>
          <a:solidFill>
            <a:srgbClr val="889A83"/>
          </a:solidFill>
          <a:ln>
            <a:solidFill>
              <a:srgbClr val="889A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2212848" y="5212080"/>
            <a:ext cx="1729564" cy="146304"/>
          </a:xfrm>
          <a:prstGeom prst="roundRect">
            <a:avLst/>
          </a:prstGeom>
          <a:solidFill>
            <a:srgbClr val="B5533A"/>
          </a:solidFill>
          <a:ln>
            <a:solidFill>
              <a:srgbClr val="B55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983480" y="4992624"/>
            <a:ext cx="914400" cy="146304"/>
          </a:xfrm>
          <a:prstGeom prst="rect">
            <a:avLst/>
          </a:prstGeom>
          <a:noFill/>
        </p:spPr>
        <p:txBody>
          <a:bodyPr wrap="square" lIns="27432" rIns="27432" tIns="27432" bIns="27432" anchor="t">
            <a:spAutoFit/>
          </a:bodyPr>
          <a:lstStyle/>
          <a:p>
            <a:pPr algn="r"/>
            <a:r>
              <a:rPr sz="1000" b="0">
                <a:solidFill>
                  <a:srgbClr val="355C47"/>
                </a:solidFill>
                <a:latin typeface="Aptos"/>
              </a:rPr>
              <a:t>$11.1k</a:t>
            </a:r>
          </a:p>
        </p:txBody>
      </p:sp>
      <p:sp>
        <p:nvSpPr>
          <p:cNvPr id="41" name="TextBox 40"/>
          <p:cNvSpPr txBox="1"/>
          <p:nvPr/>
        </p:nvSpPr>
        <p:spPr>
          <a:xfrm>
            <a:off x="4983480" y="5184648"/>
            <a:ext cx="914400" cy="146304"/>
          </a:xfrm>
          <a:prstGeom prst="rect">
            <a:avLst/>
          </a:prstGeom>
          <a:noFill/>
        </p:spPr>
        <p:txBody>
          <a:bodyPr wrap="square" lIns="27432" rIns="27432" tIns="27432" bIns="27432" anchor="t">
            <a:spAutoFit/>
          </a:bodyPr>
          <a:lstStyle/>
          <a:p>
            <a:pPr algn="r"/>
            <a:r>
              <a:rPr sz="1000" b="0">
                <a:solidFill>
                  <a:srgbClr val="B5533A"/>
                </a:solidFill>
                <a:latin typeface="Aptos"/>
              </a:rPr>
              <a:t>$10.3k</a:t>
            </a:r>
          </a:p>
        </p:txBody>
      </p:sp>
      <p:sp>
        <p:nvSpPr>
          <p:cNvPr id="42" name="TextBox 41"/>
          <p:cNvSpPr txBox="1"/>
          <p:nvPr/>
        </p:nvSpPr>
        <p:spPr>
          <a:xfrm>
            <a:off x="5989320" y="5084064"/>
            <a:ext cx="841248" cy="146304"/>
          </a:xfrm>
          <a:prstGeom prst="rect">
            <a:avLst/>
          </a:prstGeom>
          <a:noFill/>
        </p:spPr>
        <p:txBody>
          <a:bodyPr wrap="square" lIns="27432" rIns="27432" tIns="27432" bIns="27432" anchor="t">
            <a:spAutoFit/>
          </a:bodyPr>
          <a:lstStyle/>
          <a:p>
            <a:pPr algn="r"/>
            <a:r>
              <a:rPr sz="1000" b="1">
                <a:solidFill>
                  <a:srgbClr val="B5533A"/>
                </a:solidFill>
                <a:latin typeface="Aptos"/>
              </a:rPr>
              <a:t>-$813</a:t>
            </a:r>
          </a:p>
        </p:txBody>
      </p:sp>
      <p:sp>
        <p:nvSpPr>
          <p:cNvPr id="43" name="TextBox 42"/>
          <p:cNvSpPr txBox="1"/>
          <p:nvPr/>
        </p:nvSpPr>
        <p:spPr>
          <a:xfrm>
            <a:off x="2212848" y="5413248"/>
            <a:ext cx="1097280" cy="146304"/>
          </a:xfrm>
          <a:prstGeom prst="rect">
            <a:avLst/>
          </a:prstGeom>
          <a:noFill/>
        </p:spPr>
        <p:txBody>
          <a:bodyPr wrap="square" lIns="27432" rIns="27432" tIns="27432" bIns="27432" anchor="t">
            <a:spAutoFit/>
          </a:bodyPr>
          <a:lstStyle/>
          <a:p>
            <a:pPr algn="l"/>
            <a:r>
              <a:rPr sz="1000" b="0">
                <a:solidFill>
                  <a:srgbClr val="355C47"/>
                </a:solidFill>
                <a:latin typeface="Aptos"/>
              </a:rPr>
              <a:t>Base case</a:t>
            </a:r>
          </a:p>
        </p:txBody>
      </p:sp>
      <p:sp>
        <p:nvSpPr>
          <p:cNvPr id="44" name="TextBox 43"/>
          <p:cNvSpPr txBox="1"/>
          <p:nvPr/>
        </p:nvSpPr>
        <p:spPr>
          <a:xfrm>
            <a:off x="3273552" y="5413248"/>
            <a:ext cx="1280160" cy="146304"/>
          </a:xfrm>
          <a:prstGeom prst="rect">
            <a:avLst/>
          </a:prstGeom>
          <a:noFill/>
        </p:spPr>
        <p:txBody>
          <a:bodyPr wrap="square" lIns="27432" rIns="27432" tIns="27432" bIns="27432" anchor="t">
            <a:spAutoFit/>
          </a:bodyPr>
          <a:lstStyle/>
          <a:p>
            <a:pPr algn="l"/>
            <a:r>
              <a:rPr sz="1000" b="0">
                <a:solidFill>
                  <a:srgbClr val="B5533A"/>
                </a:solidFill>
                <a:latin typeface="Aptos"/>
              </a:rPr>
              <a:t>+50% freight</a:t>
            </a:r>
          </a:p>
        </p:txBody>
      </p:sp>
      <p:sp>
        <p:nvSpPr>
          <p:cNvPr id="45" name="Rounded Rectangle 44"/>
          <p:cNvSpPr/>
          <p:nvPr/>
        </p:nvSpPr>
        <p:spPr>
          <a:xfrm>
            <a:off x="7845552" y="1664208"/>
            <a:ext cx="3657600" cy="4297680"/>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8101583" y="1938528"/>
            <a:ext cx="1645920" cy="877824"/>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229599" y="2048256"/>
            <a:ext cx="1389888" cy="164592"/>
          </a:xfrm>
          <a:prstGeom prst="rect">
            <a:avLst/>
          </a:prstGeom>
          <a:noFill/>
        </p:spPr>
        <p:txBody>
          <a:bodyPr wrap="square" lIns="27432" rIns="27432" tIns="27432" bIns="27432" anchor="t">
            <a:spAutoFit/>
          </a:bodyPr>
          <a:lstStyle/>
          <a:p>
            <a:pPr algn="l"/>
            <a:r>
              <a:rPr sz="1000" b="1">
                <a:solidFill>
                  <a:srgbClr val="5F6B63"/>
                </a:solidFill>
                <a:latin typeface="Aptos"/>
              </a:rPr>
              <a:t>TOP-5 AVG PROFIT</a:t>
            </a:r>
          </a:p>
        </p:txBody>
      </p:sp>
      <p:sp>
        <p:nvSpPr>
          <p:cNvPr id="48" name="TextBox 47"/>
          <p:cNvSpPr txBox="1"/>
          <p:nvPr/>
        </p:nvSpPr>
        <p:spPr>
          <a:xfrm>
            <a:off x="8229599" y="2249424"/>
            <a:ext cx="1389888" cy="457200"/>
          </a:xfrm>
          <a:prstGeom prst="rect">
            <a:avLst/>
          </a:prstGeom>
          <a:noFill/>
        </p:spPr>
        <p:txBody>
          <a:bodyPr wrap="square" lIns="27432" rIns="27432" tIns="27432" bIns="27432" anchor="ctr">
            <a:spAutoFit/>
          </a:bodyPr>
          <a:lstStyle/>
          <a:p>
            <a:pPr algn="l"/>
            <a:r>
              <a:rPr sz="1900" b="1">
                <a:solidFill>
                  <a:srgbClr val="B5533A"/>
                </a:solidFill>
                <a:latin typeface="Aptos Display"/>
              </a:rPr>
              <a:t>$12.8k</a:t>
            </a:r>
          </a:p>
        </p:txBody>
      </p:sp>
      <p:sp>
        <p:nvSpPr>
          <p:cNvPr id="49" name="Rounded Rectangle 48"/>
          <p:cNvSpPr/>
          <p:nvPr/>
        </p:nvSpPr>
        <p:spPr>
          <a:xfrm>
            <a:off x="9857232" y="1938528"/>
            <a:ext cx="1353312" cy="877824"/>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985248" y="2048256"/>
            <a:ext cx="1097280" cy="164592"/>
          </a:xfrm>
          <a:prstGeom prst="rect">
            <a:avLst/>
          </a:prstGeom>
          <a:noFill/>
        </p:spPr>
        <p:txBody>
          <a:bodyPr wrap="square" lIns="27432" rIns="27432" tIns="27432" bIns="27432" anchor="t">
            <a:spAutoFit/>
          </a:bodyPr>
          <a:lstStyle/>
          <a:p>
            <a:pPr algn="l"/>
            <a:r>
              <a:rPr sz="1000" b="1">
                <a:solidFill>
                  <a:srgbClr val="5F6B63"/>
                </a:solidFill>
                <a:latin typeface="Aptos"/>
              </a:rPr>
              <a:t>AVG MARGIN</a:t>
            </a:r>
          </a:p>
        </p:txBody>
      </p:sp>
      <p:sp>
        <p:nvSpPr>
          <p:cNvPr id="51" name="TextBox 50"/>
          <p:cNvSpPr txBox="1"/>
          <p:nvPr/>
        </p:nvSpPr>
        <p:spPr>
          <a:xfrm>
            <a:off x="9985248" y="2249424"/>
            <a:ext cx="1097280" cy="457200"/>
          </a:xfrm>
          <a:prstGeom prst="rect">
            <a:avLst/>
          </a:prstGeom>
          <a:noFill/>
        </p:spPr>
        <p:txBody>
          <a:bodyPr wrap="square" lIns="27432" rIns="27432" tIns="27432" bIns="27432" anchor="ctr">
            <a:spAutoFit/>
          </a:bodyPr>
          <a:lstStyle/>
          <a:p>
            <a:pPr algn="l"/>
            <a:r>
              <a:rPr sz="1900" b="1">
                <a:solidFill>
                  <a:srgbClr val="3F728A"/>
                </a:solidFill>
                <a:latin typeface="Aptos Display"/>
              </a:rPr>
              <a:t>64.9%</a:t>
            </a:r>
          </a:p>
        </p:txBody>
      </p:sp>
      <p:sp>
        <p:nvSpPr>
          <p:cNvPr id="52" name="Rounded Rectangle 51"/>
          <p:cNvSpPr/>
          <p:nvPr/>
        </p:nvSpPr>
        <p:spPr>
          <a:xfrm>
            <a:off x="8101583" y="3017520"/>
            <a:ext cx="1645920" cy="877824"/>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229599" y="3127248"/>
            <a:ext cx="1389888" cy="164592"/>
          </a:xfrm>
          <a:prstGeom prst="rect">
            <a:avLst/>
          </a:prstGeom>
          <a:noFill/>
        </p:spPr>
        <p:txBody>
          <a:bodyPr wrap="square" lIns="27432" rIns="27432" tIns="27432" bIns="27432" anchor="t">
            <a:spAutoFit/>
          </a:bodyPr>
          <a:lstStyle/>
          <a:p>
            <a:pPr algn="l"/>
            <a:r>
              <a:rPr sz="1000" b="1">
                <a:solidFill>
                  <a:srgbClr val="5F6B63"/>
                </a:solidFill>
                <a:latin typeface="Aptos"/>
              </a:rPr>
              <a:t>MARGIN DROP</a:t>
            </a:r>
          </a:p>
        </p:txBody>
      </p:sp>
      <p:sp>
        <p:nvSpPr>
          <p:cNvPr id="54" name="TextBox 53"/>
          <p:cNvSpPr txBox="1"/>
          <p:nvPr/>
        </p:nvSpPr>
        <p:spPr>
          <a:xfrm>
            <a:off x="8229599" y="3328416"/>
            <a:ext cx="1389888" cy="457200"/>
          </a:xfrm>
          <a:prstGeom prst="rect">
            <a:avLst/>
          </a:prstGeom>
          <a:noFill/>
        </p:spPr>
        <p:txBody>
          <a:bodyPr wrap="square" lIns="27432" rIns="27432" tIns="27432" bIns="27432" anchor="ctr">
            <a:spAutoFit/>
          </a:bodyPr>
          <a:lstStyle/>
          <a:p>
            <a:pPr algn="l"/>
            <a:r>
              <a:rPr sz="1900" b="1">
                <a:solidFill>
                  <a:srgbClr val="B5533A"/>
                </a:solidFill>
                <a:latin typeface="Aptos Display"/>
              </a:rPr>
              <a:t>-4.9 pts</a:t>
            </a:r>
          </a:p>
        </p:txBody>
      </p:sp>
      <p:sp>
        <p:nvSpPr>
          <p:cNvPr id="55" name="Rounded Rectangle 54"/>
          <p:cNvSpPr/>
          <p:nvPr/>
        </p:nvSpPr>
        <p:spPr>
          <a:xfrm>
            <a:off x="9857232" y="3017520"/>
            <a:ext cx="1353312" cy="877824"/>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985248" y="3127248"/>
            <a:ext cx="1097280" cy="164592"/>
          </a:xfrm>
          <a:prstGeom prst="rect">
            <a:avLst/>
          </a:prstGeom>
          <a:noFill/>
        </p:spPr>
        <p:txBody>
          <a:bodyPr wrap="square" lIns="27432" rIns="27432" tIns="27432" bIns="27432" anchor="t">
            <a:spAutoFit/>
          </a:bodyPr>
          <a:lstStyle/>
          <a:p>
            <a:pPr algn="l"/>
            <a:r>
              <a:rPr sz="1000" b="1">
                <a:solidFill>
                  <a:srgbClr val="5F6B63"/>
                </a:solidFill>
                <a:latin typeface="Aptos"/>
              </a:rPr>
              <a:t>RESULT</a:t>
            </a:r>
          </a:p>
        </p:txBody>
      </p:sp>
      <p:sp>
        <p:nvSpPr>
          <p:cNvPr id="57" name="TextBox 56"/>
          <p:cNvSpPr txBox="1"/>
          <p:nvPr/>
        </p:nvSpPr>
        <p:spPr>
          <a:xfrm>
            <a:off x="9985248" y="3328416"/>
            <a:ext cx="1097280" cy="457200"/>
          </a:xfrm>
          <a:prstGeom prst="rect">
            <a:avLst/>
          </a:prstGeom>
          <a:noFill/>
        </p:spPr>
        <p:txBody>
          <a:bodyPr wrap="square" lIns="27432" rIns="27432" tIns="27432" bIns="27432" anchor="ctr">
            <a:spAutoFit/>
          </a:bodyPr>
          <a:lstStyle/>
          <a:p>
            <a:pPr algn="l"/>
            <a:r>
              <a:rPr sz="1900" b="1">
                <a:solidFill>
                  <a:srgbClr val="355C47"/>
                </a:solidFill>
                <a:latin typeface="Aptos Display"/>
              </a:rPr>
              <a:t>Same 5</a:t>
            </a:r>
          </a:p>
        </p:txBody>
      </p:sp>
      <p:sp>
        <p:nvSpPr>
          <p:cNvPr id="58" name="TextBox 57"/>
          <p:cNvSpPr txBox="1"/>
          <p:nvPr/>
        </p:nvSpPr>
        <p:spPr>
          <a:xfrm>
            <a:off x="8101583" y="4160520"/>
            <a:ext cx="2889504" cy="1417320"/>
          </a:xfrm>
          <a:prstGeom prst="rect">
            <a:avLst/>
          </a:prstGeom>
          <a:noFill/>
        </p:spPr>
        <p:txBody>
          <a:bodyPr wrap="square" lIns="27432" rIns="27432" tIns="18288" bIns="18288">
            <a:spAutoFit/>
          </a:bodyPr>
          <a:lstStyle/>
          <a:p>
            <a:pPr algn="l">
              <a:lnSpc>
                <a:spcPct val="115000"/>
              </a:lnSpc>
            </a:pPr>
            <a:r>
              <a:rPr sz="1200">
                <a:solidFill>
                  <a:srgbClr val="1F2621"/>
                </a:solidFill>
                <a:latin typeface="Aptos"/>
              </a:rPr>
              <a:t>- This is resilience, not immunity: average margin drops from 69.7% to 64.9%.</a:t>
            </a:r>
          </a:p>
          <a:p>
            <a:pPr algn="l">
              <a:lnSpc>
                <a:spcPct val="115000"/>
              </a:lnSpc>
            </a:pPr>
            <a:r>
              <a:rPr sz="1200">
                <a:solidFill>
                  <a:srgbClr val="1F2621"/>
                </a:solidFill>
                <a:latin typeface="Aptos"/>
              </a:rPr>
              <a:t>- West Valley should hedge fuel exposure and lock carrier capacity early.</a:t>
            </a:r>
          </a:p>
          <a:p>
            <a:pPr algn="l">
              <a:lnSpc>
                <a:spcPct val="115000"/>
              </a:lnSpc>
            </a:pPr>
            <a:r>
              <a:rPr sz="1200">
                <a:solidFill>
                  <a:srgbClr val="1F2621"/>
                </a:solidFill>
                <a:latin typeface="Aptos"/>
              </a:rPr>
              <a:t>- The pilot still holds because price support outruns the freight shock.</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55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46920" y="0"/>
            <a:ext cx="2542032" cy="73152"/>
          </a:xfrm>
          <a:prstGeom prst="rect">
            <a:avLst/>
          </a:prstGeom>
          <a:solidFill>
            <a:srgbClr val="C58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01168"/>
            <a:ext cx="1554480" cy="256032"/>
          </a:xfrm>
          <a:prstGeom prst="roundRect">
            <a:avLst/>
          </a:prstGeom>
          <a:solidFill>
            <a:srgbClr val="FCFAF5"/>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224028"/>
            <a:ext cx="1517904" cy="182880"/>
          </a:xfrm>
          <a:prstGeom prst="rect">
            <a:avLst/>
          </a:prstGeom>
          <a:noFill/>
        </p:spPr>
        <p:txBody>
          <a:bodyPr wrap="square" lIns="27432" rIns="27432" tIns="27432" bIns="27432" anchor="t">
            <a:spAutoFit/>
          </a:bodyPr>
          <a:lstStyle/>
          <a:p>
            <a:pPr algn="ctr"/>
            <a:r>
              <a:rPr sz="1000" b="1">
                <a:solidFill>
                  <a:srgbClr val="355C47"/>
                </a:solidFill>
                <a:latin typeface="Aptos"/>
              </a:rPr>
              <a:t>RECOMMENDATION</a:t>
            </a:r>
          </a:p>
        </p:txBody>
      </p:sp>
      <p:sp>
        <p:nvSpPr>
          <p:cNvPr id="7" name="Rounded Rectangle 6"/>
          <p:cNvSpPr/>
          <p:nvPr/>
        </p:nvSpPr>
        <p:spPr>
          <a:xfrm>
            <a:off x="2267712" y="201168"/>
            <a:ext cx="713232" cy="256032"/>
          </a:xfrm>
          <a:prstGeom prst="roundRect">
            <a:avLst/>
          </a:prstGeom>
          <a:solidFill>
            <a:srgbClr val="FFFDF9"/>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0" y="224028"/>
            <a:ext cx="676656" cy="182880"/>
          </a:xfrm>
          <a:prstGeom prst="rect">
            <a:avLst/>
          </a:prstGeom>
          <a:noFill/>
        </p:spPr>
        <p:txBody>
          <a:bodyPr wrap="square" lIns="27432" rIns="27432" tIns="27432" bIns="27432" anchor="t">
            <a:spAutoFit/>
          </a:bodyPr>
          <a:lstStyle/>
          <a:p>
            <a:pPr algn="ctr"/>
            <a:r>
              <a:rPr sz="1000" b="1">
                <a:solidFill>
                  <a:srgbClr val="C58A2A"/>
                </a:solidFill>
                <a:latin typeface="Aptos"/>
              </a:rPr>
              <a:t>Q7</a:t>
            </a:r>
          </a:p>
        </p:txBody>
      </p:sp>
      <p:sp>
        <p:nvSpPr>
          <p:cNvPr id="9" name="TextBox 8"/>
          <p:cNvSpPr txBox="1"/>
          <p:nvPr/>
        </p:nvSpPr>
        <p:spPr>
          <a:xfrm>
            <a:off x="11631168" y="6519672"/>
            <a:ext cx="274320" cy="164592"/>
          </a:xfrm>
          <a:prstGeom prst="rect">
            <a:avLst/>
          </a:prstGeom>
          <a:noFill/>
        </p:spPr>
        <p:txBody>
          <a:bodyPr wrap="square" lIns="27432" rIns="27432" tIns="27432" bIns="27432" anchor="t">
            <a:spAutoFit/>
          </a:bodyPr>
          <a:lstStyle/>
          <a:p>
            <a:pPr algn="r"/>
            <a:r>
              <a:rPr sz="900" b="0">
                <a:solidFill>
                  <a:srgbClr val="5F6B63"/>
                </a:solidFill>
                <a:latin typeface="Aptos"/>
              </a:rPr>
              <a:t>19</a:t>
            </a:r>
          </a:p>
        </p:txBody>
      </p:sp>
      <p:sp>
        <p:nvSpPr>
          <p:cNvPr id="10" name="TextBox 9"/>
          <p:cNvSpPr txBox="1"/>
          <p:nvPr/>
        </p:nvSpPr>
        <p:spPr>
          <a:xfrm>
            <a:off x="548640" y="658368"/>
            <a:ext cx="10332720" cy="868680"/>
          </a:xfrm>
          <a:prstGeom prst="rect">
            <a:avLst/>
          </a:prstGeom>
          <a:noFill/>
        </p:spPr>
        <p:txBody>
          <a:bodyPr wrap="square" lIns="27432" rIns="27432" tIns="27432" bIns="27432" anchor="t">
            <a:spAutoFit/>
          </a:bodyPr>
          <a:lstStyle/>
          <a:p>
            <a:pPr algn="l"/>
            <a:r>
              <a:rPr sz="2700" b="1">
                <a:solidFill>
                  <a:srgbClr val="355C47"/>
                </a:solidFill>
                <a:latin typeface="Aptos Display"/>
              </a:rPr>
              <a:t>Price leverage outweighs freight leverage by roughly 6:1</a:t>
            </a:r>
          </a:p>
        </p:txBody>
      </p:sp>
      <p:sp>
        <p:nvSpPr>
          <p:cNvPr id="11" name="Rounded Rectangle 10"/>
          <p:cNvSpPr/>
          <p:nvPr/>
        </p:nvSpPr>
        <p:spPr>
          <a:xfrm>
            <a:off x="713232" y="1664208"/>
            <a:ext cx="5394960" cy="4315968"/>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2784" y="1664208"/>
            <a:ext cx="5230368" cy="4315968"/>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50976" y="2011680"/>
            <a:ext cx="4663440" cy="146304"/>
          </a:xfrm>
          <a:prstGeom prst="rect">
            <a:avLst/>
          </a:prstGeom>
          <a:noFill/>
        </p:spPr>
        <p:txBody>
          <a:bodyPr wrap="square" lIns="27432" rIns="27432" tIns="27432" bIns="27432" anchor="t">
            <a:spAutoFit/>
          </a:bodyPr>
          <a:lstStyle/>
          <a:p>
            <a:pPr algn="l"/>
            <a:r>
              <a:rPr sz="1000" b="1">
                <a:solidFill>
                  <a:srgbClr val="5F6B63"/>
                </a:solidFill>
                <a:latin typeface="Aptos"/>
              </a:rPr>
              <a:t>SEATTLE 20K CITY SCREEN</a:t>
            </a:r>
          </a:p>
        </p:txBody>
      </p:sp>
      <p:sp>
        <p:nvSpPr>
          <p:cNvPr id="14" name="TextBox 13"/>
          <p:cNvSpPr txBox="1"/>
          <p:nvPr/>
        </p:nvSpPr>
        <p:spPr>
          <a:xfrm>
            <a:off x="950976" y="2240280"/>
            <a:ext cx="1865376" cy="201168"/>
          </a:xfrm>
          <a:prstGeom prst="rect">
            <a:avLst/>
          </a:prstGeom>
          <a:noFill/>
        </p:spPr>
        <p:txBody>
          <a:bodyPr wrap="square" lIns="27432" rIns="27432" tIns="27432" bIns="27432" anchor="t">
            <a:spAutoFit/>
          </a:bodyPr>
          <a:lstStyle/>
          <a:p>
            <a:pPr algn="l"/>
            <a:r>
              <a:rPr sz="1100" b="1">
                <a:solidFill>
                  <a:srgbClr val="1F2621"/>
                </a:solidFill>
                <a:latin typeface="Aptos"/>
              </a:rPr>
              <a:t>Volume sold -50%</a:t>
            </a:r>
          </a:p>
        </p:txBody>
      </p:sp>
      <p:sp>
        <p:nvSpPr>
          <p:cNvPr id="15" name="Rounded Rectangle 14"/>
          <p:cNvSpPr/>
          <p:nvPr/>
        </p:nvSpPr>
        <p:spPr>
          <a:xfrm>
            <a:off x="2871216" y="2258568"/>
            <a:ext cx="1737360" cy="164592"/>
          </a:xfrm>
          <a:prstGeom prst="roundRect">
            <a:avLst/>
          </a:prstGeom>
          <a:solidFill>
            <a:srgbClr val="F7F3EC"/>
          </a:solidFill>
          <a:ln>
            <a:solidFill>
              <a:srgbClr val="F7F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871216" y="2258568"/>
            <a:ext cx="1737360" cy="164592"/>
          </a:xfrm>
          <a:prstGeom prst="roundRect">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91456" y="2212848"/>
            <a:ext cx="822960" cy="182880"/>
          </a:xfrm>
          <a:prstGeom prst="rect">
            <a:avLst/>
          </a:prstGeom>
          <a:noFill/>
        </p:spPr>
        <p:txBody>
          <a:bodyPr wrap="square" lIns="27432" rIns="27432" tIns="27432" bIns="27432" anchor="t">
            <a:spAutoFit/>
          </a:bodyPr>
          <a:lstStyle/>
          <a:p>
            <a:pPr algn="r"/>
            <a:r>
              <a:rPr sz="1100" b="1">
                <a:solidFill>
                  <a:srgbClr val="355C47"/>
                </a:solidFill>
                <a:latin typeface="Aptos"/>
              </a:rPr>
              <a:t>$8,640</a:t>
            </a:r>
          </a:p>
        </p:txBody>
      </p:sp>
      <p:sp>
        <p:nvSpPr>
          <p:cNvPr id="18" name="TextBox 17"/>
          <p:cNvSpPr txBox="1"/>
          <p:nvPr/>
        </p:nvSpPr>
        <p:spPr>
          <a:xfrm>
            <a:off x="950976" y="2880360"/>
            <a:ext cx="1865376" cy="201168"/>
          </a:xfrm>
          <a:prstGeom prst="rect">
            <a:avLst/>
          </a:prstGeom>
          <a:noFill/>
        </p:spPr>
        <p:txBody>
          <a:bodyPr wrap="square" lIns="27432" rIns="27432" tIns="27432" bIns="27432" anchor="t">
            <a:spAutoFit/>
          </a:bodyPr>
          <a:lstStyle/>
          <a:p>
            <a:pPr algn="l"/>
            <a:r>
              <a:rPr sz="1100" b="0">
                <a:solidFill>
                  <a:srgbClr val="1F2621"/>
                </a:solidFill>
                <a:latin typeface="Aptos"/>
              </a:rPr>
              <a:t>Retail price -20%</a:t>
            </a:r>
          </a:p>
        </p:txBody>
      </p:sp>
      <p:sp>
        <p:nvSpPr>
          <p:cNvPr id="19" name="Rounded Rectangle 18"/>
          <p:cNvSpPr/>
          <p:nvPr/>
        </p:nvSpPr>
        <p:spPr>
          <a:xfrm>
            <a:off x="2871216" y="2898648"/>
            <a:ext cx="1737360" cy="164592"/>
          </a:xfrm>
          <a:prstGeom prst="roundRect">
            <a:avLst/>
          </a:prstGeom>
          <a:solidFill>
            <a:srgbClr val="F7F3EC"/>
          </a:solidFill>
          <a:ln>
            <a:solidFill>
              <a:srgbClr val="F7F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2871216" y="2898648"/>
            <a:ext cx="855811" cy="164592"/>
          </a:xfrm>
          <a:prstGeom prst="roundRect">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91456" y="2852928"/>
            <a:ext cx="822960" cy="182880"/>
          </a:xfrm>
          <a:prstGeom prst="rect">
            <a:avLst/>
          </a:prstGeom>
          <a:noFill/>
        </p:spPr>
        <p:txBody>
          <a:bodyPr wrap="square" lIns="27432" rIns="27432" tIns="27432" bIns="27432" anchor="t">
            <a:spAutoFit/>
          </a:bodyPr>
          <a:lstStyle/>
          <a:p>
            <a:pPr algn="r"/>
            <a:r>
              <a:rPr sz="1100" b="1">
                <a:solidFill>
                  <a:srgbClr val="355C47"/>
                </a:solidFill>
                <a:latin typeface="Aptos"/>
              </a:rPr>
              <a:t>$4,256</a:t>
            </a:r>
          </a:p>
        </p:txBody>
      </p:sp>
      <p:sp>
        <p:nvSpPr>
          <p:cNvPr id="22" name="TextBox 21"/>
          <p:cNvSpPr txBox="1"/>
          <p:nvPr/>
        </p:nvSpPr>
        <p:spPr>
          <a:xfrm>
            <a:off x="950976" y="3520440"/>
            <a:ext cx="1865376" cy="201168"/>
          </a:xfrm>
          <a:prstGeom prst="rect">
            <a:avLst/>
          </a:prstGeom>
          <a:noFill/>
        </p:spPr>
        <p:txBody>
          <a:bodyPr wrap="square" lIns="27432" rIns="27432" tIns="27432" bIns="27432" anchor="t">
            <a:spAutoFit/>
          </a:bodyPr>
          <a:lstStyle/>
          <a:p>
            <a:pPr algn="l"/>
            <a:r>
              <a:rPr sz="1100" b="0">
                <a:solidFill>
                  <a:srgbClr val="1F2621"/>
                </a:solidFill>
                <a:latin typeface="Aptos"/>
              </a:rPr>
              <a:t>Acquisition cost x2</a:t>
            </a:r>
          </a:p>
        </p:txBody>
      </p:sp>
      <p:sp>
        <p:nvSpPr>
          <p:cNvPr id="23" name="Rounded Rectangle 22"/>
          <p:cNvSpPr/>
          <p:nvPr/>
        </p:nvSpPr>
        <p:spPr>
          <a:xfrm>
            <a:off x="2871216" y="3538728"/>
            <a:ext cx="1737360" cy="164592"/>
          </a:xfrm>
          <a:prstGeom prst="roundRect">
            <a:avLst/>
          </a:prstGeom>
          <a:solidFill>
            <a:srgbClr val="F7F3EC"/>
          </a:solidFill>
          <a:ln>
            <a:solidFill>
              <a:srgbClr val="F7F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871216" y="3538728"/>
            <a:ext cx="804333" cy="164592"/>
          </a:xfrm>
          <a:prstGeom prst="roundRect">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91456" y="3493008"/>
            <a:ext cx="822960" cy="182880"/>
          </a:xfrm>
          <a:prstGeom prst="rect">
            <a:avLst/>
          </a:prstGeom>
          <a:noFill/>
        </p:spPr>
        <p:txBody>
          <a:bodyPr wrap="square" lIns="27432" rIns="27432" tIns="27432" bIns="27432" anchor="t">
            <a:spAutoFit/>
          </a:bodyPr>
          <a:lstStyle/>
          <a:p>
            <a:pPr algn="r"/>
            <a:r>
              <a:rPr sz="1100" b="1">
                <a:solidFill>
                  <a:srgbClr val="355C47"/>
                </a:solidFill>
                <a:latin typeface="Aptos"/>
              </a:rPr>
              <a:t>$4,000</a:t>
            </a:r>
          </a:p>
        </p:txBody>
      </p:sp>
      <p:sp>
        <p:nvSpPr>
          <p:cNvPr id="26" name="TextBox 25"/>
          <p:cNvSpPr txBox="1"/>
          <p:nvPr/>
        </p:nvSpPr>
        <p:spPr>
          <a:xfrm>
            <a:off x="950976" y="4160520"/>
            <a:ext cx="1865376" cy="201168"/>
          </a:xfrm>
          <a:prstGeom prst="rect">
            <a:avLst/>
          </a:prstGeom>
          <a:noFill/>
        </p:spPr>
        <p:txBody>
          <a:bodyPr wrap="square" lIns="27432" rIns="27432" tIns="27432" bIns="27432" anchor="t">
            <a:spAutoFit/>
          </a:bodyPr>
          <a:lstStyle/>
          <a:p>
            <a:pPr algn="l"/>
            <a:r>
              <a:rPr sz="1100" b="0">
                <a:solidFill>
                  <a:srgbClr val="1F2621"/>
                </a:solidFill>
                <a:latin typeface="Aptos"/>
              </a:rPr>
              <a:t>Shipping +50%</a:t>
            </a:r>
          </a:p>
        </p:txBody>
      </p:sp>
      <p:sp>
        <p:nvSpPr>
          <p:cNvPr id="27" name="Rounded Rectangle 26"/>
          <p:cNvSpPr/>
          <p:nvPr/>
        </p:nvSpPr>
        <p:spPr>
          <a:xfrm>
            <a:off x="2871216" y="4178808"/>
            <a:ext cx="1737360" cy="164592"/>
          </a:xfrm>
          <a:prstGeom prst="roundRect">
            <a:avLst/>
          </a:prstGeom>
          <a:solidFill>
            <a:srgbClr val="F7F3EC"/>
          </a:solidFill>
          <a:ln>
            <a:solidFill>
              <a:srgbClr val="F7F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2871216" y="4178808"/>
            <a:ext cx="202541" cy="164592"/>
          </a:xfrm>
          <a:prstGeom prst="roundRect">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91456" y="4133088"/>
            <a:ext cx="822960" cy="182880"/>
          </a:xfrm>
          <a:prstGeom prst="rect">
            <a:avLst/>
          </a:prstGeom>
          <a:noFill/>
        </p:spPr>
        <p:txBody>
          <a:bodyPr wrap="square" lIns="27432" rIns="27432" tIns="27432" bIns="27432" anchor="t">
            <a:spAutoFit/>
          </a:bodyPr>
          <a:lstStyle/>
          <a:p>
            <a:pPr algn="r"/>
            <a:r>
              <a:rPr sz="1100" b="1">
                <a:solidFill>
                  <a:srgbClr val="3F728A"/>
                </a:solidFill>
                <a:latin typeface="Aptos"/>
              </a:rPr>
              <a:t>$1,007</a:t>
            </a:r>
          </a:p>
        </p:txBody>
      </p:sp>
      <p:sp>
        <p:nvSpPr>
          <p:cNvPr id="30" name="TextBox 29"/>
          <p:cNvSpPr txBox="1"/>
          <p:nvPr/>
        </p:nvSpPr>
        <p:spPr>
          <a:xfrm>
            <a:off x="950976" y="5248656"/>
            <a:ext cx="4617720" cy="310896"/>
          </a:xfrm>
          <a:prstGeom prst="rect">
            <a:avLst/>
          </a:prstGeom>
          <a:noFill/>
        </p:spPr>
        <p:txBody>
          <a:bodyPr wrap="square" lIns="27432" rIns="27432" tIns="27432" bIns="27432" anchor="t">
            <a:spAutoFit/>
          </a:bodyPr>
          <a:lstStyle/>
          <a:p>
            <a:pPr algn="l"/>
            <a:r>
              <a:rPr sz="1100" b="0">
                <a:solidFill>
                  <a:srgbClr val="1F2621"/>
                </a:solidFill>
                <a:latin typeface="Aptos"/>
              </a:rPr>
              <a:t>For the one-city screen, a volume miss is the biggest downside. Freight is the smallest of the four modeled shocks.</a:t>
            </a:r>
          </a:p>
        </p:txBody>
      </p:sp>
      <p:sp>
        <p:nvSpPr>
          <p:cNvPr id="31" name="TextBox 30"/>
          <p:cNvSpPr txBox="1"/>
          <p:nvPr/>
        </p:nvSpPr>
        <p:spPr>
          <a:xfrm>
            <a:off x="6510528" y="2011680"/>
            <a:ext cx="4535424" cy="146304"/>
          </a:xfrm>
          <a:prstGeom prst="rect">
            <a:avLst/>
          </a:prstGeom>
          <a:noFill/>
        </p:spPr>
        <p:txBody>
          <a:bodyPr wrap="square" lIns="27432" rIns="27432" tIns="27432" bIns="27432" anchor="t">
            <a:spAutoFit/>
          </a:bodyPr>
          <a:lstStyle/>
          <a:p>
            <a:pPr algn="l"/>
            <a:r>
              <a:rPr sz="1000" b="1">
                <a:solidFill>
                  <a:srgbClr val="5F6B63"/>
                </a:solidFill>
                <a:latin typeface="Aptos"/>
              </a:rPr>
              <a:t>5-CITY EQUAL PILOT</a:t>
            </a:r>
          </a:p>
        </p:txBody>
      </p:sp>
      <p:sp>
        <p:nvSpPr>
          <p:cNvPr id="32" name="TextBox 31"/>
          <p:cNvSpPr txBox="1"/>
          <p:nvPr/>
        </p:nvSpPr>
        <p:spPr>
          <a:xfrm>
            <a:off x="6510528" y="2240280"/>
            <a:ext cx="1773936" cy="201168"/>
          </a:xfrm>
          <a:prstGeom prst="rect">
            <a:avLst/>
          </a:prstGeom>
          <a:noFill/>
        </p:spPr>
        <p:txBody>
          <a:bodyPr wrap="square" lIns="27432" rIns="27432" tIns="27432" bIns="27432" anchor="t">
            <a:spAutoFit/>
          </a:bodyPr>
          <a:lstStyle/>
          <a:p>
            <a:pPr algn="l"/>
            <a:r>
              <a:rPr sz="1100" b="1">
                <a:solidFill>
                  <a:srgbClr val="1F2621"/>
                </a:solidFill>
                <a:latin typeface="Aptos"/>
              </a:rPr>
              <a:t>Volume sold -50%</a:t>
            </a:r>
          </a:p>
        </p:txBody>
      </p:sp>
      <p:sp>
        <p:nvSpPr>
          <p:cNvPr id="33" name="Rounded Rectangle 32"/>
          <p:cNvSpPr/>
          <p:nvPr/>
        </p:nvSpPr>
        <p:spPr>
          <a:xfrm>
            <a:off x="8339328" y="2258568"/>
            <a:ext cx="1792224" cy="164592"/>
          </a:xfrm>
          <a:prstGeom prst="roundRect">
            <a:avLst/>
          </a:prstGeom>
          <a:solidFill>
            <a:srgbClr val="F7F3EC"/>
          </a:solidFill>
          <a:ln>
            <a:solidFill>
              <a:srgbClr val="F7F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339328" y="2258568"/>
            <a:ext cx="1621299" cy="164592"/>
          </a:xfrm>
          <a:prstGeom prst="roundRect">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14432" y="2212848"/>
            <a:ext cx="731520" cy="182880"/>
          </a:xfrm>
          <a:prstGeom prst="rect">
            <a:avLst/>
          </a:prstGeom>
          <a:noFill/>
        </p:spPr>
        <p:txBody>
          <a:bodyPr wrap="square" lIns="27432" rIns="27432" tIns="27432" bIns="27432" anchor="t">
            <a:spAutoFit/>
          </a:bodyPr>
          <a:lstStyle/>
          <a:p>
            <a:pPr algn="r"/>
            <a:r>
              <a:rPr sz="1100" b="1">
                <a:solidFill>
                  <a:srgbClr val="C58A2A"/>
                </a:solidFill>
                <a:latin typeface="Aptos"/>
              </a:rPr>
              <a:t>$7,816</a:t>
            </a:r>
          </a:p>
        </p:txBody>
      </p:sp>
      <p:sp>
        <p:nvSpPr>
          <p:cNvPr id="36" name="TextBox 35"/>
          <p:cNvSpPr txBox="1"/>
          <p:nvPr/>
        </p:nvSpPr>
        <p:spPr>
          <a:xfrm>
            <a:off x="6510528" y="2880360"/>
            <a:ext cx="1773936" cy="201168"/>
          </a:xfrm>
          <a:prstGeom prst="rect">
            <a:avLst/>
          </a:prstGeom>
          <a:noFill/>
        </p:spPr>
        <p:txBody>
          <a:bodyPr wrap="square" lIns="27432" rIns="27432" tIns="27432" bIns="27432" anchor="t">
            <a:spAutoFit/>
          </a:bodyPr>
          <a:lstStyle/>
          <a:p>
            <a:pPr algn="l"/>
            <a:r>
              <a:rPr sz="1100" b="0">
                <a:solidFill>
                  <a:srgbClr val="1F2621"/>
                </a:solidFill>
                <a:latin typeface="Aptos"/>
              </a:rPr>
              <a:t>Shipping +50%</a:t>
            </a:r>
          </a:p>
        </p:txBody>
      </p:sp>
      <p:sp>
        <p:nvSpPr>
          <p:cNvPr id="37" name="Rounded Rectangle 36"/>
          <p:cNvSpPr/>
          <p:nvPr/>
        </p:nvSpPr>
        <p:spPr>
          <a:xfrm>
            <a:off x="8339328" y="2898648"/>
            <a:ext cx="1792224" cy="164592"/>
          </a:xfrm>
          <a:prstGeom prst="roundRect">
            <a:avLst/>
          </a:prstGeom>
          <a:solidFill>
            <a:srgbClr val="F7F3EC"/>
          </a:solidFill>
          <a:ln>
            <a:solidFill>
              <a:srgbClr val="F7F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8339328" y="2898648"/>
            <a:ext cx="988472" cy="164592"/>
          </a:xfrm>
          <a:prstGeom prst="roundRect">
            <a:avLst/>
          </a:prstGeom>
          <a:solidFill>
            <a:srgbClr val="B5533A"/>
          </a:solidFill>
          <a:ln>
            <a:solidFill>
              <a:srgbClr val="B55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314432" y="2852928"/>
            <a:ext cx="731520" cy="182880"/>
          </a:xfrm>
          <a:prstGeom prst="rect">
            <a:avLst/>
          </a:prstGeom>
          <a:noFill/>
        </p:spPr>
        <p:txBody>
          <a:bodyPr wrap="square" lIns="27432" rIns="27432" tIns="27432" bIns="27432" anchor="t">
            <a:spAutoFit/>
          </a:bodyPr>
          <a:lstStyle/>
          <a:p>
            <a:pPr algn="r"/>
            <a:r>
              <a:rPr sz="1100" b="1">
                <a:solidFill>
                  <a:srgbClr val="B5533A"/>
                </a:solidFill>
                <a:latin typeface="Aptos"/>
              </a:rPr>
              <a:t>$4,765</a:t>
            </a:r>
          </a:p>
        </p:txBody>
      </p:sp>
      <p:sp>
        <p:nvSpPr>
          <p:cNvPr id="40" name="TextBox 39"/>
          <p:cNvSpPr txBox="1"/>
          <p:nvPr/>
        </p:nvSpPr>
        <p:spPr>
          <a:xfrm>
            <a:off x="6510528" y="3520440"/>
            <a:ext cx="1773936" cy="201168"/>
          </a:xfrm>
          <a:prstGeom prst="rect">
            <a:avLst/>
          </a:prstGeom>
          <a:noFill/>
        </p:spPr>
        <p:txBody>
          <a:bodyPr wrap="square" lIns="27432" rIns="27432" tIns="27432" bIns="27432" anchor="t">
            <a:spAutoFit/>
          </a:bodyPr>
          <a:lstStyle/>
          <a:p>
            <a:pPr algn="l"/>
            <a:r>
              <a:rPr sz="1100" b="0">
                <a:solidFill>
                  <a:srgbClr val="1F2621"/>
                </a:solidFill>
                <a:latin typeface="Aptos"/>
              </a:rPr>
              <a:t>Acquisition cost x2</a:t>
            </a:r>
          </a:p>
        </p:txBody>
      </p:sp>
      <p:sp>
        <p:nvSpPr>
          <p:cNvPr id="41" name="Rounded Rectangle 40"/>
          <p:cNvSpPr/>
          <p:nvPr/>
        </p:nvSpPr>
        <p:spPr>
          <a:xfrm>
            <a:off x="8339328" y="3538728"/>
            <a:ext cx="1792224" cy="164592"/>
          </a:xfrm>
          <a:prstGeom prst="roundRect">
            <a:avLst/>
          </a:prstGeom>
          <a:solidFill>
            <a:srgbClr val="F7F3EC"/>
          </a:solidFill>
          <a:ln>
            <a:solidFill>
              <a:srgbClr val="F7F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8339328" y="3538728"/>
            <a:ext cx="829733" cy="164592"/>
          </a:xfrm>
          <a:prstGeom prst="roundRect">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314432" y="3493008"/>
            <a:ext cx="731520" cy="182880"/>
          </a:xfrm>
          <a:prstGeom prst="rect">
            <a:avLst/>
          </a:prstGeom>
          <a:noFill/>
        </p:spPr>
        <p:txBody>
          <a:bodyPr wrap="square" lIns="27432" rIns="27432" tIns="27432" bIns="27432" anchor="t">
            <a:spAutoFit/>
          </a:bodyPr>
          <a:lstStyle/>
          <a:p>
            <a:pPr algn="r"/>
            <a:r>
              <a:rPr sz="1100" b="1">
                <a:solidFill>
                  <a:srgbClr val="C58A2A"/>
                </a:solidFill>
                <a:latin typeface="Aptos"/>
              </a:rPr>
              <a:t>$4,000</a:t>
            </a:r>
          </a:p>
        </p:txBody>
      </p:sp>
      <p:sp>
        <p:nvSpPr>
          <p:cNvPr id="44" name="TextBox 43"/>
          <p:cNvSpPr txBox="1"/>
          <p:nvPr/>
        </p:nvSpPr>
        <p:spPr>
          <a:xfrm>
            <a:off x="6510528" y="4160520"/>
            <a:ext cx="1773936" cy="201168"/>
          </a:xfrm>
          <a:prstGeom prst="rect">
            <a:avLst/>
          </a:prstGeom>
          <a:noFill/>
        </p:spPr>
        <p:txBody>
          <a:bodyPr wrap="square" lIns="27432" rIns="27432" tIns="27432" bIns="27432" anchor="t">
            <a:spAutoFit/>
          </a:bodyPr>
          <a:lstStyle/>
          <a:p>
            <a:pPr algn="l"/>
            <a:r>
              <a:rPr sz="1100" b="0">
                <a:solidFill>
                  <a:srgbClr val="1F2621"/>
                </a:solidFill>
                <a:latin typeface="Aptos"/>
              </a:rPr>
              <a:t>Retail price -20%</a:t>
            </a:r>
          </a:p>
        </p:txBody>
      </p:sp>
      <p:sp>
        <p:nvSpPr>
          <p:cNvPr id="45" name="Rounded Rectangle 44"/>
          <p:cNvSpPr/>
          <p:nvPr/>
        </p:nvSpPr>
        <p:spPr>
          <a:xfrm>
            <a:off x="8339328" y="4178808"/>
            <a:ext cx="1792224" cy="164592"/>
          </a:xfrm>
          <a:prstGeom prst="roundRect">
            <a:avLst/>
          </a:prstGeom>
          <a:solidFill>
            <a:srgbClr val="F7F3EC"/>
          </a:solidFill>
          <a:ln>
            <a:solidFill>
              <a:srgbClr val="F7F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8339328" y="4178808"/>
            <a:ext cx="814466" cy="164592"/>
          </a:xfrm>
          <a:prstGeom prst="roundRect">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314432" y="4133088"/>
            <a:ext cx="731520" cy="182880"/>
          </a:xfrm>
          <a:prstGeom prst="rect">
            <a:avLst/>
          </a:prstGeom>
          <a:noFill/>
        </p:spPr>
        <p:txBody>
          <a:bodyPr wrap="square" lIns="27432" rIns="27432" tIns="27432" bIns="27432" anchor="t">
            <a:spAutoFit/>
          </a:bodyPr>
          <a:lstStyle/>
          <a:p>
            <a:pPr algn="r"/>
            <a:r>
              <a:rPr sz="1100" b="1">
                <a:solidFill>
                  <a:srgbClr val="C58A2A"/>
                </a:solidFill>
                <a:latin typeface="Aptos"/>
              </a:rPr>
              <a:t>$3,926</a:t>
            </a:r>
          </a:p>
        </p:txBody>
      </p:sp>
      <p:sp>
        <p:nvSpPr>
          <p:cNvPr id="48" name="TextBox 47"/>
          <p:cNvSpPr txBox="1"/>
          <p:nvPr/>
        </p:nvSpPr>
        <p:spPr>
          <a:xfrm>
            <a:off x="6510528" y="5248656"/>
            <a:ext cx="4389120" cy="310896"/>
          </a:xfrm>
          <a:prstGeom prst="rect">
            <a:avLst/>
          </a:prstGeom>
          <a:noFill/>
        </p:spPr>
        <p:txBody>
          <a:bodyPr wrap="square" lIns="27432" rIns="27432" tIns="27432" bIns="27432" anchor="t">
            <a:spAutoFit/>
          </a:bodyPr>
          <a:lstStyle/>
          <a:p>
            <a:pPr algn="l"/>
            <a:r>
              <a:rPr sz="1100" b="0">
                <a:solidFill>
                  <a:srgbClr val="1F2621"/>
                </a:solidFill>
                <a:latin typeface="Aptos"/>
              </a:rPr>
              <a:t>Once West Valley splits 20,000 units across five destinations, repeated route-fixed shipping makes freight much more material.</a:t>
            </a:r>
          </a:p>
        </p:txBody>
      </p:sp>
      <p:sp>
        <p:nvSpPr>
          <p:cNvPr id="49" name="Rounded Rectangle 48"/>
          <p:cNvSpPr/>
          <p:nvPr/>
        </p:nvSpPr>
        <p:spPr>
          <a:xfrm>
            <a:off x="4352544" y="5486400"/>
            <a:ext cx="1627632" cy="676656"/>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480560" y="5596128"/>
            <a:ext cx="1371600" cy="164592"/>
          </a:xfrm>
          <a:prstGeom prst="rect">
            <a:avLst/>
          </a:prstGeom>
          <a:noFill/>
        </p:spPr>
        <p:txBody>
          <a:bodyPr wrap="square" lIns="27432" rIns="27432" tIns="27432" bIns="27432" anchor="t">
            <a:spAutoFit/>
          </a:bodyPr>
          <a:lstStyle/>
          <a:p>
            <a:pPr algn="ctr"/>
            <a:r>
              <a:rPr sz="1000" b="1">
                <a:solidFill>
                  <a:srgbClr val="5F6B63"/>
                </a:solidFill>
                <a:latin typeface="Aptos"/>
              </a:rPr>
              <a:t>SEATTLE-LA REVENUE GAP</a:t>
            </a:r>
          </a:p>
        </p:txBody>
      </p:sp>
      <p:sp>
        <p:nvSpPr>
          <p:cNvPr id="51" name="TextBox 50"/>
          <p:cNvSpPr txBox="1"/>
          <p:nvPr/>
        </p:nvSpPr>
        <p:spPr>
          <a:xfrm>
            <a:off x="4480560" y="5797296"/>
            <a:ext cx="1371600" cy="256032"/>
          </a:xfrm>
          <a:prstGeom prst="rect">
            <a:avLst/>
          </a:prstGeom>
          <a:noFill/>
        </p:spPr>
        <p:txBody>
          <a:bodyPr wrap="square" lIns="27432" rIns="27432" tIns="27432" bIns="27432" anchor="ctr">
            <a:spAutoFit/>
          </a:bodyPr>
          <a:lstStyle/>
          <a:p>
            <a:pPr algn="ctr"/>
            <a:r>
              <a:rPr sz="1900" b="1">
                <a:solidFill>
                  <a:srgbClr val="355C47"/>
                </a:solidFill>
                <a:latin typeface="Aptos Display"/>
              </a:rPr>
              <a:t>$6.3k</a:t>
            </a:r>
          </a:p>
        </p:txBody>
      </p:sp>
      <p:sp>
        <p:nvSpPr>
          <p:cNvPr id="52" name="Rounded Rectangle 51"/>
          <p:cNvSpPr/>
          <p:nvPr/>
        </p:nvSpPr>
        <p:spPr>
          <a:xfrm>
            <a:off x="6126480" y="5486400"/>
            <a:ext cx="1408176" cy="676656"/>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54496" y="5596128"/>
            <a:ext cx="1152144" cy="164592"/>
          </a:xfrm>
          <a:prstGeom prst="rect">
            <a:avLst/>
          </a:prstGeom>
          <a:noFill/>
        </p:spPr>
        <p:txBody>
          <a:bodyPr wrap="square" lIns="27432" rIns="27432" tIns="27432" bIns="27432" anchor="t">
            <a:spAutoFit/>
          </a:bodyPr>
          <a:lstStyle/>
          <a:p>
            <a:pPr algn="ctr"/>
            <a:r>
              <a:rPr sz="1000" b="1">
                <a:solidFill>
                  <a:srgbClr val="5F6B63"/>
                </a:solidFill>
                <a:latin typeface="Aptos"/>
              </a:rPr>
              <a:t>SEATTLE FREIGHT HIT</a:t>
            </a:r>
          </a:p>
        </p:txBody>
      </p:sp>
      <p:sp>
        <p:nvSpPr>
          <p:cNvPr id="54" name="TextBox 53"/>
          <p:cNvSpPr txBox="1"/>
          <p:nvPr/>
        </p:nvSpPr>
        <p:spPr>
          <a:xfrm>
            <a:off x="6254496" y="5797296"/>
            <a:ext cx="1152144" cy="256032"/>
          </a:xfrm>
          <a:prstGeom prst="rect">
            <a:avLst/>
          </a:prstGeom>
          <a:noFill/>
        </p:spPr>
        <p:txBody>
          <a:bodyPr wrap="square" lIns="27432" rIns="27432" tIns="27432" bIns="27432" anchor="ctr">
            <a:spAutoFit/>
          </a:bodyPr>
          <a:lstStyle/>
          <a:p>
            <a:pPr algn="ctr"/>
            <a:r>
              <a:rPr sz="1900" b="1">
                <a:solidFill>
                  <a:srgbClr val="B5533A"/>
                </a:solidFill>
                <a:latin typeface="Aptos Display"/>
              </a:rPr>
              <a:t>$1.0k</a:t>
            </a:r>
          </a:p>
        </p:txBody>
      </p:sp>
      <p:sp>
        <p:nvSpPr>
          <p:cNvPr id="55" name="TextBox 54"/>
          <p:cNvSpPr txBox="1"/>
          <p:nvPr/>
        </p:nvSpPr>
        <p:spPr>
          <a:xfrm>
            <a:off x="7717536" y="5632704"/>
            <a:ext cx="3163824" cy="201168"/>
          </a:xfrm>
          <a:prstGeom prst="rect">
            <a:avLst/>
          </a:prstGeom>
          <a:noFill/>
        </p:spPr>
        <p:txBody>
          <a:bodyPr wrap="square" lIns="27432" rIns="27432" tIns="27432" bIns="27432" anchor="t">
            <a:spAutoFit/>
          </a:bodyPr>
          <a:lstStyle/>
          <a:p>
            <a:pPr algn="l"/>
            <a:r>
              <a:rPr sz="1100" b="1">
                <a:solidFill>
                  <a:srgbClr val="1F2621"/>
                </a:solidFill>
                <a:latin typeface="Aptos"/>
              </a:rPr>
              <a:t>Q7 answer: price beats freight by 6.3x, so shipping shocks compress margin without reordering the top five.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55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46920" y="0"/>
            <a:ext cx="2542032" cy="73152"/>
          </a:xfrm>
          <a:prstGeom prst="rect">
            <a:avLst/>
          </a:prstGeom>
          <a:solidFill>
            <a:srgbClr val="C58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01168"/>
            <a:ext cx="1554480" cy="256032"/>
          </a:xfrm>
          <a:prstGeom prst="roundRect">
            <a:avLst/>
          </a:prstGeom>
          <a:solidFill>
            <a:srgbClr val="FCFAF5"/>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224028"/>
            <a:ext cx="1517904" cy="182880"/>
          </a:xfrm>
          <a:prstGeom prst="rect">
            <a:avLst/>
          </a:prstGeom>
          <a:noFill/>
        </p:spPr>
        <p:txBody>
          <a:bodyPr wrap="square" lIns="27432" rIns="27432" tIns="27432" bIns="27432" anchor="t">
            <a:spAutoFit/>
          </a:bodyPr>
          <a:lstStyle/>
          <a:p>
            <a:pPr algn="ctr"/>
            <a:r>
              <a:rPr sz="1000" b="1">
                <a:solidFill>
                  <a:srgbClr val="355C47"/>
                </a:solidFill>
                <a:latin typeface="Aptos"/>
              </a:rPr>
              <a:t>RECOMMENDATION</a:t>
            </a:r>
          </a:p>
        </p:txBody>
      </p:sp>
      <p:sp>
        <p:nvSpPr>
          <p:cNvPr id="7" name="Rounded Rectangle 6"/>
          <p:cNvSpPr/>
          <p:nvPr/>
        </p:nvSpPr>
        <p:spPr>
          <a:xfrm>
            <a:off x="2267712" y="201168"/>
            <a:ext cx="713232" cy="256032"/>
          </a:xfrm>
          <a:prstGeom prst="roundRect">
            <a:avLst/>
          </a:prstGeom>
          <a:solidFill>
            <a:srgbClr val="FFFDF9"/>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0" y="224028"/>
            <a:ext cx="676656" cy="182880"/>
          </a:xfrm>
          <a:prstGeom prst="rect">
            <a:avLst/>
          </a:prstGeom>
          <a:noFill/>
        </p:spPr>
        <p:txBody>
          <a:bodyPr wrap="square" lIns="27432" rIns="27432" tIns="27432" bIns="27432" anchor="t">
            <a:spAutoFit/>
          </a:bodyPr>
          <a:lstStyle/>
          <a:p>
            <a:pPr algn="ctr"/>
            <a:r>
              <a:rPr sz="1000" b="1">
                <a:solidFill>
                  <a:srgbClr val="C58A2A"/>
                </a:solidFill>
                <a:latin typeface="Aptos"/>
              </a:rPr>
              <a:t>Q7</a:t>
            </a:r>
          </a:p>
        </p:txBody>
      </p:sp>
      <p:sp>
        <p:nvSpPr>
          <p:cNvPr id="9" name="TextBox 8"/>
          <p:cNvSpPr txBox="1"/>
          <p:nvPr/>
        </p:nvSpPr>
        <p:spPr>
          <a:xfrm>
            <a:off x="11631168" y="6519672"/>
            <a:ext cx="274320" cy="164592"/>
          </a:xfrm>
          <a:prstGeom prst="rect">
            <a:avLst/>
          </a:prstGeom>
          <a:noFill/>
        </p:spPr>
        <p:txBody>
          <a:bodyPr wrap="square" lIns="27432" rIns="27432" tIns="27432" bIns="27432" anchor="t">
            <a:spAutoFit/>
          </a:bodyPr>
          <a:lstStyle/>
          <a:p>
            <a:pPr algn="r"/>
            <a:r>
              <a:rPr sz="900" b="0">
                <a:solidFill>
                  <a:srgbClr val="5F6B63"/>
                </a:solidFill>
                <a:latin typeface="Aptos"/>
              </a:rPr>
              <a:t>20</a:t>
            </a:r>
          </a:p>
        </p:txBody>
      </p:sp>
      <p:sp>
        <p:nvSpPr>
          <p:cNvPr id="10" name="TextBox 9"/>
          <p:cNvSpPr txBox="1"/>
          <p:nvPr/>
        </p:nvSpPr>
        <p:spPr>
          <a:xfrm>
            <a:off x="548640" y="658368"/>
            <a:ext cx="10332720" cy="868680"/>
          </a:xfrm>
          <a:prstGeom prst="rect">
            <a:avLst/>
          </a:prstGeom>
          <a:noFill/>
        </p:spPr>
        <p:txBody>
          <a:bodyPr wrap="square" lIns="27432" rIns="27432" tIns="27432" bIns="27432" anchor="t">
            <a:spAutoFit/>
          </a:bodyPr>
          <a:lstStyle/>
          <a:p>
            <a:pPr algn="l"/>
            <a:r>
              <a:rPr sz="2700" b="1">
                <a:solidFill>
                  <a:srgbClr val="355C47"/>
                </a:solidFill>
                <a:latin typeface="Aptos Display"/>
              </a:rPr>
              <a:t>City selection and unit allocation are different accounting decisions</a:t>
            </a:r>
          </a:p>
        </p:txBody>
      </p:sp>
      <p:sp>
        <p:nvSpPr>
          <p:cNvPr id="11" name="Rounded Rectangle 10"/>
          <p:cNvSpPr/>
          <p:nvPr/>
        </p:nvSpPr>
        <p:spPr>
          <a:xfrm>
            <a:off x="713232" y="1664208"/>
            <a:ext cx="6656832" cy="4315968"/>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0976" y="1883664"/>
            <a:ext cx="3108960" cy="164592"/>
          </a:xfrm>
          <a:prstGeom prst="rect">
            <a:avLst/>
          </a:prstGeom>
          <a:noFill/>
        </p:spPr>
        <p:txBody>
          <a:bodyPr wrap="square" lIns="27432" rIns="27432" tIns="27432" bIns="27432" anchor="t">
            <a:spAutoFit/>
          </a:bodyPr>
          <a:lstStyle/>
          <a:p>
            <a:pPr algn="l"/>
            <a:r>
              <a:rPr sz="1000" b="1">
                <a:solidFill>
                  <a:srgbClr val="5F6B63"/>
                </a:solidFill>
                <a:latin typeface="Aptos"/>
              </a:rPr>
              <a:t>ALLOCATION FRONTIER FOR ONE 20K ORDER</a:t>
            </a:r>
          </a:p>
        </p:txBody>
      </p:sp>
      <p:sp>
        <p:nvSpPr>
          <p:cNvPr id="13" name="Rounded Rectangle 12"/>
          <p:cNvSpPr/>
          <p:nvPr/>
        </p:nvSpPr>
        <p:spPr>
          <a:xfrm>
            <a:off x="1060704" y="2194560"/>
            <a:ext cx="1335024" cy="2395728"/>
          </a:xfrm>
          <a:prstGeom prst="roundRect">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0704" y="2011680"/>
            <a:ext cx="1335024" cy="164592"/>
          </a:xfrm>
          <a:prstGeom prst="rect">
            <a:avLst/>
          </a:prstGeom>
          <a:noFill/>
        </p:spPr>
        <p:txBody>
          <a:bodyPr wrap="square" lIns="27432" rIns="27432" tIns="27432" bIns="27432" anchor="t">
            <a:spAutoFit/>
          </a:bodyPr>
          <a:lstStyle/>
          <a:p>
            <a:pPr algn="ctr"/>
            <a:r>
              <a:rPr sz="1100" b="1">
                <a:solidFill>
                  <a:srgbClr val="355C47"/>
                </a:solidFill>
                <a:latin typeface="Aptos"/>
              </a:rPr>
              <a:t>$15.3k</a:t>
            </a:r>
          </a:p>
        </p:txBody>
      </p:sp>
      <p:sp>
        <p:nvSpPr>
          <p:cNvPr id="15" name="TextBox 14"/>
          <p:cNvSpPr txBox="1"/>
          <p:nvPr/>
        </p:nvSpPr>
        <p:spPr>
          <a:xfrm>
            <a:off x="1060704" y="4718304"/>
            <a:ext cx="1335024" cy="329184"/>
          </a:xfrm>
          <a:prstGeom prst="rect">
            <a:avLst/>
          </a:prstGeom>
          <a:noFill/>
        </p:spPr>
        <p:txBody>
          <a:bodyPr wrap="square" lIns="27432" rIns="27432" tIns="27432" bIns="27432" anchor="t">
            <a:spAutoFit/>
          </a:bodyPr>
          <a:lstStyle/>
          <a:p>
            <a:pPr algn="ctr"/>
            <a:r>
              <a:rPr sz="1100" b="1">
                <a:solidFill>
                  <a:srgbClr val="1F2621"/>
                </a:solidFill>
                <a:latin typeface="Aptos"/>
              </a:rPr>
              <a:t>Max-profit single mkt</a:t>
            </a:r>
          </a:p>
        </p:txBody>
      </p:sp>
      <p:sp>
        <p:nvSpPr>
          <p:cNvPr id="16" name="TextBox 15"/>
          <p:cNvSpPr txBox="1"/>
          <p:nvPr/>
        </p:nvSpPr>
        <p:spPr>
          <a:xfrm>
            <a:off x="1060704" y="5065776"/>
            <a:ext cx="1335024" cy="384048"/>
          </a:xfrm>
          <a:prstGeom prst="rect">
            <a:avLst/>
          </a:prstGeom>
          <a:noFill/>
        </p:spPr>
        <p:txBody>
          <a:bodyPr wrap="square" lIns="27432" rIns="27432" tIns="27432" bIns="27432" anchor="t">
            <a:spAutoFit/>
          </a:bodyPr>
          <a:lstStyle/>
          <a:p>
            <a:pPr algn="ctr"/>
            <a:r>
              <a:rPr sz="800" b="0">
                <a:solidFill>
                  <a:srgbClr val="5F6B63"/>
                </a:solidFill>
                <a:latin typeface="Aptos"/>
              </a:rPr>
              <a:t>20,000 units to Seattle</a:t>
            </a:r>
          </a:p>
        </p:txBody>
      </p:sp>
      <p:sp>
        <p:nvSpPr>
          <p:cNvPr id="17" name="Rounded Rectangle 16"/>
          <p:cNvSpPr/>
          <p:nvPr/>
        </p:nvSpPr>
        <p:spPr>
          <a:xfrm>
            <a:off x="3072384" y="2536291"/>
            <a:ext cx="1335024" cy="2053996"/>
          </a:xfrm>
          <a:prstGeom prst="roundRect">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72384" y="2353411"/>
            <a:ext cx="1335024" cy="164592"/>
          </a:xfrm>
          <a:prstGeom prst="rect">
            <a:avLst/>
          </a:prstGeom>
          <a:noFill/>
        </p:spPr>
        <p:txBody>
          <a:bodyPr wrap="square" lIns="27432" rIns="27432" tIns="27432" bIns="27432" anchor="t">
            <a:spAutoFit/>
          </a:bodyPr>
          <a:lstStyle/>
          <a:p>
            <a:pPr algn="ctr"/>
            <a:r>
              <a:rPr sz="1100" b="1">
                <a:solidFill>
                  <a:srgbClr val="3F728A"/>
                </a:solidFill>
                <a:latin typeface="Aptos"/>
              </a:rPr>
              <a:t>$13.1k</a:t>
            </a:r>
          </a:p>
        </p:txBody>
      </p:sp>
      <p:sp>
        <p:nvSpPr>
          <p:cNvPr id="19" name="TextBox 18"/>
          <p:cNvSpPr txBox="1"/>
          <p:nvPr/>
        </p:nvSpPr>
        <p:spPr>
          <a:xfrm>
            <a:off x="3072384" y="4718304"/>
            <a:ext cx="1335024" cy="329184"/>
          </a:xfrm>
          <a:prstGeom prst="rect">
            <a:avLst/>
          </a:prstGeom>
          <a:noFill/>
        </p:spPr>
        <p:txBody>
          <a:bodyPr wrap="square" lIns="27432" rIns="27432" tIns="27432" bIns="27432" anchor="t">
            <a:spAutoFit/>
          </a:bodyPr>
          <a:lstStyle/>
          <a:p>
            <a:pPr algn="ctr"/>
            <a:r>
              <a:rPr sz="1100" b="1">
                <a:solidFill>
                  <a:srgbClr val="1F2621"/>
                </a:solidFill>
                <a:latin typeface="Aptos"/>
              </a:rPr>
              <a:t>Balanced 2-city split</a:t>
            </a:r>
          </a:p>
        </p:txBody>
      </p:sp>
      <p:sp>
        <p:nvSpPr>
          <p:cNvPr id="20" name="TextBox 19"/>
          <p:cNvSpPr txBox="1"/>
          <p:nvPr/>
        </p:nvSpPr>
        <p:spPr>
          <a:xfrm>
            <a:off x="3072384" y="5065776"/>
            <a:ext cx="1335024" cy="384048"/>
          </a:xfrm>
          <a:prstGeom prst="rect">
            <a:avLst/>
          </a:prstGeom>
          <a:noFill/>
        </p:spPr>
        <p:txBody>
          <a:bodyPr wrap="square" lIns="27432" rIns="27432" tIns="27432" bIns="27432" anchor="t">
            <a:spAutoFit/>
          </a:bodyPr>
          <a:lstStyle/>
          <a:p>
            <a:pPr algn="ctr"/>
            <a:r>
              <a:rPr sz="800" b="0">
                <a:solidFill>
                  <a:srgbClr val="5F6B63"/>
                </a:solidFill>
                <a:latin typeface="Aptos"/>
              </a:rPr>
              <a:t>10,000 each to Seattle and Boise</a:t>
            </a:r>
          </a:p>
        </p:txBody>
      </p:sp>
      <p:sp>
        <p:nvSpPr>
          <p:cNvPr id="21" name="Rounded Rectangle 20"/>
          <p:cNvSpPr/>
          <p:nvPr/>
        </p:nvSpPr>
        <p:spPr>
          <a:xfrm>
            <a:off x="5084064" y="3632734"/>
            <a:ext cx="1335024" cy="957553"/>
          </a:xfrm>
          <a:prstGeom prst="roundRect">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84064" y="3449854"/>
            <a:ext cx="1335024" cy="164592"/>
          </a:xfrm>
          <a:prstGeom prst="rect">
            <a:avLst/>
          </a:prstGeom>
          <a:noFill/>
        </p:spPr>
        <p:txBody>
          <a:bodyPr wrap="square" lIns="27432" rIns="27432" tIns="27432" bIns="27432" anchor="t">
            <a:spAutoFit/>
          </a:bodyPr>
          <a:lstStyle/>
          <a:p>
            <a:pPr algn="ctr"/>
            <a:r>
              <a:rPr sz="1100" b="1">
                <a:solidFill>
                  <a:srgbClr val="C58A2A"/>
                </a:solidFill>
                <a:latin typeface="Aptos"/>
              </a:rPr>
              <a:t>$6.1k</a:t>
            </a:r>
          </a:p>
        </p:txBody>
      </p:sp>
      <p:sp>
        <p:nvSpPr>
          <p:cNvPr id="23" name="TextBox 22"/>
          <p:cNvSpPr txBox="1"/>
          <p:nvPr/>
        </p:nvSpPr>
        <p:spPr>
          <a:xfrm>
            <a:off x="5084064" y="4718304"/>
            <a:ext cx="1335024" cy="329184"/>
          </a:xfrm>
          <a:prstGeom prst="rect">
            <a:avLst/>
          </a:prstGeom>
          <a:noFill/>
        </p:spPr>
        <p:txBody>
          <a:bodyPr wrap="square" lIns="27432" rIns="27432" tIns="27432" bIns="27432" anchor="t">
            <a:spAutoFit/>
          </a:bodyPr>
          <a:lstStyle/>
          <a:p>
            <a:pPr algn="ctr"/>
            <a:r>
              <a:rPr sz="1100" b="1">
                <a:solidFill>
                  <a:srgbClr val="1F2621"/>
                </a:solidFill>
                <a:latin typeface="Aptos"/>
              </a:rPr>
              <a:t>5-city learning pilot</a:t>
            </a:r>
          </a:p>
        </p:txBody>
      </p:sp>
      <p:sp>
        <p:nvSpPr>
          <p:cNvPr id="24" name="TextBox 23"/>
          <p:cNvSpPr txBox="1"/>
          <p:nvPr/>
        </p:nvSpPr>
        <p:spPr>
          <a:xfrm>
            <a:off x="5084064" y="5065776"/>
            <a:ext cx="1335024" cy="384048"/>
          </a:xfrm>
          <a:prstGeom prst="rect">
            <a:avLst/>
          </a:prstGeom>
          <a:noFill/>
        </p:spPr>
        <p:txBody>
          <a:bodyPr wrap="square" lIns="27432" rIns="27432" tIns="27432" bIns="27432" anchor="t">
            <a:spAutoFit/>
          </a:bodyPr>
          <a:lstStyle/>
          <a:p>
            <a:pPr algn="ctr"/>
            <a:r>
              <a:rPr sz="800" b="0">
                <a:solidFill>
                  <a:srgbClr val="5F6B63"/>
                </a:solidFill>
                <a:latin typeface="Aptos"/>
              </a:rPr>
              <a:t>4,000 units in each city</a:t>
            </a:r>
          </a:p>
        </p:txBody>
      </p:sp>
      <p:sp>
        <p:nvSpPr>
          <p:cNvPr id="25" name="TextBox 24"/>
          <p:cNvSpPr txBox="1"/>
          <p:nvPr/>
        </p:nvSpPr>
        <p:spPr>
          <a:xfrm>
            <a:off x="914400" y="5577840"/>
            <a:ext cx="6217920" cy="219456"/>
          </a:xfrm>
          <a:prstGeom prst="rect">
            <a:avLst/>
          </a:prstGeom>
          <a:noFill/>
        </p:spPr>
        <p:txBody>
          <a:bodyPr wrap="square" lIns="27432" rIns="27432" tIns="27432" bIns="27432" anchor="t">
            <a:spAutoFit/>
          </a:bodyPr>
          <a:lstStyle/>
          <a:p>
            <a:pPr algn="l"/>
            <a:r>
              <a:rPr sz="1100" b="0">
                <a:solidFill>
                  <a:srgbClr val="1F2621"/>
                </a:solidFill>
                <a:latin typeface="Aptos"/>
              </a:rPr>
              <a:t>The math is clear: concentration maximizes profit, but a multi-city pilot buys learning and retailer diversification at the cost of duplicated route-fixed shipping.</a:t>
            </a:r>
          </a:p>
        </p:txBody>
      </p:sp>
      <p:sp>
        <p:nvSpPr>
          <p:cNvPr id="26" name="Rounded Rectangle 25"/>
          <p:cNvSpPr/>
          <p:nvPr/>
        </p:nvSpPr>
        <p:spPr>
          <a:xfrm>
            <a:off x="7607808" y="1664208"/>
            <a:ext cx="3895344" cy="4315968"/>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7863840" y="1938528"/>
            <a:ext cx="1627632" cy="877824"/>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91856" y="2048256"/>
            <a:ext cx="1371600" cy="164592"/>
          </a:xfrm>
          <a:prstGeom prst="rect">
            <a:avLst/>
          </a:prstGeom>
          <a:noFill/>
        </p:spPr>
        <p:txBody>
          <a:bodyPr wrap="square" lIns="27432" rIns="27432" tIns="27432" bIns="27432" anchor="t">
            <a:spAutoFit/>
          </a:bodyPr>
          <a:lstStyle/>
          <a:p>
            <a:pPr algn="l"/>
            <a:r>
              <a:rPr sz="1000" b="1">
                <a:solidFill>
                  <a:srgbClr val="5F6B63"/>
                </a:solidFill>
                <a:latin typeface="Aptos"/>
              </a:rPr>
              <a:t>SINGLE-CITY MAX</a:t>
            </a:r>
          </a:p>
        </p:txBody>
      </p:sp>
      <p:sp>
        <p:nvSpPr>
          <p:cNvPr id="29" name="TextBox 28"/>
          <p:cNvSpPr txBox="1"/>
          <p:nvPr/>
        </p:nvSpPr>
        <p:spPr>
          <a:xfrm>
            <a:off x="7991856" y="2249424"/>
            <a:ext cx="1371600" cy="457200"/>
          </a:xfrm>
          <a:prstGeom prst="rect">
            <a:avLst/>
          </a:prstGeom>
          <a:noFill/>
        </p:spPr>
        <p:txBody>
          <a:bodyPr wrap="square" lIns="27432" rIns="27432" tIns="27432" bIns="27432" anchor="ctr">
            <a:spAutoFit/>
          </a:bodyPr>
          <a:lstStyle/>
          <a:p>
            <a:pPr algn="l"/>
            <a:r>
              <a:rPr sz="1900" b="1">
                <a:solidFill>
                  <a:srgbClr val="355C47"/>
                </a:solidFill>
                <a:latin typeface="Aptos Display"/>
              </a:rPr>
              <a:t>$15.3k</a:t>
            </a:r>
          </a:p>
        </p:txBody>
      </p:sp>
      <p:sp>
        <p:nvSpPr>
          <p:cNvPr id="30" name="Rounded Rectangle 29"/>
          <p:cNvSpPr/>
          <p:nvPr/>
        </p:nvSpPr>
        <p:spPr>
          <a:xfrm>
            <a:off x="9619488" y="1938528"/>
            <a:ext cx="1609344" cy="877824"/>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747504" y="2048256"/>
            <a:ext cx="1353312" cy="164592"/>
          </a:xfrm>
          <a:prstGeom prst="rect">
            <a:avLst/>
          </a:prstGeom>
          <a:noFill/>
        </p:spPr>
        <p:txBody>
          <a:bodyPr wrap="square" lIns="27432" rIns="27432" tIns="27432" bIns="27432" anchor="t">
            <a:spAutoFit/>
          </a:bodyPr>
          <a:lstStyle/>
          <a:p>
            <a:pPr algn="l"/>
            <a:r>
              <a:rPr sz="1000" b="1">
                <a:solidFill>
                  <a:srgbClr val="5F6B63"/>
                </a:solidFill>
                <a:latin typeface="Aptos"/>
              </a:rPr>
              <a:t>5-CITY PILOT</a:t>
            </a:r>
          </a:p>
        </p:txBody>
      </p:sp>
      <p:sp>
        <p:nvSpPr>
          <p:cNvPr id="32" name="TextBox 31"/>
          <p:cNvSpPr txBox="1"/>
          <p:nvPr/>
        </p:nvSpPr>
        <p:spPr>
          <a:xfrm>
            <a:off x="9747504" y="2249424"/>
            <a:ext cx="1353312" cy="457200"/>
          </a:xfrm>
          <a:prstGeom prst="rect">
            <a:avLst/>
          </a:prstGeom>
          <a:noFill/>
        </p:spPr>
        <p:txBody>
          <a:bodyPr wrap="square" lIns="27432" rIns="27432" tIns="27432" bIns="27432" anchor="ctr">
            <a:spAutoFit/>
          </a:bodyPr>
          <a:lstStyle/>
          <a:p>
            <a:pPr algn="l"/>
            <a:r>
              <a:rPr sz="1900" b="1">
                <a:solidFill>
                  <a:srgbClr val="C58A2A"/>
                </a:solidFill>
                <a:latin typeface="Aptos Display"/>
              </a:rPr>
              <a:t>$6.1k</a:t>
            </a:r>
          </a:p>
        </p:txBody>
      </p:sp>
      <p:sp>
        <p:nvSpPr>
          <p:cNvPr id="33" name="Rounded Rectangle 32"/>
          <p:cNvSpPr/>
          <p:nvPr/>
        </p:nvSpPr>
        <p:spPr>
          <a:xfrm>
            <a:off x="7863840" y="3017520"/>
            <a:ext cx="3364992" cy="877824"/>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991856" y="3127248"/>
            <a:ext cx="3108960" cy="164592"/>
          </a:xfrm>
          <a:prstGeom prst="rect">
            <a:avLst/>
          </a:prstGeom>
          <a:noFill/>
        </p:spPr>
        <p:txBody>
          <a:bodyPr wrap="square" lIns="27432" rIns="27432" tIns="27432" bIns="27432" anchor="t">
            <a:spAutoFit/>
          </a:bodyPr>
          <a:lstStyle/>
          <a:p>
            <a:pPr algn="l"/>
            <a:r>
              <a:rPr sz="1000" b="1">
                <a:solidFill>
                  <a:srgbClr val="5F6B63"/>
                </a:solidFill>
                <a:latin typeface="Aptos"/>
              </a:rPr>
              <a:t>LEARNING PREMIUM</a:t>
            </a:r>
          </a:p>
        </p:txBody>
      </p:sp>
      <p:sp>
        <p:nvSpPr>
          <p:cNvPr id="35" name="TextBox 34"/>
          <p:cNvSpPr txBox="1"/>
          <p:nvPr/>
        </p:nvSpPr>
        <p:spPr>
          <a:xfrm>
            <a:off x="7991856" y="3328416"/>
            <a:ext cx="3108960" cy="457200"/>
          </a:xfrm>
          <a:prstGeom prst="rect">
            <a:avLst/>
          </a:prstGeom>
          <a:noFill/>
        </p:spPr>
        <p:txBody>
          <a:bodyPr wrap="square" lIns="27432" rIns="27432" tIns="27432" bIns="27432" anchor="ctr">
            <a:spAutoFit/>
          </a:bodyPr>
          <a:lstStyle/>
          <a:p>
            <a:pPr algn="l"/>
            <a:r>
              <a:rPr sz="1900" b="1">
                <a:solidFill>
                  <a:srgbClr val="B5533A"/>
                </a:solidFill>
                <a:latin typeface="Aptos Display"/>
              </a:rPr>
              <a:t>-$9.2k</a:t>
            </a:r>
          </a:p>
        </p:txBody>
      </p:sp>
      <p:sp>
        <p:nvSpPr>
          <p:cNvPr id="36" name="TextBox 35"/>
          <p:cNvSpPr txBox="1"/>
          <p:nvPr/>
        </p:nvSpPr>
        <p:spPr>
          <a:xfrm>
            <a:off x="7863840" y="4160520"/>
            <a:ext cx="3017520" cy="1371600"/>
          </a:xfrm>
          <a:prstGeom prst="rect">
            <a:avLst/>
          </a:prstGeom>
          <a:noFill/>
        </p:spPr>
        <p:txBody>
          <a:bodyPr wrap="square" lIns="27432" rIns="27432" tIns="18288" bIns="18288">
            <a:spAutoFit/>
          </a:bodyPr>
          <a:lstStyle/>
          <a:p>
            <a:pPr algn="l">
              <a:lnSpc>
                <a:spcPct val="115000"/>
              </a:lnSpc>
            </a:pPr>
            <a:r>
              <a:rPr sz="1200">
                <a:solidFill>
                  <a:srgbClr val="1F2621"/>
                </a:solidFill>
                <a:latin typeface="Aptos"/>
              </a:rPr>
              <a:t>- A balanced Seattle-Boise split still earns $13.1k, so West Valley can keep most of the economics with less concentration risk.</a:t>
            </a:r>
          </a:p>
          <a:p>
            <a:pPr algn="l">
              <a:lnSpc>
                <a:spcPct val="115000"/>
              </a:lnSpc>
            </a:pPr>
            <a:r>
              <a:rPr sz="1200">
                <a:solidFill>
                  <a:srgbClr val="1F2621"/>
                </a:solidFill>
                <a:latin typeface="Aptos"/>
              </a:rPr>
              <a:t>- The five-city pilot is a learning investment: lower profit than one city, but more retailer signal and less single-market exposure.</a:t>
            </a:r>
          </a:p>
          <a:p>
            <a:pPr algn="l">
              <a:lnSpc>
                <a:spcPct val="115000"/>
              </a:lnSpc>
            </a:pPr>
            <a:r>
              <a:rPr sz="1200">
                <a:solidFill>
                  <a:srgbClr val="1F2621"/>
                </a:solidFill>
                <a:latin typeface="Aptos"/>
              </a:rPr>
              <a:t>- That is why city screening and exact unit allocation should be presented as separate accounting decisions.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55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46920" y="0"/>
            <a:ext cx="2542032" cy="73152"/>
          </a:xfrm>
          <a:prstGeom prst="rect">
            <a:avLst/>
          </a:prstGeom>
          <a:solidFill>
            <a:srgbClr val="C58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01168"/>
            <a:ext cx="1554480" cy="256032"/>
          </a:xfrm>
          <a:prstGeom prst="roundRect">
            <a:avLst/>
          </a:prstGeom>
          <a:solidFill>
            <a:srgbClr val="FCFAF5"/>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224028"/>
            <a:ext cx="1517904" cy="182880"/>
          </a:xfrm>
          <a:prstGeom prst="rect">
            <a:avLst/>
          </a:prstGeom>
          <a:noFill/>
        </p:spPr>
        <p:txBody>
          <a:bodyPr wrap="square" lIns="27432" rIns="27432" tIns="27432" bIns="27432" anchor="t">
            <a:spAutoFit/>
          </a:bodyPr>
          <a:lstStyle/>
          <a:p>
            <a:pPr algn="ctr"/>
            <a:r>
              <a:rPr sz="1000" b="1">
                <a:solidFill>
                  <a:srgbClr val="355C47"/>
                </a:solidFill>
                <a:latin typeface="Aptos"/>
              </a:rPr>
              <a:t>SEASONALITY</a:t>
            </a:r>
          </a:p>
        </p:txBody>
      </p:sp>
      <p:sp>
        <p:nvSpPr>
          <p:cNvPr id="7" name="Rounded Rectangle 6"/>
          <p:cNvSpPr/>
          <p:nvPr/>
        </p:nvSpPr>
        <p:spPr>
          <a:xfrm>
            <a:off x="2267712" y="201168"/>
            <a:ext cx="713232" cy="256032"/>
          </a:xfrm>
          <a:prstGeom prst="roundRect">
            <a:avLst/>
          </a:prstGeom>
          <a:solidFill>
            <a:srgbClr val="FFFDF9"/>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0" y="224028"/>
            <a:ext cx="676656" cy="182880"/>
          </a:xfrm>
          <a:prstGeom prst="rect">
            <a:avLst/>
          </a:prstGeom>
          <a:noFill/>
        </p:spPr>
        <p:txBody>
          <a:bodyPr wrap="square" lIns="27432" rIns="27432" tIns="27432" bIns="27432" anchor="t">
            <a:spAutoFit/>
          </a:bodyPr>
          <a:lstStyle/>
          <a:p>
            <a:pPr algn="ctr"/>
            <a:r>
              <a:rPr sz="1000" b="1">
                <a:solidFill>
                  <a:srgbClr val="C58A2A"/>
                </a:solidFill>
                <a:latin typeface="Aptos"/>
              </a:rPr>
              <a:t>Q8</a:t>
            </a:r>
          </a:p>
        </p:txBody>
      </p:sp>
      <p:sp>
        <p:nvSpPr>
          <p:cNvPr id="9" name="TextBox 8"/>
          <p:cNvSpPr txBox="1"/>
          <p:nvPr/>
        </p:nvSpPr>
        <p:spPr>
          <a:xfrm>
            <a:off x="11631168" y="6519672"/>
            <a:ext cx="274320" cy="164592"/>
          </a:xfrm>
          <a:prstGeom prst="rect">
            <a:avLst/>
          </a:prstGeom>
          <a:noFill/>
        </p:spPr>
        <p:txBody>
          <a:bodyPr wrap="square" lIns="27432" rIns="27432" tIns="27432" bIns="27432" anchor="t">
            <a:spAutoFit/>
          </a:bodyPr>
          <a:lstStyle/>
          <a:p>
            <a:pPr algn="r"/>
            <a:r>
              <a:rPr sz="900" b="0">
                <a:solidFill>
                  <a:srgbClr val="5F6B63"/>
                </a:solidFill>
                <a:latin typeface="Aptos"/>
              </a:rPr>
              <a:t>21</a:t>
            </a:r>
          </a:p>
        </p:txBody>
      </p:sp>
      <p:sp>
        <p:nvSpPr>
          <p:cNvPr id="10" name="Rounded Rectangle 9"/>
          <p:cNvSpPr/>
          <p:nvPr/>
        </p:nvSpPr>
        <p:spPr>
          <a:xfrm>
            <a:off x="10241280" y="256032"/>
            <a:ext cx="1280160" cy="274320"/>
          </a:xfrm>
          <a:prstGeom prst="roundRect">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59568" y="260604"/>
            <a:ext cx="1243584" cy="219456"/>
          </a:xfrm>
          <a:prstGeom prst="rect">
            <a:avLst/>
          </a:prstGeom>
          <a:noFill/>
        </p:spPr>
        <p:txBody>
          <a:bodyPr wrap="square" lIns="27432" rIns="27432" tIns="27432" bIns="27432" anchor="ctr">
            <a:spAutoFit/>
          </a:bodyPr>
          <a:lstStyle/>
          <a:p>
            <a:pPr algn="ctr"/>
            <a:r>
              <a:rPr sz="1100" b="1">
                <a:solidFill>
                  <a:srgbClr val="FCFAF5"/>
                </a:solidFill>
                <a:latin typeface="Aptos"/>
              </a:rPr>
              <a:t>INFERENCE</a:t>
            </a:r>
          </a:p>
        </p:txBody>
      </p:sp>
      <p:sp>
        <p:nvSpPr>
          <p:cNvPr id="12" name="TextBox 11"/>
          <p:cNvSpPr txBox="1"/>
          <p:nvPr/>
        </p:nvSpPr>
        <p:spPr>
          <a:xfrm>
            <a:off x="548640" y="658368"/>
            <a:ext cx="10332720" cy="868680"/>
          </a:xfrm>
          <a:prstGeom prst="rect">
            <a:avLst/>
          </a:prstGeom>
          <a:noFill/>
        </p:spPr>
        <p:txBody>
          <a:bodyPr wrap="square" lIns="27432" rIns="27432" tIns="27432" bIns="27432" anchor="t">
            <a:spAutoFit/>
          </a:bodyPr>
          <a:lstStyle/>
          <a:p>
            <a:pPr algn="l"/>
            <a:r>
              <a:rPr sz="2700" b="1">
                <a:solidFill>
                  <a:srgbClr val="355C47"/>
                </a:solidFill>
                <a:latin typeface="Aptos Display"/>
              </a:rPr>
              <a:t>Seasonality should change when West Valley pushes volume vs margin</a:t>
            </a:r>
          </a:p>
        </p:txBody>
      </p:sp>
      <p:sp>
        <p:nvSpPr>
          <p:cNvPr id="13" name="TextBox 12"/>
          <p:cNvSpPr txBox="1"/>
          <p:nvPr/>
        </p:nvSpPr>
        <p:spPr>
          <a:xfrm>
            <a:off x="548640" y="1097280"/>
            <a:ext cx="10607040" cy="320040"/>
          </a:xfrm>
          <a:prstGeom prst="rect">
            <a:avLst/>
          </a:prstGeom>
          <a:noFill/>
        </p:spPr>
        <p:txBody>
          <a:bodyPr wrap="square" lIns="27432" rIns="27432" tIns="27432" bIns="27432" anchor="t">
            <a:spAutoFit/>
          </a:bodyPr>
          <a:lstStyle/>
          <a:p>
            <a:pPr algn="l"/>
            <a:r>
              <a:rPr sz="1300" b="0">
                <a:solidFill>
                  <a:srgbClr val="5F6B63"/>
                </a:solidFill>
                <a:latin typeface="Aptos"/>
              </a:rPr>
              <a:t>Organic volume peaks in Jan while price peaks in Jul; that gap is the operating lever.</a:t>
            </a:r>
          </a:p>
        </p:txBody>
      </p:sp>
      <p:sp>
        <p:nvSpPr>
          <p:cNvPr id="14" name="Rounded Rectangle 13"/>
          <p:cNvSpPr/>
          <p:nvPr/>
        </p:nvSpPr>
        <p:spPr>
          <a:xfrm>
            <a:off x="685800" y="1737360"/>
            <a:ext cx="713232" cy="438912"/>
          </a:xfrm>
          <a:prstGeom prst="roundRect">
            <a:avLst/>
          </a:prstGeom>
          <a:solidFill>
            <a:srgbClr val="889A83"/>
          </a:solidFill>
          <a:ln>
            <a:solidFill>
              <a:srgbClr val="889A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1828800"/>
            <a:ext cx="713232" cy="182880"/>
          </a:xfrm>
          <a:prstGeom prst="rect">
            <a:avLst/>
          </a:prstGeom>
          <a:noFill/>
        </p:spPr>
        <p:txBody>
          <a:bodyPr wrap="square" lIns="27432" rIns="27432" tIns="27432" bIns="27432" anchor="t">
            <a:spAutoFit/>
          </a:bodyPr>
          <a:lstStyle/>
          <a:p>
            <a:pPr algn="ctr"/>
            <a:r>
              <a:rPr sz="1100" b="1">
                <a:solidFill>
                  <a:srgbClr val="FCFAF5"/>
                </a:solidFill>
                <a:latin typeface="Aptos"/>
              </a:rPr>
              <a:t>Jan</a:t>
            </a:r>
          </a:p>
        </p:txBody>
      </p:sp>
      <p:sp>
        <p:nvSpPr>
          <p:cNvPr id="16" name="Rounded Rectangle 15"/>
          <p:cNvSpPr/>
          <p:nvPr/>
        </p:nvSpPr>
        <p:spPr>
          <a:xfrm>
            <a:off x="1517904" y="1737360"/>
            <a:ext cx="713232" cy="438912"/>
          </a:xfrm>
          <a:prstGeom prst="roundRect">
            <a:avLst/>
          </a:prstGeom>
          <a:solidFill>
            <a:srgbClr val="889A83"/>
          </a:solidFill>
          <a:ln>
            <a:solidFill>
              <a:srgbClr val="889A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17904" y="1828800"/>
            <a:ext cx="713232" cy="182880"/>
          </a:xfrm>
          <a:prstGeom prst="rect">
            <a:avLst/>
          </a:prstGeom>
          <a:noFill/>
        </p:spPr>
        <p:txBody>
          <a:bodyPr wrap="square" lIns="27432" rIns="27432" tIns="27432" bIns="27432" anchor="t">
            <a:spAutoFit/>
          </a:bodyPr>
          <a:lstStyle/>
          <a:p>
            <a:pPr algn="ctr"/>
            <a:r>
              <a:rPr sz="1100" b="1">
                <a:solidFill>
                  <a:srgbClr val="FCFAF5"/>
                </a:solidFill>
                <a:latin typeface="Aptos"/>
              </a:rPr>
              <a:t>Feb</a:t>
            </a:r>
          </a:p>
        </p:txBody>
      </p:sp>
      <p:sp>
        <p:nvSpPr>
          <p:cNvPr id="18" name="Rounded Rectangle 17"/>
          <p:cNvSpPr/>
          <p:nvPr/>
        </p:nvSpPr>
        <p:spPr>
          <a:xfrm>
            <a:off x="2350008" y="1737360"/>
            <a:ext cx="713232" cy="438912"/>
          </a:xfrm>
          <a:prstGeom prst="roundRect">
            <a:avLst/>
          </a:prstGeom>
          <a:solidFill>
            <a:srgbClr val="889A83"/>
          </a:solidFill>
          <a:ln>
            <a:solidFill>
              <a:srgbClr val="889A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50008" y="1828800"/>
            <a:ext cx="713232" cy="182880"/>
          </a:xfrm>
          <a:prstGeom prst="rect">
            <a:avLst/>
          </a:prstGeom>
          <a:noFill/>
        </p:spPr>
        <p:txBody>
          <a:bodyPr wrap="square" lIns="27432" rIns="27432" tIns="27432" bIns="27432" anchor="t">
            <a:spAutoFit/>
          </a:bodyPr>
          <a:lstStyle/>
          <a:p>
            <a:pPr algn="ctr"/>
            <a:r>
              <a:rPr sz="1100" b="1">
                <a:solidFill>
                  <a:srgbClr val="FCFAF5"/>
                </a:solidFill>
                <a:latin typeface="Aptos"/>
              </a:rPr>
              <a:t>Mar</a:t>
            </a:r>
          </a:p>
        </p:txBody>
      </p:sp>
      <p:sp>
        <p:nvSpPr>
          <p:cNvPr id="20" name="Rounded Rectangle 19"/>
          <p:cNvSpPr/>
          <p:nvPr/>
        </p:nvSpPr>
        <p:spPr>
          <a:xfrm>
            <a:off x="3182112" y="1737360"/>
            <a:ext cx="713232" cy="438912"/>
          </a:xfrm>
          <a:prstGeom prst="roundRect">
            <a:avLst/>
          </a:prstGeom>
          <a:solidFill>
            <a:srgbClr val="889A83"/>
          </a:solidFill>
          <a:ln>
            <a:solidFill>
              <a:srgbClr val="889A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182112" y="1828800"/>
            <a:ext cx="713232" cy="182880"/>
          </a:xfrm>
          <a:prstGeom prst="rect">
            <a:avLst/>
          </a:prstGeom>
          <a:noFill/>
        </p:spPr>
        <p:txBody>
          <a:bodyPr wrap="square" lIns="27432" rIns="27432" tIns="27432" bIns="27432" anchor="t">
            <a:spAutoFit/>
          </a:bodyPr>
          <a:lstStyle/>
          <a:p>
            <a:pPr algn="ctr"/>
            <a:r>
              <a:rPr sz="1100" b="1">
                <a:solidFill>
                  <a:srgbClr val="FCFAF5"/>
                </a:solidFill>
                <a:latin typeface="Aptos"/>
              </a:rPr>
              <a:t>Apr</a:t>
            </a:r>
          </a:p>
        </p:txBody>
      </p:sp>
      <p:sp>
        <p:nvSpPr>
          <p:cNvPr id="22" name="Rounded Rectangle 21"/>
          <p:cNvSpPr/>
          <p:nvPr/>
        </p:nvSpPr>
        <p:spPr>
          <a:xfrm>
            <a:off x="4014216" y="1737360"/>
            <a:ext cx="713232" cy="438912"/>
          </a:xfrm>
          <a:prstGeom prst="roundRect">
            <a:avLst/>
          </a:prstGeom>
          <a:solidFill>
            <a:srgbClr val="889A83"/>
          </a:solidFill>
          <a:ln>
            <a:solidFill>
              <a:srgbClr val="889A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014216" y="1828800"/>
            <a:ext cx="713232" cy="182880"/>
          </a:xfrm>
          <a:prstGeom prst="rect">
            <a:avLst/>
          </a:prstGeom>
          <a:noFill/>
        </p:spPr>
        <p:txBody>
          <a:bodyPr wrap="square" lIns="27432" rIns="27432" tIns="27432" bIns="27432" anchor="t">
            <a:spAutoFit/>
          </a:bodyPr>
          <a:lstStyle/>
          <a:p>
            <a:pPr algn="ctr"/>
            <a:r>
              <a:rPr sz="1100" b="1">
                <a:solidFill>
                  <a:srgbClr val="FCFAF5"/>
                </a:solidFill>
                <a:latin typeface="Aptos"/>
              </a:rPr>
              <a:t>May</a:t>
            </a:r>
          </a:p>
        </p:txBody>
      </p:sp>
      <p:sp>
        <p:nvSpPr>
          <p:cNvPr id="24" name="Rounded Rectangle 23"/>
          <p:cNvSpPr/>
          <p:nvPr/>
        </p:nvSpPr>
        <p:spPr>
          <a:xfrm>
            <a:off x="4846320" y="1737360"/>
            <a:ext cx="713232" cy="438912"/>
          </a:xfrm>
          <a:prstGeom prst="roundRect">
            <a:avLst/>
          </a:prstGeom>
          <a:solidFill>
            <a:srgbClr val="FCFAF5"/>
          </a:solidFill>
          <a:ln>
            <a:solidFill>
              <a:srgbClr val="FCFA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46320" y="1828800"/>
            <a:ext cx="713232" cy="182880"/>
          </a:xfrm>
          <a:prstGeom prst="rect">
            <a:avLst/>
          </a:prstGeom>
          <a:noFill/>
        </p:spPr>
        <p:txBody>
          <a:bodyPr wrap="square" lIns="27432" rIns="27432" tIns="27432" bIns="27432" anchor="t">
            <a:spAutoFit/>
          </a:bodyPr>
          <a:lstStyle/>
          <a:p>
            <a:pPr algn="ctr"/>
            <a:r>
              <a:rPr sz="1100" b="1">
                <a:solidFill>
                  <a:srgbClr val="1F2621"/>
                </a:solidFill>
                <a:latin typeface="Aptos"/>
              </a:rPr>
              <a:t>Jun</a:t>
            </a:r>
          </a:p>
        </p:txBody>
      </p:sp>
      <p:sp>
        <p:nvSpPr>
          <p:cNvPr id="26" name="Rounded Rectangle 25"/>
          <p:cNvSpPr/>
          <p:nvPr/>
        </p:nvSpPr>
        <p:spPr>
          <a:xfrm>
            <a:off x="5678424" y="1737360"/>
            <a:ext cx="713232" cy="438912"/>
          </a:xfrm>
          <a:prstGeom prst="roundRect">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78424" y="1828800"/>
            <a:ext cx="713232" cy="182880"/>
          </a:xfrm>
          <a:prstGeom prst="rect">
            <a:avLst/>
          </a:prstGeom>
          <a:noFill/>
        </p:spPr>
        <p:txBody>
          <a:bodyPr wrap="square" lIns="27432" rIns="27432" tIns="27432" bIns="27432" anchor="t">
            <a:spAutoFit/>
          </a:bodyPr>
          <a:lstStyle/>
          <a:p>
            <a:pPr algn="ctr"/>
            <a:r>
              <a:rPr sz="1100" b="1">
                <a:solidFill>
                  <a:srgbClr val="FCFAF5"/>
                </a:solidFill>
                <a:latin typeface="Aptos"/>
              </a:rPr>
              <a:t>Jul</a:t>
            </a:r>
          </a:p>
        </p:txBody>
      </p:sp>
      <p:sp>
        <p:nvSpPr>
          <p:cNvPr id="28" name="Rounded Rectangle 27"/>
          <p:cNvSpPr/>
          <p:nvPr/>
        </p:nvSpPr>
        <p:spPr>
          <a:xfrm>
            <a:off x="6510528" y="1737360"/>
            <a:ext cx="713232" cy="438912"/>
          </a:xfrm>
          <a:prstGeom prst="roundRect">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10528" y="1828800"/>
            <a:ext cx="713232" cy="182880"/>
          </a:xfrm>
          <a:prstGeom prst="rect">
            <a:avLst/>
          </a:prstGeom>
          <a:noFill/>
        </p:spPr>
        <p:txBody>
          <a:bodyPr wrap="square" lIns="27432" rIns="27432" tIns="27432" bIns="27432" anchor="t">
            <a:spAutoFit/>
          </a:bodyPr>
          <a:lstStyle/>
          <a:p>
            <a:pPr algn="ctr"/>
            <a:r>
              <a:rPr sz="1100" b="1">
                <a:solidFill>
                  <a:srgbClr val="FCFAF5"/>
                </a:solidFill>
                <a:latin typeface="Aptos"/>
              </a:rPr>
              <a:t>Aug</a:t>
            </a:r>
          </a:p>
        </p:txBody>
      </p:sp>
      <p:sp>
        <p:nvSpPr>
          <p:cNvPr id="30" name="Rounded Rectangle 29"/>
          <p:cNvSpPr/>
          <p:nvPr/>
        </p:nvSpPr>
        <p:spPr>
          <a:xfrm>
            <a:off x="7342632" y="1737360"/>
            <a:ext cx="713232" cy="438912"/>
          </a:xfrm>
          <a:prstGeom prst="roundRect">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42632" y="1828800"/>
            <a:ext cx="713232" cy="182880"/>
          </a:xfrm>
          <a:prstGeom prst="rect">
            <a:avLst/>
          </a:prstGeom>
          <a:noFill/>
        </p:spPr>
        <p:txBody>
          <a:bodyPr wrap="square" lIns="27432" rIns="27432" tIns="27432" bIns="27432" anchor="t">
            <a:spAutoFit/>
          </a:bodyPr>
          <a:lstStyle/>
          <a:p>
            <a:pPr algn="ctr"/>
            <a:r>
              <a:rPr sz="1100" b="1">
                <a:solidFill>
                  <a:srgbClr val="FCFAF5"/>
                </a:solidFill>
                <a:latin typeface="Aptos"/>
              </a:rPr>
              <a:t>Sep</a:t>
            </a:r>
          </a:p>
        </p:txBody>
      </p:sp>
      <p:sp>
        <p:nvSpPr>
          <p:cNvPr id="32" name="Rounded Rectangle 31"/>
          <p:cNvSpPr/>
          <p:nvPr/>
        </p:nvSpPr>
        <p:spPr>
          <a:xfrm>
            <a:off x="8174736" y="1737360"/>
            <a:ext cx="713232" cy="438912"/>
          </a:xfrm>
          <a:prstGeom prst="roundRect">
            <a:avLst/>
          </a:prstGeom>
          <a:solidFill>
            <a:srgbClr val="D8D1C6"/>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74736" y="1828800"/>
            <a:ext cx="713232" cy="182880"/>
          </a:xfrm>
          <a:prstGeom prst="rect">
            <a:avLst/>
          </a:prstGeom>
          <a:noFill/>
        </p:spPr>
        <p:txBody>
          <a:bodyPr wrap="square" lIns="27432" rIns="27432" tIns="27432" bIns="27432" anchor="t">
            <a:spAutoFit/>
          </a:bodyPr>
          <a:lstStyle/>
          <a:p>
            <a:pPr algn="ctr"/>
            <a:r>
              <a:rPr sz="1100" b="1">
                <a:solidFill>
                  <a:srgbClr val="1F2621"/>
                </a:solidFill>
                <a:latin typeface="Aptos"/>
              </a:rPr>
              <a:t>Oct</a:t>
            </a:r>
          </a:p>
        </p:txBody>
      </p:sp>
      <p:sp>
        <p:nvSpPr>
          <p:cNvPr id="34" name="Rounded Rectangle 33"/>
          <p:cNvSpPr/>
          <p:nvPr/>
        </p:nvSpPr>
        <p:spPr>
          <a:xfrm>
            <a:off x="9006840" y="1737360"/>
            <a:ext cx="713232" cy="438912"/>
          </a:xfrm>
          <a:prstGeom prst="roundRect">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006840" y="1828800"/>
            <a:ext cx="713232" cy="182880"/>
          </a:xfrm>
          <a:prstGeom prst="rect">
            <a:avLst/>
          </a:prstGeom>
          <a:noFill/>
        </p:spPr>
        <p:txBody>
          <a:bodyPr wrap="square" lIns="27432" rIns="27432" tIns="27432" bIns="27432" anchor="t">
            <a:spAutoFit/>
          </a:bodyPr>
          <a:lstStyle/>
          <a:p>
            <a:pPr algn="ctr"/>
            <a:r>
              <a:rPr sz="1100" b="1">
                <a:solidFill>
                  <a:srgbClr val="FCFAF5"/>
                </a:solidFill>
                <a:latin typeface="Aptos"/>
              </a:rPr>
              <a:t>Nov</a:t>
            </a:r>
          </a:p>
        </p:txBody>
      </p:sp>
      <p:sp>
        <p:nvSpPr>
          <p:cNvPr id="36" name="Rounded Rectangle 35"/>
          <p:cNvSpPr/>
          <p:nvPr/>
        </p:nvSpPr>
        <p:spPr>
          <a:xfrm>
            <a:off x="9838944" y="1737360"/>
            <a:ext cx="713232" cy="438912"/>
          </a:xfrm>
          <a:prstGeom prst="roundRect">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38944" y="1828800"/>
            <a:ext cx="713232" cy="182880"/>
          </a:xfrm>
          <a:prstGeom prst="rect">
            <a:avLst/>
          </a:prstGeom>
          <a:noFill/>
        </p:spPr>
        <p:txBody>
          <a:bodyPr wrap="square" lIns="27432" rIns="27432" tIns="27432" bIns="27432" anchor="t">
            <a:spAutoFit/>
          </a:bodyPr>
          <a:lstStyle/>
          <a:p>
            <a:pPr algn="ctr"/>
            <a:r>
              <a:rPr sz="1100" b="1">
                <a:solidFill>
                  <a:srgbClr val="FCFAF5"/>
                </a:solidFill>
                <a:latin typeface="Aptos"/>
              </a:rPr>
              <a:t>Dec</a:t>
            </a:r>
          </a:p>
        </p:txBody>
      </p:sp>
      <p:sp>
        <p:nvSpPr>
          <p:cNvPr id="38" name="Rounded Rectangle 37"/>
          <p:cNvSpPr/>
          <p:nvPr/>
        </p:nvSpPr>
        <p:spPr>
          <a:xfrm>
            <a:off x="713232" y="2542032"/>
            <a:ext cx="10808208" cy="2834640"/>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4400" y="2761488"/>
            <a:ext cx="1508760" cy="146304"/>
          </a:xfrm>
          <a:prstGeom prst="rect">
            <a:avLst/>
          </a:prstGeom>
          <a:noFill/>
        </p:spPr>
        <p:txBody>
          <a:bodyPr wrap="square" lIns="27432" rIns="27432" tIns="27432" bIns="27432" anchor="t">
            <a:spAutoFit/>
          </a:bodyPr>
          <a:lstStyle/>
          <a:p>
            <a:pPr algn="l"/>
            <a:r>
              <a:rPr sz="1000" b="1">
                <a:solidFill>
                  <a:srgbClr val="5F6B63"/>
                </a:solidFill>
                <a:latin typeface="Aptos"/>
              </a:rPr>
              <a:t>OPERATING STANCE</a:t>
            </a:r>
          </a:p>
        </p:txBody>
      </p:sp>
      <p:sp>
        <p:nvSpPr>
          <p:cNvPr id="40" name="TextBox 39"/>
          <p:cNvSpPr txBox="1"/>
          <p:nvPr/>
        </p:nvSpPr>
        <p:spPr>
          <a:xfrm>
            <a:off x="2569463" y="2761488"/>
            <a:ext cx="1325880" cy="146304"/>
          </a:xfrm>
          <a:prstGeom prst="rect">
            <a:avLst/>
          </a:prstGeom>
          <a:noFill/>
        </p:spPr>
        <p:txBody>
          <a:bodyPr wrap="square" lIns="27432" rIns="27432" tIns="27432" bIns="27432" anchor="t">
            <a:spAutoFit/>
          </a:bodyPr>
          <a:lstStyle/>
          <a:p>
            <a:pPr algn="l"/>
            <a:r>
              <a:rPr sz="1000" b="1">
                <a:solidFill>
                  <a:srgbClr val="5F6B63"/>
                </a:solidFill>
                <a:latin typeface="Aptos"/>
              </a:rPr>
              <a:t>WINDOW</a:t>
            </a:r>
          </a:p>
        </p:txBody>
      </p:sp>
      <p:sp>
        <p:nvSpPr>
          <p:cNvPr id="41" name="TextBox 40"/>
          <p:cNvSpPr txBox="1"/>
          <p:nvPr/>
        </p:nvSpPr>
        <p:spPr>
          <a:xfrm>
            <a:off x="4041647" y="2761488"/>
            <a:ext cx="4572000" cy="146304"/>
          </a:xfrm>
          <a:prstGeom prst="rect">
            <a:avLst/>
          </a:prstGeom>
          <a:noFill/>
        </p:spPr>
        <p:txBody>
          <a:bodyPr wrap="square" lIns="27432" rIns="27432" tIns="27432" bIns="27432" anchor="t">
            <a:spAutoFit/>
          </a:bodyPr>
          <a:lstStyle/>
          <a:p>
            <a:pPr algn="l"/>
            <a:r>
              <a:rPr sz="1000" b="1">
                <a:solidFill>
                  <a:srgbClr val="5F6B63"/>
                </a:solidFill>
                <a:latin typeface="Aptos"/>
              </a:rPr>
              <a:t>WHAT WEST VALLEY SHOULD DO</a:t>
            </a:r>
          </a:p>
        </p:txBody>
      </p:sp>
      <p:sp>
        <p:nvSpPr>
          <p:cNvPr id="42" name="TextBox 41"/>
          <p:cNvSpPr txBox="1"/>
          <p:nvPr/>
        </p:nvSpPr>
        <p:spPr>
          <a:xfrm>
            <a:off x="8759951" y="2761488"/>
            <a:ext cx="2834640" cy="146304"/>
          </a:xfrm>
          <a:prstGeom prst="rect">
            <a:avLst/>
          </a:prstGeom>
          <a:noFill/>
        </p:spPr>
        <p:txBody>
          <a:bodyPr wrap="square" lIns="27432" rIns="27432" tIns="27432" bIns="27432" anchor="t">
            <a:spAutoFit/>
          </a:bodyPr>
          <a:lstStyle/>
          <a:p>
            <a:pPr algn="l"/>
            <a:r>
              <a:rPr sz="1000" b="1">
                <a:solidFill>
                  <a:srgbClr val="5F6B63"/>
                </a:solidFill>
                <a:latin typeface="Aptos"/>
              </a:rPr>
              <a:t>WHY IT MATTERS</a:t>
            </a:r>
          </a:p>
        </p:txBody>
      </p:sp>
      <p:sp>
        <p:nvSpPr>
          <p:cNvPr id="43" name="Rounded Rectangle 42"/>
          <p:cNvSpPr/>
          <p:nvPr/>
        </p:nvSpPr>
        <p:spPr>
          <a:xfrm>
            <a:off x="914400" y="3090672"/>
            <a:ext cx="1298448" cy="530352"/>
          </a:xfrm>
          <a:prstGeom prst="roundRect">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87552" y="3209544"/>
            <a:ext cx="1133856" cy="164592"/>
          </a:xfrm>
          <a:prstGeom prst="rect">
            <a:avLst/>
          </a:prstGeom>
          <a:noFill/>
        </p:spPr>
        <p:txBody>
          <a:bodyPr wrap="square" lIns="27432" rIns="27432" tIns="27432" bIns="27432" anchor="t">
            <a:spAutoFit/>
          </a:bodyPr>
          <a:lstStyle/>
          <a:p>
            <a:pPr algn="ctr"/>
            <a:r>
              <a:rPr sz="1200" b="1">
                <a:solidFill>
                  <a:srgbClr val="FCFAF5"/>
                </a:solidFill>
                <a:latin typeface="Aptos Display"/>
              </a:rPr>
              <a:t>Push volume</a:t>
            </a:r>
          </a:p>
        </p:txBody>
      </p:sp>
      <p:sp>
        <p:nvSpPr>
          <p:cNvPr id="45" name="TextBox 44"/>
          <p:cNvSpPr txBox="1"/>
          <p:nvPr/>
        </p:nvSpPr>
        <p:spPr>
          <a:xfrm>
            <a:off x="2450592" y="3163824"/>
            <a:ext cx="1143000" cy="365760"/>
          </a:xfrm>
          <a:prstGeom prst="rect">
            <a:avLst/>
          </a:prstGeom>
          <a:noFill/>
        </p:spPr>
        <p:txBody>
          <a:bodyPr wrap="square" lIns="27432" rIns="27432" tIns="27432" bIns="27432" anchor="t">
            <a:spAutoFit/>
          </a:bodyPr>
          <a:lstStyle/>
          <a:p>
            <a:pPr algn="l"/>
            <a:r>
              <a:rPr sz="1400" b="1">
                <a:solidFill>
                  <a:srgbClr val="355C47"/>
                </a:solidFill>
                <a:latin typeface="Aptos Display"/>
              </a:rPr>
              <a:t>Jan to May</a:t>
            </a:r>
          </a:p>
        </p:txBody>
      </p:sp>
      <p:sp>
        <p:nvSpPr>
          <p:cNvPr id="46" name="TextBox 45"/>
          <p:cNvSpPr txBox="1"/>
          <p:nvPr/>
        </p:nvSpPr>
        <p:spPr>
          <a:xfrm>
            <a:off x="3767328" y="3136392"/>
            <a:ext cx="4315968" cy="420624"/>
          </a:xfrm>
          <a:prstGeom prst="rect">
            <a:avLst/>
          </a:prstGeom>
          <a:noFill/>
        </p:spPr>
        <p:txBody>
          <a:bodyPr wrap="square" lIns="27432" rIns="27432" tIns="27432" bIns="27432" anchor="t">
            <a:spAutoFit/>
          </a:bodyPr>
          <a:lstStyle/>
          <a:p>
            <a:pPr algn="l"/>
            <a:r>
              <a:rPr sz="1200" b="0">
                <a:solidFill>
                  <a:srgbClr val="1F2621"/>
                </a:solidFill>
                <a:latin typeface="Aptos"/>
              </a:rPr>
              <a:t>Prioritize service, retailer availability, and clean flow while the market is naturally absorbing more units.</a:t>
            </a:r>
          </a:p>
        </p:txBody>
      </p:sp>
      <p:sp>
        <p:nvSpPr>
          <p:cNvPr id="47" name="TextBox 46"/>
          <p:cNvSpPr txBox="1"/>
          <p:nvPr/>
        </p:nvSpPr>
        <p:spPr>
          <a:xfrm>
            <a:off x="8412480" y="3136392"/>
            <a:ext cx="2697480" cy="420624"/>
          </a:xfrm>
          <a:prstGeom prst="rect">
            <a:avLst/>
          </a:prstGeom>
          <a:noFill/>
        </p:spPr>
        <p:txBody>
          <a:bodyPr wrap="square" lIns="27432" rIns="27432" tIns="27432" bIns="27432" anchor="t">
            <a:spAutoFit/>
          </a:bodyPr>
          <a:lstStyle/>
          <a:p>
            <a:pPr algn="l"/>
            <a:r>
              <a:rPr sz="1200" b="0">
                <a:solidFill>
                  <a:srgbClr val="1F2621"/>
                </a:solidFill>
                <a:latin typeface="Aptos"/>
              </a:rPr>
              <a:t>This is the best window to prove service quality before summer pricing peaks.</a:t>
            </a:r>
          </a:p>
        </p:txBody>
      </p:sp>
      <p:sp>
        <p:nvSpPr>
          <p:cNvPr id="48" name="Rounded Rectangle 47"/>
          <p:cNvSpPr/>
          <p:nvPr/>
        </p:nvSpPr>
        <p:spPr>
          <a:xfrm>
            <a:off x="914400" y="3822191"/>
            <a:ext cx="1298448" cy="530352"/>
          </a:xfrm>
          <a:prstGeom prst="roundRect">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87552" y="3941063"/>
            <a:ext cx="1133856" cy="164592"/>
          </a:xfrm>
          <a:prstGeom prst="rect">
            <a:avLst/>
          </a:prstGeom>
          <a:noFill/>
        </p:spPr>
        <p:txBody>
          <a:bodyPr wrap="square" lIns="27432" rIns="27432" tIns="27432" bIns="27432" anchor="t">
            <a:spAutoFit/>
          </a:bodyPr>
          <a:lstStyle/>
          <a:p>
            <a:pPr algn="ctr"/>
            <a:r>
              <a:rPr sz="1200" b="1">
                <a:solidFill>
                  <a:srgbClr val="FCFAF5"/>
                </a:solidFill>
                <a:latin typeface="Aptos Display"/>
              </a:rPr>
              <a:t>Protect margin</a:t>
            </a:r>
          </a:p>
        </p:txBody>
      </p:sp>
      <p:sp>
        <p:nvSpPr>
          <p:cNvPr id="50" name="TextBox 49"/>
          <p:cNvSpPr txBox="1"/>
          <p:nvPr/>
        </p:nvSpPr>
        <p:spPr>
          <a:xfrm>
            <a:off x="2450592" y="3895343"/>
            <a:ext cx="1143000" cy="365760"/>
          </a:xfrm>
          <a:prstGeom prst="rect">
            <a:avLst/>
          </a:prstGeom>
          <a:noFill/>
        </p:spPr>
        <p:txBody>
          <a:bodyPr wrap="square" lIns="27432" rIns="27432" tIns="27432" bIns="27432" anchor="t">
            <a:spAutoFit/>
          </a:bodyPr>
          <a:lstStyle/>
          <a:p>
            <a:pPr algn="l"/>
            <a:r>
              <a:rPr sz="1400" b="1">
                <a:solidFill>
                  <a:srgbClr val="C58A2A"/>
                </a:solidFill>
                <a:latin typeface="Aptos Display"/>
              </a:rPr>
              <a:t>Jul to Sep</a:t>
            </a:r>
          </a:p>
        </p:txBody>
      </p:sp>
      <p:sp>
        <p:nvSpPr>
          <p:cNvPr id="51" name="TextBox 50"/>
          <p:cNvSpPr txBox="1"/>
          <p:nvPr/>
        </p:nvSpPr>
        <p:spPr>
          <a:xfrm>
            <a:off x="3767328" y="3867911"/>
            <a:ext cx="4315968" cy="420624"/>
          </a:xfrm>
          <a:prstGeom prst="rect">
            <a:avLst/>
          </a:prstGeom>
          <a:noFill/>
        </p:spPr>
        <p:txBody>
          <a:bodyPr wrap="square" lIns="27432" rIns="27432" tIns="27432" bIns="27432" anchor="t">
            <a:spAutoFit/>
          </a:bodyPr>
          <a:lstStyle/>
          <a:p>
            <a:pPr algn="l"/>
            <a:r>
              <a:rPr sz="1200" b="0">
                <a:solidFill>
                  <a:srgbClr val="1F2621"/>
                </a:solidFill>
                <a:latin typeface="Aptos"/>
              </a:rPr>
              <a:t>Hold pricing discipline and allocate the strongest fruit to the highest-paying pilot markets.</a:t>
            </a:r>
          </a:p>
        </p:txBody>
      </p:sp>
      <p:sp>
        <p:nvSpPr>
          <p:cNvPr id="52" name="TextBox 51"/>
          <p:cNvSpPr txBox="1"/>
          <p:nvPr/>
        </p:nvSpPr>
        <p:spPr>
          <a:xfrm>
            <a:off x="8412480" y="3867911"/>
            <a:ext cx="2697480" cy="420624"/>
          </a:xfrm>
          <a:prstGeom prst="rect">
            <a:avLst/>
          </a:prstGeom>
          <a:noFill/>
        </p:spPr>
        <p:txBody>
          <a:bodyPr wrap="square" lIns="27432" rIns="27432" tIns="27432" bIns="27432" anchor="t">
            <a:spAutoFit/>
          </a:bodyPr>
          <a:lstStyle/>
          <a:p>
            <a:pPr algn="l"/>
            <a:r>
              <a:rPr sz="1200" b="0">
                <a:solidFill>
                  <a:srgbClr val="1F2621"/>
                </a:solidFill>
                <a:latin typeface="Aptos"/>
              </a:rPr>
              <a:t>Price support is strongest here, so margin capture matters more than raw throughput.</a:t>
            </a:r>
          </a:p>
        </p:txBody>
      </p:sp>
      <p:sp>
        <p:nvSpPr>
          <p:cNvPr id="53" name="Rounded Rectangle 52"/>
          <p:cNvSpPr/>
          <p:nvPr/>
        </p:nvSpPr>
        <p:spPr>
          <a:xfrm>
            <a:off x="914400" y="4553712"/>
            <a:ext cx="1298448" cy="530352"/>
          </a:xfrm>
          <a:prstGeom prst="roundRect">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87552" y="4672584"/>
            <a:ext cx="1133856" cy="164592"/>
          </a:xfrm>
          <a:prstGeom prst="rect">
            <a:avLst/>
          </a:prstGeom>
          <a:noFill/>
        </p:spPr>
        <p:txBody>
          <a:bodyPr wrap="square" lIns="27432" rIns="27432" tIns="27432" bIns="27432" anchor="t">
            <a:spAutoFit/>
          </a:bodyPr>
          <a:lstStyle/>
          <a:p>
            <a:pPr algn="ctr"/>
            <a:r>
              <a:rPr sz="1200" b="1">
                <a:solidFill>
                  <a:srgbClr val="FCFAF5"/>
                </a:solidFill>
                <a:latin typeface="Aptos Display"/>
              </a:rPr>
              <a:t>Stimulate demand</a:t>
            </a:r>
          </a:p>
        </p:txBody>
      </p:sp>
      <p:sp>
        <p:nvSpPr>
          <p:cNvPr id="55" name="TextBox 54"/>
          <p:cNvSpPr txBox="1"/>
          <p:nvPr/>
        </p:nvSpPr>
        <p:spPr>
          <a:xfrm>
            <a:off x="2450592" y="4626864"/>
            <a:ext cx="1143000" cy="365760"/>
          </a:xfrm>
          <a:prstGeom prst="rect">
            <a:avLst/>
          </a:prstGeom>
          <a:noFill/>
        </p:spPr>
        <p:txBody>
          <a:bodyPr wrap="square" lIns="27432" rIns="27432" tIns="27432" bIns="27432" anchor="t">
            <a:spAutoFit/>
          </a:bodyPr>
          <a:lstStyle/>
          <a:p>
            <a:pPr algn="l"/>
            <a:r>
              <a:rPr sz="1400" b="1">
                <a:solidFill>
                  <a:srgbClr val="3F728A"/>
                </a:solidFill>
                <a:latin typeface="Aptos Display"/>
              </a:rPr>
              <a:t>Nov to Feb</a:t>
            </a:r>
          </a:p>
        </p:txBody>
      </p:sp>
      <p:sp>
        <p:nvSpPr>
          <p:cNvPr id="56" name="TextBox 55"/>
          <p:cNvSpPr txBox="1"/>
          <p:nvPr/>
        </p:nvSpPr>
        <p:spPr>
          <a:xfrm>
            <a:off x="3767328" y="4599432"/>
            <a:ext cx="4315968" cy="420624"/>
          </a:xfrm>
          <a:prstGeom prst="rect">
            <a:avLst/>
          </a:prstGeom>
          <a:noFill/>
        </p:spPr>
        <p:txBody>
          <a:bodyPr wrap="square" lIns="27432" rIns="27432" tIns="27432" bIns="27432" anchor="t">
            <a:spAutoFit/>
          </a:bodyPr>
          <a:lstStyle/>
          <a:p>
            <a:pPr algn="l"/>
            <a:r>
              <a:rPr sz="1200" b="0">
                <a:solidFill>
                  <a:srgbClr val="1F2621"/>
                </a:solidFill>
                <a:latin typeface="Aptos"/>
              </a:rPr>
              <a:t>Use promotions, alternate channels, and tighter inventory planning when both types soften.</a:t>
            </a:r>
          </a:p>
        </p:txBody>
      </p:sp>
      <p:sp>
        <p:nvSpPr>
          <p:cNvPr id="57" name="TextBox 56"/>
          <p:cNvSpPr txBox="1"/>
          <p:nvPr/>
        </p:nvSpPr>
        <p:spPr>
          <a:xfrm>
            <a:off x="8412480" y="4599432"/>
            <a:ext cx="2697480" cy="420624"/>
          </a:xfrm>
          <a:prstGeom prst="rect">
            <a:avLst/>
          </a:prstGeom>
          <a:noFill/>
        </p:spPr>
        <p:txBody>
          <a:bodyPr wrap="square" lIns="27432" rIns="27432" tIns="27432" bIns="27432" anchor="t">
            <a:spAutoFit/>
          </a:bodyPr>
          <a:lstStyle/>
          <a:p>
            <a:pPr algn="l"/>
            <a:r>
              <a:rPr sz="1200" b="0">
                <a:solidFill>
                  <a:srgbClr val="1F2621"/>
                </a:solidFill>
                <a:latin typeface="Aptos"/>
              </a:rPr>
              <a:t>Low-demand months require commercial support so the pilot does not confuse seasonality with weak economics.</a:t>
            </a:r>
          </a:p>
        </p:txBody>
      </p:sp>
      <p:sp>
        <p:nvSpPr>
          <p:cNvPr id="58" name="TextBox 57"/>
          <p:cNvSpPr txBox="1"/>
          <p:nvPr/>
        </p:nvSpPr>
        <p:spPr>
          <a:xfrm>
            <a:off x="749808" y="5650992"/>
            <a:ext cx="10149840" cy="201168"/>
          </a:xfrm>
          <a:prstGeom prst="rect">
            <a:avLst/>
          </a:prstGeom>
          <a:noFill/>
        </p:spPr>
        <p:txBody>
          <a:bodyPr wrap="square" lIns="27432" rIns="27432" tIns="27432" bIns="27432" anchor="t">
            <a:spAutoFit/>
          </a:bodyPr>
          <a:lstStyle/>
          <a:p>
            <a:pPr algn="l"/>
            <a:r>
              <a:rPr sz="1200" b="0">
                <a:solidFill>
                  <a:srgbClr val="5F6B63"/>
                </a:solidFill>
                <a:latin typeface="Aptos"/>
              </a:rPr>
              <a:t>Management implication: the pilot should be judged against the right seasonal job each month, not against a flat annual operating assumption.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55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46920" y="0"/>
            <a:ext cx="2542032" cy="73152"/>
          </a:xfrm>
          <a:prstGeom prst="rect">
            <a:avLst/>
          </a:prstGeom>
          <a:solidFill>
            <a:srgbClr val="C58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01168"/>
            <a:ext cx="1554480" cy="256032"/>
          </a:xfrm>
          <a:prstGeom prst="roundRect">
            <a:avLst/>
          </a:prstGeom>
          <a:solidFill>
            <a:srgbClr val="FCFAF5"/>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224028"/>
            <a:ext cx="1517904" cy="182880"/>
          </a:xfrm>
          <a:prstGeom prst="rect">
            <a:avLst/>
          </a:prstGeom>
          <a:noFill/>
        </p:spPr>
        <p:txBody>
          <a:bodyPr wrap="square" lIns="27432" rIns="27432" tIns="27432" bIns="27432" anchor="t">
            <a:spAutoFit/>
          </a:bodyPr>
          <a:lstStyle/>
          <a:p>
            <a:pPr algn="ctr"/>
            <a:r>
              <a:rPr sz="1000" b="1">
                <a:solidFill>
                  <a:srgbClr val="355C47"/>
                </a:solidFill>
                <a:latin typeface="Aptos"/>
              </a:rPr>
              <a:t>SEASONALITY</a:t>
            </a:r>
          </a:p>
        </p:txBody>
      </p:sp>
      <p:sp>
        <p:nvSpPr>
          <p:cNvPr id="7" name="Rounded Rectangle 6"/>
          <p:cNvSpPr/>
          <p:nvPr/>
        </p:nvSpPr>
        <p:spPr>
          <a:xfrm>
            <a:off x="2267712" y="201168"/>
            <a:ext cx="713232" cy="256032"/>
          </a:xfrm>
          <a:prstGeom prst="roundRect">
            <a:avLst/>
          </a:prstGeom>
          <a:solidFill>
            <a:srgbClr val="FFFDF9"/>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0" y="224028"/>
            <a:ext cx="676656" cy="182880"/>
          </a:xfrm>
          <a:prstGeom prst="rect">
            <a:avLst/>
          </a:prstGeom>
          <a:noFill/>
        </p:spPr>
        <p:txBody>
          <a:bodyPr wrap="square" lIns="27432" rIns="27432" tIns="27432" bIns="27432" anchor="t">
            <a:spAutoFit/>
          </a:bodyPr>
          <a:lstStyle/>
          <a:p>
            <a:pPr algn="ctr"/>
            <a:r>
              <a:rPr sz="1000" b="1">
                <a:solidFill>
                  <a:srgbClr val="C58A2A"/>
                </a:solidFill>
                <a:latin typeface="Aptos"/>
              </a:rPr>
              <a:t>Q9</a:t>
            </a:r>
          </a:p>
        </p:txBody>
      </p:sp>
      <p:sp>
        <p:nvSpPr>
          <p:cNvPr id="9" name="TextBox 8"/>
          <p:cNvSpPr txBox="1"/>
          <p:nvPr/>
        </p:nvSpPr>
        <p:spPr>
          <a:xfrm>
            <a:off x="11631168" y="6519672"/>
            <a:ext cx="274320" cy="164592"/>
          </a:xfrm>
          <a:prstGeom prst="rect">
            <a:avLst/>
          </a:prstGeom>
          <a:noFill/>
        </p:spPr>
        <p:txBody>
          <a:bodyPr wrap="square" lIns="27432" rIns="27432" tIns="27432" bIns="27432" anchor="t">
            <a:spAutoFit/>
          </a:bodyPr>
          <a:lstStyle/>
          <a:p>
            <a:pPr algn="r"/>
            <a:r>
              <a:rPr sz="900" b="0">
                <a:solidFill>
                  <a:srgbClr val="5F6B63"/>
                </a:solidFill>
                <a:latin typeface="Aptos"/>
              </a:rPr>
              <a:t>22</a:t>
            </a:r>
          </a:p>
        </p:txBody>
      </p:sp>
      <p:sp>
        <p:nvSpPr>
          <p:cNvPr id="10" name="Rounded Rectangle 9"/>
          <p:cNvSpPr/>
          <p:nvPr/>
        </p:nvSpPr>
        <p:spPr>
          <a:xfrm>
            <a:off x="10241280" y="256032"/>
            <a:ext cx="1280160" cy="274320"/>
          </a:xfrm>
          <a:prstGeom prst="roundRect">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59568" y="260604"/>
            <a:ext cx="1243584" cy="219456"/>
          </a:xfrm>
          <a:prstGeom prst="rect">
            <a:avLst/>
          </a:prstGeom>
          <a:noFill/>
        </p:spPr>
        <p:txBody>
          <a:bodyPr wrap="square" lIns="27432" rIns="27432" tIns="27432" bIns="27432" anchor="ctr">
            <a:spAutoFit/>
          </a:bodyPr>
          <a:lstStyle/>
          <a:p>
            <a:pPr algn="ctr"/>
            <a:r>
              <a:rPr sz="1100" b="1">
                <a:solidFill>
                  <a:srgbClr val="FCFAF5"/>
                </a:solidFill>
                <a:latin typeface="Aptos"/>
              </a:rPr>
              <a:t>INFERENCE</a:t>
            </a:r>
          </a:p>
        </p:txBody>
      </p:sp>
      <p:sp>
        <p:nvSpPr>
          <p:cNvPr id="12" name="TextBox 11"/>
          <p:cNvSpPr txBox="1"/>
          <p:nvPr/>
        </p:nvSpPr>
        <p:spPr>
          <a:xfrm>
            <a:off x="548640" y="658368"/>
            <a:ext cx="10332720" cy="868680"/>
          </a:xfrm>
          <a:prstGeom prst="rect">
            <a:avLst/>
          </a:prstGeom>
          <a:noFill/>
        </p:spPr>
        <p:txBody>
          <a:bodyPr wrap="square" lIns="27432" rIns="27432" tIns="27432" bIns="27432" anchor="t">
            <a:spAutoFit/>
          </a:bodyPr>
          <a:lstStyle/>
          <a:p>
            <a:pPr algn="l"/>
            <a:r>
              <a:rPr sz="2700" b="1">
                <a:solidFill>
                  <a:srgbClr val="355C47"/>
                </a:solidFill>
                <a:latin typeface="Aptos Display"/>
              </a:rPr>
              <a:t>Seasonality requires three distinct operating postures</a:t>
            </a:r>
          </a:p>
        </p:txBody>
      </p:sp>
      <p:sp>
        <p:nvSpPr>
          <p:cNvPr id="13" name="Rounded Rectangle 12"/>
          <p:cNvSpPr/>
          <p:nvPr/>
        </p:nvSpPr>
        <p:spPr>
          <a:xfrm>
            <a:off x="713232" y="1627632"/>
            <a:ext cx="10808208" cy="4425696"/>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212848" y="1883664"/>
            <a:ext cx="512064" cy="146304"/>
          </a:xfrm>
          <a:prstGeom prst="rect">
            <a:avLst/>
          </a:prstGeom>
          <a:noFill/>
        </p:spPr>
        <p:txBody>
          <a:bodyPr wrap="square" lIns="27432" rIns="27432" tIns="27432" bIns="27432" anchor="t">
            <a:spAutoFit/>
          </a:bodyPr>
          <a:lstStyle/>
          <a:p>
            <a:pPr algn="ctr"/>
            <a:r>
              <a:rPr sz="1000" b="1">
                <a:solidFill>
                  <a:srgbClr val="5F6B63"/>
                </a:solidFill>
                <a:latin typeface="Aptos"/>
              </a:rPr>
              <a:t>Jan</a:t>
            </a:r>
          </a:p>
        </p:txBody>
      </p:sp>
      <p:sp>
        <p:nvSpPr>
          <p:cNvPr id="15" name="TextBox 14"/>
          <p:cNvSpPr txBox="1"/>
          <p:nvPr/>
        </p:nvSpPr>
        <p:spPr>
          <a:xfrm>
            <a:off x="2834640" y="1883664"/>
            <a:ext cx="512064" cy="146304"/>
          </a:xfrm>
          <a:prstGeom prst="rect">
            <a:avLst/>
          </a:prstGeom>
          <a:noFill/>
        </p:spPr>
        <p:txBody>
          <a:bodyPr wrap="square" lIns="27432" rIns="27432" tIns="27432" bIns="27432" anchor="t">
            <a:spAutoFit/>
          </a:bodyPr>
          <a:lstStyle/>
          <a:p>
            <a:pPr algn="ctr"/>
            <a:r>
              <a:rPr sz="1000" b="1">
                <a:solidFill>
                  <a:srgbClr val="5F6B63"/>
                </a:solidFill>
                <a:latin typeface="Aptos"/>
              </a:rPr>
              <a:t>Feb</a:t>
            </a:r>
          </a:p>
        </p:txBody>
      </p:sp>
      <p:sp>
        <p:nvSpPr>
          <p:cNvPr id="16" name="TextBox 15"/>
          <p:cNvSpPr txBox="1"/>
          <p:nvPr/>
        </p:nvSpPr>
        <p:spPr>
          <a:xfrm>
            <a:off x="3456432" y="1883664"/>
            <a:ext cx="512064" cy="146304"/>
          </a:xfrm>
          <a:prstGeom prst="rect">
            <a:avLst/>
          </a:prstGeom>
          <a:noFill/>
        </p:spPr>
        <p:txBody>
          <a:bodyPr wrap="square" lIns="27432" rIns="27432" tIns="27432" bIns="27432" anchor="t">
            <a:spAutoFit/>
          </a:bodyPr>
          <a:lstStyle/>
          <a:p>
            <a:pPr algn="ctr"/>
            <a:r>
              <a:rPr sz="1000" b="1">
                <a:solidFill>
                  <a:srgbClr val="5F6B63"/>
                </a:solidFill>
                <a:latin typeface="Aptos"/>
              </a:rPr>
              <a:t>Mar</a:t>
            </a:r>
          </a:p>
        </p:txBody>
      </p:sp>
      <p:sp>
        <p:nvSpPr>
          <p:cNvPr id="17" name="TextBox 16"/>
          <p:cNvSpPr txBox="1"/>
          <p:nvPr/>
        </p:nvSpPr>
        <p:spPr>
          <a:xfrm>
            <a:off x="4078224" y="1883664"/>
            <a:ext cx="512064" cy="146304"/>
          </a:xfrm>
          <a:prstGeom prst="rect">
            <a:avLst/>
          </a:prstGeom>
          <a:noFill/>
        </p:spPr>
        <p:txBody>
          <a:bodyPr wrap="square" lIns="27432" rIns="27432" tIns="27432" bIns="27432" anchor="t">
            <a:spAutoFit/>
          </a:bodyPr>
          <a:lstStyle/>
          <a:p>
            <a:pPr algn="ctr"/>
            <a:r>
              <a:rPr sz="1000" b="1">
                <a:solidFill>
                  <a:srgbClr val="5F6B63"/>
                </a:solidFill>
                <a:latin typeface="Aptos"/>
              </a:rPr>
              <a:t>Apr</a:t>
            </a:r>
          </a:p>
        </p:txBody>
      </p:sp>
      <p:sp>
        <p:nvSpPr>
          <p:cNvPr id="18" name="TextBox 17"/>
          <p:cNvSpPr txBox="1"/>
          <p:nvPr/>
        </p:nvSpPr>
        <p:spPr>
          <a:xfrm>
            <a:off x="4700016" y="1883664"/>
            <a:ext cx="512064" cy="146304"/>
          </a:xfrm>
          <a:prstGeom prst="rect">
            <a:avLst/>
          </a:prstGeom>
          <a:noFill/>
        </p:spPr>
        <p:txBody>
          <a:bodyPr wrap="square" lIns="27432" rIns="27432" tIns="27432" bIns="27432" anchor="t">
            <a:spAutoFit/>
          </a:bodyPr>
          <a:lstStyle/>
          <a:p>
            <a:pPr algn="ctr"/>
            <a:r>
              <a:rPr sz="1000" b="1">
                <a:solidFill>
                  <a:srgbClr val="5F6B63"/>
                </a:solidFill>
                <a:latin typeface="Aptos"/>
              </a:rPr>
              <a:t>May</a:t>
            </a:r>
          </a:p>
        </p:txBody>
      </p:sp>
      <p:sp>
        <p:nvSpPr>
          <p:cNvPr id="19" name="TextBox 18"/>
          <p:cNvSpPr txBox="1"/>
          <p:nvPr/>
        </p:nvSpPr>
        <p:spPr>
          <a:xfrm>
            <a:off x="5321808" y="1883664"/>
            <a:ext cx="512064" cy="146304"/>
          </a:xfrm>
          <a:prstGeom prst="rect">
            <a:avLst/>
          </a:prstGeom>
          <a:noFill/>
        </p:spPr>
        <p:txBody>
          <a:bodyPr wrap="square" lIns="27432" rIns="27432" tIns="27432" bIns="27432" anchor="t">
            <a:spAutoFit/>
          </a:bodyPr>
          <a:lstStyle/>
          <a:p>
            <a:pPr algn="ctr"/>
            <a:r>
              <a:rPr sz="1000" b="1">
                <a:solidFill>
                  <a:srgbClr val="5F6B63"/>
                </a:solidFill>
                <a:latin typeface="Aptos"/>
              </a:rPr>
              <a:t>Jun</a:t>
            </a:r>
          </a:p>
        </p:txBody>
      </p:sp>
      <p:sp>
        <p:nvSpPr>
          <p:cNvPr id="20" name="TextBox 19"/>
          <p:cNvSpPr txBox="1"/>
          <p:nvPr/>
        </p:nvSpPr>
        <p:spPr>
          <a:xfrm>
            <a:off x="5943600" y="1883664"/>
            <a:ext cx="512064" cy="146304"/>
          </a:xfrm>
          <a:prstGeom prst="rect">
            <a:avLst/>
          </a:prstGeom>
          <a:noFill/>
        </p:spPr>
        <p:txBody>
          <a:bodyPr wrap="square" lIns="27432" rIns="27432" tIns="27432" bIns="27432" anchor="t">
            <a:spAutoFit/>
          </a:bodyPr>
          <a:lstStyle/>
          <a:p>
            <a:pPr algn="ctr"/>
            <a:r>
              <a:rPr sz="1000" b="1">
                <a:solidFill>
                  <a:srgbClr val="5F6B63"/>
                </a:solidFill>
                <a:latin typeface="Aptos"/>
              </a:rPr>
              <a:t>Jul</a:t>
            </a:r>
          </a:p>
        </p:txBody>
      </p:sp>
      <p:sp>
        <p:nvSpPr>
          <p:cNvPr id="21" name="TextBox 20"/>
          <p:cNvSpPr txBox="1"/>
          <p:nvPr/>
        </p:nvSpPr>
        <p:spPr>
          <a:xfrm>
            <a:off x="6565392" y="1883664"/>
            <a:ext cx="512064" cy="146304"/>
          </a:xfrm>
          <a:prstGeom prst="rect">
            <a:avLst/>
          </a:prstGeom>
          <a:noFill/>
        </p:spPr>
        <p:txBody>
          <a:bodyPr wrap="square" lIns="27432" rIns="27432" tIns="27432" bIns="27432" anchor="t">
            <a:spAutoFit/>
          </a:bodyPr>
          <a:lstStyle/>
          <a:p>
            <a:pPr algn="ctr"/>
            <a:r>
              <a:rPr sz="1000" b="1">
                <a:solidFill>
                  <a:srgbClr val="5F6B63"/>
                </a:solidFill>
                <a:latin typeface="Aptos"/>
              </a:rPr>
              <a:t>Aug</a:t>
            </a:r>
          </a:p>
        </p:txBody>
      </p:sp>
      <p:sp>
        <p:nvSpPr>
          <p:cNvPr id="22" name="TextBox 21"/>
          <p:cNvSpPr txBox="1"/>
          <p:nvPr/>
        </p:nvSpPr>
        <p:spPr>
          <a:xfrm>
            <a:off x="7187184" y="1883664"/>
            <a:ext cx="512064" cy="146304"/>
          </a:xfrm>
          <a:prstGeom prst="rect">
            <a:avLst/>
          </a:prstGeom>
          <a:noFill/>
        </p:spPr>
        <p:txBody>
          <a:bodyPr wrap="square" lIns="27432" rIns="27432" tIns="27432" bIns="27432" anchor="t">
            <a:spAutoFit/>
          </a:bodyPr>
          <a:lstStyle/>
          <a:p>
            <a:pPr algn="ctr"/>
            <a:r>
              <a:rPr sz="1000" b="1">
                <a:solidFill>
                  <a:srgbClr val="5F6B63"/>
                </a:solidFill>
                <a:latin typeface="Aptos"/>
              </a:rPr>
              <a:t>Sep</a:t>
            </a:r>
          </a:p>
        </p:txBody>
      </p:sp>
      <p:sp>
        <p:nvSpPr>
          <p:cNvPr id="23" name="TextBox 22"/>
          <p:cNvSpPr txBox="1"/>
          <p:nvPr/>
        </p:nvSpPr>
        <p:spPr>
          <a:xfrm>
            <a:off x="7808976" y="1883664"/>
            <a:ext cx="512064" cy="146304"/>
          </a:xfrm>
          <a:prstGeom prst="rect">
            <a:avLst/>
          </a:prstGeom>
          <a:noFill/>
        </p:spPr>
        <p:txBody>
          <a:bodyPr wrap="square" lIns="27432" rIns="27432" tIns="27432" bIns="27432" anchor="t">
            <a:spAutoFit/>
          </a:bodyPr>
          <a:lstStyle/>
          <a:p>
            <a:pPr algn="ctr"/>
            <a:r>
              <a:rPr sz="1000" b="1">
                <a:solidFill>
                  <a:srgbClr val="5F6B63"/>
                </a:solidFill>
                <a:latin typeface="Aptos"/>
              </a:rPr>
              <a:t>Oct</a:t>
            </a:r>
          </a:p>
        </p:txBody>
      </p:sp>
      <p:sp>
        <p:nvSpPr>
          <p:cNvPr id="24" name="TextBox 23"/>
          <p:cNvSpPr txBox="1"/>
          <p:nvPr/>
        </p:nvSpPr>
        <p:spPr>
          <a:xfrm>
            <a:off x="8430768" y="1883664"/>
            <a:ext cx="512064" cy="146304"/>
          </a:xfrm>
          <a:prstGeom prst="rect">
            <a:avLst/>
          </a:prstGeom>
          <a:noFill/>
        </p:spPr>
        <p:txBody>
          <a:bodyPr wrap="square" lIns="27432" rIns="27432" tIns="27432" bIns="27432" anchor="t">
            <a:spAutoFit/>
          </a:bodyPr>
          <a:lstStyle/>
          <a:p>
            <a:pPr algn="ctr"/>
            <a:r>
              <a:rPr sz="1000" b="1">
                <a:solidFill>
                  <a:srgbClr val="5F6B63"/>
                </a:solidFill>
                <a:latin typeface="Aptos"/>
              </a:rPr>
              <a:t>Nov</a:t>
            </a:r>
          </a:p>
        </p:txBody>
      </p:sp>
      <p:sp>
        <p:nvSpPr>
          <p:cNvPr id="25" name="TextBox 24"/>
          <p:cNvSpPr txBox="1"/>
          <p:nvPr/>
        </p:nvSpPr>
        <p:spPr>
          <a:xfrm>
            <a:off x="9052560" y="1883664"/>
            <a:ext cx="512064" cy="146304"/>
          </a:xfrm>
          <a:prstGeom prst="rect">
            <a:avLst/>
          </a:prstGeom>
          <a:noFill/>
        </p:spPr>
        <p:txBody>
          <a:bodyPr wrap="square" lIns="27432" rIns="27432" tIns="27432" bIns="27432" anchor="t">
            <a:spAutoFit/>
          </a:bodyPr>
          <a:lstStyle/>
          <a:p>
            <a:pPr algn="ctr"/>
            <a:r>
              <a:rPr sz="1000" b="1">
                <a:solidFill>
                  <a:srgbClr val="5F6B63"/>
                </a:solidFill>
                <a:latin typeface="Aptos"/>
              </a:rPr>
              <a:t>Dec</a:t>
            </a:r>
          </a:p>
        </p:txBody>
      </p:sp>
      <p:sp>
        <p:nvSpPr>
          <p:cNvPr id="26" name="TextBox 25"/>
          <p:cNvSpPr txBox="1"/>
          <p:nvPr/>
        </p:nvSpPr>
        <p:spPr>
          <a:xfrm>
            <a:off x="914400" y="2542032"/>
            <a:ext cx="1078992" cy="164592"/>
          </a:xfrm>
          <a:prstGeom prst="rect">
            <a:avLst/>
          </a:prstGeom>
          <a:noFill/>
        </p:spPr>
        <p:txBody>
          <a:bodyPr wrap="square" lIns="27432" rIns="27432" tIns="27432" bIns="27432" anchor="t">
            <a:spAutoFit/>
          </a:bodyPr>
          <a:lstStyle/>
          <a:p>
            <a:pPr algn="l"/>
            <a:r>
              <a:rPr sz="1000" b="1">
                <a:solidFill>
                  <a:srgbClr val="5F6B63"/>
                </a:solidFill>
                <a:latin typeface="Aptos"/>
              </a:rPr>
              <a:t>PUSH VOLUME</a:t>
            </a:r>
          </a:p>
        </p:txBody>
      </p:sp>
      <p:sp>
        <p:nvSpPr>
          <p:cNvPr id="27" name="TextBox 26"/>
          <p:cNvSpPr txBox="1"/>
          <p:nvPr/>
        </p:nvSpPr>
        <p:spPr>
          <a:xfrm>
            <a:off x="914400" y="2761488"/>
            <a:ext cx="1078992" cy="201168"/>
          </a:xfrm>
          <a:prstGeom prst="rect">
            <a:avLst/>
          </a:prstGeom>
          <a:noFill/>
        </p:spPr>
        <p:txBody>
          <a:bodyPr wrap="square" lIns="27432" rIns="27432" tIns="27432" bIns="27432" anchor="t">
            <a:spAutoFit/>
          </a:bodyPr>
          <a:lstStyle/>
          <a:p>
            <a:pPr algn="l"/>
            <a:r>
              <a:rPr sz="1400" b="1">
                <a:solidFill>
                  <a:srgbClr val="355C47"/>
                </a:solidFill>
                <a:latin typeface="Aptos Display"/>
              </a:rPr>
              <a:t>Jan-May</a:t>
            </a:r>
          </a:p>
        </p:txBody>
      </p:sp>
      <p:sp>
        <p:nvSpPr>
          <p:cNvPr id="28" name="Rounded Rectangle 27"/>
          <p:cNvSpPr/>
          <p:nvPr/>
        </p:nvSpPr>
        <p:spPr>
          <a:xfrm>
            <a:off x="2212848" y="2651760"/>
            <a:ext cx="7479792" cy="274320"/>
          </a:xfrm>
          <a:prstGeom prst="roundRect">
            <a:avLst/>
          </a:prstGeom>
          <a:solidFill>
            <a:srgbClr val="F7F3EC"/>
          </a:solidFill>
          <a:ln>
            <a:solidFill>
              <a:srgbClr val="F7F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2212848" y="2651760"/>
            <a:ext cx="3072384" cy="274320"/>
          </a:xfrm>
          <a:prstGeom prst="roundRect">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985248" y="2542032"/>
            <a:ext cx="1024128" cy="384048"/>
          </a:xfrm>
          <a:prstGeom prst="rect">
            <a:avLst/>
          </a:prstGeom>
          <a:noFill/>
        </p:spPr>
        <p:txBody>
          <a:bodyPr wrap="square" lIns="27432" rIns="27432" tIns="27432" bIns="27432" anchor="t">
            <a:spAutoFit/>
          </a:bodyPr>
          <a:lstStyle/>
          <a:p>
            <a:pPr algn="l"/>
            <a:r>
              <a:rPr sz="1000" b="0">
                <a:solidFill>
                  <a:srgbClr val="1F2621"/>
                </a:solidFill>
                <a:latin typeface="Aptos"/>
              </a:rPr>
              <a:t>Keep shelves full while baseline demand is strongest.</a:t>
            </a:r>
          </a:p>
        </p:txBody>
      </p:sp>
      <p:sp>
        <p:nvSpPr>
          <p:cNvPr id="31" name="TextBox 30"/>
          <p:cNvSpPr txBox="1"/>
          <p:nvPr/>
        </p:nvSpPr>
        <p:spPr>
          <a:xfrm>
            <a:off x="914400" y="3529584"/>
            <a:ext cx="1078992" cy="164592"/>
          </a:xfrm>
          <a:prstGeom prst="rect">
            <a:avLst/>
          </a:prstGeom>
          <a:noFill/>
        </p:spPr>
        <p:txBody>
          <a:bodyPr wrap="square" lIns="27432" rIns="27432" tIns="27432" bIns="27432" anchor="t">
            <a:spAutoFit/>
          </a:bodyPr>
          <a:lstStyle/>
          <a:p>
            <a:pPr algn="l"/>
            <a:r>
              <a:rPr sz="1000" b="1">
                <a:solidFill>
                  <a:srgbClr val="5F6B63"/>
                </a:solidFill>
                <a:latin typeface="Aptos"/>
              </a:rPr>
              <a:t>PROTECT MARGIN</a:t>
            </a:r>
          </a:p>
        </p:txBody>
      </p:sp>
      <p:sp>
        <p:nvSpPr>
          <p:cNvPr id="32" name="TextBox 31"/>
          <p:cNvSpPr txBox="1"/>
          <p:nvPr/>
        </p:nvSpPr>
        <p:spPr>
          <a:xfrm>
            <a:off x="914400" y="3749040"/>
            <a:ext cx="1078992" cy="201168"/>
          </a:xfrm>
          <a:prstGeom prst="rect">
            <a:avLst/>
          </a:prstGeom>
          <a:noFill/>
        </p:spPr>
        <p:txBody>
          <a:bodyPr wrap="square" lIns="27432" rIns="27432" tIns="27432" bIns="27432" anchor="t">
            <a:spAutoFit/>
          </a:bodyPr>
          <a:lstStyle/>
          <a:p>
            <a:pPr algn="l"/>
            <a:r>
              <a:rPr sz="1400" b="1">
                <a:solidFill>
                  <a:srgbClr val="C58A2A"/>
                </a:solidFill>
                <a:latin typeface="Aptos Display"/>
              </a:rPr>
              <a:t>Jul-Sep</a:t>
            </a:r>
          </a:p>
        </p:txBody>
      </p:sp>
      <p:sp>
        <p:nvSpPr>
          <p:cNvPr id="33" name="Rounded Rectangle 32"/>
          <p:cNvSpPr/>
          <p:nvPr/>
        </p:nvSpPr>
        <p:spPr>
          <a:xfrm>
            <a:off x="2212848" y="3639312"/>
            <a:ext cx="7479792" cy="274320"/>
          </a:xfrm>
          <a:prstGeom prst="roundRect">
            <a:avLst/>
          </a:prstGeom>
          <a:solidFill>
            <a:srgbClr val="F7F3EC"/>
          </a:solidFill>
          <a:ln>
            <a:solidFill>
              <a:srgbClr val="F7F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943600" y="3639312"/>
            <a:ext cx="1828800" cy="274320"/>
          </a:xfrm>
          <a:prstGeom prst="roundRect">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985248" y="3529584"/>
            <a:ext cx="1024128" cy="384048"/>
          </a:xfrm>
          <a:prstGeom prst="rect">
            <a:avLst/>
          </a:prstGeom>
          <a:noFill/>
        </p:spPr>
        <p:txBody>
          <a:bodyPr wrap="square" lIns="27432" rIns="27432" tIns="27432" bIns="27432" anchor="t">
            <a:spAutoFit/>
          </a:bodyPr>
          <a:lstStyle/>
          <a:p>
            <a:pPr algn="l"/>
            <a:r>
              <a:rPr sz="1000" b="0">
                <a:solidFill>
                  <a:srgbClr val="1F2621"/>
                </a:solidFill>
                <a:latin typeface="Aptos"/>
              </a:rPr>
              <a:t>Hold price in the summer premium window.</a:t>
            </a:r>
          </a:p>
        </p:txBody>
      </p:sp>
      <p:sp>
        <p:nvSpPr>
          <p:cNvPr id="36" name="TextBox 35"/>
          <p:cNvSpPr txBox="1"/>
          <p:nvPr/>
        </p:nvSpPr>
        <p:spPr>
          <a:xfrm>
            <a:off x="914400" y="4517136"/>
            <a:ext cx="1078992" cy="164592"/>
          </a:xfrm>
          <a:prstGeom prst="rect">
            <a:avLst/>
          </a:prstGeom>
          <a:noFill/>
        </p:spPr>
        <p:txBody>
          <a:bodyPr wrap="square" lIns="27432" rIns="27432" tIns="27432" bIns="27432" anchor="t">
            <a:spAutoFit/>
          </a:bodyPr>
          <a:lstStyle/>
          <a:p>
            <a:pPr algn="l"/>
            <a:r>
              <a:rPr sz="1000" b="1">
                <a:solidFill>
                  <a:srgbClr val="5F6B63"/>
                </a:solidFill>
                <a:latin typeface="Aptos"/>
              </a:rPr>
              <a:t>STIMULATE DEMAND</a:t>
            </a:r>
          </a:p>
        </p:txBody>
      </p:sp>
      <p:sp>
        <p:nvSpPr>
          <p:cNvPr id="37" name="TextBox 36"/>
          <p:cNvSpPr txBox="1"/>
          <p:nvPr/>
        </p:nvSpPr>
        <p:spPr>
          <a:xfrm>
            <a:off x="914400" y="4736592"/>
            <a:ext cx="1078992" cy="201168"/>
          </a:xfrm>
          <a:prstGeom prst="rect">
            <a:avLst/>
          </a:prstGeom>
          <a:noFill/>
        </p:spPr>
        <p:txBody>
          <a:bodyPr wrap="square" lIns="27432" rIns="27432" tIns="27432" bIns="27432" anchor="t">
            <a:spAutoFit/>
          </a:bodyPr>
          <a:lstStyle/>
          <a:p>
            <a:pPr algn="l"/>
            <a:r>
              <a:rPr sz="1400" b="1">
                <a:solidFill>
                  <a:srgbClr val="3F728A"/>
                </a:solidFill>
                <a:latin typeface="Aptos Display"/>
              </a:rPr>
              <a:t>Nov-Feb</a:t>
            </a:r>
          </a:p>
        </p:txBody>
      </p:sp>
      <p:sp>
        <p:nvSpPr>
          <p:cNvPr id="38" name="Rounded Rectangle 37"/>
          <p:cNvSpPr/>
          <p:nvPr/>
        </p:nvSpPr>
        <p:spPr>
          <a:xfrm>
            <a:off x="2212848" y="4626864"/>
            <a:ext cx="7479792" cy="274320"/>
          </a:xfrm>
          <a:prstGeom prst="roundRect">
            <a:avLst/>
          </a:prstGeom>
          <a:solidFill>
            <a:srgbClr val="F7F3EC"/>
          </a:solidFill>
          <a:ln>
            <a:solidFill>
              <a:srgbClr val="F7F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8430768" y="4626864"/>
            <a:ext cx="1207008" cy="274320"/>
          </a:xfrm>
          <a:prstGeom prst="roundRect">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2212848" y="4626864"/>
            <a:ext cx="1207008" cy="274320"/>
          </a:xfrm>
          <a:prstGeom prst="roundRect">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985248" y="4517136"/>
            <a:ext cx="1024128" cy="384048"/>
          </a:xfrm>
          <a:prstGeom prst="rect">
            <a:avLst/>
          </a:prstGeom>
          <a:noFill/>
        </p:spPr>
        <p:txBody>
          <a:bodyPr wrap="square" lIns="27432" rIns="27432" tIns="27432" bIns="27432" anchor="t">
            <a:spAutoFit/>
          </a:bodyPr>
          <a:lstStyle/>
          <a:p>
            <a:pPr algn="l"/>
            <a:r>
              <a:rPr sz="1000" b="0">
                <a:solidFill>
                  <a:srgbClr val="1F2621"/>
                </a:solidFill>
                <a:latin typeface="Aptos"/>
              </a:rPr>
              <a:t>Use trade support when demand and price soften.</a:t>
            </a:r>
          </a:p>
        </p:txBody>
      </p:sp>
      <p:sp>
        <p:nvSpPr>
          <p:cNvPr id="42" name="Rounded Rectangle 41"/>
          <p:cNvSpPr/>
          <p:nvPr/>
        </p:nvSpPr>
        <p:spPr>
          <a:xfrm>
            <a:off x="896112" y="5468112"/>
            <a:ext cx="10515600" cy="530352"/>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1024128" y="5577840"/>
            <a:ext cx="1051560" cy="310896"/>
          </a:xfrm>
          <a:prstGeom prst="roundRect">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78992" y="5632704"/>
            <a:ext cx="941832" cy="201168"/>
          </a:xfrm>
          <a:prstGeom prst="rect">
            <a:avLst/>
          </a:prstGeom>
          <a:noFill/>
        </p:spPr>
        <p:txBody>
          <a:bodyPr wrap="square" lIns="27432" rIns="27432" tIns="27432" bIns="27432" anchor="ctr">
            <a:spAutoFit/>
          </a:bodyPr>
          <a:lstStyle/>
          <a:p>
            <a:pPr algn="ctr"/>
            <a:r>
              <a:rPr sz="1000" b="1">
                <a:solidFill>
                  <a:srgbClr val="FCFAF5"/>
                </a:solidFill>
                <a:latin typeface="Aptos"/>
              </a:rPr>
              <a:t>TAKEAWAY</a:t>
            </a:r>
          </a:p>
        </p:txBody>
      </p:sp>
      <p:sp>
        <p:nvSpPr>
          <p:cNvPr id="45" name="TextBox 44"/>
          <p:cNvSpPr txBox="1"/>
          <p:nvPr/>
        </p:nvSpPr>
        <p:spPr>
          <a:xfrm>
            <a:off x="2267712" y="5559552"/>
            <a:ext cx="8942832" cy="347472"/>
          </a:xfrm>
          <a:prstGeom prst="rect">
            <a:avLst/>
          </a:prstGeom>
          <a:noFill/>
        </p:spPr>
        <p:txBody>
          <a:bodyPr wrap="square" lIns="27432" rIns="27432" tIns="27432" bIns="27432" anchor="ctr">
            <a:spAutoFit/>
          </a:bodyPr>
          <a:lstStyle/>
          <a:p>
            <a:pPr algn="l"/>
            <a:r>
              <a:rPr sz="1200" b="1">
                <a:solidFill>
                  <a:srgbClr val="1F2621"/>
                </a:solidFill>
                <a:latin typeface="Aptos"/>
              </a:rPr>
              <a:t>Q9 answer starts with timing: assign one clear commercial job to each season so weak months do not get misread as weak markets.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55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46920" y="0"/>
            <a:ext cx="2542032" cy="73152"/>
          </a:xfrm>
          <a:prstGeom prst="rect">
            <a:avLst/>
          </a:prstGeom>
          <a:solidFill>
            <a:srgbClr val="C58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01168"/>
            <a:ext cx="1554480" cy="256032"/>
          </a:xfrm>
          <a:prstGeom prst="roundRect">
            <a:avLst/>
          </a:prstGeom>
          <a:solidFill>
            <a:srgbClr val="FCFAF5"/>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224028"/>
            <a:ext cx="1517904" cy="182880"/>
          </a:xfrm>
          <a:prstGeom prst="rect">
            <a:avLst/>
          </a:prstGeom>
          <a:noFill/>
        </p:spPr>
        <p:txBody>
          <a:bodyPr wrap="square" lIns="27432" rIns="27432" tIns="27432" bIns="27432" anchor="t">
            <a:spAutoFit/>
          </a:bodyPr>
          <a:lstStyle/>
          <a:p>
            <a:pPr algn="ctr"/>
            <a:r>
              <a:rPr sz="1000" b="1">
                <a:solidFill>
                  <a:srgbClr val="355C47"/>
                </a:solidFill>
                <a:latin typeface="Aptos"/>
              </a:rPr>
              <a:t>SEASONALITY</a:t>
            </a:r>
          </a:p>
        </p:txBody>
      </p:sp>
      <p:sp>
        <p:nvSpPr>
          <p:cNvPr id="7" name="Rounded Rectangle 6"/>
          <p:cNvSpPr/>
          <p:nvPr/>
        </p:nvSpPr>
        <p:spPr>
          <a:xfrm>
            <a:off x="2267712" y="201168"/>
            <a:ext cx="713232" cy="256032"/>
          </a:xfrm>
          <a:prstGeom prst="roundRect">
            <a:avLst/>
          </a:prstGeom>
          <a:solidFill>
            <a:srgbClr val="FFFDF9"/>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0" y="224028"/>
            <a:ext cx="676656" cy="182880"/>
          </a:xfrm>
          <a:prstGeom prst="rect">
            <a:avLst/>
          </a:prstGeom>
          <a:noFill/>
        </p:spPr>
        <p:txBody>
          <a:bodyPr wrap="square" lIns="27432" rIns="27432" tIns="27432" bIns="27432" anchor="t">
            <a:spAutoFit/>
          </a:bodyPr>
          <a:lstStyle/>
          <a:p>
            <a:pPr algn="ctr"/>
            <a:r>
              <a:rPr sz="1000" b="1">
                <a:solidFill>
                  <a:srgbClr val="C58A2A"/>
                </a:solidFill>
                <a:latin typeface="Aptos"/>
              </a:rPr>
              <a:t>Q9</a:t>
            </a:r>
          </a:p>
        </p:txBody>
      </p:sp>
      <p:sp>
        <p:nvSpPr>
          <p:cNvPr id="9" name="TextBox 8"/>
          <p:cNvSpPr txBox="1"/>
          <p:nvPr/>
        </p:nvSpPr>
        <p:spPr>
          <a:xfrm>
            <a:off x="11631168" y="6519672"/>
            <a:ext cx="274320" cy="164592"/>
          </a:xfrm>
          <a:prstGeom prst="rect">
            <a:avLst/>
          </a:prstGeom>
          <a:noFill/>
        </p:spPr>
        <p:txBody>
          <a:bodyPr wrap="square" lIns="27432" rIns="27432" tIns="27432" bIns="27432" anchor="t">
            <a:spAutoFit/>
          </a:bodyPr>
          <a:lstStyle/>
          <a:p>
            <a:pPr algn="r"/>
            <a:r>
              <a:rPr sz="900" b="0">
                <a:solidFill>
                  <a:srgbClr val="5F6B63"/>
                </a:solidFill>
                <a:latin typeface="Aptos"/>
              </a:rPr>
              <a:t>23</a:t>
            </a:r>
          </a:p>
        </p:txBody>
      </p:sp>
      <p:sp>
        <p:nvSpPr>
          <p:cNvPr id="10" name="Rounded Rectangle 9"/>
          <p:cNvSpPr/>
          <p:nvPr/>
        </p:nvSpPr>
        <p:spPr>
          <a:xfrm>
            <a:off x="10241280" y="256032"/>
            <a:ext cx="1280160" cy="274320"/>
          </a:xfrm>
          <a:prstGeom prst="roundRect">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59568" y="260604"/>
            <a:ext cx="1243584" cy="219456"/>
          </a:xfrm>
          <a:prstGeom prst="rect">
            <a:avLst/>
          </a:prstGeom>
          <a:noFill/>
        </p:spPr>
        <p:txBody>
          <a:bodyPr wrap="square" lIns="27432" rIns="27432" tIns="27432" bIns="27432" anchor="ctr">
            <a:spAutoFit/>
          </a:bodyPr>
          <a:lstStyle/>
          <a:p>
            <a:pPr algn="ctr"/>
            <a:r>
              <a:rPr sz="1100" b="1">
                <a:solidFill>
                  <a:srgbClr val="FCFAF5"/>
                </a:solidFill>
                <a:latin typeface="Aptos"/>
              </a:rPr>
              <a:t>INFERENCE</a:t>
            </a:r>
          </a:p>
        </p:txBody>
      </p:sp>
      <p:sp>
        <p:nvSpPr>
          <p:cNvPr id="12" name="TextBox 11"/>
          <p:cNvSpPr txBox="1"/>
          <p:nvPr/>
        </p:nvSpPr>
        <p:spPr>
          <a:xfrm>
            <a:off x="548640" y="658368"/>
            <a:ext cx="10332720" cy="868680"/>
          </a:xfrm>
          <a:prstGeom prst="rect">
            <a:avLst/>
          </a:prstGeom>
          <a:noFill/>
        </p:spPr>
        <p:txBody>
          <a:bodyPr wrap="square" lIns="27432" rIns="27432" tIns="27432" bIns="27432" anchor="t">
            <a:spAutoFit/>
          </a:bodyPr>
          <a:lstStyle/>
          <a:p>
            <a:pPr algn="l"/>
            <a:r>
              <a:rPr sz="2700" b="1">
                <a:solidFill>
                  <a:srgbClr val="355C47"/>
                </a:solidFill>
                <a:latin typeface="Aptos Display"/>
              </a:rPr>
              <a:t>Growers need flex contracts, cold-chain discipline, and backup lanes</a:t>
            </a:r>
          </a:p>
        </p:txBody>
      </p:sp>
      <p:sp>
        <p:nvSpPr>
          <p:cNvPr id="13" name="TextBox 12"/>
          <p:cNvSpPr txBox="1"/>
          <p:nvPr/>
        </p:nvSpPr>
        <p:spPr>
          <a:xfrm>
            <a:off x="548640" y="1097280"/>
            <a:ext cx="10241280" cy="320040"/>
          </a:xfrm>
          <a:prstGeom prst="rect">
            <a:avLst/>
          </a:prstGeom>
          <a:noFill/>
        </p:spPr>
        <p:txBody>
          <a:bodyPr wrap="square" lIns="27432" rIns="27432" tIns="27432" bIns="27432" anchor="t">
            <a:spAutoFit/>
          </a:bodyPr>
          <a:lstStyle/>
          <a:p>
            <a:pPr algn="l"/>
            <a:r>
              <a:rPr sz="1300" b="0">
                <a:solidFill>
                  <a:srgbClr val="5F6B63"/>
                </a:solidFill>
                <a:latin typeface="Aptos"/>
              </a:rPr>
              <a:t>Build seasonality discipline into contracts and execution rules before the pilot scales.</a:t>
            </a:r>
          </a:p>
        </p:txBody>
      </p:sp>
      <p:sp>
        <p:nvSpPr>
          <p:cNvPr id="14" name="Rounded Rectangle 13"/>
          <p:cNvSpPr/>
          <p:nvPr/>
        </p:nvSpPr>
        <p:spPr>
          <a:xfrm>
            <a:off x="749808" y="1572768"/>
            <a:ext cx="10789920" cy="4343400"/>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5" name="Table 14"/>
          <p:cNvGraphicFramePr>
            <a:graphicFrameLocks noGrp="1"/>
          </p:cNvGraphicFramePr>
          <p:nvPr/>
        </p:nvGraphicFramePr>
        <p:xfrm>
          <a:off x="914400" y="1828800"/>
          <a:ext cx="10442448" cy="3602736"/>
        </p:xfrm>
        <a:graphic>
          <a:graphicData uri="http://schemas.openxmlformats.org/drawingml/2006/table">
            <a:tbl>
              <a:tblPr firstRow="1" bandRow="1">
                <a:tableStyleId>{5C22544A-7EE6-4342-B048-85BDC9FD1C3A}</a:tableStyleId>
              </a:tblPr>
              <a:tblGrid>
                <a:gridCol w="1737360"/>
                <a:gridCol w="1737360"/>
                <a:gridCol w="3794760"/>
                <a:gridCol w="3172968"/>
              </a:tblGrid>
              <a:tr h="420624">
                <a:tc>
                  <a:txBody>
                    <a:bodyPr/>
                    <a:lstStyle/>
                    <a:p>
                      <a:pPr algn="ctr">
                        <a:spcAft>
                          <a:spcPts val="0"/>
                        </a:spcAft>
                      </a:pPr>
                      <a:r>
                        <a:rPr sz="1000" b="1">
                          <a:solidFill>
                            <a:srgbClr val="FCFAF5"/>
                          </a:solidFill>
                          <a:latin typeface="Aptos"/>
                        </a:rPr>
                        <a:t>Lever</a:t>
                      </a:r>
                    </a:p>
                  </a:txBody>
                  <a:tcPr>
                    <a:solidFill>
                      <a:srgbClr val="355C47"/>
                    </a:solidFill>
                  </a:tcPr>
                </a:tc>
                <a:tc>
                  <a:txBody>
                    <a:bodyPr/>
                    <a:lstStyle/>
                    <a:p>
                      <a:pPr algn="ctr">
                        <a:spcAft>
                          <a:spcPts val="0"/>
                        </a:spcAft>
                      </a:pPr>
                      <a:r>
                        <a:rPr sz="1000" b="1">
                          <a:solidFill>
                            <a:srgbClr val="FCFAF5"/>
                          </a:solidFill>
                          <a:latin typeface="Aptos"/>
                        </a:rPr>
                        <a:t>How it should work</a:t>
                      </a:r>
                    </a:p>
                  </a:txBody>
                  <a:tcPr>
                    <a:solidFill>
                      <a:srgbClr val="355C47"/>
                    </a:solidFill>
                  </a:tcPr>
                </a:tc>
                <a:tc>
                  <a:txBody>
                    <a:bodyPr/>
                    <a:lstStyle/>
                    <a:p>
                      <a:pPr algn="ctr">
                        <a:spcAft>
                          <a:spcPts val="0"/>
                        </a:spcAft>
                      </a:pPr>
                      <a:r>
                        <a:rPr sz="1000" b="1">
                          <a:solidFill>
                            <a:srgbClr val="FCFAF5"/>
                          </a:solidFill>
                          <a:latin typeface="Aptos"/>
                        </a:rPr>
                        <a:t>Critical operating move</a:t>
                      </a:r>
                    </a:p>
                  </a:txBody>
                  <a:tcPr>
                    <a:solidFill>
                      <a:srgbClr val="355C47"/>
                    </a:solidFill>
                  </a:tcPr>
                </a:tc>
                <a:tc>
                  <a:txBody>
                    <a:bodyPr/>
                    <a:lstStyle/>
                    <a:p>
                      <a:pPr algn="ctr">
                        <a:spcAft>
                          <a:spcPts val="0"/>
                        </a:spcAft>
                      </a:pPr>
                      <a:r>
                        <a:rPr sz="1000" b="1">
                          <a:solidFill>
                            <a:srgbClr val="FCFAF5"/>
                          </a:solidFill>
                          <a:latin typeface="Aptos"/>
                        </a:rPr>
                        <a:t>Why it matters</a:t>
                      </a:r>
                    </a:p>
                  </a:txBody>
                  <a:tcPr>
                    <a:solidFill>
                      <a:srgbClr val="355C47"/>
                    </a:solidFill>
                  </a:tcPr>
                </a:tc>
              </a:tr>
              <a:tr h="1060704">
                <a:tc>
                  <a:txBody>
                    <a:bodyPr/>
                    <a:lstStyle/>
                    <a:p>
                      <a:pPr algn="ctr">
                        <a:spcAft>
                          <a:spcPts val="0"/>
                        </a:spcAft>
                      </a:pPr>
                      <a:r>
                        <a:rPr sz="1200" b="1">
                          <a:solidFill>
                            <a:srgbClr val="FCFAF5"/>
                          </a:solidFill>
                          <a:latin typeface="Aptos Display"/>
                        </a:rPr>
                        <a:t>Contract tiers</a:t>
                      </a:r>
                    </a:p>
                  </a:txBody>
                  <a:tcPr>
                    <a:solidFill>
                      <a:srgbClr val="355C47"/>
                    </a:solidFill>
                  </a:tcPr>
                </a:tc>
                <a:tc>
                  <a:txBody>
                    <a:bodyPr/>
                    <a:lstStyle/>
                    <a:p>
                      <a:pPr algn="l">
                        <a:spcAft>
                          <a:spcPts val="0"/>
                        </a:spcAft>
                      </a:pPr>
                      <a:r>
                        <a:rPr sz="1300" b="1">
                          <a:solidFill>
                            <a:srgbClr val="355C47"/>
                          </a:solidFill>
                          <a:latin typeface="Aptos Display"/>
                        </a:rPr>
                        <a:t>Base + flex volume</a:t>
                      </a:r>
                    </a:p>
                  </a:txBody>
                  <a:tcPr>
                    <a:solidFill>
                      <a:srgbClr val="FCFAF5"/>
                    </a:solidFill>
                  </a:tcPr>
                </a:tc>
                <a:tc>
                  <a:txBody>
                    <a:bodyPr/>
                    <a:lstStyle/>
                    <a:p>
                      <a:pPr algn="l">
                        <a:spcAft>
                          <a:spcPts val="0"/>
                        </a:spcAft>
                      </a:pPr>
                      <a:r>
                        <a:rPr sz="1200" b="0">
                          <a:solidFill>
                            <a:srgbClr val="1F2621"/>
                          </a:solidFill>
                          <a:latin typeface="Aptos"/>
                        </a:rPr>
                        <a:t>Lock a stable base commitment, then layer in seasonal flex volume so supply can expand without year-round overcommitment.</a:t>
                      </a:r>
                    </a:p>
                  </a:txBody>
                  <a:tcPr>
                    <a:solidFill>
                      <a:srgbClr val="FCFAF5"/>
                    </a:solidFill>
                  </a:tcPr>
                </a:tc>
                <a:tc>
                  <a:txBody>
                    <a:bodyPr/>
                    <a:lstStyle/>
                    <a:p>
                      <a:pPr algn="l">
                        <a:spcAft>
                          <a:spcPts val="0"/>
                        </a:spcAft>
                      </a:pPr>
                      <a:r>
                        <a:rPr sz="1200" b="0">
                          <a:solidFill>
                            <a:srgbClr val="1F2621"/>
                          </a:solidFill>
                          <a:latin typeface="Aptos"/>
                        </a:rPr>
                        <a:t>Prevents the pilot from buying peak-season optionality with permanent fixed cost.</a:t>
                      </a:r>
                    </a:p>
                  </a:txBody>
                  <a:tcPr>
                    <a:solidFill>
                      <a:srgbClr val="FCFAF5"/>
                    </a:solidFill>
                  </a:tcPr>
                </a:tc>
              </a:tr>
              <a:tr h="1060704">
                <a:tc>
                  <a:txBody>
                    <a:bodyPr/>
                    <a:lstStyle/>
                    <a:p>
                      <a:pPr algn="ctr">
                        <a:spcAft>
                          <a:spcPts val="0"/>
                        </a:spcAft>
                      </a:pPr>
                      <a:r>
                        <a:rPr sz="1200" b="1">
                          <a:solidFill>
                            <a:srgbClr val="FCFAF5"/>
                          </a:solidFill>
                          <a:latin typeface="Aptos Display"/>
                        </a:rPr>
                        <a:t>Cold-chain readiness</a:t>
                      </a:r>
                    </a:p>
                  </a:txBody>
                  <a:tcPr>
                    <a:solidFill>
                      <a:srgbClr val="3F728A"/>
                    </a:solidFill>
                  </a:tcPr>
                </a:tc>
                <a:tc>
                  <a:txBody>
                    <a:bodyPr/>
                    <a:lstStyle/>
                    <a:p>
                      <a:pPr algn="l">
                        <a:spcAft>
                          <a:spcPts val="0"/>
                        </a:spcAft>
                      </a:pPr>
                      <a:r>
                        <a:rPr sz="1300" b="1">
                          <a:solidFill>
                            <a:srgbClr val="3F728A"/>
                          </a:solidFill>
                          <a:latin typeface="Aptos Display"/>
                        </a:rPr>
                        <a:t>Protect service</a:t>
                      </a:r>
                    </a:p>
                  </a:txBody>
                  <a:tcPr>
                    <a:solidFill>
                      <a:srgbClr val="F7F3EC"/>
                    </a:solidFill>
                  </a:tcPr>
                </a:tc>
                <a:tc>
                  <a:txBody>
                    <a:bodyPr/>
                    <a:lstStyle/>
                    <a:p>
                      <a:pPr algn="l">
                        <a:spcAft>
                          <a:spcPts val="0"/>
                        </a:spcAft>
                      </a:pPr>
                      <a:r>
                        <a:rPr sz="1200" b="0">
                          <a:solidFill>
                            <a:srgbClr val="1F2621"/>
                          </a:solidFill>
                          <a:latin typeface="Aptos"/>
                        </a:rPr>
                        <a:t>Tighten transit monitoring, storage discipline, and receiving checks during the months when flow is highest.</a:t>
                      </a:r>
                    </a:p>
                  </a:txBody>
                  <a:tcPr>
                    <a:solidFill>
                      <a:srgbClr val="F7F3EC"/>
                    </a:solidFill>
                  </a:tcPr>
                </a:tc>
                <a:tc>
                  <a:txBody>
                    <a:bodyPr/>
                    <a:lstStyle/>
                    <a:p>
                      <a:pPr algn="l">
                        <a:spcAft>
                          <a:spcPts val="0"/>
                        </a:spcAft>
                      </a:pPr>
                      <a:r>
                        <a:rPr sz="1200" b="0">
                          <a:solidFill>
                            <a:srgbClr val="1F2621"/>
                          </a:solidFill>
                          <a:latin typeface="Aptos"/>
                        </a:rPr>
                        <a:t>Spoilage and service misses can erase good city economics faster than freight swings do.</a:t>
                      </a:r>
                    </a:p>
                  </a:txBody>
                  <a:tcPr>
                    <a:solidFill>
                      <a:srgbClr val="F7F3EC"/>
                    </a:solidFill>
                  </a:tcPr>
                </a:tc>
              </a:tr>
              <a:tr h="1060704">
                <a:tc>
                  <a:txBody>
                    <a:bodyPr/>
                    <a:lstStyle/>
                    <a:p>
                      <a:pPr algn="ctr">
                        <a:spcAft>
                          <a:spcPts val="0"/>
                        </a:spcAft>
                      </a:pPr>
                      <a:r>
                        <a:rPr sz="1200" b="1">
                          <a:solidFill>
                            <a:srgbClr val="FCFAF5"/>
                          </a:solidFill>
                          <a:latin typeface="Aptos Display"/>
                        </a:rPr>
                        <a:t>Alternate lanes</a:t>
                      </a:r>
                    </a:p>
                  </a:txBody>
                  <a:tcPr>
                    <a:solidFill>
                      <a:srgbClr val="B5533A"/>
                    </a:solidFill>
                  </a:tcPr>
                </a:tc>
                <a:tc>
                  <a:txBody>
                    <a:bodyPr/>
                    <a:lstStyle/>
                    <a:p>
                      <a:pPr algn="l">
                        <a:spcAft>
                          <a:spcPts val="0"/>
                        </a:spcAft>
                      </a:pPr>
                      <a:r>
                        <a:rPr sz="1300" b="1">
                          <a:solidFill>
                            <a:srgbClr val="B5533A"/>
                          </a:solidFill>
                          <a:latin typeface="Aptos Display"/>
                        </a:rPr>
                        <a:t>Reduce disruption</a:t>
                      </a:r>
                    </a:p>
                  </a:txBody>
                  <a:tcPr>
                    <a:solidFill>
                      <a:srgbClr val="FCFAF5"/>
                    </a:solidFill>
                  </a:tcPr>
                </a:tc>
                <a:tc>
                  <a:txBody>
                    <a:bodyPr/>
                    <a:lstStyle/>
                    <a:p>
                      <a:pPr algn="l">
                        <a:spcAft>
                          <a:spcPts val="0"/>
                        </a:spcAft>
                      </a:pPr>
                      <a:r>
                        <a:rPr sz="1200" b="0">
                          <a:solidFill>
                            <a:srgbClr val="1F2621"/>
                          </a:solidFill>
                          <a:latin typeface="Aptos"/>
                        </a:rPr>
                        <a:t>Pre-qualify backup carriers and routes before the peak season so lane shocks do not force reactive reallocations.</a:t>
                      </a:r>
                    </a:p>
                  </a:txBody>
                  <a:tcPr>
                    <a:solidFill>
                      <a:srgbClr val="FCFAF5"/>
                    </a:solidFill>
                  </a:tcPr>
                </a:tc>
                <a:tc>
                  <a:txBody>
                    <a:bodyPr/>
                    <a:lstStyle/>
                    <a:p>
                      <a:pPr algn="l">
                        <a:spcAft>
                          <a:spcPts val="0"/>
                        </a:spcAft>
                      </a:pPr>
                      <a:r>
                        <a:rPr sz="1200" b="0">
                          <a:solidFill>
                            <a:srgbClr val="1F2621"/>
                          </a:solidFill>
                          <a:latin typeface="Aptos"/>
                        </a:rPr>
                        <a:t>The pilot should never have to choose between service and margin because a lane fails.</a:t>
                      </a:r>
                    </a:p>
                  </a:txBody>
                  <a:tcPr>
                    <a:solidFill>
                      <a:srgbClr val="FCFAF5"/>
                    </a:solidFill>
                  </a:tcPr>
                </a:tc>
              </a:tr>
            </a:tbl>
          </a:graphicData>
        </a:graphic>
      </p:graphicFrame>
      <p:sp>
        <p:nvSpPr>
          <p:cNvPr id="16" name="Rounded Rectangle 15"/>
          <p:cNvSpPr/>
          <p:nvPr/>
        </p:nvSpPr>
        <p:spPr>
          <a:xfrm>
            <a:off x="932688" y="5303520"/>
            <a:ext cx="10149840" cy="420624"/>
          </a:xfrm>
          <a:prstGeom prst="roundRect">
            <a:avLst/>
          </a:prstGeom>
          <a:solidFill>
            <a:srgbClr val="F7F3EC"/>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78992" y="5422392"/>
            <a:ext cx="1325880" cy="128016"/>
          </a:xfrm>
          <a:prstGeom prst="rect">
            <a:avLst/>
          </a:prstGeom>
          <a:noFill/>
        </p:spPr>
        <p:txBody>
          <a:bodyPr wrap="square" lIns="27432" rIns="27432" tIns="27432" bIns="27432" anchor="t">
            <a:spAutoFit/>
          </a:bodyPr>
          <a:lstStyle/>
          <a:p>
            <a:pPr algn="l"/>
            <a:r>
              <a:rPr sz="1000" b="1">
                <a:solidFill>
                  <a:srgbClr val="5F6B63"/>
                </a:solidFill>
                <a:latin typeface="Aptos"/>
              </a:rPr>
              <a:t>OPERATING RULE</a:t>
            </a:r>
          </a:p>
        </p:txBody>
      </p:sp>
      <p:sp>
        <p:nvSpPr>
          <p:cNvPr id="18" name="TextBox 17"/>
          <p:cNvSpPr txBox="1"/>
          <p:nvPr/>
        </p:nvSpPr>
        <p:spPr>
          <a:xfrm>
            <a:off x="2523744" y="5385816"/>
            <a:ext cx="8211312" cy="164592"/>
          </a:xfrm>
          <a:prstGeom prst="rect">
            <a:avLst/>
          </a:prstGeom>
          <a:noFill/>
        </p:spPr>
        <p:txBody>
          <a:bodyPr wrap="square" lIns="27432" rIns="27432" tIns="27432" bIns="27432" anchor="t">
            <a:spAutoFit/>
          </a:bodyPr>
          <a:lstStyle/>
          <a:p>
            <a:pPr algn="l"/>
            <a:r>
              <a:rPr sz="1200" b="1">
                <a:solidFill>
                  <a:srgbClr val="1F2621"/>
                </a:solidFill>
                <a:latin typeface="Aptos"/>
              </a:rPr>
              <a:t>Contract base volume, protect the cold chain, and pre-book fallback lanes before peak flow starts.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55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46920" y="0"/>
            <a:ext cx="2542032" cy="73152"/>
          </a:xfrm>
          <a:prstGeom prst="rect">
            <a:avLst/>
          </a:prstGeom>
          <a:solidFill>
            <a:srgbClr val="C58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01168"/>
            <a:ext cx="1554480" cy="256032"/>
          </a:xfrm>
          <a:prstGeom prst="roundRect">
            <a:avLst/>
          </a:prstGeom>
          <a:solidFill>
            <a:srgbClr val="FCFAF5"/>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224028"/>
            <a:ext cx="1517904" cy="182880"/>
          </a:xfrm>
          <a:prstGeom prst="rect">
            <a:avLst/>
          </a:prstGeom>
          <a:noFill/>
        </p:spPr>
        <p:txBody>
          <a:bodyPr wrap="square" lIns="27432" rIns="27432" tIns="27432" bIns="27432" anchor="t">
            <a:spAutoFit/>
          </a:bodyPr>
          <a:lstStyle/>
          <a:p>
            <a:pPr algn="ctr"/>
            <a:r>
              <a:rPr sz="1000" b="1">
                <a:solidFill>
                  <a:srgbClr val="355C47"/>
                </a:solidFill>
                <a:latin typeface="Aptos"/>
              </a:rPr>
              <a:t>SEASONALITY</a:t>
            </a:r>
          </a:p>
        </p:txBody>
      </p:sp>
      <p:sp>
        <p:nvSpPr>
          <p:cNvPr id="7" name="Rounded Rectangle 6"/>
          <p:cNvSpPr/>
          <p:nvPr/>
        </p:nvSpPr>
        <p:spPr>
          <a:xfrm>
            <a:off x="2267712" y="201168"/>
            <a:ext cx="713232" cy="256032"/>
          </a:xfrm>
          <a:prstGeom prst="roundRect">
            <a:avLst/>
          </a:prstGeom>
          <a:solidFill>
            <a:srgbClr val="FFFDF9"/>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0" y="224028"/>
            <a:ext cx="676656" cy="182880"/>
          </a:xfrm>
          <a:prstGeom prst="rect">
            <a:avLst/>
          </a:prstGeom>
          <a:noFill/>
        </p:spPr>
        <p:txBody>
          <a:bodyPr wrap="square" lIns="27432" rIns="27432" tIns="27432" bIns="27432" anchor="t">
            <a:spAutoFit/>
          </a:bodyPr>
          <a:lstStyle/>
          <a:p>
            <a:pPr algn="ctr"/>
            <a:r>
              <a:rPr sz="1000" b="1">
                <a:solidFill>
                  <a:srgbClr val="C58A2A"/>
                </a:solidFill>
                <a:latin typeface="Aptos"/>
              </a:rPr>
              <a:t>Q9</a:t>
            </a:r>
          </a:p>
        </p:txBody>
      </p:sp>
      <p:sp>
        <p:nvSpPr>
          <p:cNvPr id="9" name="TextBox 8"/>
          <p:cNvSpPr txBox="1"/>
          <p:nvPr/>
        </p:nvSpPr>
        <p:spPr>
          <a:xfrm>
            <a:off x="11631168" y="6519672"/>
            <a:ext cx="274320" cy="164592"/>
          </a:xfrm>
          <a:prstGeom prst="rect">
            <a:avLst/>
          </a:prstGeom>
          <a:noFill/>
        </p:spPr>
        <p:txBody>
          <a:bodyPr wrap="square" lIns="27432" rIns="27432" tIns="27432" bIns="27432" anchor="t">
            <a:spAutoFit/>
          </a:bodyPr>
          <a:lstStyle/>
          <a:p>
            <a:pPr algn="r"/>
            <a:r>
              <a:rPr sz="900" b="0">
                <a:solidFill>
                  <a:srgbClr val="5F6B63"/>
                </a:solidFill>
                <a:latin typeface="Aptos"/>
              </a:rPr>
              <a:t>24</a:t>
            </a:r>
          </a:p>
        </p:txBody>
      </p:sp>
      <p:sp>
        <p:nvSpPr>
          <p:cNvPr id="10" name="Rounded Rectangle 9"/>
          <p:cNvSpPr/>
          <p:nvPr/>
        </p:nvSpPr>
        <p:spPr>
          <a:xfrm>
            <a:off x="10241280" y="256032"/>
            <a:ext cx="1280160" cy="274320"/>
          </a:xfrm>
          <a:prstGeom prst="roundRect">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59568" y="260604"/>
            <a:ext cx="1243584" cy="219456"/>
          </a:xfrm>
          <a:prstGeom prst="rect">
            <a:avLst/>
          </a:prstGeom>
          <a:noFill/>
        </p:spPr>
        <p:txBody>
          <a:bodyPr wrap="square" lIns="27432" rIns="27432" tIns="27432" bIns="27432" anchor="ctr">
            <a:spAutoFit/>
          </a:bodyPr>
          <a:lstStyle/>
          <a:p>
            <a:pPr algn="ctr"/>
            <a:r>
              <a:rPr sz="1100" b="1">
                <a:solidFill>
                  <a:srgbClr val="FCFAF5"/>
                </a:solidFill>
                <a:latin typeface="Aptos"/>
              </a:rPr>
              <a:t>INFERENCE</a:t>
            </a:r>
          </a:p>
        </p:txBody>
      </p:sp>
      <p:sp>
        <p:nvSpPr>
          <p:cNvPr id="12" name="TextBox 11"/>
          <p:cNvSpPr txBox="1"/>
          <p:nvPr/>
        </p:nvSpPr>
        <p:spPr>
          <a:xfrm>
            <a:off x="548640" y="658368"/>
            <a:ext cx="10332720" cy="868680"/>
          </a:xfrm>
          <a:prstGeom prst="rect">
            <a:avLst/>
          </a:prstGeom>
          <a:noFill/>
        </p:spPr>
        <p:txBody>
          <a:bodyPr wrap="square" lIns="27432" rIns="27432" tIns="27432" bIns="27432" anchor="t">
            <a:spAutoFit/>
          </a:bodyPr>
          <a:lstStyle/>
          <a:p>
            <a:pPr algn="l"/>
            <a:r>
              <a:rPr sz="2700" b="1">
                <a:solidFill>
                  <a:srgbClr val="355C47"/>
                </a:solidFill>
                <a:latin typeface="Aptos Display"/>
              </a:rPr>
              <a:t>Trade associations should protect off-peak retailer demand</a:t>
            </a:r>
          </a:p>
        </p:txBody>
      </p:sp>
      <p:sp>
        <p:nvSpPr>
          <p:cNvPr id="13" name="TextBox 12"/>
          <p:cNvSpPr txBox="1"/>
          <p:nvPr/>
        </p:nvSpPr>
        <p:spPr>
          <a:xfrm>
            <a:off x="548640" y="1097280"/>
            <a:ext cx="10515600" cy="320040"/>
          </a:xfrm>
          <a:prstGeom prst="rect">
            <a:avLst/>
          </a:prstGeom>
          <a:noFill/>
        </p:spPr>
        <p:txBody>
          <a:bodyPr wrap="square" lIns="27432" rIns="27432" tIns="27432" bIns="27432" anchor="t">
            <a:spAutoFit/>
          </a:bodyPr>
          <a:lstStyle/>
          <a:p>
            <a:pPr algn="l"/>
            <a:r>
              <a:rPr sz="1300" b="0">
                <a:solidFill>
                  <a:srgbClr val="5F6B63"/>
                </a:solidFill>
                <a:latin typeface="Aptos"/>
              </a:rPr>
              <a:t>Aim off-peak support at buyers, trade calendars, and food-service pull, not generic consumer messaging alone.</a:t>
            </a:r>
          </a:p>
        </p:txBody>
      </p:sp>
      <p:sp>
        <p:nvSpPr>
          <p:cNvPr id="14" name="Rounded Rectangle 13"/>
          <p:cNvSpPr/>
          <p:nvPr/>
        </p:nvSpPr>
        <p:spPr>
          <a:xfrm>
            <a:off x="749808" y="1645920"/>
            <a:ext cx="6675120" cy="4315968"/>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0976" y="1874519"/>
            <a:ext cx="2560320" cy="182880"/>
          </a:xfrm>
          <a:prstGeom prst="rect">
            <a:avLst/>
          </a:prstGeom>
          <a:noFill/>
        </p:spPr>
        <p:txBody>
          <a:bodyPr wrap="square" lIns="27432" rIns="27432" tIns="27432" bIns="27432" anchor="t">
            <a:spAutoFit/>
          </a:bodyPr>
          <a:lstStyle/>
          <a:p>
            <a:pPr algn="l"/>
            <a:r>
              <a:rPr sz="1100" b="1">
                <a:solidFill>
                  <a:srgbClr val="5F6B63"/>
                </a:solidFill>
                <a:latin typeface="Aptos"/>
              </a:rPr>
              <a:t>OFF-PEAK BUYER PLAYBOOK</a:t>
            </a:r>
          </a:p>
        </p:txBody>
      </p:sp>
      <p:sp>
        <p:nvSpPr>
          <p:cNvPr id="16" name="Oval 15"/>
          <p:cNvSpPr/>
          <p:nvPr/>
        </p:nvSpPr>
        <p:spPr>
          <a:xfrm>
            <a:off x="1005840" y="2212848"/>
            <a:ext cx="310896" cy="310896"/>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2286000"/>
            <a:ext cx="201168" cy="128016"/>
          </a:xfrm>
          <a:prstGeom prst="rect">
            <a:avLst/>
          </a:prstGeom>
          <a:noFill/>
        </p:spPr>
        <p:txBody>
          <a:bodyPr wrap="square" lIns="27432" rIns="27432" tIns="27432" bIns="27432" anchor="t">
            <a:spAutoFit/>
          </a:bodyPr>
          <a:lstStyle/>
          <a:p>
            <a:pPr algn="ctr"/>
            <a:r>
              <a:rPr sz="1100" b="1">
                <a:solidFill>
                  <a:srgbClr val="FCFAF5"/>
                </a:solidFill>
                <a:latin typeface="Aptos"/>
              </a:rPr>
              <a:t>1</a:t>
            </a:r>
          </a:p>
        </p:txBody>
      </p:sp>
      <p:sp>
        <p:nvSpPr>
          <p:cNvPr id="18" name="TextBox 17"/>
          <p:cNvSpPr txBox="1"/>
          <p:nvPr/>
        </p:nvSpPr>
        <p:spPr>
          <a:xfrm>
            <a:off x="1426464" y="2194560"/>
            <a:ext cx="1828800" cy="164592"/>
          </a:xfrm>
          <a:prstGeom prst="rect">
            <a:avLst/>
          </a:prstGeom>
          <a:noFill/>
        </p:spPr>
        <p:txBody>
          <a:bodyPr wrap="square" lIns="27432" rIns="27432" tIns="27432" bIns="27432" anchor="t">
            <a:spAutoFit/>
          </a:bodyPr>
          <a:lstStyle/>
          <a:p>
            <a:pPr algn="l"/>
            <a:r>
              <a:rPr sz="1000" b="1">
                <a:solidFill>
                  <a:srgbClr val="5F6B63"/>
                </a:solidFill>
                <a:latin typeface="Aptos"/>
              </a:rPr>
              <a:t>RETAIL PROMO CALENDAR</a:t>
            </a:r>
          </a:p>
        </p:txBody>
      </p:sp>
      <p:sp>
        <p:nvSpPr>
          <p:cNvPr id="19" name="TextBox 18"/>
          <p:cNvSpPr txBox="1"/>
          <p:nvPr/>
        </p:nvSpPr>
        <p:spPr>
          <a:xfrm>
            <a:off x="1426464" y="2377440"/>
            <a:ext cx="5257800" cy="384048"/>
          </a:xfrm>
          <a:prstGeom prst="rect">
            <a:avLst/>
          </a:prstGeom>
          <a:noFill/>
        </p:spPr>
        <p:txBody>
          <a:bodyPr wrap="square" lIns="27432" rIns="27432" tIns="27432" bIns="27432" anchor="t">
            <a:spAutoFit/>
          </a:bodyPr>
          <a:lstStyle/>
          <a:p>
            <a:pPr algn="l"/>
            <a:r>
              <a:rPr sz="1200" b="0">
                <a:solidFill>
                  <a:srgbClr val="1F2621"/>
                </a:solidFill>
                <a:latin typeface="Aptos"/>
              </a:rPr>
              <a:t>Concentrate retailer ads, features, and display support in Nov-Feb when baseline turns are softest.</a:t>
            </a:r>
          </a:p>
        </p:txBody>
      </p:sp>
      <p:sp>
        <p:nvSpPr>
          <p:cNvPr id="20" name="Oval 19"/>
          <p:cNvSpPr/>
          <p:nvPr/>
        </p:nvSpPr>
        <p:spPr>
          <a:xfrm>
            <a:off x="1005840" y="3054096"/>
            <a:ext cx="310896" cy="310896"/>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3127248"/>
            <a:ext cx="201168" cy="128016"/>
          </a:xfrm>
          <a:prstGeom prst="rect">
            <a:avLst/>
          </a:prstGeom>
          <a:noFill/>
        </p:spPr>
        <p:txBody>
          <a:bodyPr wrap="square" lIns="27432" rIns="27432" tIns="27432" bIns="27432" anchor="t">
            <a:spAutoFit/>
          </a:bodyPr>
          <a:lstStyle/>
          <a:p>
            <a:pPr algn="ctr"/>
            <a:r>
              <a:rPr sz="1100" b="1">
                <a:solidFill>
                  <a:srgbClr val="FCFAF5"/>
                </a:solidFill>
                <a:latin typeface="Aptos"/>
              </a:rPr>
              <a:t>2</a:t>
            </a:r>
          </a:p>
        </p:txBody>
      </p:sp>
      <p:sp>
        <p:nvSpPr>
          <p:cNvPr id="22" name="TextBox 21"/>
          <p:cNvSpPr txBox="1"/>
          <p:nvPr/>
        </p:nvSpPr>
        <p:spPr>
          <a:xfrm>
            <a:off x="1426464" y="3035808"/>
            <a:ext cx="1828800" cy="164592"/>
          </a:xfrm>
          <a:prstGeom prst="rect">
            <a:avLst/>
          </a:prstGeom>
          <a:noFill/>
        </p:spPr>
        <p:txBody>
          <a:bodyPr wrap="square" lIns="27432" rIns="27432" tIns="27432" bIns="27432" anchor="t">
            <a:spAutoFit/>
          </a:bodyPr>
          <a:lstStyle/>
          <a:p>
            <a:pPr algn="l"/>
            <a:r>
              <a:rPr sz="1000" b="1">
                <a:solidFill>
                  <a:srgbClr val="5F6B63"/>
                </a:solidFill>
                <a:latin typeface="Aptos"/>
              </a:rPr>
              <a:t>FOOD-SERVICE CHANNELS</a:t>
            </a:r>
          </a:p>
        </p:txBody>
      </p:sp>
      <p:sp>
        <p:nvSpPr>
          <p:cNvPr id="23" name="TextBox 22"/>
          <p:cNvSpPr txBox="1"/>
          <p:nvPr/>
        </p:nvSpPr>
        <p:spPr>
          <a:xfrm>
            <a:off x="1426464" y="3218688"/>
            <a:ext cx="5257800" cy="384048"/>
          </a:xfrm>
          <a:prstGeom prst="rect">
            <a:avLst/>
          </a:prstGeom>
          <a:noFill/>
        </p:spPr>
        <p:txBody>
          <a:bodyPr wrap="square" lIns="27432" rIns="27432" tIns="27432" bIns="27432" anchor="t">
            <a:spAutoFit/>
          </a:bodyPr>
          <a:lstStyle/>
          <a:p>
            <a:pPr algn="l"/>
            <a:r>
              <a:rPr sz="1200" b="0">
                <a:solidFill>
                  <a:srgbClr val="1F2621"/>
                </a:solidFill>
                <a:latin typeface="Aptos"/>
              </a:rPr>
              <a:t>Lean harder on restaurants, prepared foods, and institutional buyers when retail pull weakens.</a:t>
            </a:r>
          </a:p>
        </p:txBody>
      </p:sp>
      <p:sp>
        <p:nvSpPr>
          <p:cNvPr id="24" name="Oval 23"/>
          <p:cNvSpPr/>
          <p:nvPr/>
        </p:nvSpPr>
        <p:spPr>
          <a:xfrm>
            <a:off x="1005840" y="3895344"/>
            <a:ext cx="310896" cy="310896"/>
          </a:xfrm>
          <a:prstGeom prst="ellipse">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3968496"/>
            <a:ext cx="201168" cy="128016"/>
          </a:xfrm>
          <a:prstGeom prst="rect">
            <a:avLst/>
          </a:prstGeom>
          <a:noFill/>
        </p:spPr>
        <p:txBody>
          <a:bodyPr wrap="square" lIns="27432" rIns="27432" tIns="27432" bIns="27432" anchor="t">
            <a:spAutoFit/>
          </a:bodyPr>
          <a:lstStyle/>
          <a:p>
            <a:pPr algn="ctr"/>
            <a:r>
              <a:rPr sz="1100" b="1">
                <a:solidFill>
                  <a:srgbClr val="FCFAF5"/>
                </a:solidFill>
                <a:latin typeface="Aptos"/>
              </a:rPr>
              <a:t>3</a:t>
            </a:r>
          </a:p>
        </p:txBody>
      </p:sp>
      <p:sp>
        <p:nvSpPr>
          <p:cNvPr id="26" name="TextBox 25"/>
          <p:cNvSpPr txBox="1"/>
          <p:nvPr/>
        </p:nvSpPr>
        <p:spPr>
          <a:xfrm>
            <a:off x="1426464" y="3877056"/>
            <a:ext cx="1828800" cy="164592"/>
          </a:xfrm>
          <a:prstGeom prst="rect">
            <a:avLst/>
          </a:prstGeom>
          <a:noFill/>
        </p:spPr>
        <p:txBody>
          <a:bodyPr wrap="square" lIns="27432" rIns="27432" tIns="27432" bIns="27432" anchor="t">
            <a:spAutoFit/>
          </a:bodyPr>
          <a:lstStyle/>
          <a:p>
            <a:pPr algn="l"/>
            <a:r>
              <a:rPr sz="1000" b="1">
                <a:solidFill>
                  <a:srgbClr val="5F6B63"/>
                </a:solidFill>
                <a:latin typeface="Aptos"/>
              </a:rPr>
              <a:t>TRADE FUNDS + SLOTTING</a:t>
            </a:r>
          </a:p>
        </p:txBody>
      </p:sp>
      <p:sp>
        <p:nvSpPr>
          <p:cNvPr id="27" name="TextBox 26"/>
          <p:cNvSpPr txBox="1"/>
          <p:nvPr/>
        </p:nvSpPr>
        <p:spPr>
          <a:xfrm>
            <a:off x="1426464" y="4059936"/>
            <a:ext cx="5257800" cy="384048"/>
          </a:xfrm>
          <a:prstGeom prst="rect">
            <a:avLst/>
          </a:prstGeom>
          <a:noFill/>
        </p:spPr>
        <p:txBody>
          <a:bodyPr wrap="square" lIns="27432" rIns="27432" tIns="27432" bIns="27432" anchor="t">
            <a:spAutoFit/>
          </a:bodyPr>
          <a:lstStyle/>
          <a:p>
            <a:pPr algn="l"/>
            <a:r>
              <a:rPr sz="1200" b="0">
                <a:solidFill>
                  <a:srgbClr val="1F2621"/>
                </a:solidFill>
                <a:latin typeface="Aptos"/>
              </a:rPr>
              <a:t>Use trade dollars, temporary allowances, and slotting support to win attention in soft months.</a:t>
            </a:r>
          </a:p>
        </p:txBody>
      </p:sp>
      <p:sp>
        <p:nvSpPr>
          <p:cNvPr id="28" name="Oval 27"/>
          <p:cNvSpPr/>
          <p:nvPr/>
        </p:nvSpPr>
        <p:spPr>
          <a:xfrm>
            <a:off x="1005840" y="4736592"/>
            <a:ext cx="310896" cy="310896"/>
          </a:xfrm>
          <a:prstGeom prst="ellipse">
            <a:avLst/>
          </a:prstGeom>
          <a:solidFill>
            <a:srgbClr val="B5533A"/>
          </a:solidFill>
          <a:ln>
            <a:solidFill>
              <a:srgbClr val="B55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4809744"/>
            <a:ext cx="201168" cy="128016"/>
          </a:xfrm>
          <a:prstGeom prst="rect">
            <a:avLst/>
          </a:prstGeom>
          <a:noFill/>
        </p:spPr>
        <p:txBody>
          <a:bodyPr wrap="square" lIns="27432" rIns="27432" tIns="27432" bIns="27432" anchor="t">
            <a:spAutoFit/>
          </a:bodyPr>
          <a:lstStyle/>
          <a:p>
            <a:pPr algn="ctr"/>
            <a:r>
              <a:rPr sz="1100" b="1">
                <a:solidFill>
                  <a:srgbClr val="FCFAF5"/>
                </a:solidFill>
                <a:latin typeface="Aptos"/>
              </a:rPr>
              <a:t>4</a:t>
            </a:r>
          </a:p>
        </p:txBody>
      </p:sp>
      <p:sp>
        <p:nvSpPr>
          <p:cNvPr id="30" name="TextBox 29"/>
          <p:cNvSpPr txBox="1"/>
          <p:nvPr/>
        </p:nvSpPr>
        <p:spPr>
          <a:xfrm>
            <a:off x="1426464" y="4718304"/>
            <a:ext cx="1828800" cy="164592"/>
          </a:xfrm>
          <a:prstGeom prst="rect">
            <a:avLst/>
          </a:prstGeom>
          <a:noFill/>
        </p:spPr>
        <p:txBody>
          <a:bodyPr wrap="square" lIns="27432" rIns="27432" tIns="27432" bIns="27432" anchor="t">
            <a:spAutoFit/>
          </a:bodyPr>
          <a:lstStyle/>
          <a:p>
            <a:pPr algn="l"/>
            <a:r>
              <a:rPr sz="1000" b="1">
                <a:solidFill>
                  <a:srgbClr val="5F6B63"/>
                </a:solidFill>
                <a:latin typeface="Aptos"/>
              </a:rPr>
              <a:t>SHELF DISCIPLINE</a:t>
            </a:r>
          </a:p>
        </p:txBody>
      </p:sp>
      <p:sp>
        <p:nvSpPr>
          <p:cNvPr id="31" name="TextBox 30"/>
          <p:cNvSpPr txBox="1"/>
          <p:nvPr/>
        </p:nvSpPr>
        <p:spPr>
          <a:xfrm>
            <a:off x="1426464" y="4901184"/>
            <a:ext cx="5257800" cy="384048"/>
          </a:xfrm>
          <a:prstGeom prst="rect">
            <a:avLst/>
          </a:prstGeom>
          <a:noFill/>
        </p:spPr>
        <p:txBody>
          <a:bodyPr wrap="square" lIns="27432" rIns="27432" tIns="27432" bIns="27432" anchor="t">
            <a:spAutoFit/>
          </a:bodyPr>
          <a:lstStyle/>
          <a:p>
            <a:pPr algn="l"/>
            <a:r>
              <a:rPr sz="1200" b="0">
                <a:solidFill>
                  <a:srgbClr val="1F2621"/>
                </a:solidFill>
                <a:latin typeface="Aptos"/>
              </a:rPr>
              <a:t>Coordinate assortment, facing, and freshness standards so promotions convert to repeat orders.</a:t>
            </a:r>
          </a:p>
        </p:txBody>
      </p:sp>
      <p:sp>
        <p:nvSpPr>
          <p:cNvPr id="32" name="Rounded Rectangle 31"/>
          <p:cNvSpPr/>
          <p:nvPr/>
        </p:nvSpPr>
        <p:spPr>
          <a:xfrm>
            <a:off x="7699248" y="1645920"/>
            <a:ext cx="3840480" cy="4315968"/>
          </a:xfrm>
          <a:prstGeom prst="roundRect">
            <a:avLst/>
          </a:prstGeom>
          <a:solidFill>
            <a:srgbClr val="FFFDF9"/>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36992" y="1874519"/>
            <a:ext cx="2194560" cy="182880"/>
          </a:xfrm>
          <a:prstGeom prst="rect">
            <a:avLst/>
          </a:prstGeom>
          <a:noFill/>
        </p:spPr>
        <p:txBody>
          <a:bodyPr wrap="square" lIns="27432" rIns="27432" tIns="27432" bIns="27432" anchor="t">
            <a:spAutoFit/>
          </a:bodyPr>
          <a:lstStyle/>
          <a:p>
            <a:pPr algn="l"/>
            <a:r>
              <a:rPr sz="1100" b="1">
                <a:solidFill>
                  <a:srgbClr val="5F6B63"/>
                </a:solidFill>
                <a:latin typeface="Aptos"/>
              </a:rPr>
              <a:t>WHERE TO PUSH HARDER</a:t>
            </a:r>
          </a:p>
        </p:txBody>
      </p:sp>
      <p:sp>
        <p:nvSpPr>
          <p:cNvPr id="34" name="Rounded Rectangle 33"/>
          <p:cNvSpPr/>
          <p:nvPr/>
        </p:nvSpPr>
        <p:spPr>
          <a:xfrm>
            <a:off x="7936992" y="2212848"/>
            <a:ext cx="1645920" cy="822960"/>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065008" y="2322576"/>
            <a:ext cx="1389888" cy="164592"/>
          </a:xfrm>
          <a:prstGeom prst="rect">
            <a:avLst/>
          </a:prstGeom>
          <a:noFill/>
        </p:spPr>
        <p:txBody>
          <a:bodyPr wrap="square" lIns="27432" rIns="27432" tIns="27432" bIns="27432" anchor="t">
            <a:spAutoFit/>
          </a:bodyPr>
          <a:lstStyle/>
          <a:p>
            <a:pPr algn="l"/>
            <a:r>
              <a:rPr sz="1000" b="1">
                <a:solidFill>
                  <a:srgbClr val="5F6B63"/>
                </a:solidFill>
                <a:latin typeface="Aptos"/>
              </a:rPr>
              <a:t>SOFTEST MONTHS</a:t>
            </a:r>
          </a:p>
        </p:txBody>
      </p:sp>
      <p:sp>
        <p:nvSpPr>
          <p:cNvPr id="36" name="TextBox 35"/>
          <p:cNvSpPr txBox="1"/>
          <p:nvPr/>
        </p:nvSpPr>
        <p:spPr>
          <a:xfrm>
            <a:off x="8065008" y="2523744"/>
            <a:ext cx="1389888" cy="402336"/>
          </a:xfrm>
          <a:prstGeom prst="rect">
            <a:avLst/>
          </a:prstGeom>
          <a:noFill/>
        </p:spPr>
        <p:txBody>
          <a:bodyPr wrap="square" lIns="27432" rIns="27432" tIns="27432" bIns="27432" anchor="ctr">
            <a:spAutoFit/>
          </a:bodyPr>
          <a:lstStyle/>
          <a:p>
            <a:pPr algn="l"/>
            <a:r>
              <a:rPr sz="1900" b="1">
                <a:solidFill>
                  <a:srgbClr val="3F728A"/>
                </a:solidFill>
                <a:latin typeface="Aptos Display"/>
              </a:rPr>
              <a:t>Nov to Feb</a:t>
            </a:r>
          </a:p>
        </p:txBody>
      </p:sp>
      <p:sp>
        <p:nvSpPr>
          <p:cNvPr id="37" name="Rounded Rectangle 36"/>
          <p:cNvSpPr/>
          <p:nvPr/>
        </p:nvSpPr>
        <p:spPr>
          <a:xfrm>
            <a:off x="9646920" y="2212848"/>
            <a:ext cx="1600200" cy="822960"/>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774936" y="2322576"/>
            <a:ext cx="1344168" cy="164592"/>
          </a:xfrm>
          <a:prstGeom prst="rect">
            <a:avLst/>
          </a:prstGeom>
          <a:noFill/>
        </p:spPr>
        <p:txBody>
          <a:bodyPr wrap="square" lIns="27432" rIns="27432" tIns="27432" bIns="27432" anchor="t">
            <a:spAutoFit/>
          </a:bodyPr>
          <a:lstStyle/>
          <a:p>
            <a:pPr algn="l"/>
            <a:r>
              <a:rPr sz="1000" b="1">
                <a:solidFill>
                  <a:srgbClr val="5F6B63"/>
                </a:solidFill>
                <a:latin typeface="Aptos"/>
              </a:rPr>
              <a:t>PRIMARY BUYER</a:t>
            </a:r>
          </a:p>
        </p:txBody>
      </p:sp>
      <p:sp>
        <p:nvSpPr>
          <p:cNvPr id="39" name="TextBox 38"/>
          <p:cNvSpPr txBox="1"/>
          <p:nvPr/>
        </p:nvSpPr>
        <p:spPr>
          <a:xfrm>
            <a:off x="9774936" y="2523744"/>
            <a:ext cx="1344168" cy="402336"/>
          </a:xfrm>
          <a:prstGeom prst="rect">
            <a:avLst/>
          </a:prstGeom>
          <a:noFill/>
        </p:spPr>
        <p:txBody>
          <a:bodyPr wrap="square" lIns="27432" rIns="27432" tIns="27432" bIns="27432" anchor="ctr">
            <a:spAutoFit/>
          </a:bodyPr>
          <a:lstStyle/>
          <a:p>
            <a:pPr algn="l"/>
            <a:r>
              <a:rPr sz="1900" b="1">
                <a:solidFill>
                  <a:srgbClr val="C58A2A"/>
                </a:solidFill>
                <a:latin typeface="Aptos Display"/>
              </a:rPr>
              <a:t>Retail + FS</a:t>
            </a:r>
          </a:p>
        </p:txBody>
      </p:sp>
      <p:sp>
        <p:nvSpPr>
          <p:cNvPr id="40" name="TextBox 39"/>
          <p:cNvSpPr txBox="1"/>
          <p:nvPr/>
        </p:nvSpPr>
        <p:spPr>
          <a:xfrm>
            <a:off x="7955279" y="3246120"/>
            <a:ext cx="3154680" cy="1554480"/>
          </a:xfrm>
          <a:prstGeom prst="rect">
            <a:avLst/>
          </a:prstGeom>
          <a:noFill/>
        </p:spPr>
        <p:txBody>
          <a:bodyPr wrap="square" lIns="27432" rIns="27432" tIns="18288" bIns="18288">
            <a:spAutoFit/>
          </a:bodyPr>
          <a:lstStyle/>
          <a:p>
            <a:pPr algn="l">
              <a:lnSpc>
                <a:spcPct val="115000"/>
              </a:lnSpc>
            </a:pPr>
            <a:r>
              <a:rPr sz="1200">
                <a:solidFill>
                  <a:srgbClr val="1F2621"/>
                </a:solidFill>
                <a:latin typeface="Aptos"/>
              </a:rPr>
              <a:t>- Do not mistake seasonal softness for launch failure.</a:t>
            </a:r>
          </a:p>
          <a:p>
            <a:pPr algn="l">
              <a:lnSpc>
                <a:spcPct val="115000"/>
              </a:lnSpc>
            </a:pPr>
            <a:r>
              <a:rPr sz="1200">
                <a:solidFill>
                  <a:srgbClr val="1F2621"/>
                </a:solidFill>
                <a:latin typeface="Aptos"/>
              </a:rPr>
              <a:t>- Push through buyer calendars, not just consumer media.</a:t>
            </a:r>
          </a:p>
          <a:p>
            <a:pPr algn="l">
              <a:lnSpc>
                <a:spcPct val="115000"/>
              </a:lnSpc>
            </a:pPr>
            <a:r>
              <a:rPr sz="1200">
                <a:solidFill>
                  <a:srgbClr val="1F2621"/>
                </a:solidFill>
                <a:latin typeface="Aptos"/>
              </a:rPr>
              <a:t>- Separate repeat demand from promo-driven lift.</a:t>
            </a:r>
          </a:p>
        </p:txBody>
      </p:sp>
      <p:sp>
        <p:nvSpPr>
          <p:cNvPr id="41" name="Rounded Rectangle 40"/>
          <p:cNvSpPr/>
          <p:nvPr/>
        </p:nvSpPr>
        <p:spPr>
          <a:xfrm>
            <a:off x="7936992" y="4864608"/>
            <a:ext cx="3154680" cy="822960"/>
          </a:xfrm>
          <a:prstGeom prst="roundRect">
            <a:avLst/>
          </a:prstGeom>
          <a:solidFill>
            <a:srgbClr val="FFFDF9"/>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083296" y="4956048"/>
            <a:ext cx="2862072" cy="164592"/>
          </a:xfrm>
          <a:prstGeom prst="rect">
            <a:avLst/>
          </a:prstGeom>
          <a:noFill/>
        </p:spPr>
        <p:txBody>
          <a:bodyPr wrap="square" lIns="27432" rIns="27432" tIns="27432" bIns="27432" anchor="t">
            <a:spAutoFit/>
          </a:bodyPr>
          <a:lstStyle/>
          <a:p>
            <a:pPr algn="l"/>
            <a:r>
              <a:rPr sz="1000" b="1">
                <a:solidFill>
                  <a:srgbClr val="5F6B63"/>
                </a:solidFill>
                <a:latin typeface="Aptos"/>
              </a:rPr>
              <a:t>EXECUTION RULE</a:t>
            </a:r>
          </a:p>
        </p:txBody>
      </p:sp>
      <p:sp>
        <p:nvSpPr>
          <p:cNvPr id="43" name="TextBox 42"/>
          <p:cNvSpPr txBox="1"/>
          <p:nvPr/>
        </p:nvSpPr>
        <p:spPr>
          <a:xfrm>
            <a:off x="8083296" y="5138928"/>
            <a:ext cx="2862072" cy="256032"/>
          </a:xfrm>
          <a:prstGeom prst="rect">
            <a:avLst/>
          </a:prstGeom>
          <a:noFill/>
        </p:spPr>
        <p:txBody>
          <a:bodyPr wrap="square" lIns="27432" rIns="27432" tIns="27432" bIns="27432" anchor="t">
            <a:spAutoFit/>
          </a:bodyPr>
          <a:lstStyle/>
          <a:p>
            <a:pPr algn="l"/>
            <a:r>
              <a:rPr sz="1800" b="1">
                <a:solidFill>
                  <a:srgbClr val="C58A2A"/>
                </a:solidFill>
                <a:latin typeface="Aptos Display"/>
              </a:rPr>
              <a:t>Front-load trade support</a:t>
            </a:r>
          </a:p>
        </p:txBody>
      </p:sp>
      <p:sp>
        <p:nvSpPr>
          <p:cNvPr id="44" name="TextBox 43"/>
          <p:cNvSpPr txBox="1"/>
          <p:nvPr/>
        </p:nvSpPr>
        <p:spPr>
          <a:xfrm>
            <a:off x="8083296" y="5413248"/>
            <a:ext cx="2862072" cy="164592"/>
          </a:xfrm>
          <a:prstGeom prst="rect">
            <a:avLst/>
          </a:prstGeom>
          <a:noFill/>
        </p:spPr>
        <p:txBody>
          <a:bodyPr wrap="square" lIns="27432" rIns="27432" tIns="27432" bIns="27432" anchor="t">
            <a:spAutoFit/>
          </a:bodyPr>
          <a:lstStyle/>
          <a:p>
            <a:pPr algn="l"/>
            <a:r>
              <a:rPr sz="1100" b="0">
                <a:solidFill>
                  <a:srgbClr val="1F2621"/>
                </a:solidFill>
                <a:latin typeface="Aptos"/>
              </a:rPr>
              <a:t>Spend trade dollars and retailer attention in Nov-Feb, not when summer demand is already doing the work.</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55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46920" y="0"/>
            <a:ext cx="2542032" cy="73152"/>
          </a:xfrm>
          <a:prstGeom prst="rect">
            <a:avLst/>
          </a:prstGeom>
          <a:solidFill>
            <a:srgbClr val="C58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01168"/>
            <a:ext cx="1554480" cy="256032"/>
          </a:xfrm>
          <a:prstGeom prst="roundRect">
            <a:avLst/>
          </a:prstGeom>
          <a:solidFill>
            <a:srgbClr val="FCFAF5"/>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224028"/>
            <a:ext cx="1517904" cy="182880"/>
          </a:xfrm>
          <a:prstGeom prst="rect">
            <a:avLst/>
          </a:prstGeom>
          <a:noFill/>
        </p:spPr>
        <p:txBody>
          <a:bodyPr wrap="square" lIns="27432" rIns="27432" tIns="27432" bIns="27432" anchor="t">
            <a:spAutoFit/>
          </a:bodyPr>
          <a:lstStyle/>
          <a:p>
            <a:pPr algn="ctr"/>
            <a:r>
              <a:rPr sz="1000" b="1">
                <a:solidFill>
                  <a:srgbClr val="355C47"/>
                </a:solidFill>
                <a:latin typeface="Aptos"/>
              </a:rPr>
              <a:t>SEASONALITY</a:t>
            </a:r>
          </a:p>
        </p:txBody>
      </p:sp>
      <p:sp>
        <p:nvSpPr>
          <p:cNvPr id="7" name="Rounded Rectangle 6"/>
          <p:cNvSpPr/>
          <p:nvPr/>
        </p:nvSpPr>
        <p:spPr>
          <a:xfrm>
            <a:off x="2267712" y="201168"/>
            <a:ext cx="713232" cy="256032"/>
          </a:xfrm>
          <a:prstGeom prst="roundRect">
            <a:avLst/>
          </a:prstGeom>
          <a:solidFill>
            <a:srgbClr val="FFFDF9"/>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0" y="224028"/>
            <a:ext cx="676656" cy="182880"/>
          </a:xfrm>
          <a:prstGeom prst="rect">
            <a:avLst/>
          </a:prstGeom>
          <a:noFill/>
        </p:spPr>
        <p:txBody>
          <a:bodyPr wrap="square" lIns="27432" rIns="27432" tIns="27432" bIns="27432" anchor="t">
            <a:spAutoFit/>
          </a:bodyPr>
          <a:lstStyle/>
          <a:p>
            <a:pPr algn="ctr"/>
            <a:r>
              <a:rPr sz="1000" b="1">
                <a:solidFill>
                  <a:srgbClr val="C58A2A"/>
                </a:solidFill>
                <a:latin typeface="Aptos"/>
              </a:rPr>
              <a:t>Q9</a:t>
            </a:r>
          </a:p>
        </p:txBody>
      </p:sp>
      <p:sp>
        <p:nvSpPr>
          <p:cNvPr id="9" name="TextBox 8"/>
          <p:cNvSpPr txBox="1"/>
          <p:nvPr/>
        </p:nvSpPr>
        <p:spPr>
          <a:xfrm>
            <a:off x="11631168" y="6519672"/>
            <a:ext cx="274320" cy="164592"/>
          </a:xfrm>
          <a:prstGeom prst="rect">
            <a:avLst/>
          </a:prstGeom>
          <a:noFill/>
        </p:spPr>
        <p:txBody>
          <a:bodyPr wrap="square" lIns="27432" rIns="27432" tIns="27432" bIns="27432" anchor="t">
            <a:spAutoFit/>
          </a:bodyPr>
          <a:lstStyle/>
          <a:p>
            <a:pPr algn="r"/>
            <a:r>
              <a:rPr sz="900" b="0">
                <a:solidFill>
                  <a:srgbClr val="5F6B63"/>
                </a:solidFill>
                <a:latin typeface="Aptos"/>
              </a:rPr>
              <a:t>25</a:t>
            </a:r>
          </a:p>
        </p:txBody>
      </p:sp>
      <p:sp>
        <p:nvSpPr>
          <p:cNvPr id="10" name="Rounded Rectangle 9"/>
          <p:cNvSpPr/>
          <p:nvPr/>
        </p:nvSpPr>
        <p:spPr>
          <a:xfrm>
            <a:off x="10241280" y="256032"/>
            <a:ext cx="1280160" cy="274320"/>
          </a:xfrm>
          <a:prstGeom prst="roundRect">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59568" y="260604"/>
            <a:ext cx="1243584" cy="219456"/>
          </a:xfrm>
          <a:prstGeom prst="rect">
            <a:avLst/>
          </a:prstGeom>
          <a:noFill/>
        </p:spPr>
        <p:txBody>
          <a:bodyPr wrap="square" lIns="27432" rIns="27432" tIns="27432" bIns="27432" anchor="ctr">
            <a:spAutoFit/>
          </a:bodyPr>
          <a:lstStyle/>
          <a:p>
            <a:pPr algn="ctr"/>
            <a:r>
              <a:rPr sz="1100" b="1">
                <a:solidFill>
                  <a:srgbClr val="FCFAF5"/>
                </a:solidFill>
                <a:latin typeface="Aptos"/>
              </a:rPr>
              <a:t>INFERENCE</a:t>
            </a:r>
          </a:p>
        </p:txBody>
      </p:sp>
      <p:sp>
        <p:nvSpPr>
          <p:cNvPr id="12" name="TextBox 11"/>
          <p:cNvSpPr txBox="1"/>
          <p:nvPr/>
        </p:nvSpPr>
        <p:spPr>
          <a:xfrm>
            <a:off x="548640" y="658368"/>
            <a:ext cx="10332720" cy="868680"/>
          </a:xfrm>
          <a:prstGeom prst="rect">
            <a:avLst/>
          </a:prstGeom>
          <a:noFill/>
        </p:spPr>
        <p:txBody>
          <a:bodyPr wrap="square" lIns="27432" rIns="27432" tIns="27432" bIns="27432" anchor="t">
            <a:spAutoFit/>
          </a:bodyPr>
          <a:lstStyle/>
          <a:p>
            <a:pPr algn="l"/>
            <a:r>
              <a:rPr sz="2700" b="1">
                <a:solidFill>
                  <a:srgbClr val="355C47"/>
                </a:solidFill>
                <a:latin typeface="Aptos Display"/>
              </a:rPr>
              <a:t>Monthly S&amp;OP should align growers, West Valley, and retailers</a:t>
            </a:r>
          </a:p>
        </p:txBody>
      </p:sp>
      <p:sp>
        <p:nvSpPr>
          <p:cNvPr id="13" name="TextBox 12"/>
          <p:cNvSpPr txBox="1"/>
          <p:nvPr/>
        </p:nvSpPr>
        <p:spPr>
          <a:xfrm>
            <a:off x="548640" y="1097280"/>
            <a:ext cx="10515600" cy="320040"/>
          </a:xfrm>
          <a:prstGeom prst="rect">
            <a:avLst/>
          </a:prstGeom>
          <a:noFill/>
        </p:spPr>
        <p:txBody>
          <a:bodyPr wrap="square" lIns="27432" rIns="27432" tIns="27432" bIns="27432" anchor="t">
            <a:spAutoFit/>
          </a:bodyPr>
          <a:lstStyle/>
          <a:p>
            <a:pPr algn="l"/>
            <a:r>
              <a:rPr sz="1300" b="0">
                <a:solidFill>
                  <a:srgbClr val="5F6B63"/>
                </a:solidFill>
                <a:latin typeface="Aptos"/>
              </a:rPr>
              <a:t>One monthly forum should translate market signals into volume, routing, and promotion decisions.</a:t>
            </a:r>
          </a:p>
        </p:txBody>
      </p:sp>
      <p:sp>
        <p:nvSpPr>
          <p:cNvPr id="14" name="Rounded Rectangle 13"/>
          <p:cNvSpPr/>
          <p:nvPr/>
        </p:nvSpPr>
        <p:spPr>
          <a:xfrm>
            <a:off x="777240" y="1700784"/>
            <a:ext cx="3017520" cy="1481328"/>
          </a:xfrm>
          <a:prstGeom prst="roundRect">
            <a:avLst/>
          </a:prstGeom>
          <a:solidFill>
            <a:srgbClr val="FFFDF9"/>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3544" y="1837944"/>
            <a:ext cx="2724912" cy="219456"/>
          </a:xfrm>
          <a:prstGeom prst="rect">
            <a:avLst/>
          </a:prstGeom>
          <a:noFill/>
        </p:spPr>
        <p:txBody>
          <a:bodyPr wrap="square" lIns="27432" rIns="27432" tIns="27432" bIns="27432" anchor="t">
            <a:spAutoFit/>
          </a:bodyPr>
          <a:lstStyle/>
          <a:p>
            <a:pPr algn="l"/>
            <a:r>
              <a:rPr sz="1100" b="1">
                <a:solidFill>
                  <a:srgbClr val="5F6B63"/>
                </a:solidFill>
                <a:latin typeface="Aptos"/>
              </a:rPr>
              <a:t>GROWERS</a:t>
            </a:r>
          </a:p>
        </p:txBody>
      </p:sp>
      <p:sp>
        <p:nvSpPr>
          <p:cNvPr id="16" name="TextBox 15"/>
          <p:cNvSpPr txBox="1"/>
          <p:nvPr/>
        </p:nvSpPr>
        <p:spPr>
          <a:xfrm>
            <a:off x="923544" y="2084832"/>
            <a:ext cx="2724912" cy="502920"/>
          </a:xfrm>
          <a:prstGeom prst="rect">
            <a:avLst/>
          </a:prstGeom>
          <a:noFill/>
        </p:spPr>
        <p:txBody>
          <a:bodyPr wrap="square" lIns="27432" rIns="27432" tIns="27432" bIns="27432" anchor="t">
            <a:spAutoFit/>
          </a:bodyPr>
          <a:lstStyle/>
          <a:p>
            <a:pPr algn="l"/>
            <a:r>
              <a:rPr sz="2400" b="1">
                <a:solidFill>
                  <a:srgbClr val="355C47"/>
                </a:solidFill>
                <a:latin typeface="Aptos Display"/>
              </a:rPr>
              <a:t>Supply commitment</a:t>
            </a:r>
          </a:p>
        </p:txBody>
      </p:sp>
      <p:sp>
        <p:nvSpPr>
          <p:cNvPr id="17" name="TextBox 16"/>
          <p:cNvSpPr txBox="1"/>
          <p:nvPr/>
        </p:nvSpPr>
        <p:spPr>
          <a:xfrm>
            <a:off x="923544" y="2578608"/>
            <a:ext cx="2724912" cy="457200"/>
          </a:xfrm>
          <a:prstGeom prst="rect">
            <a:avLst/>
          </a:prstGeom>
          <a:noFill/>
        </p:spPr>
        <p:txBody>
          <a:bodyPr wrap="square" lIns="27432" rIns="27432" tIns="27432" bIns="27432" anchor="t">
            <a:spAutoFit/>
          </a:bodyPr>
          <a:lstStyle/>
          <a:p>
            <a:pPr algn="l"/>
            <a:r>
              <a:rPr sz="1500" b="0">
                <a:solidFill>
                  <a:srgbClr val="1F2621"/>
                </a:solidFill>
                <a:latin typeface="Aptos"/>
              </a:rPr>
              <a:t>Provide base volume, flex capacity, and harvest timing updates.</a:t>
            </a:r>
          </a:p>
        </p:txBody>
      </p:sp>
      <p:sp>
        <p:nvSpPr>
          <p:cNvPr id="18" name="Rounded Rectangle 17"/>
          <p:cNvSpPr/>
          <p:nvPr/>
        </p:nvSpPr>
        <p:spPr>
          <a:xfrm>
            <a:off x="4507992" y="1700784"/>
            <a:ext cx="3017520" cy="1481328"/>
          </a:xfrm>
          <a:prstGeom prst="roundRect">
            <a:avLst/>
          </a:prstGeom>
          <a:solidFill>
            <a:srgbClr val="FFFDF9"/>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54296" y="1837944"/>
            <a:ext cx="2724912" cy="219456"/>
          </a:xfrm>
          <a:prstGeom prst="rect">
            <a:avLst/>
          </a:prstGeom>
          <a:noFill/>
        </p:spPr>
        <p:txBody>
          <a:bodyPr wrap="square" lIns="27432" rIns="27432" tIns="27432" bIns="27432" anchor="t">
            <a:spAutoFit/>
          </a:bodyPr>
          <a:lstStyle/>
          <a:p>
            <a:pPr algn="l"/>
            <a:r>
              <a:rPr sz="1100" b="1">
                <a:solidFill>
                  <a:srgbClr val="5F6B63"/>
                </a:solidFill>
                <a:latin typeface="Aptos"/>
              </a:rPr>
              <a:t>WEST VALLEY</a:t>
            </a:r>
          </a:p>
        </p:txBody>
      </p:sp>
      <p:sp>
        <p:nvSpPr>
          <p:cNvPr id="20" name="TextBox 19"/>
          <p:cNvSpPr txBox="1"/>
          <p:nvPr/>
        </p:nvSpPr>
        <p:spPr>
          <a:xfrm>
            <a:off x="4654296" y="2084832"/>
            <a:ext cx="2724912" cy="502920"/>
          </a:xfrm>
          <a:prstGeom prst="rect">
            <a:avLst/>
          </a:prstGeom>
          <a:noFill/>
        </p:spPr>
        <p:txBody>
          <a:bodyPr wrap="square" lIns="27432" rIns="27432" tIns="27432" bIns="27432" anchor="t">
            <a:spAutoFit/>
          </a:bodyPr>
          <a:lstStyle/>
          <a:p>
            <a:pPr algn="l"/>
            <a:r>
              <a:rPr sz="2400" b="1">
                <a:solidFill>
                  <a:srgbClr val="3F728A"/>
                </a:solidFill>
                <a:latin typeface="Aptos Display"/>
              </a:rPr>
              <a:t>Control tower</a:t>
            </a:r>
          </a:p>
        </p:txBody>
      </p:sp>
      <p:sp>
        <p:nvSpPr>
          <p:cNvPr id="21" name="TextBox 20"/>
          <p:cNvSpPr txBox="1"/>
          <p:nvPr/>
        </p:nvSpPr>
        <p:spPr>
          <a:xfrm>
            <a:off x="4654296" y="2578608"/>
            <a:ext cx="2724912" cy="457200"/>
          </a:xfrm>
          <a:prstGeom prst="rect">
            <a:avLst/>
          </a:prstGeom>
          <a:noFill/>
        </p:spPr>
        <p:txBody>
          <a:bodyPr wrap="square" lIns="27432" rIns="27432" tIns="27432" bIns="27432" anchor="t">
            <a:spAutoFit/>
          </a:bodyPr>
          <a:lstStyle/>
          <a:p>
            <a:pPr algn="l"/>
            <a:r>
              <a:rPr sz="1500" b="0">
                <a:solidFill>
                  <a:srgbClr val="1F2621"/>
                </a:solidFill>
                <a:latin typeface="Aptos"/>
              </a:rPr>
              <a:t>Convert price, freight, and demand signals into city allocation decisions.</a:t>
            </a:r>
          </a:p>
        </p:txBody>
      </p:sp>
      <p:sp>
        <p:nvSpPr>
          <p:cNvPr id="22" name="Rounded Rectangle 21"/>
          <p:cNvSpPr/>
          <p:nvPr/>
        </p:nvSpPr>
        <p:spPr>
          <a:xfrm>
            <a:off x="8238744" y="1700784"/>
            <a:ext cx="3017520" cy="1481328"/>
          </a:xfrm>
          <a:prstGeom prst="roundRect">
            <a:avLst/>
          </a:prstGeom>
          <a:solidFill>
            <a:srgbClr val="FFFDF9"/>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85048" y="1837944"/>
            <a:ext cx="2724912" cy="219456"/>
          </a:xfrm>
          <a:prstGeom prst="rect">
            <a:avLst/>
          </a:prstGeom>
          <a:noFill/>
        </p:spPr>
        <p:txBody>
          <a:bodyPr wrap="square" lIns="27432" rIns="27432" tIns="27432" bIns="27432" anchor="t">
            <a:spAutoFit/>
          </a:bodyPr>
          <a:lstStyle/>
          <a:p>
            <a:pPr algn="l"/>
            <a:r>
              <a:rPr sz="1100" b="1">
                <a:solidFill>
                  <a:srgbClr val="5F6B63"/>
                </a:solidFill>
                <a:latin typeface="Aptos"/>
              </a:rPr>
              <a:t>RETAILERS</a:t>
            </a:r>
          </a:p>
        </p:txBody>
      </p:sp>
      <p:sp>
        <p:nvSpPr>
          <p:cNvPr id="24" name="TextBox 23"/>
          <p:cNvSpPr txBox="1"/>
          <p:nvPr/>
        </p:nvSpPr>
        <p:spPr>
          <a:xfrm>
            <a:off x="8385048" y="2084832"/>
            <a:ext cx="2724912" cy="502920"/>
          </a:xfrm>
          <a:prstGeom prst="rect">
            <a:avLst/>
          </a:prstGeom>
          <a:noFill/>
        </p:spPr>
        <p:txBody>
          <a:bodyPr wrap="square" lIns="27432" rIns="27432" tIns="27432" bIns="27432" anchor="t">
            <a:spAutoFit/>
          </a:bodyPr>
          <a:lstStyle/>
          <a:p>
            <a:pPr algn="l"/>
            <a:r>
              <a:rPr sz="2400" b="1">
                <a:solidFill>
                  <a:srgbClr val="C58A2A"/>
                </a:solidFill>
                <a:latin typeface="Aptos Display"/>
              </a:rPr>
              <a:t>Demand signal</a:t>
            </a:r>
          </a:p>
        </p:txBody>
      </p:sp>
      <p:sp>
        <p:nvSpPr>
          <p:cNvPr id="25" name="TextBox 24"/>
          <p:cNvSpPr txBox="1"/>
          <p:nvPr/>
        </p:nvSpPr>
        <p:spPr>
          <a:xfrm>
            <a:off x="8385048" y="2578608"/>
            <a:ext cx="2724912" cy="457200"/>
          </a:xfrm>
          <a:prstGeom prst="rect">
            <a:avLst/>
          </a:prstGeom>
          <a:noFill/>
        </p:spPr>
        <p:txBody>
          <a:bodyPr wrap="square" lIns="27432" rIns="27432" tIns="27432" bIns="27432" anchor="t">
            <a:spAutoFit/>
          </a:bodyPr>
          <a:lstStyle/>
          <a:p>
            <a:pPr algn="l"/>
            <a:r>
              <a:rPr sz="1500" b="0">
                <a:solidFill>
                  <a:srgbClr val="1F2621"/>
                </a:solidFill>
                <a:latin typeface="Aptos"/>
              </a:rPr>
              <a:t>Feed promo calendars, replenishment risk, and reorder visibility into the review.</a:t>
            </a:r>
          </a:p>
        </p:txBody>
      </p:sp>
      <p:sp>
        <p:nvSpPr>
          <p:cNvPr id="26" name="Rounded Rectangle 25"/>
          <p:cNvSpPr/>
          <p:nvPr/>
        </p:nvSpPr>
        <p:spPr>
          <a:xfrm>
            <a:off x="1874519" y="3493008"/>
            <a:ext cx="8458200" cy="1060704"/>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2176272" y="3749039"/>
            <a:ext cx="292608" cy="292608"/>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203704" y="3822191"/>
            <a:ext cx="219456" cy="109728"/>
          </a:xfrm>
          <a:prstGeom prst="rect">
            <a:avLst/>
          </a:prstGeom>
          <a:noFill/>
        </p:spPr>
        <p:txBody>
          <a:bodyPr wrap="square" lIns="27432" rIns="27432" tIns="27432" bIns="27432" anchor="t">
            <a:spAutoFit/>
          </a:bodyPr>
          <a:lstStyle/>
          <a:p>
            <a:pPr algn="ctr"/>
            <a:r>
              <a:rPr sz="1000" b="1">
                <a:solidFill>
                  <a:srgbClr val="FCFAF5"/>
                </a:solidFill>
                <a:latin typeface="Aptos"/>
              </a:rPr>
              <a:t>1</a:t>
            </a:r>
          </a:p>
        </p:txBody>
      </p:sp>
      <p:sp>
        <p:nvSpPr>
          <p:cNvPr id="29" name="TextBox 28"/>
          <p:cNvSpPr txBox="1"/>
          <p:nvPr/>
        </p:nvSpPr>
        <p:spPr>
          <a:xfrm>
            <a:off x="2560320" y="3749039"/>
            <a:ext cx="1463040" cy="164592"/>
          </a:xfrm>
          <a:prstGeom prst="rect">
            <a:avLst/>
          </a:prstGeom>
          <a:noFill/>
        </p:spPr>
        <p:txBody>
          <a:bodyPr wrap="square" lIns="27432" rIns="27432" tIns="27432" bIns="27432" anchor="t">
            <a:spAutoFit/>
          </a:bodyPr>
          <a:lstStyle/>
          <a:p>
            <a:pPr algn="l"/>
            <a:r>
              <a:rPr sz="1200" b="1">
                <a:solidFill>
                  <a:srgbClr val="355C47"/>
                </a:solidFill>
                <a:latin typeface="Aptos Display"/>
              </a:rPr>
              <a:t>Forecast demand</a:t>
            </a:r>
          </a:p>
        </p:txBody>
      </p:sp>
      <p:cxnSp>
        <p:nvCxnSpPr>
          <p:cNvPr id="30" name="Connector 29"/>
          <p:cNvCxnSpPr/>
          <p:nvPr/>
        </p:nvCxnSpPr>
        <p:spPr>
          <a:xfrm>
            <a:off x="3867912" y="3895344"/>
            <a:ext cx="292608" cy="0"/>
          </a:xfrm>
          <a:prstGeom prst="line">
            <a:avLst/>
          </a:prstGeom>
          <a:ln w="22860">
            <a:solidFill>
              <a:srgbClr val="D8D1C6"/>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4215383" y="3749039"/>
            <a:ext cx="292608" cy="292608"/>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242815" y="3822191"/>
            <a:ext cx="219456" cy="109728"/>
          </a:xfrm>
          <a:prstGeom prst="rect">
            <a:avLst/>
          </a:prstGeom>
          <a:noFill/>
        </p:spPr>
        <p:txBody>
          <a:bodyPr wrap="square" lIns="27432" rIns="27432" tIns="27432" bIns="27432" anchor="t">
            <a:spAutoFit/>
          </a:bodyPr>
          <a:lstStyle/>
          <a:p>
            <a:pPr algn="ctr"/>
            <a:r>
              <a:rPr sz="1000" b="1">
                <a:solidFill>
                  <a:srgbClr val="FCFAF5"/>
                </a:solidFill>
                <a:latin typeface="Aptos"/>
              </a:rPr>
              <a:t>2</a:t>
            </a:r>
          </a:p>
        </p:txBody>
      </p:sp>
      <p:sp>
        <p:nvSpPr>
          <p:cNvPr id="33" name="TextBox 32"/>
          <p:cNvSpPr txBox="1"/>
          <p:nvPr/>
        </p:nvSpPr>
        <p:spPr>
          <a:xfrm>
            <a:off x="4599431" y="3749039"/>
            <a:ext cx="1463040" cy="164592"/>
          </a:xfrm>
          <a:prstGeom prst="rect">
            <a:avLst/>
          </a:prstGeom>
          <a:noFill/>
        </p:spPr>
        <p:txBody>
          <a:bodyPr wrap="square" lIns="27432" rIns="27432" tIns="27432" bIns="27432" anchor="t">
            <a:spAutoFit/>
          </a:bodyPr>
          <a:lstStyle/>
          <a:p>
            <a:pPr algn="l"/>
            <a:r>
              <a:rPr sz="1200" b="1">
                <a:solidFill>
                  <a:srgbClr val="355C47"/>
                </a:solidFill>
                <a:latin typeface="Aptos Display"/>
              </a:rPr>
              <a:t>Lock commitments</a:t>
            </a:r>
          </a:p>
        </p:txBody>
      </p:sp>
      <p:cxnSp>
        <p:nvCxnSpPr>
          <p:cNvPr id="34" name="Connector 33"/>
          <p:cNvCxnSpPr/>
          <p:nvPr/>
        </p:nvCxnSpPr>
        <p:spPr>
          <a:xfrm>
            <a:off x="5907023" y="3895344"/>
            <a:ext cx="292608" cy="0"/>
          </a:xfrm>
          <a:prstGeom prst="line">
            <a:avLst/>
          </a:prstGeom>
          <a:ln w="22860">
            <a:solidFill>
              <a:srgbClr val="D8D1C6"/>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6254496" y="3749039"/>
            <a:ext cx="292608" cy="292608"/>
          </a:xfrm>
          <a:prstGeom prst="ellipse">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81928" y="3822191"/>
            <a:ext cx="219456" cy="109728"/>
          </a:xfrm>
          <a:prstGeom prst="rect">
            <a:avLst/>
          </a:prstGeom>
          <a:noFill/>
        </p:spPr>
        <p:txBody>
          <a:bodyPr wrap="square" lIns="27432" rIns="27432" tIns="27432" bIns="27432" anchor="t">
            <a:spAutoFit/>
          </a:bodyPr>
          <a:lstStyle/>
          <a:p>
            <a:pPr algn="ctr"/>
            <a:r>
              <a:rPr sz="1000" b="1">
                <a:solidFill>
                  <a:srgbClr val="FCFAF5"/>
                </a:solidFill>
                <a:latin typeface="Aptos"/>
              </a:rPr>
              <a:t>3</a:t>
            </a:r>
          </a:p>
        </p:txBody>
      </p:sp>
      <p:sp>
        <p:nvSpPr>
          <p:cNvPr id="37" name="TextBox 36"/>
          <p:cNvSpPr txBox="1"/>
          <p:nvPr/>
        </p:nvSpPr>
        <p:spPr>
          <a:xfrm>
            <a:off x="6638544" y="3749039"/>
            <a:ext cx="1463040" cy="164592"/>
          </a:xfrm>
          <a:prstGeom prst="rect">
            <a:avLst/>
          </a:prstGeom>
          <a:noFill/>
        </p:spPr>
        <p:txBody>
          <a:bodyPr wrap="square" lIns="27432" rIns="27432" tIns="27432" bIns="27432" anchor="t">
            <a:spAutoFit/>
          </a:bodyPr>
          <a:lstStyle/>
          <a:p>
            <a:pPr algn="l"/>
            <a:r>
              <a:rPr sz="1200" b="1">
                <a:solidFill>
                  <a:srgbClr val="355C47"/>
                </a:solidFill>
                <a:latin typeface="Aptos Display"/>
              </a:rPr>
              <a:t>Allocate by city</a:t>
            </a:r>
          </a:p>
        </p:txBody>
      </p:sp>
      <p:cxnSp>
        <p:nvCxnSpPr>
          <p:cNvPr id="38" name="Connector 37"/>
          <p:cNvCxnSpPr/>
          <p:nvPr/>
        </p:nvCxnSpPr>
        <p:spPr>
          <a:xfrm>
            <a:off x="7946136" y="3895344"/>
            <a:ext cx="292608" cy="0"/>
          </a:xfrm>
          <a:prstGeom prst="line">
            <a:avLst/>
          </a:prstGeom>
          <a:ln w="22860">
            <a:solidFill>
              <a:srgbClr val="D8D1C6"/>
            </a:solidFill>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8293608" y="3749039"/>
            <a:ext cx="292608" cy="292608"/>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321040" y="3822191"/>
            <a:ext cx="219456" cy="109728"/>
          </a:xfrm>
          <a:prstGeom prst="rect">
            <a:avLst/>
          </a:prstGeom>
          <a:noFill/>
        </p:spPr>
        <p:txBody>
          <a:bodyPr wrap="square" lIns="27432" rIns="27432" tIns="27432" bIns="27432" anchor="t">
            <a:spAutoFit/>
          </a:bodyPr>
          <a:lstStyle/>
          <a:p>
            <a:pPr algn="ctr"/>
            <a:r>
              <a:rPr sz="1000" b="1">
                <a:solidFill>
                  <a:srgbClr val="FCFAF5"/>
                </a:solidFill>
                <a:latin typeface="Aptos"/>
              </a:rPr>
              <a:t>4</a:t>
            </a:r>
          </a:p>
        </p:txBody>
      </p:sp>
      <p:sp>
        <p:nvSpPr>
          <p:cNvPr id="41" name="TextBox 40"/>
          <p:cNvSpPr txBox="1"/>
          <p:nvPr/>
        </p:nvSpPr>
        <p:spPr>
          <a:xfrm>
            <a:off x="8677656" y="3749039"/>
            <a:ext cx="1463040" cy="164592"/>
          </a:xfrm>
          <a:prstGeom prst="rect">
            <a:avLst/>
          </a:prstGeom>
          <a:noFill/>
        </p:spPr>
        <p:txBody>
          <a:bodyPr wrap="square" lIns="27432" rIns="27432" tIns="27432" bIns="27432" anchor="t">
            <a:spAutoFit/>
          </a:bodyPr>
          <a:lstStyle/>
          <a:p>
            <a:pPr algn="l"/>
            <a:r>
              <a:rPr sz="1200" b="1">
                <a:solidFill>
                  <a:srgbClr val="355C47"/>
                </a:solidFill>
                <a:latin typeface="Aptos Display"/>
              </a:rPr>
              <a:t>Review margin + service</a:t>
            </a:r>
          </a:p>
        </p:txBody>
      </p:sp>
      <p:sp>
        <p:nvSpPr>
          <p:cNvPr id="42" name="Rounded Rectangle 41"/>
          <p:cNvSpPr/>
          <p:nvPr/>
        </p:nvSpPr>
        <p:spPr>
          <a:xfrm>
            <a:off x="768096" y="4791456"/>
            <a:ext cx="10744200" cy="969264"/>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96112" y="4892040"/>
            <a:ext cx="3325368" cy="146304"/>
          </a:xfrm>
          <a:prstGeom prst="rect">
            <a:avLst/>
          </a:prstGeom>
          <a:noFill/>
        </p:spPr>
        <p:txBody>
          <a:bodyPr wrap="square" lIns="27432" rIns="27432" tIns="27432" bIns="27432" anchor="t">
            <a:spAutoFit/>
          </a:bodyPr>
          <a:lstStyle/>
          <a:p>
            <a:pPr algn="l"/>
            <a:r>
              <a:rPr sz="1000" b="1">
                <a:solidFill>
                  <a:srgbClr val="5F6B63"/>
                </a:solidFill>
                <a:latin typeface="Aptos"/>
              </a:rPr>
              <a:t>CADENCE</a:t>
            </a:r>
          </a:p>
        </p:txBody>
      </p:sp>
      <p:sp>
        <p:nvSpPr>
          <p:cNvPr id="44" name="TextBox 43"/>
          <p:cNvSpPr txBox="1"/>
          <p:nvPr/>
        </p:nvSpPr>
        <p:spPr>
          <a:xfrm>
            <a:off x="896112" y="5047488"/>
            <a:ext cx="3325368" cy="237744"/>
          </a:xfrm>
          <a:prstGeom prst="rect">
            <a:avLst/>
          </a:prstGeom>
          <a:noFill/>
        </p:spPr>
        <p:txBody>
          <a:bodyPr wrap="square" lIns="27432" rIns="27432" tIns="27432" bIns="27432" anchor="t">
            <a:spAutoFit/>
          </a:bodyPr>
          <a:lstStyle/>
          <a:p>
            <a:pPr algn="l"/>
            <a:r>
              <a:rPr sz="1800" b="1">
                <a:solidFill>
                  <a:srgbClr val="355C47"/>
                </a:solidFill>
                <a:latin typeface="Aptos Display"/>
              </a:rPr>
              <a:t>Monthly</a:t>
            </a:r>
          </a:p>
        </p:txBody>
      </p:sp>
      <p:sp>
        <p:nvSpPr>
          <p:cNvPr id="45" name="TextBox 44"/>
          <p:cNvSpPr txBox="1"/>
          <p:nvPr/>
        </p:nvSpPr>
        <p:spPr>
          <a:xfrm>
            <a:off x="896112" y="5303520"/>
            <a:ext cx="3325368" cy="365760"/>
          </a:xfrm>
          <a:prstGeom prst="rect">
            <a:avLst/>
          </a:prstGeom>
          <a:noFill/>
        </p:spPr>
        <p:txBody>
          <a:bodyPr wrap="square" lIns="27432" rIns="27432" tIns="27432" bIns="27432" anchor="t">
            <a:spAutoFit/>
          </a:bodyPr>
          <a:lstStyle/>
          <a:p>
            <a:pPr algn="l"/>
            <a:r>
              <a:rPr sz="1100" b="0">
                <a:solidFill>
                  <a:srgbClr val="1F2621"/>
                </a:solidFill>
                <a:latin typeface="Aptos"/>
              </a:rPr>
              <a:t>Update commitments and allocations every month, not quarterly.</a:t>
            </a:r>
          </a:p>
        </p:txBody>
      </p:sp>
      <p:cxnSp>
        <p:nvCxnSpPr>
          <p:cNvPr id="46" name="Connector 45"/>
          <p:cNvCxnSpPr/>
          <p:nvPr/>
        </p:nvCxnSpPr>
        <p:spPr>
          <a:xfrm>
            <a:off x="4349496" y="4956048"/>
            <a:ext cx="0" cy="640080"/>
          </a:xfrm>
          <a:prstGeom prst="line">
            <a:avLst/>
          </a:prstGeom>
          <a:ln w="12700">
            <a:solidFill>
              <a:srgbClr val="D8D1C6"/>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4477512" y="4892040"/>
            <a:ext cx="3325368" cy="146304"/>
          </a:xfrm>
          <a:prstGeom prst="rect">
            <a:avLst/>
          </a:prstGeom>
          <a:noFill/>
        </p:spPr>
        <p:txBody>
          <a:bodyPr wrap="square" lIns="27432" rIns="27432" tIns="27432" bIns="27432" anchor="t">
            <a:spAutoFit/>
          </a:bodyPr>
          <a:lstStyle/>
          <a:p>
            <a:pPr algn="l"/>
            <a:r>
              <a:rPr sz="1000" b="1">
                <a:solidFill>
                  <a:srgbClr val="5F6B63"/>
                </a:solidFill>
                <a:latin typeface="Aptos"/>
              </a:rPr>
              <a:t>DECISION OUTPUT</a:t>
            </a:r>
          </a:p>
        </p:txBody>
      </p:sp>
      <p:sp>
        <p:nvSpPr>
          <p:cNvPr id="48" name="TextBox 47"/>
          <p:cNvSpPr txBox="1"/>
          <p:nvPr/>
        </p:nvSpPr>
        <p:spPr>
          <a:xfrm>
            <a:off x="4477512" y="5047488"/>
            <a:ext cx="3325368" cy="237744"/>
          </a:xfrm>
          <a:prstGeom prst="rect">
            <a:avLst/>
          </a:prstGeom>
          <a:noFill/>
        </p:spPr>
        <p:txBody>
          <a:bodyPr wrap="square" lIns="27432" rIns="27432" tIns="27432" bIns="27432" anchor="t">
            <a:spAutoFit/>
          </a:bodyPr>
          <a:lstStyle/>
          <a:p>
            <a:pPr algn="l"/>
            <a:r>
              <a:rPr sz="1800" b="1">
                <a:solidFill>
                  <a:srgbClr val="3F728A"/>
                </a:solidFill>
                <a:latin typeface="Aptos Display"/>
              </a:rPr>
              <a:t>Commit + allocate</a:t>
            </a:r>
          </a:p>
        </p:txBody>
      </p:sp>
      <p:sp>
        <p:nvSpPr>
          <p:cNvPr id="49" name="TextBox 48"/>
          <p:cNvSpPr txBox="1"/>
          <p:nvPr/>
        </p:nvSpPr>
        <p:spPr>
          <a:xfrm>
            <a:off x="4477512" y="5303520"/>
            <a:ext cx="3325368" cy="365760"/>
          </a:xfrm>
          <a:prstGeom prst="rect">
            <a:avLst/>
          </a:prstGeom>
          <a:noFill/>
        </p:spPr>
        <p:txBody>
          <a:bodyPr wrap="square" lIns="27432" rIns="27432" tIns="27432" bIns="27432" anchor="t">
            <a:spAutoFit/>
          </a:bodyPr>
          <a:lstStyle/>
          <a:p>
            <a:pPr algn="l"/>
            <a:r>
              <a:rPr sz="1100" b="0">
                <a:solidFill>
                  <a:srgbClr val="1F2621"/>
                </a:solidFill>
                <a:latin typeface="Aptos"/>
              </a:rPr>
              <a:t>Reset grower volume, lanes, and promo timing in the same review.</a:t>
            </a:r>
          </a:p>
        </p:txBody>
      </p:sp>
      <p:cxnSp>
        <p:nvCxnSpPr>
          <p:cNvPr id="50" name="Connector 49"/>
          <p:cNvCxnSpPr/>
          <p:nvPr/>
        </p:nvCxnSpPr>
        <p:spPr>
          <a:xfrm>
            <a:off x="7930896" y="4956048"/>
            <a:ext cx="0" cy="640080"/>
          </a:xfrm>
          <a:prstGeom prst="line">
            <a:avLst/>
          </a:prstGeom>
          <a:ln w="12700">
            <a:solidFill>
              <a:srgbClr val="D8D1C6"/>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8058912" y="4892040"/>
            <a:ext cx="3325368" cy="146304"/>
          </a:xfrm>
          <a:prstGeom prst="rect">
            <a:avLst/>
          </a:prstGeom>
          <a:noFill/>
        </p:spPr>
        <p:txBody>
          <a:bodyPr wrap="square" lIns="27432" rIns="27432" tIns="27432" bIns="27432" anchor="t">
            <a:spAutoFit/>
          </a:bodyPr>
          <a:lstStyle/>
          <a:p>
            <a:pPr algn="l"/>
            <a:r>
              <a:rPr sz="1000" b="1">
                <a:solidFill>
                  <a:srgbClr val="5F6B63"/>
                </a:solidFill>
                <a:latin typeface="Aptos"/>
              </a:rPr>
              <a:t>SUCCESS SIGNAL</a:t>
            </a:r>
          </a:p>
        </p:txBody>
      </p:sp>
      <p:sp>
        <p:nvSpPr>
          <p:cNvPr id="52" name="TextBox 51"/>
          <p:cNvSpPr txBox="1"/>
          <p:nvPr/>
        </p:nvSpPr>
        <p:spPr>
          <a:xfrm>
            <a:off x="8058912" y="5047488"/>
            <a:ext cx="3325368" cy="237744"/>
          </a:xfrm>
          <a:prstGeom prst="rect">
            <a:avLst/>
          </a:prstGeom>
          <a:noFill/>
        </p:spPr>
        <p:txBody>
          <a:bodyPr wrap="square" lIns="27432" rIns="27432" tIns="27432" bIns="27432" anchor="t">
            <a:spAutoFit/>
          </a:bodyPr>
          <a:lstStyle/>
          <a:p>
            <a:pPr algn="l"/>
            <a:r>
              <a:rPr sz="1800" b="1">
                <a:solidFill>
                  <a:srgbClr val="C58A2A"/>
                </a:solidFill>
                <a:latin typeface="Aptos Display"/>
              </a:rPr>
              <a:t>Margin and service</a:t>
            </a:r>
          </a:p>
        </p:txBody>
      </p:sp>
      <p:sp>
        <p:nvSpPr>
          <p:cNvPr id="53" name="TextBox 52"/>
          <p:cNvSpPr txBox="1"/>
          <p:nvPr/>
        </p:nvSpPr>
        <p:spPr>
          <a:xfrm>
            <a:off x="8058912" y="5303520"/>
            <a:ext cx="3325368" cy="365760"/>
          </a:xfrm>
          <a:prstGeom prst="rect">
            <a:avLst/>
          </a:prstGeom>
          <a:noFill/>
        </p:spPr>
        <p:txBody>
          <a:bodyPr wrap="square" lIns="27432" rIns="27432" tIns="27432" bIns="27432" anchor="t">
            <a:spAutoFit/>
          </a:bodyPr>
          <a:lstStyle/>
          <a:p>
            <a:pPr algn="l"/>
            <a:r>
              <a:rPr sz="1100" b="0">
                <a:solidFill>
                  <a:srgbClr val="1F2621"/>
                </a:solidFill>
                <a:latin typeface="Aptos"/>
              </a:rPr>
              <a:t>Higher realized margin should not come with fill-rate or freshness slippage.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55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46920" y="0"/>
            <a:ext cx="2542032" cy="73152"/>
          </a:xfrm>
          <a:prstGeom prst="rect">
            <a:avLst/>
          </a:prstGeom>
          <a:solidFill>
            <a:srgbClr val="C58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01168"/>
            <a:ext cx="1554480" cy="256032"/>
          </a:xfrm>
          <a:prstGeom prst="roundRect">
            <a:avLst/>
          </a:prstGeom>
          <a:solidFill>
            <a:srgbClr val="FCFAF5"/>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224028"/>
            <a:ext cx="1517904" cy="182880"/>
          </a:xfrm>
          <a:prstGeom prst="rect">
            <a:avLst/>
          </a:prstGeom>
          <a:noFill/>
        </p:spPr>
        <p:txBody>
          <a:bodyPr wrap="square" lIns="27432" rIns="27432" tIns="27432" bIns="27432" anchor="t">
            <a:spAutoFit/>
          </a:bodyPr>
          <a:lstStyle/>
          <a:p>
            <a:pPr algn="ctr"/>
            <a:r>
              <a:rPr sz="1000" b="1">
                <a:solidFill>
                  <a:srgbClr val="355C47"/>
                </a:solidFill>
                <a:latin typeface="Aptos"/>
              </a:rPr>
              <a:t>IMPLEMENTATION</a:t>
            </a:r>
          </a:p>
        </p:txBody>
      </p:sp>
      <p:sp>
        <p:nvSpPr>
          <p:cNvPr id="7" name="TextBox 6"/>
          <p:cNvSpPr txBox="1"/>
          <p:nvPr/>
        </p:nvSpPr>
        <p:spPr>
          <a:xfrm>
            <a:off x="11631168" y="6519672"/>
            <a:ext cx="274320" cy="164592"/>
          </a:xfrm>
          <a:prstGeom prst="rect">
            <a:avLst/>
          </a:prstGeom>
          <a:noFill/>
        </p:spPr>
        <p:txBody>
          <a:bodyPr wrap="square" lIns="27432" rIns="27432" tIns="27432" bIns="27432" anchor="t">
            <a:spAutoFit/>
          </a:bodyPr>
          <a:lstStyle/>
          <a:p>
            <a:pPr algn="r"/>
            <a:r>
              <a:rPr sz="900" b="0">
                <a:solidFill>
                  <a:srgbClr val="5F6B63"/>
                </a:solidFill>
                <a:latin typeface="Aptos"/>
              </a:rPr>
              <a:t>26</a:t>
            </a:r>
          </a:p>
        </p:txBody>
      </p:sp>
      <p:sp>
        <p:nvSpPr>
          <p:cNvPr id="8" name="TextBox 7"/>
          <p:cNvSpPr txBox="1"/>
          <p:nvPr/>
        </p:nvSpPr>
        <p:spPr>
          <a:xfrm>
            <a:off x="548640" y="658368"/>
            <a:ext cx="10332720" cy="868680"/>
          </a:xfrm>
          <a:prstGeom prst="rect">
            <a:avLst/>
          </a:prstGeom>
          <a:noFill/>
        </p:spPr>
        <p:txBody>
          <a:bodyPr wrap="square" lIns="27432" rIns="27432" tIns="27432" bIns="27432" anchor="t">
            <a:spAutoFit/>
          </a:bodyPr>
          <a:lstStyle/>
          <a:p>
            <a:pPr algn="l"/>
            <a:r>
              <a:rPr sz="2700" b="1">
                <a:solidFill>
                  <a:srgbClr val="355C47"/>
                </a:solidFill>
                <a:latin typeface="Aptos Display"/>
              </a:rPr>
              <a:t>Launch in 2026, then scale only what the pilot proves</a:t>
            </a:r>
          </a:p>
        </p:txBody>
      </p:sp>
      <p:sp>
        <p:nvSpPr>
          <p:cNvPr id="9" name="TextBox 8"/>
          <p:cNvSpPr txBox="1"/>
          <p:nvPr/>
        </p:nvSpPr>
        <p:spPr>
          <a:xfrm>
            <a:off x="548640" y="1097280"/>
            <a:ext cx="10607040" cy="320040"/>
          </a:xfrm>
          <a:prstGeom prst="rect">
            <a:avLst/>
          </a:prstGeom>
          <a:noFill/>
        </p:spPr>
        <p:txBody>
          <a:bodyPr wrap="square" lIns="27432" rIns="27432" tIns="27432" bIns="27432" anchor="t">
            <a:spAutoFit/>
          </a:bodyPr>
          <a:lstStyle/>
          <a:p>
            <a:pPr algn="l"/>
            <a:r>
              <a:rPr sz="1300" b="0">
                <a:solidFill>
                  <a:srgbClr val="5F6B63"/>
                </a:solidFill>
                <a:latin typeface="Aptos"/>
              </a:rPr>
              <a:t>Treat year one as a live test of economics, service, and demand quality, not a commitment to broad expansion.</a:t>
            </a:r>
          </a:p>
        </p:txBody>
      </p:sp>
      <p:sp>
        <p:nvSpPr>
          <p:cNvPr id="10" name="Rounded Rectangle 9"/>
          <p:cNvSpPr/>
          <p:nvPr/>
        </p:nvSpPr>
        <p:spPr>
          <a:xfrm>
            <a:off x="749808" y="1600200"/>
            <a:ext cx="7680960" cy="4434840"/>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810512"/>
            <a:ext cx="1828800" cy="182880"/>
          </a:xfrm>
          <a:prstGeom prst="rect">
            <a:avLst/>
          </a:prstGeom>
          <a:noFill/>
        </p:spPr>
        <p:txBody>
          <a:bodyPr wrap="square" lIns="27432" rIns="27432" tIns="27432" bIns="27432" anchor="t">
            <a:spAutoFit/>
          </a:bodyPr>
          <a:lstStyle/>
          <a:p>
            <a:pPr algn="l"/>
            <a:r>
              <a:rPr sz="1100" b="1">
                <a:solidFill>
                  <a:srgbClr val="5F6B63"/>
                </a:solidFill>
                <a:latin typeface="Aptos"/>
              </a:rPr>
              <a:t>ROLLOUT ROADMAP</a:t>
            </a:r>
          </a:p>
        </p:txBody>
      </p:sp>
      <p:sp>
        <p:nvSpPr>
          <p:cNvPr id="12" name="Rounded Rectangle 11"/>
          <p:cNvSpPr/>
          <p:nvPr/>
        </p:nvSpPr>
        <p:spPr>
          <a:xfrm>
            <a:off x="914400" y="2148840"/>
            <a:ext cx="960120" cy="676656"/>
          </a:xfrm>
          <a:prstGeom prst="roundRect">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2276856"/>
            <a:ext cx="914400" cy="182880"/>
          </a:xfrm>
          <a:prstGeom prst="rect">
            <a:avLst/>
          </a:prstGeom>
          <a:noFill/>
        </p:spPr>
        <p:txBody>
          <a:bodyPr wrap="square" lIns="27432" rIns="27432" tIns="27432" bIns="27432" anchor="t">
            <a:spAutoFit/>
          </a:bodyPr>
          <a:lstStyle/>
          <a:p>
            <a:pPr algn="ctr"/>
            <a:r>
              <a:rPr sz="1800" b="1">
                <a:solidFill>
                  <a:srgbClr val="FCFAF5"/>
                </a:solidFill>
                <a:latin typeface="Aptos Display"/>
              </a:rPr>
              <a:t>2026</a:t>
            </a:r>
          </a:p>
        </p:txBody>
      </p:sp>
      <p:sp>
        <p:nvSpPr>
          <p:cNvPr id="14" name="Rounded Rectangle 13"/>
          <p:cNvSpPr/>
          <p:nvPr/>
        </p:nvSpPr>
        <p:spPr>
          <a:xfrm>
            <a:off x="2084831" y="2148840"/>
            <a:ext cx="4160520" cy="676656"/>
          </a:xfrm>
          <a:prstGeom prst="roundRect">
            <a:avLst/>
          </a:prstGeom>
          <a:solidFill>
            <a:srgbClr val="F7F3EC"/>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267712" y="2240280"/>
            <a:ext cx="3749039" cy="164592"/>
          </a:xfrm>
          <a:prstGeom prst="rect">
            <a:avLst/>
          </a:prstGeom>
          <a:noFill/>
        </p:spPr>
        <p:txBody>
          <a:bodyPr wrap="square" lIns="27432" rIns="27432" tIns="27432" bIns="27432" anchor="t">
            <a:spAutoFit/>
          </a:bodyPr>
          <a:lstStyle/>
          <a:p>
            <a:pPr algn="l"/>
            <a:r>
              <a:rPr sz="1000" b="1">
                <a:solidFill>
                  <a:srgbClr val="5F6B63"/>
                </a:solidFill>
                <a:latin typeface="Aptos"/>
              </a:rPr>
              <a:t>PILOT</a:t>
            </a:r>
          </a:p>
        </p:txBody>
      </p:sp>
      <p:sp>
        <p:nvSpPr>
          <p:cNvPr id="16" name="TextBox 15"/>
          <p:cNvSpPr txBox="1"/>
          <p:nvPr/>
        </p:nvSpPr>
        <p:spPr>
          <a:xfrm>
            <a:off x="2267712" y="2423160"/>
            <a:ext cx="3749039" cy="256032"/>
          </a:xfrm>
          <a:prstGeom prst="rect">
            <a:avLst/>
          </a:prstGeom>
          <a:noFill/>
        </p:spPr>
        <p:txBody>
          <a:bodyPr wrap="square" lIns="27432" rIns="27432" tIns="27432" bIns="27432" anchor="t">
            <a:spAutoFit/>
          </a:bodyPr>
          <a:lstStyle/>
          <a:p>
            <a:pPr algn="l"/>
            <a:r>
              <a:rPr sz="1300" b="0">
                <a:solidFill>
                  <a:srgbClr val="1F2621"/>
                </a:solidFill>
                <a:latin typeface="Aptos"/>
              </a:rPr>
              <a:t>Launch the five-city test and prove realized margin, fill rate, and spoilage control.</a:t>
            </a:r>
          </a:p>
        </p:txBody>
      </p:sp>
      <p:sp>
        <p:nvSpPr>
          <p:cNvPr id="17" name="Rounded Rectangle 16"/>
          <p:cNvSpPr/>
          <p:nvPr/>
        </p:nvSpPr>
        <p:spPr>
          <a:xfrm>
            <a:off x="6382512" y="2148840"/>
            <a:ext cx="1737360" cy="676656"/>
          </a:xfrm>
          <a:prstGeom prst="roundRect">
            <a:avLst/>
          </a:prstGeom>
          <a:solidFill>
            <a:srgbClr val="FFFDF9"/>
          </a:solidFill>
          <a:ln w="15240">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19672" y="2240280"/>
            <a:ext cx="1481328" cy="402336"/>
          </a:xfrm>
          <a:prstGeom prst="rect">
            <a:avLst/>
          </a:prstGeom>
          <a:noFill/>
        </p:spPr>
        <p:txBody>
          <a:bodyPr wrap="square" lIns="27432" rIns="27432" tIns="27432" bIns="27432" anchor="t">
            <a:spAutoFit/>
          </a:bodyPr>
          <a:lstStyle/>
          <a:p>
            <a:pPr algn="l"/>
            <a:r>
              <a:rPr sz="1100" b="0">
                <a:solidFill>
                  <a:srgbClr val="1F2621"/>
                </a:solidFill>
                <a:latin typeface="Aptos"/>
              </a:rPr>
              <a:t>What must be true: city economics hold in live execution.</a:t>
            </a:r>
          </a:p>
        </p:txBody>
      </p:sp>
      <p:sp>
        <p:nvSpPr>
          <p:cNvPr id="19" name="Rounded Rectangle 18"/>
          <p:cNvSpPr/>
          <p:nvPr/>
        </p:nvSpPr>
        <p:spPr>
          <a:xfrm>
            <a:off x="914400" y="3429000"/>
            <a:ext cx="960120" cy="676656"/>
          </a:xfrm>
          <a:prstGeom prst="roundRect">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 y="3557016"/>
            <a:ext cx="914400" cy="182880"/>
          </a:xfrm>
          <a:prstGeom prst="rect">
            <a:avLst/>
          </a:prstGeom>
          <a:noFill/>
        </p:spPr>
        <p:txBody>
          <a:bodyPr wrap="square" lIns="27432" rIns="27432" tIns="27432" bIns="27432" anchor="t">
            <a:spAutoFit/>
          </a:bodyPr>
          <a:lstStyle/>
          <a:p>
            <a:pPr algn="ctr"/>
            <a:r>
              <a:rPr sz="1800" b="1">
                <a:solidFill>
                  <a:srgbClr val="FCFAF5"/>
                </a:solidFill>
                <a:latin typeface="Aptos Display"/>
              </a:rPr>
              <a:t>2027</a:t>
            </a:r>
          </a:p>
        </p:txBody>
      </p:sp>
      <p:sp>
        <p:nvSpPr>
          <p:cNvPr id="21" name="Rounded Rectangle 20"/>
          <p:cNvSpPr/>
          <p:nvPr/>
        </p:nvSpPr>
        <p:spPr>
          <a:xfrm>
            <a:off x="2084831" y="3429000"/>
            <a:ext cx="4160520" cy="676656"/>
          </a:xfrm>
          <a:prstGeom prst="roundRect">
            <a:avLst/>
          </a:prstGeom>
          <a:solidFill>
            <a:srgbClr val="F7F3EC"/>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267712" y="3520440"/>
            <a:ext cx="3749039" cy="164592"/>
          </a:xfrm>
          <a:prstGeom prst="rect">
            <a:avLst/>
          </a:prstGeom>
          <a:noFill/>
        </p:spPr>
        <p:txBody>
          <a:bodyPr wrap="square" lIns="27432" rIns="27432" tIns="27432" bIns="27432" anchor="t">
            <a:spAutoFit/>
          </a:bodyPr>
          <a:lstStyle/>
          <a:p>
            <a:pPr algn="l"/>
            <a:r>
              <a:rPr sz="1000" b="1">
                <a:solidFill>
                  <a:srgbClr val="5F6B63"/>
                </a:solidFill>
                <a:latin typeface="Aptos"/>
              </a:rPr>
              <a:t>EXPAND SELECTIVELY</a:t>
            </a:r>
          </a:p>
        </p:txBody>
      </p:sp>
      <p:sp>
        <p:nvSpPr>
          <p:cNvPr id="23" name="TextBox 22"/>
          <p:cNvSpPr txBox="1"/>
          <p:nvPr/>
        </p:nvSpPr>
        <p:spPr>
          <a:xfrm>
            <a:off x="2267712" y="3703320"/>
            <a:ext cx="3749039" cy="256032"/>
          </a:xfrm>
          <a:prstGeom prst="rect">
            <a:avLst/>
          </a:prstGeom>
          <a:noFill/>
        </p:spPr>
        <p:txBody>
          <a:bodyPr wrap="square" lIns="27432" rIns="27432" tIns="27432" bIns="27432" anchor="t">
            <a:spAutoFit/>
          </a:bodyPr>
          <a:lstStyle/>
          <a:p>
            <a:pPr algn="l"/>
            <a:r>
              <a:rPr sz="1300" b="0">
                <a:solidFill>
                  <a:srgbClr val="1F2621"/>
                </a:solidFill>
                <a:latin typeface="Aptos"/>
              </a:rPr>
              <a:t>Add retailer doors only in markets where reorder behavior and service levels remain strong.</a:t>
            </a:r>
          </a:p>
        </p:txBody>
      </p:sp>
      <p:sp>
        <p:nvSpPr>
          <p:cNvPr id="24" name="Rounded Rectangle 23"/>
          <p:cNvSpPr/>
          <p:nvPr/>
        </p:nvSpPr>
        <p:spPr>
          <a:xfrm>
            <a:off x="6382512" y="3429000"/>
            <a:ext cx="1737360" cy="676656"/>
          </a:xfrm>
          <a:prstGeom prst="roundRect">
            <a:avLst/>
          </a:prstGeom>
          <a:solidFill>
            <a:srgbClr val="FFFDF9"/>
          </a:solidFill>
          <a:ln w="15240">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19672" y="3520440"/>
            <a:ext cx="1481328" cy="402336"/>
          </a:xfrm>
          <a:prstGeom prst="rect">
            <a:avLst/>
          </a:prstGeom>
          <a:noFill/>
        </p:spPr>
        <p:txBody>
          <a:bodyPr wrap="square" lIns="27432" rIns="27432" tIns="27432" bIns="27432" anchor="t">
            <a:spAutoFit/>
          </a:bodyPr>
          <a:lstStyle/>
          <a:p>
            <a:pPr algn="l"/>
            <a:r>
              <a:rPr sz="1100" b="0">
                <a:solidFill>
                  <a:srgbClr val="1F2621"/>
                </a:solidFill>
                <a:latin typeface="Aptos"/>
              </a:rPr>
              <a:t>What must be true: economics survive broader coverage.</a:t>
            </a:r>
          </a:p>
        </p:txBody>
      </p:sp>
      <p:sp>
        <p:nvSpPr>
          <p:cNvPr id="26" name="Rounded Rectangle 25"/>
          <p:cNvSpPr/>
          <p:nvPr/>
        </p:nvSpPr>
        <p:spPr>
          <a:xfrm>
            <a:off x="914400" y="4709160"/>
            <a:ext cx="960120" cy="676656"/>
          </a:xfrm>
          <a:prstGeom prst="roundRect">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 y="4837176"/>
            <a:ext cx="914400" cy="182880"/>
          </a:xfrm>
          <a:prstGeom prst="rect">
            <a:avLst/>
          </a:prstGeom>
          <a:noFill/>
        </p:spPr>
        <p:txBody>
          <a:bodyPr wrap="square" lIns="27432" rIns="27432" tIns="27432" bIns="27432" anchor="t">
            <a:spAutoFit/>
          </a:bodyPr>
          <a:lstStyle/>
          <a:p>
            <a:pPr algn="ctr"/>
            <a:r>
              <a:rPr sz="1800" b="1">
                <a:solidFill>
                  <a:srgbClr val="FCFAF5"/>
                </a:solidFill>
                <a:latin typeface="Aptos Display"/>
              </a:rPr>
              <a:t>2028</a:t>
            </a:r>
          </a:p>
        </p:txBody>
      </p:sp>
      <p:sp>
        <p:nvSpPr>
          <p:cNvPr id="28" name="Rounded Rectangle 27"/>
          <p:cNvSpPr/>
          <p:nvPr/>
        </p:nvSpPr>
        <p:spPr>
          <a:xfrm>
            <a:off x="2084831" y="4709160"/>
            <a:ext cx="4160520" cy="676656"/>
          </a:xfrm>
          <a:prstGeom prst="roundRect">
            <a:avLst/>
          </a:prstGeom>
          <a:solidFill>
            <a:srgbClr val="F7F3EC"/>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267712" y="4800600"/>
            <a:ext cx="3749039" cy="164592"/>
          </a:xfrm>
          <a:prstGeom prst="rect">
            <a:avLst/>
          </a:prstGeom>
          <a:noFill/>
        </p:spPr>
        <p:txBody>
          <a:bodyPr wrap="square" lIns="27432" rIns="27432" tIns="27432" bIns="27432" anchor="t">
            <a:spAutoFit/>
          </a:bodyPr>
          <a:lstStyle/>
          <a:p>
            <a:pPr algn="l"/>
            <a:r>
              <a:rPr sz="1000" b="1">
                <a:solidFill>
                  <a:srgbClr val="5F6B63"/>
                </a:solidFill>
                <a:latin typeface="Aptos"/>
              </a:rPr>
              <a:t>OPTIMIZE SYSTEM</a:t>
            </a:r>
          </a:p>
        </p:txBody>
      </p:sp>
      <p:sp>
        <p:nvSpPr>
          <p:cNvPr id="30" name="TextBox 29"/>
          <p:cNvSpPr txBox="1"/>
          <p:nvPr/>
        </p:nvSpPr>
        <p:spPr>
          <a:xfrm>
            <a:off x="2267712" y="4983480"/>
            <a:ext cx="3749039" cy="256032"/>
          </a:xfrm>
          <a:prstGeom prst="rect">
            <a:avLst/>
          </a:prstGeom>
          <a:noFill/>
        </p:spPr>
        <p:txBody>
          <a:bodyPr wrap="square" lIns="27432" rIns="27432" tIns="27432" bIns="27432" anchor="t">
            <a:spAutoFit/>
          </a:bodyPr>
          <a:lstStyle/>
          <a:p>
            <a:pPr algn="l"/>
            <a:r>
              <a:rPr sz="1300" b="0">
                <a:solidFill>
                  <a:srgbClr val="1F2621"/>
                </a:solidFill>
                <a:latin typeface="Aptos"/>
              </a:rPr>
              <a:t>Tighten grower contracts, allocation logic, and seasonal playbooks around what the pilot confirms.</a:t>
            </a:r>
          </a:p>
        </p:txBody>
      </p:sp>
      <p:sp>
        <p:nvSpPr>
          <p:cNvPr id="31" name="Rounded Rectangle 30"/>
          <p:cNvSpPr/>
          <p:nvPr/>
        </p:nvSpPr>
        <p:spPr>
          <a:xfrm>
            <a:off x="6382512" y="4709160"/>
            <a:ext cx="1737360" cy="676656"/>
          </a:xfrm>
          <a:prstGeom prst="roundRect">
            <a:avLst/>
          </a:prstGeom>
          <a:solidFill>
            <a:srgbClr val="FFFDF9"/>
          </a:solidFill>
          <a:ln w="15240">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19672" y="4800600"/>
            <a:ext cx="1481328" cy="402336"/>
          </a:xfrm>
          <a:prstGeom prst="rect">
            <a:avLst/>
          </a:prstGeom>
          <a:noFill/>
        </p:spPr>
        <p:txBody>
          <a:bodyPr wrap="square" lIns="27432" rIns="27432" tIns="27432" bIns="27432" anchor="t">
            <a:spAutoFit/>
          </a:bodyPr>
          <a:lstStyle/>
          <a:p>
            <a:pPr algn="l"/>
            <a:r>
              <a:rPr sz="1100" b="0">
                <a:solidFill>
                  <a:srgbClr val="1F2621"/>
                </a:solidFill>
                <a:latin typeface="Aptos"/>
              </a:rPr>
              <a:t>What must be true: process gains are repeatable.</a:t>
            </a:r>
          </a:p>
        </p:txBody>
      </p:sp>
      <p:sp>
        <p:nvSpPr>
          <p:cNvPr id="33" name="Rounded Rectangle 32"/>
          <p:cNvSpPr/>
          <p:nvPr/>
        </p:nvSpPr>
        <p:spPr>
          <a:xfrm>
            <a:off x="8705088" y="1600200"/>
            <a:ext cx="2788920" cy="4434840"/>
          </a:xfrm>
          <a:prstGeom prst="roundRect">
            <a:avLst/>
          </a:prstGeom>
          <a:solidFill>
            <a:srgbClr val="FFFDF9"/>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942832" y="1810512"/>
            <a:ext cx="2011680" cy="182880"/>
          </a:xfrm>
          <a:prstGeom prst="rect">
            <a:avLst/>
          </a:prstGeom>
          <a:noFill/>
        </p:spPr>
        <p:txBody>
          <a:bodyPr wrap="square" lIns="27432" rIns="27432" tIns="27432" bIns="27432" anchor="t">
            <a:spAutoFit/>
          </a:bodyPr>
          <a:lstStyle/>
          <a:p>
            <a:pPr algn="l"/>
            <a:r>
              <a:rPr sz="1100" b="1">
                <a:solidFill>
                  <a:srgbClr val="5F6B63"/>
                </a:solidFill>
                <a:latin typeface="Aptos"/>
              </a:rPr>
              <a:t>SCALE ONLY IF</a:t>
            </a:r>
          </a:p>
        </p:txBody>
      </p:sp>
      <p:sp>
        <p:nvSpPr>
          <p:cNvPr id="35" name="Oval 34"/>
          <p:cNvSpPr/>
          <p:nvPr/>
        </p:nvSpPr>
        <p:spPr>
          <a:xfrm>
            <a:off x="8979408" y="2240280"/>
            <a:ext cx="256032" cy="256032"/>
          </a:xfrm>
          <a:prstGeom prst="ellipse">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308592" y="2221992"/>
            <a:ext cx="1737360" cy="164592"/>
          </a:xfrm>
          <a:prstGeom prst="rect">
            <a:avLst/>
          </a:prstGeom>
          <a:noFill/>
        </p:spPr>
        <p:txBody>
          <a:bodyPr wrap="square" lIns="27432" rIns="27432" tIns="27432" bIns="27432" anchor="t">
            <a:spAutoFit/>
          </a:bodyPr>
          <a:lstStyle/>
          <a:p>
            <a:pPr algn="l"/>
            <a:r>
              <a:rPr sz="1000" b="1">
                <a:solidFill>
                  <a:srgbClr val="5F6B63"/>
                </a:solidFill>
                <a:latin typeface="Aptos"/>
              </a:rPr>
              <a:t>MARGIN</a:t>
            </a:r>
          </a:p>
        </p:txBody>
      </p:sp>
      <p:sp>
        <p:nvSpPr>
          <p:cNvPr id="37" name="TextBox 36"/>
          <p:cNvSpPr txBox="1"/>
          <p:nvPr/>
        </p:nvSpPr>
        <p:spPr>
          <a:xfrm>
            <a:off x="9308592" y="2404872"/>
            <a:ext cx="1828800" cy="475488"/>
          </a:xfrm>
          <a:prstGeom prst="rect">
            <a:avLst/>
          </a:prstGeom>
          <a:noFill/>
        </p:spPr>
        <p:txBody>
          <a:bodyPr wrap="square" lIns="27432" rIns="27432" tIns="27432" bIns="27432" anchor="t">
            <a:spAutoFit/>
          </a:bodyPr>
          <a:lstStyle/>
          <a:p>
            <a:pPr algn="l"/>
            <a:r>
              <a:rPr sz="1200" b="0">
                <a:solidFill>
                  <a:srgbClr val="1F2621"/>
                </a:solidFill>
                <a:latin typeface="Aptos"/>
              </a:rPr>
              <a:t>Realized margin beats the base case after freight and spoilage.</a:t>
            </a:r>
          </a:p>
        </p:txBody>
      </p:sp>
      <p:sp>
        <p:nvSpPr>
          <p:cNvPr id="38" name="Oval 37"/>
          <p:cNvSpPr/>
          <p:nvPr/>
        </p:nvSpPr>
        <p:spPr>
          <a:xfrm>
            <a:off x="8979408" y="3337560"/>
            <a:ext cx="256032" cy="256032"/>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308592" y="3319272"/>
            <a:ext cx="1737360" cy="164592"/>
          </a:xfrm>
          <a:prstGeom prst="rect">
            <a:avLst/>
          </a:prstGeom>
          <a:noFill/>
        </p:spPr>
        <p:txBody>
          <a:bodyPr wrap="square" lIns="27432" rIns="27432" tIns="27432" bIns="27432" anchor="t">
            <a:spAutoFit/>
          </a:bodyPr>
          <a:lstStyle/>
          <a:p>
            <a:pPr algn="l"/>
            <a:r>
              <a:rPr sz="1000" b="1">
                <a:solidFill>
                  <a:srgbClr val="5F6B63"/>
                </a:solidFill>
                <a:latin typeface="Aptos"/>
              </a:rPr>
              <a:t>SERVICE</a:t>
            </a:r>
          </a:p>
        </p:txBody>
      </p:sp>
      <p:sp>
        <p:nvSpPr>
          <p:cNvPr id="40" name="TextBox 39"/>
          <p:cNvSpPr txBox="1"/>
          <p:nvPr/>
        </p:nvSpPr>
        <p:spPr>
          <a:xfrm>
            <a:off x="9308592" y="3502152"/>
            <a:ext cx="1828800" cy="475488"/>
          </a:xfrm>
          <a:prstGeom prst="rect">
            <a:avLst/>
          </a:prstGeom>
          <a:noFill/>
        </p:spPr>
        <p:txBody>
          <a:bodyPr wrap="square" lIns="27432" rIns="27432" tIns="27432" bIns="27432" anchor="t">
            <a:spAutoFit/>
          </a:bodyPr>
          <a:lstStyle/>
          <a:p>
            <a:pPr algn="l"/>
            <a:r>
              <a:rPr sz="1200" b="0">
                <a:solidFill>
                  <a:srgbClr val="1F2621"/>
                </a:solidFill>
                <a:latin typeface="Aptos"/>
              </a:rPr>
              <a:t>Fill rate holds through peak-season pressure.</a:t>
            </a:r>
          </a:p>
        </p:txBody>
      </p:sp>
      <p:sp>
        <p:nvSpPr>
          <p:cNvPr id="41" name="Oval 40"/>
          <p:cNvSpPr/>
          <p:nvPr/>
        </p:nvSpPr>
        <p:spPr>
          <a:xfrm>
            <a:off x="8979408" y="4434840"/>
            <a:ext cx="256032" cy="256032"/>
          </a:xfrm>
          <a:prstGeom prst="ellipse">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308592" y="4416552"/>
            <a:ext cx="1737360" cy="164592"/>
          </a:xfrm>
          <a:prstGeom prst="rect">
            <a:avLst/>
          </a:prstGeom>
          <a:noFill/>
        </p:spPr>
        <p:txBody>
          <a:bodyPr wrap="square" lIns="27432" rIns="27432" tIns="27432" bIns="27432" anchor="t">
            <a:spAutoFit/>
          </a:bodyPr>
          <a:lstStyle/>
          <a:p>
            <a:pPr algn="l"/>
            <a:r>
              <a:rPr sz="1000" b="1">
                <a:solidFill>
                  <a:srgbClr val="5F6B63"/>
                </a:solidFill>
                <a:latin typeface="Aptos"/>
              </a:rPr>
              <a:t>DEMAND</a:t>
            </a:r>
          </a:p>
        </p:txBody>
      </p:sp>
      <p:sp>
        <p:nvSpPr>
          <p:cNvPr id="43" name="TextBox 42"/>
          <p:cNvSpPr txBox="1"/>
          <p:nvPr/>
        </p:nvSpPr>
        <p:spPr>
          <a:xfrm>
            <a:off x="9308592" y="4599432"/>
            <a:ext cx="1828800" cy="475488"/>
          </a:xfrm>
          <a:prstGeom prst="rect">
            <a:avLst/>
          </a:prstGeom>
          <a:noFill/>
        </p:spPr>
        <p:txBody>
          <a:bodyPr wrap="square" lIns="27432" rIns="27432" tIns="27432" bIns="27432" anchor="t">
            <a:spAutoFit/>
          </a:bodyPr>
          <a:lstStyle/>
          <a:p>
            <a:pPr algn="l"/>
            <a:r>
              <a:rPr sz="1200" b="0">
                <a:solidFill>
                  <a:srgbClr val="1F2621"/>
                </a:solidFill>
                <a:latin typeface="Aptos"/>
              </a:rPr>
              <a:t>Retailers reorder because demand is repeatable, not launch noise.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55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46920" y="0"/>
            <a:ext cx="2542032" cy="73152"/>
          </a:xfrm>
          <a:prstGeom prst="rect">
            <a:avLst/>
          </a:prstGeom>
          <a:solidFill>
            <a:srgbClr val="C58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01168"/>
            <a:ext cx="1554480" cy="256032"/>
          </a:xfrm>
          <a:prstGeom prst="roundRect">
            <a:avLst/>
          </a:prstGeom>
          <a:solidFill>
            <a:srgbClr val="FCFAF5"/>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224028"/>
            <a:ext cx="1517904" cy="182880"/>
          </a:xfrm>
          <a:prstGeom prst="rect">
            <a:avLst/>
          </a:prstGeom>
          <a:noFill/>
        </p:spPr>
        <p:txBody>
          <a:bodyPr wrap="square" lIns="27432" rIns="27432" tIns="27432" bIns="27432" anchor="t">
            <a:spAutoFit/>
          </a:bodyPr>
          <a:lstStyle/>
          <a:p>
            <a:pPr algn="ctr"/>
            <a:r>
              <a:rPr sz="1000" b="1">
                <a:solidFill>
                  <a:srgbClr val="355C47"/>
                </a:solidFill>
                <a:latin typeface="Aptos"/>
              </a:rPr>
              <a:t>IMPLEMENTATION</a:t>
            </a:r>
          </a:p>
        </p:txBody>
      </p:sp>
      <p:sp>
        <p:nvSpPr>
          <p:cNvPr id="7" name="TextBox 6"/>
          <p:cNvSpPr txBox="1"/>
          <p:nvPr/>
        </p:nvSpPr>
        <p:spPr>
          <a:xfrm>
            <a:off x="11631168" y="6519672"/>
            <a:ext cx="274320" cy="164592"/>
          </a:xfrm>
          <a:prstGeom prst="rect">
            <a:avLst/>
          </a:prstGeom>
          <a:noFill/>
        </p:spPr>
        <p:txBody>
          <a:bodyPr wrap="square" lIns="27432" rIns="27432" tIns="27432" bIns="27432" anchor="t">
            <a:spAutoFit/>
          </a:bodyPr>
          <a:lstStyle/>
          <a:p>
            <a:pPr algn="r"/>
            <a:r>
              <a:rPr sz="900" b="0">
                <a:solidFill>
                  <a:srgbClr val="5F6B63"/>
                </a:solidFill>
                <a:latin typeface="Aptos"/>
              </a:rPr>
              <a:t>27</a:t>
            </a:r>
          </a:p>
        </p:txBody>
      </p:sp>
      <p:sp>
        <p:nvSpPr>
          <p:cNvPr id="8" name="TextBox 7"/>
          <p:cNvSpPr txBox="1"/>
          <p:nvPr/>
        </p:nvSpPr>
        <p:spPr>
          <a:xfrm>
            <a:off x="548640" y="658368"/>
            <a:ext cx="10332720" cy="868680"/>
          </a:xfrm>
          <a:prstGeom prst="rect">
            <a:avLst/>
          </a:prstGeom>
          <a:noFill/>
        </p:spPr>
        <p:txBody>
          <a:bodyPr wrap="square" lIns="27432" rIns="27432" tIns="27432" bIns="27432" anchor="t">
            <a:spAutoFit/>
          </a:bodyPr>
          <a:lstStyle/>
          <a:p>
            <a:pPr algn="l"/>
            <a:r>
              <a:rPr sz="2700" b="1">
                <a:solidFill>
                  <a:srgbClr val="355C47"/>
                </a:solidFill>
                <a:latin typeface="Aptos Display"/>
              </a:rPr>
              <a:t>Pilot KPIs should prove margin, service, spoilage, and repeat orders</a:t>
            </a:r>
          </a:p>
        </p:txBody>
      </p:sp>
      <p:sp>
        <p:nvSpPr>
          <p:cNvPr id="9" name="Rounded Rectangle 8"/>
          <p:cNvSpPr/>
          <p:nvPr/>
        </p:nvSpPr>
        <p:spPr>
          <a:xfrm>
            <a:off x="749808" y="1627632"/>
            <a:ext cx="3657600" cy="4343400"/>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50976" y="1847088"/>
            <a:ext cx="1645920" cy="182880"/>
          </a:xfrm>
          <a:prstGeom prst="rect">
            <a:avLst/>
          </a:prstGeom>
          <a:noFill/>
        </p:spPr>
        <p:txBody>
          <a:bodyPr wrap="square" lIns="27432" rIns="27432" tIns="27432" bIns="27432" anchor="t">
            <a:spAutoFit/>
          </a:bodyPr>
          <a:lstStyle/>
          <a:p>
            <a:pPr algn="l"/>
            <a:r>
              <a:rPr sz="1100" b="1">
                <a:solidFill>
                  <a:srgbClr val="5F6B63"/>
                </a:solidFill>
                <a:latin typeface="Aptos"/>
              </a:rPr>
              <a:t>HEALTH CHECK</a:t>
            </a:r>
          </a:p>
        </p:txBody>
      </p:sp>
      <p:sp>
        <p:nvSpPr>
          <p:cNvPr id="11" name="Rounded Rectangle 10"/>
          <p:cNvSpPr/>
          <p:nvPr/>
        </p:nvSpPr>
        <p:spPr>
          <a:xfrm>
            <a:off x="960120" y="2240280"/>
            <a:ext cx="201168" cy="640080"/>
          </a:xfrm>
          <a:prstGeom prst="roundRect">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98448" y="2258568"/>
            <a:ext cx="1737360" cy="164592"/>
          </a:xfrm>
          <a:prstGeom prst="rect">
            <a:avLst/>
          </a:prstGeom>
          <a:noFill/>
        </p:spPr>
        <p:txBody>
          <a:bodyPr wrap="square" lIns="27432" rIns="27432" tIns="27432" bIns="27432" anchor="t">
            <a:spAutoFit/>
          </a:bodyPr>
          <a:lstStyle/>
          <a:p>
            <a:pPr algn="l"/>
            <a:r>
              <a:rPr sz="1000" b="1">
                <a:solidFill>
                  <a:srgbClr val="5F6B63"/>
                </a:solidFill>
                <a:latin typeface="Aptos"/>
              </a:rPr>
              <a:t>GROSS MARGIN</a:t>
            </a:r>
          </a:p>
        </p:txBody>
      </p:sp>
      <p:sp>
        <p:nvSpPr>
          <p:cNvPr id="13" name="TextBox 12"/>
          <p:cNvSpPr txBox="1"/>
          <p:nvPr/>
        </p:nvSpPr>
        <p:spPr>
          <a:xfrm>
            <a:off x="1298448" y="2441448"/>
            <a:ext cx="2743200" cy="384048"/>
          </a:xfrm>
          <a:prstGeom prst="rect">
            <a:avLst/>
          </a:prstGeom>
          <a:noFill/>
        </p:spPr>
        <p:txBody>
          <a:bodyPr wrap="square" lIns="27432" rIns="27432" tIns="27432" bIns="27432" anchor="t">
            <a:spAutoFit/>
          </a:bodyPr>
          <a:lstStyle/>
          <a:p>
            <a:pPr algn="l"/>
            <a:r>
              <a:rPr sz="1300" b="0">
                <a:solidFill>
                  <a:srgbClr val="1F2621"/>
                </a:solidFill>
                <a:latin typeface="Aptos"/>
              </a:rPr>
              <a:t>Proof that premium pricing survives live execution.</a:t>
            </a:r>
          </a:p>
        </p:txBody>
      </p:sp>
      <p:sp>
        <p:nvSpPr>
          <p:cNvPr id="14" name="Rounded Rectangle 13"/>
          <p:cNvSpPr/>
          <p:nvPr/>
        </p:nvSpPr>
        <p:spPr>
          <a:xfrm>
            <a:off x="960120" y="3383280"/>
            <a:ext cx="201168" cy="640080"/>
          </a:xfrm>
          <a:prstGeom prst="roundRect">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98448" y="3401568"/>
            <a:ext cx="1737360" cy="164592"/>
          </a:xfrm>
          <a:prstGeom prst="rect">
            <a:avLst/>
          </a:prstGeom>
          <a:noFill/>
        </p:spPr>
        <p:txBody>
          <a:bodyPr wrap="square" lIns="27432" rIns="27432" tIns="27432" bIns="27432" anchor="t">
            <a:spAutoFit/>
          </a:bodyPr>
          <a:lstStyle/>
          <a:p>
            <a:pPr algn="l"/>
            <a:r>
              <a:rPr sz="1000" b="1">
                <a:solidFill>
                  <a:srgbClr val="5F6B63"/>
                </a:solidFill>
                <a:latin typeface="Aptos"/>
              </a:rPr>
              <a:t>FILL RATE</a:t>
            </a:r>
          </a:p>
        </p:txBody>
      </p:sp>
      <p:sp>
        <p:nvSpPr>
          <p:cNvPr id="16" name="TextBox 15"/>
          <p:cNvSpPr txBox="1"/>
          <p:nvPr/>
        </p:nvSpPr>
        <p:spPr>
          <a:xfrm>
            <a:off x="1298448" y="3584448"/>
            <a:ext cx="2743200" cy="384048"/>
          </a:xfrm>
          <a:prstGeom prst="rect">
            <a:avLst/>
          </a:prstGeom>
          <a:noFill/>
        </p:spPr>
        <p:txBody>
          <a:bodyPr wrap="square" lIns="27432" rIns="27432" tIns="27432" bIns="27432" anchor="t">
            <a:spAutoFit/>
          </a:bodyPr>
          <a:lstStyle/>
          <a:p>
            <a:pPr algn="l"/>
            <a:r>
              <a:rPr sz="1300" b="0">
                <a:solidFill>
                  <a:srgbClr val="1F2621"/>
                </a:solidFill>
                <a:latin typeface="Aptos"/>
              </a:rPr>
              <a:t>Proof that service can scale without breaking.</a:t>
            </a:r>
          </a:p>
        </p:txBody>
      </p:sp>
      <p:sp>
        <p:nvSpPr>
          <p:cNvPr id="17" name="Rounded Rectangle 16"/>
          <p:cNvSpPr/>
          <p:nvPr/>
        </p:nvSpPr>
        <p:spPr>
          <a:xfrm>
            <a:off x="960120" y="4526280"/>
            <a:ext cx="201168" cy="640080"/>
          </a:xfrm>
          <a:prstGeom prst="roundRect">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298448" y="4544568"/>
            <a:ext cx="1737360" cy="164592"/>
          </a:xfrm>
          <a:prstGeom prst="rect">
            <a:avLst/>
          </a:prstGeom>
          <a:noFill/>
        </p:spPr>
        <p:txBody>
          <a:bodyPr wrap="square" lIns="27432" rIns="27432" tIns="27432" bIns="27432" anchor="t">
            <a:spAutoFit/>
          </a:bodyPr>
          <a:lstStyle/>
          <a:p>
            <a:pPr algn="l"/>
            <a:r>
              <a:rPr sz="1000" b="1">
                <a:solidFill>
                  <a:srgbClr val="5F6B63"/>
                </a:solidFill>
                <a:latin typeface="Aptos"/>
              </a:rPr>
              <a:t>REORDER RATE</a:t>
            </a:r>
          </a:p>
        </p:txBody>
      </p:sp>
      <p:sp>
        <p:nvSpPr>
          <p:cNvPr id="19" name="TextBox 18"/>
          <p:cNvSpPr txBox="1"/>
          <p:nvPr/>
        </p:nvSpPr>
        <p:spPr>
          <a:xfrm>
            <a:off x="1298448" y="4727448"/>
            <a:ext cx="2743200" cy="384048"/>
          </a:xfrm>
          <a:prstGeom prst="rect">
            <a:avLst/>
          </a:prstGeom>
          <a:noFill/>
        </p:spPr>
        <p:txBody>
          <a:bodyPr wrap="square" lIns="27432" rIns="27432" tIns="27432" bIns="27432" anchor="t">
            <a:spAutoFit/>
          </a:bodyPr>
          <a:lstStyle/>
          <a:p>
            <a:pPr algn="l"/>
            <a:r>
              <a:rPr sz="1300" b="0">
                <a:solidFill>
                  <a:srgbClr val="1F2621"/>
                </a:solidFill>
                <a:latin typeface="Aptos"/>
              </a:rPr>
              <a:t>Proof that demand repeats after launch week.</a:t>
            </a:r>
          </a:p>
        </p:txBody>
      </p:sp>
      <p:sp>
        <p:nvSpPr>
          <p:cNvPr id="20" name="Rounded Rectangle 19"/>
          <p:cNvSpPr/>
          <p:nvPr/>
        </p:nvSpPr>
        <p:spPr>
          <a:xfrm>
            <a:off x="4645152" y="1627632"/>
            <a:ext cx="6812280" cy="4343400"/>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64608" y="1847088"/>
            <a:ext cx="2286000" cy="182880"/>
          </a:xfrm>
          <a:prstGeom prst="rect">
            <a:avLst/>
          </a:prstGeom>
          <a:noFill/>
        </p:spPr>
        <p:txBody>
          <a:bodyPr wrap="square" lIns="27432" rIns="27432" tIns="27432" bIns="27432" anchor="t">
            <a:spAutoFit/>
          </a:bodyPr>
          <a:lstStyle/>
          <a:p>
            <a:pPr algn="l"/>
            <a:r>
              <a:rPr sz="1100" b="1">
                <a:solidFill>
                  <a:srgbClr val="5F6B63"/>
                </a:solidFill>
                <a:latin typeface="Aptos"/>
              </a:rPr>
              <a:t>PILOT SCORECARD</a:t>
            </a:r>
          </a:p>
        </p:txBody>
      </p:sp>
      <p:graphicFrame>
        <p:nvGraphicFramePr>
          <p:cNvPr id="22" name="Table 21"/>
          <p:cNvGraphicFramePr>
            <a:graphicFrameLocks noGrp="1"/>
          </p:cNvGraphicFramePr>
          <p:nvPr/>
        </p:nvGraphicFramePr>
        <p:xfrm>
          <a:off x="4864608" y="2148840"/>
          <a:ext cx="6355080" cy="3456432"/>
        </p:xfrm>
        <a:graphic>
          <a:graphicData uri="http://schemas.openxmlformats.org/drawingml/2006/table">
            <a:tbl>
              <a:tblPr firstRow="1" bandRow="1">
                <a:tableStyleId>{5C22544A-7EE6-4342-B048-85BDC9FD1C3A}</a:tableStyleId>
              </a:tblPr>
              <a:tblGrid>
                <a:gridCol w="1828800"/>
                <a:gridCol w="3063240"/>
                <a:gridCol w="1463040"/>
              </a:tblGrid>
              <a:tr h="493776">
                <a:tc>
                  <a:txBody>
                    <a:bodyPr/>
                    <a:lstStyle/>
                    <a:p>
                      <a:r>
                        <a:rPr sz="1100" b="1">
                          <a:solidFill>
                            <a:srgbClr val="FCFAF5"/>
                          </a:solidFill>
                          <a:latin typeface="Aptos"/>
                        </a:rPr>
                        <a:t>KPI</a:t>
                      </a:r>
                    </a:p>
                  </a:txBody>
                  <a:tcPr>
                    <a:solidFill>
                      <a:srgbClr val="355C47"/>
                    </a:solidFill>
                  </a:tcPr>
                </a:tc>
                <a:tc>
                  <a:txBody>
                    <a:bodyPr/>
                    <a:lstStyle/>
                    <a:p>
                      <a:r>
                        <a:rPr sz="1100" b="1">
                          <a:solidFill>
                            <a:srgbClr val="FCFAF5"/>
                          </a:solidFill>
                          <a:latin typeface="Aptos"/>
                        </a:rPr>
                        <a:t>Why it matters</a:t>
                      </a:r>
                    </a:p>
                  </a:txBody>
                  <a:tcPr>
                    <a:solidFill>
                      <a:srgbClr val="355C47"/>
                    </a:solidFill>
                  </a:tcPr>
                </a:tc>
                <a:tc>
                  <a:txBody>
                    <a:bodyPr/>
                    <a:lstStyle/>
                    <a:p>
                      <a:r>
                        <a:rPr sz="1100" b="1">
                          <a:solidFill>
                            <a:srgbClr val="FCFAF5"/>
                          </a:solidFill>
                          <a:latin typeface="Aptos"/>
                        </a:rPr>
                        <a:t>Cadence / owner</a:t>
                      </a:r>
                    </a:p>
                  </a:txBody>
                  <a:tcPr>
                    <a:solidFill>
                      <a:srgbClr val="355C47"/>
                    </a:solidFill>
                  </a:tcPr>
                </a:tc>
              </a:tr>
              <a:tr h="493776">
                <a:tc>
                  <a:txBody>
                    <a:bodyPr/>
                    <a:lstStyle/>
                    <a:p>
                      <a:r>
                        <a:rPr sz="1100" b="0">
                          <a:solidFill>
                            <a:srgbClr val="1F2621"/>
                          </a:solidFill>
                          <a:latin typeface="Aptos"/>
                        </a:rPr>
                        <a:t>Realized gross margin</a:t>
                      </a:r>
                    </a:p>
                  </a:txBody>
                  <a:tcPr>
                    <a:solidFill>
                      <a:srgbClr val="FCFAF5"/>
                    </a:solidFill>
                  </a:tcPr>
                </a:tc>
                <a:tc>
                  <a:txBody>
                    <a:bodyPr/>
                    <a:lstStyle/>
                    <a:p>
                      <a:r>
                        <a:rPr sz="1100" b="0">
                          <a:solidFill>
                            <a:srgbClr val="1F2621"/>
                          </a:solidFill>
                          <a:latin typeface="Aptos"/>
                        </a:rPr>
                        <a:t>Confirms whether forecast economics survive live execution.</a:t>
                      </a:r>
                    </a:p>
                  </a:txBody>
                  <a:tcPr>
                    <a:solidFill>
                      <a:srgbClr val="FCFAF5"/>
                    </a:solidFill>
                  </a:tcPr>
                </a:tc>
                <a:tc>
                  <a:txBody>
                    <a:bodyPr/>
                    <a:lstStyle/>
                    <a:p>
                      <a:r>
                        <a:rPr sz="1100" b="0">
                          <a:solidFill>
                            <a:srgbClr val="1F2621"/>
                          </a:solidFill>
                          <a:latin typeface="Aptos"/>
                        </a:rPr>
                        <a:t>Weekly / finance</a:t>
                      </a:r>
                    </a:p>
                  </a:txBody>
                  <a:tcPr>
                    <a:solidFill>
                      <a:srgbClr val="FCFAF5"/>
                    </a:solidFill>
                  </a:tcPr>
                </a:tc>
              </a:tr>
              <a:tr h="493776">
                <a:tc>
                  <a:txBody>
                    <a:bodyPr/>
                    <a:lstStyle/>
                    <a:p>
                      <a:r>
                        <a:rPr sz="1100" b="0">
                          <a:solidFill>
                            <a:srgbClr val="1F2621"/>
                          </a:solidFill>
                          <a:latin typeface="Aptos"/>
                        </a:rPr>
                        <a:t>Freight per unit</a:t>
                      </a:r>
                    </a:p>
                  </a:txBody>
                  <a:tcPr>
                    <a:solidFill>
                      <a:srgbClr val="F7F3EC"/>
                    </a:solidFill>
                  </a:tcPr>
                </a:tc>
                <a:tc>
                  <a:txBody>
                    <a:bodyPr/>
                    <a:lstStyle/>
                    <a:p>
                      <a:r>
                        <a:rPr sz="1100" b="0">
                          <a:solidFill>
                            <a:srgbClr val="1F2621"/>
                          </a:solidFill>
                          <a:latin typeface="Aptos"/>
                        </a:rPr>
                        <a:t>Shows whether routing and carrier discipline are improving.</a:t>
                      </a:r>
                    </a:p>
                  </a:txBody>
                  <a:tcPr>
                    <a:solidFill>
                      <a:srgbClr val="F7F3EC"/>
                    </a:solidFill>
                  </a:tcPr>
                </a:tc>
                <a:tc>
                  <a:txBody>
                    <a:bodyPr/>
                    <a:lstStyle/>
                    <a:p>
                      <a:r>
                        <a:rPr sz="1100" b="0">
                          <a:solidFill>
                            <a:srgbClr val="1F2621"/>
                          </a:solidFill>
                          <a:latin typeface="Aptos"/>
                        </a:rPr>
                        <a:t>Weekly / logistics</a:t>
                      </a:r>
                    </a:p>
                  </a:txBody>
                  <a:tcPr>
                    <a:solidFill>
                      <a:srgbClr val="F7F3EC"/>
                    </a:solidFill>
                  </a:tcPr>
                </a:tc>
              </a:tr>
              <a:tr h="493776">
                <a:tc>
                  <a:txBody>
                    <a:bodyPr/>
                    <a:lstStyle/>
                    <a:p>
                      <a:r>
                        <a:rPr sz="1100" b="0">
                          <a:solidFill>
                            <a:srgbClr val="1F2621"/>
                          </a:solidFill>
                          <a:latin typeface="Aptos"/>
                        </a:rPr>
                        <a:t>Fill rate</a:t>
                      </a:r>
                    </a:p>
                  </a:txBody>
                  <a:tcPr>
                    <a:solidFill>
                      <a:srgbClr val="FCFAF5"/>
                    </a:solidFill>
                  </a:tcPr>
                </a:tc>
                <a:tc>
                  <a:txBody>
                    <a:bodyPr/>
                    <a:lstStyle/>
                    <a:p>
                      <a:r>
                        <a:rPr sz="1100" b="0">
                          <a:solidFill>
                            <a:srgbClr val="1F2621"/>
                          </a:solidFill>
                          <a:latin typeface="Aptos"/>
                        </a:rPr>
                        <a:t>Measures retailer execution quality during seasonal peaks.</a:t>
                      </a:r>
                    </a:p>
                  </a:txBody>
                  <a:tcPr>
                    <a:solidFill>
                      <a:srgbClr val="FCFAF5"/>
                    </a:solidFill>
                  </a:tcPr>
                </a:tc>
                <a:tc>
                  <a:txBody>
                    <a:bodyPr/>
                    <a:lstStyle/>
                    <a:p>
                      <a:r>
                        <a:rPr sz="1100" b="0">
                          <a:solidFill>
                            <a:srgbClr val="1F2621"/>
                          </a:solidFill>
                          <a:latin typeface="Aptos"/>
                        </a:rPr>
                        <a:t>Weekly / operations</a:t>
                      </a:r>
                    </a:p>
                  </a:txBody>
                  <a:tcPr>
                    <a:solidFill>
                      <a:srgbClr val="FCFAF5"/>
                    </a:solidFill>
                  </a:tcPr>
                </a:tc>
              </a:tr>
              <a:tr h="493776">
                <a:tc>
                  <a:txBody>
                    <a:bodyPr/>
                    <a:lstStyle/>
                    <a:p>
                      <a:r>
                        <a:rPr sz="1100" b="0">
                          <a:solidFill>
                            <a:srgbClr val="1F2621"/>
                          </a:solidFill>
                          <a:latin typeface="Aptos"/>
                        </a:rPr>
                        <a:t>Spoilage rate</a:t>
                      </a:r>
                    </a:p>
                  </a:txBody>
                  <a:tcPr>
                    <a:solidFill>
                      <a:srgbClr val="F7F3EC"/>
                    </a:solidFill>
                  </a:tcPr>
                </a:tc>
                <a:tc>
                  <a:txBody>
                    <a:bodyPr/>
                    <a:lstStyle/>
                    <a:p>
                      <a:r>
                        <a:rPr sz="1100" b="0">
                          <a:solidFill>
                            <a:srgbClr val="1F2621"/>
                          </a:solidFill>
                          <a:latin typeface="Aptos"/>
                        </a:rPr>
                        <a:t>Captures cold-chain and freshness failures directly.</a:t>
                      </a:r>
                    </a:p>
                  </a:txBody>
                  <a:tcPr>
                    <a:solidFill>
                      <a:srgbClr val="F7F3EC"/>
                    </a:solidFill>
                  </a:tcPr>
                </a:tc>
                <a:tc>
                  <a:txBody>
                    <a:bodyPr/>
                    <a:lstStyle/>
                    <a:p>
                      <a:r>
                        <a:rPr sz="1100" b="0">
                          <a:solidFill>
                            <a:srgbClr val="1F2621"/>
                          </a:solidFill>
                          <a:latin typeface="Aptos"/>
                        </a:rPr>
                        <a:t>Weekly / operations</a:t>
                      </a:r>
                    </a:p>
                  </a:txBody>
                  <a:tcPr>
                    <a:solidFill>
                      <a:srgbClr val="F7F3EC"/>
                    </a:solidFill>
                  </a:tcPr>
                </a:tc>
              </a:tr>
              <a:tr h="493776">
                <a:tc>
                  <a:txBody>
                    <a:bodyPr/>
                    <a:lstStyle/>
                    <a:p>
                      <a:r>
                        <a:rPr sz="1100" b="0">
                          <a:solidFill>
                            <a:srgbClr val="1F2621"/>
                          </a:solidFill>
                          <a:latin typeface="Aptos"/>
                        </a:rPr>
                        <a:t>Reorder rate</a:t>
                      </a:r>
                    </a:p>
                  </a:txBody>
                  <a:tcPr>
                    <a:solidFill>
                      <a:srgbClr val="FCFAF5"/>
                    </a:solidFill>
                  </a:tcPr>
                </a:tc>
                <a:tc>
                  <a:txBody>
                    <a:bodyPr/>
                    <a:lstStyle/>
                    <a:p>
                      <a:r>
                        <a:rPr sz="1100" b="0">
                          <a:solidFill>
                            <a:srgbClr val="1F2621"/>
                          </a:solidFill>
                          <a:latin typeface="Aptos"/>
                        </a:rPr>
                        <a:t>Tests whether demand is repeatable beyond launch.</a:t>
                      </a:r>
                    </a:p>
                  </a:txBody>
                  <a:tcPr>
                    <a:solidFill>
                      <a:srgbClr val="FCFAF5"/>
                    </a:solidFill>
                  </a:tcPr>
                </a:tc>
                <a:tc>
                  <a:txBody>
                    <a:bodyPr/>
                    <a:lstStyle/>
                    <a:p>
                      <a:r>
                        <a:rPr sz="1100" b="0">
                          <a:solidFill>
                            <a:srgbClr val="1F2621"/>
                          </a:solidFill>
                          <a:latin typeface="Aptos"/>
                        </a:rPr>
                        <a:t>Monthly / commercial</a:t>
                      </a:r>
                    </a:p>
                  </a:txBody>
                  <a:tcPr>
                    <a:solidFill>
                      <a:srgbClr val="FCFAF5"/>
                    </a:solidFill>
                  </a:tcPr>
                </a:tc>
              </a:tr>
              <a:tr h="493776">
                <a:tc>
                  <a:txBody>
                    <a:bodyPr/>
                    <a:lstStyle/>
                    <a:p>
                      <a:r>
                        <a:rPr sz="1100" b="0">
                          <a:solidFill>
                            <a:srgbClr val="1F2621"/>
                          </a:solidFill>
                          <a:latin typeface="Aptos"/>
                        </a:rPr>
                        <a:t>Forecast accuracy</a:t>
                      </a:r>
                    </a:p>
                  </a:txBody>
                  <a:tcPr>
                    <a:solidFill>
                      <a:srgbClr val="F7F3EC"/>
                    </a:solidFill>
                  </a:tcPr>
                </a:tc>
                <a:tc>
                  <a:txBody>
                    <a:bodyPr/>
                    <a:lstStyle/>
                    <a:p>
                      <a:r>
                        <a:rPr sz="1100" b="0">
                          <a:solidFill>
                            <a:srgbClr val="1F2621"/>
                          </a:solidFill>
                          <a:latin typeface="Aptos"/>
                        </a:rPr>
                        <a:t>Shows whether monthly S&amp;OP is improving allocation decisions.</a:t>
                      </a:r>
                    </a:p>
                  </a:txBody>
                  <a:tcPr>
                    <a:solidFill>
                      <a:srgbClr val="F7F3EC"/>
                    </a:solidFill>
                  </a:tcPr>
                </a:tc>
                <a:tc>
                  <a:txBody>
                    <a:bodyPr/>
                    <a:lstStyle/>
                    <a:p>
                      <a:r>
                        <a:rPr sz="1100" b="0">
                          <a:solidFill>
                            <a:srgbClr val="1F2621"/>
                          </a:solidFill>
                          <a:latin typeface="Aptos"/>
                        </a:rPr>
                        <a:t>Monthly / planning</a:t>
                      </a:r>
                    </a:p>
                  </a:txBody>
                  <a:tcPr>
                    <a:solidFill>
                      <a:srgbClr val="F7F3EC"/>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55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46920" y="0"/>
            <a:ext cx="2542032" cy="73152"/>
          </a:xfrm>
          <a:prstGeom prst="rect">
            <a:avLst/>
          </a:prstGeom>
          <a:solidFill>
            <a:srgbClr val="C58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01168"/>
            <a:ext cx="1554480" cy="256032"/>
          </a:xfrm>
          <a:prstGeom prst="roundRect">
            <a:avLst/>
          </a:prstGeom>
          <a:solidFill>
            <a:srgbClr val="FCFAF5"/>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224028"/>
            <a:ext cx="1517904" cy="182880"/>
          </a:xfrm>
          <a:prstGeom prst="rect">
            <a:avLst/>
          </a:prstGeom>
          <a:noFill/>
        </p:spPr>
        <p:txBody>
          <a:bodyPr wrap="square" lIns="27432" rIns="27432" tIns="27432" bIns="27432" anchor="t">
            <a:spAutoFit/>
          </a:bodyPr>
          <a:lstStyle/>
          <a:p>
            <a:pPr algn="ctr"/>
            <a:r>
              <a:rPr sz="1000" b="1">
                <a:solidFill>
                  <a:srgbClr val="355C47"/>
                </a:solidFill>
                <a:latin typeface="Aptos"/>
              </a:rPr>
              <a:t>RISKS</a:t>
            </a:r>
          </a:p>
        </p:txBody>
      </p:sp>
      <p:sp>
        <p:nvSpPr>
          <p:cNvPr id="7" name="TextBox 6"/>
          <p:cNvSpPr txBox="1"/>
          <p:nvPr/>
        </p:nvSpPr>
        <p:spPr>
          <a:xfrm>
            <a:off x="11631168" y="6519672"/>
            <a:ext cx="274320" cy="164592"/>
          </a:xfrm>
          <a:prstGeom prst="rect">
            <a:avLst/>
          </a:prstGeom>
          <a:noFill/>
        </p:spPr>
        <p:txBody>
          <a:bodyPr wrap="square" lIns="27432" rIns="27432" tIns="27432" bIns="27432" anchor="t">
            <a:spAutoFit/>
          </a:bodyPr>
          <a:lstStyle/>
          <a:p>
            <a:pPr algn="r"/>
            <a:r>
              <a:rPr sz="900" b="0">
                <a:solidFill>
                  <a:srgbClr val="5F6B63"/>
                </a:solidFill>
                <a:latin typeface="Aptos"/>
              </a:rPr>
              <a:t>28</a:t>
            </a:r>
          </a:p>
        </p:txBody>
      </p:sp>
      <p:sp>
        <p:nvSpPr>
          <p:cNvPr id="8" name="Rounded Rectangle 7"/>
          <p:cNvSpPr/>
          <p:nvPr/>
        </p:nvSpPr>
        <p:spPr>
          <a:xfrm>
            <a:off x="10241280" y="256032"/>
            <a:ext cx="1280160" cy="274320"/>
          </a:xfrm>
          <a:prstGeom prst="roundRect">
            <a:avLst/>
          </a:prstGeom>
          <a:solidFill>
            <a:srgbClr val="B5533A"/>
          </a:solidFill>
          <a:ln>
            <a:solidFill>
              <a:srgbClr val="B55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59568" y="260604"/>
            <a:ext cx="1243584" cy="219456"/>
          </a:xfrm>
          <a:prstGeom prst="rect">
            <a:avLst/>
          </a:prstGeom>
          <a:noFill/>
        </p:spPr>
        <p:txBody>
          <a:bodyPr wrap="square" lIns="27432" rIns="27432" tIns="27432" bIns="27432" anchor="ctr">
            <a:spAutoFit/>
          </a:bodyPr>
          <a:lstStyle/>
          <a:p>
            <a:pPr algn="ctr"/>
            <a:r>
              <a:rPr sz="1100" b="1">
                <a:solidFill>
                  <a:srgbClr val="FCFAF5"/>
                </a:solidFill>
                <a:latin typeface="Aptos"/>
              </a:rPr>
              <a:t>INFERENCE</a:t>
            </a:r>
          </a:p>
        </p:txBody>
      </p:sp>
      <p:sp>
        <p:nvSpPr>
          <p:cNvPr id="10" name="TextBox 9"/>
          <p:cNvSpPr txBox="1"/>
          <p:nvPr/>
        </p:nvSpPr>
        <p:spPr>
          <a:xfrm>
            <a:off x="548640" y="658368"/>
            <a:ext cx="10332720" cy="868680"/>
          </a:xfrm>
          <a:prstGeom prst="rect">
            <a:avLst/>
          </a:prstGeom>
          <a:noFill/>
        </p:spPr>
        <p:txBody>
          <a:bodyPr wrap="square" lIns="27432" rIns="27432" tIns="27432" bIns="27432" anchor="t">
            <a:spAutoFit/>
          </a:bodyPr>
          <a:lstStyle/>
          <a:p>
            <a:pPr algn="l"/>
            <a:r>
              <a:rPr sz="2700" b="1">
                <a:solidFill>
                  <a:srgbClr val="355C47"/>
                </a:solidFill>
                <a:latin typeface="Aptos Display"/>
              </a:rPr>
              <a:t>Top risks are freight, competitors, import disruption, and forecast error</a:t>
            </a:r>
          </a:p>
        </p:txBody>
      </p:sp>
      <p:sp>
        <p:nvSpPr>
          <p:cNvPr id="11" name="Rounded Rectangle 10"/>
          <p:cNvSpPr/>
          <p:nvPr/>
        </p:nvSpPr>
        <p:spPr>
          <a:xfrm>
            <a:off x="749808" y="1600200"/>
            <a:ext cx="6858000" cy="4114800"/>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 name="Connector 11"/>
          <p:cNvCxnSpPr/>
          <p:nvPr/>
        </p:nvCxnSpPr>
        <p:spPr>
          <a:xfrm>
            <a:off x="4187952" y="1810512"/>
            <a:ext cx="0" cy="3657600"/>
          </a:xfrm>
          <a:prstGeom prst="line">
            <a:avLst/>
          </a:prstGeom>
          <a:ln w="20320">
            <a:solidFill>
              <a:srgbClr val="D8D1C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05840" y="3657600"/>
            <a:ext cx="6291072" cy="0"/>
          </a:xfrm>
          <a:prstGeom prst="line">
            <a:avLst/>
          </a:prstGeom>
          <a:ln w="20320">
            <a:solidFill>
              <a:srgbClr val="D8D1C6"/>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200400" y="1673352"/>
            <a:ext cx="2011680" cy="182880"/>
          </a:xfrm>
          <a:prstGeom prst="rect">
            <a:avLst/>
          </a:prstGeom>
          <a:noFill/>
        </p:spPr>
        <p:txBody>
          <a:bodyPr wrap="square" lIns="27432" rIns="27432" tIns="27432" bIns="27432" anchor="t">
            <a:spAutoFit/>
          </a:bodyPr>
          <a:lstStyle/>
          <a:p>
            <a:pPr algn="ctr"/>
            <a:r>
              <a:rPr sz="1100" b="1">
                <a:solidFill>
                  <a:srgbClr val="5F6B63"/>
                </a:solidFill>
                <a:latin typeface="Aptos"/>
              </a:rPr>
              <a:t>High impact</a:t>
            </a:r>
          </a:p>
        </p:txBody>
      </p:sp>
      <p:sp>
        <p:nvSpPr>
          <p:cNvPr id="15" name="TextBox 14"/>
          <p:cNvSpPr txBox="1"/>
          <p:nvPr/>
        </p:nvSpPr>
        <p:spPr>
          <a:xfrm>
            <a:off x="3200400" y="5504688"/>
            <a:ext cx="2011680" cy="182880"/>
          </a:xfrm>
          <a:prstGeom prst="rect">
            <a:avLst/>
          </a:prstGeom>
          <a:noFill/>
        </p:spPr>
        <p:txBody>
          <a:bodyPr wrap="square" lIns="27432" rIns="27432" tIns="27432" bIns="27432" anchor="t">
            <a:spAutoFit/>
          </a:bodyPr>
          <a:lstStyle/>
          <a:p>
            <a:pPr algn="ctr"/>
            <a:r>
              <a:rPr sz="1100" b="1">
                <a:solidFill>
                  <a:srgbClr val="5F6B63"/>
                </a:solidFill>
                <a:latin typeface="Aptos"/>
              </a:rPr>
              <a:t>Low impact</a:t>
            </a:r>
          </a:p>
        </p:txBody>
      </p:sp>
      <p:sp>
        <p:nvSpPr>
          <p:cNvPr id="16" name="TextBox 15"/>
          <p:cNvSpPr txBox="1"/>
          <p:nvPr/>
        </p:nvSpPr>
        <p:spPr>
          <a:xfrm>
            <a:off x="658368" y="3383280"/>
            <a:ext cx="822960" cy="365760"/>
          </a:xfrm>
          <a:prstGeom prst="rect">
            <a:avLst/>
          </a:prstGeom>
          <a:noFill/>
        </p:spPr>
        <p:txBody>
          <a:bodyPr wrap="square" lIns="27432" rIns="27432" tIns="27432" bIns="27432" anchor="t">
            <a:spAutoFit/>
          </a:bodyPr>
          <a:lstStyle/>
          <a:p>
            <a:pPr algn="ctr"/>
            <a:r>
              <a:rPr sz="1100" b="1">
                <a:solidFill>
                  <a:srgbClr val="5F6B63"/>
                </a:solidFill>
                <a:latin typeface="Aptos"/>
              </a:rPr>
              <a:t>Low
prob.</a:t>
            </a:r>
          </a:p>
        </p:txBody>
      </p:sp>
      <p:sp>
        <p:nvSpPr>
          <p:cNvPr id="17" name="TextBox 16"/>
          <p:cNvSpPr txBox="1"/>
          <p:nvPr/>
        </p:nvSpPr>
        <p:spPr>
          <a:xfrm>
            <a:off x="7315200" y="3383280"/>
            <a:ext cx="822960" cy="365760"/>
          </a:xfrm>
          <a:prstGeom prst="rect">
            <a:avLst/>
          </a:prstGeom>
          <a:noFill/>
        </p:spPr>
        <p:txBody>
          <a:bodyPr wrap="square" lIns="27432" rIns="27432" tIns="27432" bIns="27432" anchor="t">
            <a:spAutoFit/>
          </a:bodyPr>
          <a:lstStyle/>
          <a:p>
            <a:pPr algn="ctr"/>
            <a:r>
              <a:rPr sz="1100" b="1">
                <a:solidFill>
                  <a:srgbClr val="5F6B63"/>
                </a:solidFill>
                <a:latin typeface="Aptos"/>
              </a:rPr>
              <a:t>High
prob.</a:t>
            </a:r>
          </a:p>
        </p:txBody>
      </p:sp>
      <p:sp>
        <p:nvSpPr>
          <p:cNvPr id="18" name="Oval 17"/>
          <p:cNvSpPr/>
          <p:nvPr/>
        </p:nvSpPr>
        <p:spPr>
          <a:xfrm>
            <a:off x="6144768" y="2066543"/>
            <a:ext cx="749808" cy="749808"/>
          </a:xfrm>
          <a:prstGeom prst="ellipse">
            <a:avLst/>
          </a:prstGeom>
          <a:solidFill>
            <a:srgbClr val="B5533A"/>
          </a:solidFill>
          <a:ln>
            <a:solidFill>
              <a:srgbClr val="B55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15584" y="2852927"/>
            <a:ext cx="1783080" cy="384048"/>
          </a:xfrm>
          <a:prstGeom prst="rect">
            <a:avLst/>
          </a:prstGeom>
          <a:noFill/>
        </p:spPr>
        <p:txBody>
          <a:bodyPr wrap="square" lIns="27432" rIns="27432" tIns="27432" bIns="27432" anchor="t">
            <a:spAutoFit/>
          </a:bodyPr>
          <a:lstStyle/>
          <a:p>
            <a:pPr algn="ctr"/>
            <a:r>
              <a:rPr sz="1000" b="0">
                <a:solidFill>
                  <a:srgbClr val="1F2621"/>
                </a:solidFill>
                <a:latin typeface="Aptos"/>
              </a:rPr>
              <a:t>Freight spikes</a:t>
            </a:r>
          </a:p>
        </p:txBody>
      </p:sp>
      <p:sp>
        <p:nvSpPr>
          <p:cNvPr id="20" name="Oval 19"/>
          <p:cNvSpPr/>
          <p:nvPr/>
        </p:nvSpPr>
        <p:spPr>
          <a:xfrm>
            <a:off x="4407408" y="1901952"/>
            <a:ext cx="749808" cy="749808"/>
          </a:xfrm>
          <a:prstGeom prst="ellipse">
            <a:avLst/>
          </a:prstGeom>
          <a:solidFill>
            <a:srgbClr val="B5533A"/>
          </a:solidFill>
          <a:ln>
            <a:solidFill>
              <a:srgbClr val="B55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023360" y="2688336"/>
            <a:ext cx="1664208" cy="384048"/>
          </a:xfrm>
          <a:prstGeom prst="rect">
            <a:avLst/>
          </a:prstGeom>
          <a:noFill/>
        </p:spPr>
        <p:txBody>
          <a:bodyPr wrap="square" lIns="27432" rIns="27432" tIns="27432" bIns="27432" anchor="t">
            <a:spAutoFit/>
          </a:bodyPr>
          <a:lstStyle/>
          <a:p>
            <a:pPr algn="ctr"/>
            <a:r>
              <a:rPr sz="1000" b="0">
                <a:solidFill>
                  <a:srgbClr val="1F2621"/>
                </a:solidFill>
                <a:latin typeface="Aptos"/>
              </a:rPr>
              <a:t>Import disruption</a:t>
            </a:r>
          </a:p>
        </p:txBody>
      </p:sp>
      <p:sp>
        <p:nvSpPr>
          <p:cNvPr id="22" name="Oval 21"/>
          <p:cNvSpPr/>
          <p:nvPr/>
        </p:nvSpPr>
        <p:spPr>
          <a:xfrm>
            <a:off x="1847088" y="4315968"/>
            <a:ext cx="749808" cy="749808"/>
          </a:xfrm>
          <a:prstGeom prst="ellipse">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89888" y="5193792"/>
            <a:ext cx="2048256" cy="384048"/>
          </a:xfrm>
          <a:prstGeom prst="rect">
            <a:avLst/>
          </a:prstGeom>
          <a:noFill/>
        </p:spPr>
        <p:txBody>
          <a:bodyPr wrap="square" lIns="27432" rIns="27432" tIns="27432" bIns="27432" anchor="t">
            <a:spAutoFit/>
          </a:bodyPr>
          <a:lstStyle/>
          <a:p>
            <a:pPr algn="ctr"/>
            <a:r>
              <a:rPr sz="1000" b="0">
                <a:solidFill>
                  <a:srgbClr val="1F2621"/>
                </a:solidFill>
                <a:latin typeface="Aptos"/>
              </a:rPr>
              <a:t>Competitor response</a:t>
            </a:r>
          </a:p>
        </p:txBody>
      </p:sp>
      <p:sp>
        <p:nvSpPr>
          <p:cNvPr id="24" name="Oval 23"/>
          <p:cNvSpPr/>
          <p:nvPr/>
        </p:nvSpPr>
        <p:spPr>
          <a:xfrm>
            <a:off x="4800600" y="3200400"/>
            <a:ext cx="749808" cy="749808"/>
          </a:xfrm>
          <a:prstGeom prst="ellipse">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16552" y="3986784"/>
            <a:ext cx="1664208" cy="384048"/>
          </a:xfrm>
          <a:prstGeom prst="rect">
            <a:avLst/>
          </a:prstGeom>
          <a:noFill/>
        </p:spPr>
        <p:txBody>
          <a:bodyPr wrap="square" lIns="27432" rIns="27432" tIns="27432" bIns="27432" anchor="t">
            <a:spAutoFit/>
          </a:bodyPr>
          <a:lstStyle/>
          <a:p>
            <a:pPr algn="ctr"/>
            <a:r>
              <a:rPr sz="1000" b="0">
                <a:solidFill>
                  <a:srgbClr val="1F2621"/>
                </a:solidFill>
                <a:latin typeface="Aptos"/>
              </a:rPr>
              <a:t>Forecast error</a:t>
            </a:r>
          </a:p>
        </p:txBody>
      </p:sp>
      <p:sp>
        <p:nvSpPr>
          <p:cNvPr id="26" name="Oval 25"/>
          <p:cNvSpPr/>
          <p:nvPr/>
        </p:nvSpPr>
        <p:spPr>
          <a:xfrm>
            <a:off x="5212080" y="3977639"/>
            <a:ext cx="749808" cy="749808"/>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28032" y="4764024"/>
            <a:ext cx="1664208" cy="384048"/>
          </a:xfrm>
          <a:prstGeom prst="rect">
            <a:avLst/>
          </a:prstGeom>
          <a:noFill/>
        </p:spPr>
        <p:txBody>
          <a:bodyPr wrap="square" lIns="27432" rIns="27432" tIns="27432" bIns="27432" anchor="t">
            <a:spAutoFit/>
          </a:bodyPr>
          <a:lstStyle/>
          <a:p>
            <a:pPr algn="ctr"/>
            <a:r>
              <a:rPr sz="1000" b="0">
                <a:solidFill>
                  <a:srgbClr val="1F2621"/>
                </a:solidFill>
                <a:latin typeface="Aptos"/>
              </a:rPr>
              <a:t>Retailer uptake</a:t>
            </a:r>
          </a:p>
        </p:txBody>
      </p:sp>
      <p:sp>
        <p:nvSpPr>
          <p:cNvPr id="28" name="Oval 27"/>
          <p:cNvSpPr/>
          <p:nvPr/>
        </p:nvSpPr>
        <p:spPr>
          <a:xfrm>
            <a:off x="3794760" y="3767328"/>
            <a:ext cx="749808" cy="749808"/>
          </a:xfrm>
          <a:prstGeom prst="ellipse">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410712" y="4553712"/>
            <a:ext cx="1664208" cy="384048"/>
          </a:xfrm>
          <a:prstGeom prst="rect">
            <a:avLst/>
          </a:prstGeom>
          <a:noFill/>
        </p:spPr>
        <p:txBody>
          <a:bodyPr wrap="square" lIns="27432" rIns="27432" tIns="27432" bIns="27432" anchor="t">
            <a:spAutoFit/>
          </a:bodyPr>
          <a:lstStyle/>
          <a:p>
            <a:pPr algn="ctr"/>
            <a:r>
              <a:rPr sz="1000" b="0">
                <a:solidFill>
                  <a:srgbClr val="1F2621"/>
                </a:solidFill>
                <a:latin typeface="Aptos"/>
              </a:rPr>
              <a:t>Spoilage</a:t>
            </a:r>
          </a:p>
        </p:txBody>
      </p:sp>
      <p:sp>
        <p:nvSpPr>
          <p:cNvPr id="30" name="Rounded Rectangle 29"/>
          <p:cNvSpPr/>
          <p:nvPr/>
        </p:nvSpPr>
        <p:spPr>
          <a:xfrm>
            <a:off x="7918704" y="1600200"/>
            <a:ext cx="3529584" cy="4114800"/>
          </a:xfrm>
          <a:prstGeom prst="roundRect">
            <a:avLst/>
          </a:prstGeom>
          <a:solidFill>
            <a:srgbClr val="FFFDF9"/>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56448" y="1810512"/>
            <a:ext cx="2194560" cy="182880"/>
          </a:xfrm>
          <a:prstGeom prst="rect">
            <a:avLst/>
          </a:prstGeom>
          <a:noFill/>
        </p:spPr>
        <p:txBody>
          <a:bodyPr wrap="square" lIns="27432" rIns="27432" tIns="27432" bIns="27432" anchor="t">
            <a:spAutoFit/>
          </a:bodyPr>
          <a:lstStyle/>
          <a:p>
            <a:pPr algn="l"/>
            <a:r>
              <a:rPr sz="1100" b="1">
                <a:solidFill>
                  <a:srgbClr val="5F6B63"/>
                </a:solidFill>
                <a:latin typeface="Aptos"/>
              </a:rPr>
              <a:t>WATCHLIST</a:t>
            </a:r>
          </a:p>
        </p:txBody>
      </p:sp>
      <p:sp>
        <p:nvSpPr>
          <p:cNvPr id="32" name="TextBox 31"/>
          <p:cNvSpPr txBox="1"/>
          <p:nvPr/>
        </p:nvSpPr>
        <p:spPr>
          <a:xfrm>
            <a:off x="8183879" y="2157984"/>
            <a:ext cx="2560320" cy="164592"/>
          </a:xfrm>
          <a:prstGeom prst="rect">
            <a:avLst/>
          </a:prstGeom>
          <a:noFill/>
        </p:spPr>
        <p:txBody>
          <a:bodyPr wrap="square" lIns="27432" rIns="27432" tIns="27432" bIns="27432" anchor="t">
            <a:spAutoFit/>
          </a:bodyPr>
          <a:lstStyle/>
          <a:p>
            <a:pPr algn="l"/>
            <a:r>
              <a:rPr sz="1000" b="1">
                <a:solidFill>
                  <a:srgbClr val="B5533A"/>
                </a:solidFill>
                <a:latin typeface="Aptos"/>
              </a:rPr>
              <a:t>FREIGHT SPIKES</a:t>
            </a:r>
          </a:p>
        </p:txBody>
      </p:sp>
      <p:sp>
        <p:nvSpPr>
          <p:cNvPr id="33" name="TextBox 32"/>
          <p:cNvSpPr txBox="1"/>
          <p:nvPr/>
        </p:nvSpPr>
        <p:spPr>
          <a:xfrm>
            <a:off x="8183879" y="2322576"/>
            <a:ext cx="2743200" cy="384048"/>
          </a:xfrm>
          <a:prstGeom prst="rect">
            <a:avLst/>
          </a:prstGeom>
          <a:noFill/>
        </p:spPr>
        <p:txBody>
          <a:bodyPr wrap="square" lIns="27432" rIns="27432" tIns="27432" bIns="27432" anchor="t">
            <a:spAutoFit/>
          </a:bodyPr>
          <a:lstStyle/>
          <a:p>
            <a:pPr algn="l"/>
            <a:r>
              <a:rPr sz="1100" b="0">
                <a:solidFill>
                  <a:srgbClr val="1F2621"/>
                </a:solidFill>
                <a:latin typeface="Aptos"/>
              </a:rPr>
              <a:t>Pre-book core lanes and keep alternates ready before peak season.</a:t>
            </a:r>
          </a:p>
        </p:txBody>
      </p:sp>
      <p:sp>
        <p:nvSpPr>
          <p:cNvPr id="34" name="TextBox 33"/>
          <p:cNvSpPr txBox="1"/>
          <p:nvPr/>
        </p:nvSpPr>
        <p:spPr>
          <a:xfrm>
            <a:off x="8183879" y="3054096"/>
            <a:ext cx="2560320" cy="164592"/>
          </a:xfrm>
          <a:prstGeom prst="rect">
            <a:avLst/>
          </a:prstGeom>
          <a:noFill/>
        </p:spPr>
        <p:txBody>
          <a:bodyPr wrap="square" lIns="27432" rIns="27432" tIns="27432" bIns="27432" anchor="t">
            <a:spAutoFit/>
          </a:bodyPr>
          <a:lstStyle/>
          <a:p>
            <a:pPr algn="l"/>
            <a:r>
              <a:rPr sz="1000" b="1">
                <a:solidFill>
                  <a:srgbClr val="355C47"/>
                </a:solidFill>
                <a:latin typeface="Aptos"/>
              </a:rPr>
              <a:t>COMPETITOR RESPONSE</a:t>
            </a:r>
          </a:p>
        </p:txBody>
      </p:sp>
      <p:sp>
        <p:nvSpPr>
          <p:cNvPr id="35" name="TextBox 34"/>
          <p:cNvSpPr txBox="1"/>
          <p:nvPr/>
        </p:nvSpPr>
        <p:spPr>
          <a:xfrm>
            <a:off x="8183879" y="3218688"/>
            <a:ext cx="2743200" cy="384048"/>
          </a:xfrm>
          <a:prstGeom prst="rect">
            <a:avLst/>
          </a:prstGeom>
          <a:noFill/>
        </p:spPr>
        <p:txBody>
          <a:bodyPr wrap="square" lIns="27432" rIns="27432" tIns="27432" bIns="27432" anchor="t">
            <a:spAutoFit/>
          </a:bodyPr>
          <a:lstStyle/>
          <a:p>
            <a:pPr algn="l"/>
            <a:r>
              <a:rPr sz="1100" b="0">
                <a:solidFill>
                  <a:srgbClr val="1F2621"/>
                </a:solidFill>
                <a:latin typeface="Aptos"/>
              </a:rPr>
              <a:t>The 20,000-unit pilot is less than 1% of any target city's organic volume. Monitor but do not overweight.</a:t>
            </a:r>
          </a:p>
        </p:txBody>
      </p:sp>
      <p:sp>
        <p:nvSpPr>
          <p:cNvPr id="36" name="TextBox 35"/>
          <p:cNvSpPr txBox="1"/>
          <p:nvPr/>
        </p:nvSpPr>
        <p:spPr>
          <a:xfrm>
            <a:off x="8183879" y="3950208"/>
            <a:ext cx="2560320" cy="164592"/>
          </a:xfrm>
          <a:prstGeom prst="rect">
            <a:avLst/>
          </a:prstGeom>
          <a:noFill/>
        </p:spPr>
        <p:txBody>
          <a:bodyPr wrap="square" lIns="27432" rIns="27432" tIns="27432" bIns="27432" anchor="t">
            <a:spAutoFit/>
          </a:bodyPr>
          <a:lstStyle/>
          <a:p>
            <a:pPr algn="l"/>
            <a:r>
              <a:rPr sz="1000" b="1">
                <a:solidFill>
                  <a:srgbClr val="3F728A"/>
                </a:solidFill>
                <a:latin typeface="Aptos"/>
              </a:rPr>
              <a:t>IMPORT DISRUPTION</a:t>
            </a:r>
          </a:p>
        </p:txBody>
      </p:sp>
      <p:sp>
        <p:nvSpPr>
          <p:cNvPr id="37" name="TextBox 36"/>
          <p:cNvSpPr txBox="1"/>
          <p:nvPr/>
        </p:nvSpPr>
        <p:spPr>
          <a:xfrm>
            <a:off x="8183879" y="4114800"/>
            <a:ext cx="2743200" cy="384048"/>
          </a:xfrm>
          <a:prstGeom prst="rect">
            <a:avLst/>
          </a:prstGeom>
          <a:noFill/>
        </p:spPr>
        <p:txBody>
          <a:bodyPr wrap="square" lIns="27432" rIns="27432" tIns="27432" bIns="27432" anchor="t">
            <a:spAutoFit/>
          </a:bodyPr>
          <a:lstStyle/>
          <a:p>
            <a:pPr algn="l"/>
            <a:r>
              <a:rPr sz="1100" b="0">
                <a:solidFill>
                  <a:srgbClr val="1F2621"/>
                </a:solidFill>
                <a:latin typeface="Aptos"/>
              </a:rPr>
              <a:t>Use flexible grower commitments and staggered sourcing windows.</a:t>
            </a:r>
          </a:p>
        </p:txBody>
      </p:sp>
      <p:sp>
        <p:nvSpPr>
          <p:cNvPr id="38" name="TextBox 37"/>
          <p:cNvSpPr txBox="1"/>
          <p:nvPr/>
        </p:nvSpPr>
        <p:spPr>
          <a:xfrm>
            <a:off x="8183879" y="4846320"/>
            <a:ext cx="2560320" cy="164592"/>
          </a:xfrm>
          <a:prstGeom prst="rect">
            <a:avLst/>
          </a:prstGeom>
          <a:noFill/>
        </p:spPr>
        <p:txBody>
          <a:bodyPr wrap="square" lIns="27432" rIns="27432" tIns="27432" bIns="27432" anchor="t">
            <a:spAutoFit/>
          </a:bodyPr>
          <a:lstStyle/>
          <a:p>
            <a:pPr algn="l"/>
            <a:r>
              <a:rPr sz="1000" b="1">
                <a:solidFill>
                  <a:srgbClr val="3F728A"/>
                </a:solidFill>
                <a:latin typeface="Aptos"/>
              </a:rPr>
              <a:t>FORECAST ERROR</a:t>
            </a:r>
          </a:p>
        </p:txBody>
      </p:sp>
      <p:sp>
        <p:nvSpPr>
          <p:cNvPr id="39" name="TextBox 38"/>
          <p:cNvSpPr txBox="1"/>
          <p:nvPr/>
        </p:nvSpPr>
        <p:spPr>
          <a:xfrm>
            <a:off x="8183879" y="5010912"/>
            <a:ext cx="2743200" cy="384048"/>
          </a:xfrm>
          <a:prstGeom prst="rect">
            <a:avLst/>
          </a:prstGeom>
          <a:noFill/>
        </p:spPr>
        <p:txBody>
          <a:bodyPr wrap="square" lIns="27432" rIns="27432" tIns="27432" bIns="27432" anchor="t">
            <a:spAutoFit/>
          </a:bodyPr>
          <a:lstStyle/>
          <a:p>
            <a:pPr algn="l"/>
            <a:r>
              <a:rPr sz="1100" b="0">
                <a:solidFill>
                  <a:srgbClr val="1F2621"/>
                </a:solidFill>
                <a:latin typeface="Aptos"/>
              </a:rPr>
              <a:t>Re-run allocation monthly using realized pilot demand.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55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46920" y="0"/>
            <a:ext cx="2542032" cy="73152"/>
          </a:xfrm>
          <a:prstGeom prst="rect">
            <a:avLst/>
          </a:prstGeom>
          <a:solidFill>
            <a:srgbClr val="C58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01168"/>
            <a:ext cx="1554480" cy="256032"/>
          </a:xfrm>
          <a:prstGeom prst="roundRect">
            <a:avLst/>
          </a:prstGeom>
          <a:solidFill>
            <a:srgbClr val="FCFAF5"/>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224028"/>
            <a:ext cx="1517904" cy="182880"/>
          </a:xfrm>
          <a:prstGeom prst="rect">
            <a:avLst/>
          </a:prstGeom>
          <a:noFill/>
        </p:spPr>
        <p:txBody>
          <a:bodyPr wrap="square" lIns="27432" rIns="27432" tIns="27432" bIns="27432" anchor="t">
            <a:spAutoFit/>
          </a:bodyPr>
          <a:lstStyle/>
          <a:p>
            <a:pPr algn="ctr"/>
            <a:r>
              <a:rPr sz="1000" b="1">
                <a:solidFill>
                  <a:srgbClr val="355C47"/>
                </a:solidFill>
                <a:latin typeface="Aptos"/>
              </a:rPr>
              <a:t>CONCLUSION</a:t>
            </a:r>
          </a:p>
        </p:txBody>
      </p:sp>
      <p:sp>
        <p:nvSpPr>
          <p:cNvPr id="7" name="TextBox 6"/>
          <p:cNvSpPr txBox="1"/>
          <p:nvPr/>
        </p:nvSpPr>
        <p:spPr>
          <a:xfrm>
            <a:off x="11631168" y="6519672"/>
            <a:ext cx="274320" cy="164592"/>
          </a:xfrm>
          <a:prstGeom prst="rect">
            <a:avLst/>
          </a:prstGeom>
          <a:noFill/>
        </p:spPr>
        <p:txBody>
          <a:bodyPr wrap="square" lIns="27432" rIns="27432" tIns="27432" bIns="27432" anchor="t">
            <a:spAutoFit/>
          </a:bodyPr>
          <a:lstStyle/>
          <a:p>
            <a:pPr algn="r"/>
            <a:r>
              <a:rPr sz="900" b="0">
                <a:solidFill>
                  <a:srgbClr val="5F6B63"/>
                </a:solidFill>
                <a:latin typeface="Aptos"/>
              </a:rPr>
              <a:t>29</a:t>
            </a:r>
          </a:p>
        </p:txBody>
      </p:sp>
      <p:sp>
        <p:nvSpPr>
          <p:cNvPr id="8" name="TextBox 7"/>
          <p:cNvSpPr txBox="1"/>
          <p:nvPr/>
        </p:nvSpPr>
        <p:spPr>
          <a:xfrm>
            <a:off x="548640" y="658368"/>
            <a:ext cx="10332720" cy="868680"/>
          </a:xfrm>
          <a:prstGeom prst="rect">
            <a:avLst/>
          </a:prstGeom>
          <a:noFill/>
        </p:spPr>
        <p:txBody>
          <a:bodyPr wrap="square" lIns="27432" rIns="27432" tIns="27432" bIns="27432" anchor="t">
            <a:spAutoFit/>
          </a:bodyPr>
          <a:lstStyle/>
          <a:p>
            <a:pPr algn="l"/>
            <a:r>
              <a:rPr sz="2700" b="1">
                <a:solidFill>
                  <a:srgbClr val="355C47"/>
                </a:solidFill>
                <a:latin typeface="Aptos Display"/>
              </a:rPr>
              <a:t>The full case supports a disciplined 5-city pilot, not a broad organic rollout</a:t>
            </a:r>
          </a:p>
        </p:txBody>
      </p:sp>
      <p:sp>
        <p:nvSpPr>
          <p:cNvPr id="9" name="Rounded Rectangle 8"/>
          <p:cNvSpPr/>
          <p:nvPr/>
        </p:nvSpPr>
        <p:spPr>
          <a:xfrm>
            <a:off x="713232" y="1627632"/>
            <a:ext cx="6492240" cy="4480560"/>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847088"/>
            <a:ext cx="2194560" cy="182880"/>
          </a:xfrm>
          <a:prstGeom prst="rect">
            <a:avLst/>
          </a:prstGeom>
          <a:noFill/>
        </p:spPr>
        <p:txBody>
          <a:bodyPr wrap="square" lIns="27432" rIns="27432" tIns="27432" bIns="27432" anchor="t">
            <a:spAutoFit/>
          </a:bodyPr>
          <a:lstStyle/>
          <a:p>
            <a:pPr algn="l"/>
            <a:r>
              <a:rPr sz="1100" b="1">
                <a:solidFill>
                  <a:srgbClr val="5F6B63"/>
                </a:solidFill>
                <a:latin typeface="Aptos"/>
              </a:rPr>
              <a:t>FINAL ANSWER ARC</a:t>
            </a:r>
          </a:p>
        </p:txBody>
      </p:sp>
      <p:sp>
        <p:nvSpPr>
          <p:cNvPr id="11" name="Rounded Rectangle 10"/>
          <p:cNvSpPr/>
          <p:nvPr/>
        </p:nvSpPr>
        <p:spPr>
          <a:xfrm>
            <a:off x="932688" y="2212848"/>
            <a:ext cx="786384" cy="493776"/>
          </a:xfrm>
          <a:prstGeom prst="roundRect">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 y="2350008"/>
            <a:ext cx="658368" cy="164592"/>
          </a:xfrm>
          <a:prstGeom prst="rect">
            <a:avLst/>
          </a:prstGeom>
          <a:noFill/>
        </p:spPr>
        <p:txBody>
          <a:bodyPr wrap="square" lIns="27432" rIns="27432" tIns="27432" bIns="27432" anchor="t">
            <a:spAutoFit/>
          </a:bodyPr>
          <a:lstStyle/>
          <a:p>
            <a:pPr algn="ctr"/>
            <a:r>
              <a:rPr sz="1100" b="1">
                <a:solidFill>
                  <a:srgbClr val="FCFAF5"/>
                </a:solidFill>
                <a:latin typeface="Aptos"/>
              </a:rPr>
              <a:t>Q1-Q2</a:t>
            </a:r>
          </a:p>
        </p:txBody>
      </p:sp>
      <p:sp>
        <p:nvSpPr>
          <p:cNvPr id="13" name="TextBox 12"/>
          <p:cNvSpPr txBox="1"/>
          <p:nvPr/>
        </p:nvSpPr>
        <p:spPr>
          <a:xfrm>
            <a:off x="1865376" y="2286000"/>
            <a:ext cx="4937760" cy="384048"/>
          </a:xfrm>
          <a:prstGeom prst="rect">
            <a:avLst/>
          </a:prstGeom>
          <a:noFill/>
        </p:spPr>
        <p:txBody>
          <a:bodyPr wrap="square" lIns="27432" rIns="27432" tIns="27432" bIns="27432" anchor="t">
            <a:spAutoFit/>
          </a:bodyPr>
          <a:lstStyle/>
          <a:p>
            <a:pPr algn="l"/>
            <a:r>
              <a:rPr sz="1300" b="0">
                <a:solidFill>
                  <a:srgbClr val="1F2621"/>
                </a:solidFill>
                <a:latin typeface="Aptos"/>
              </a:rPr>
              <a:t>Los Angeles proves category scale, while Seattle proves organic readiness.</a:t>
            </a:r>
          </a:p>
        </p:txBody>
      </p:sp>
      <p:sp>
        <p:nvSpPr>
          <p:cNvPr id="14" name="Rounded Rectangle 13"/>
          <p:cNvSpPr/>
          <p:nvPr/>
        </p:nvSpPr>
        <p:spPr>
          <a:xfrm>
            <a:off x="932688" y="3054096"/>
            <a:ext cx="786384" cy="493776"/>
          </a:xfrm>
          <a:prstGeom prst="roundRect">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87552" y="3191256"/>
            <a:ext cx="658368" cy="164592"/>
          </a:xfrm>
          <a:prstGeom prst="rect">
            <a:avLst/>
          </a:prstGeom>
          <a:noFill/>
        </p:spPr>
        <p:txBody>
          <a:bodyPr wrap="square" lIns="27432" rIns="27432" tIns="27432" bIns="27432" anchor="t">
            <a:spAutoFit/>
          </a:bodyPr>
          <a:lstStyle/>
          <a:p>
            <a:pPr algn="ctr"/>
            <a:r>
              <a:rPr sz="1100" b="1">
                <a:solidFill>
                  <a:srgbClr val="FCFAF5"/>
                </a:solidFill>
                <a:latin typeface="Aptos"/>
              </a:rPr>
              <a:t>Q3-Q4</a:t>
            </a:r>
          </a:p>
        </p:txBody>
      </p:sp>
      <p:sp>
        <p:nvSpPr>
          <p:cNvPr id="16" name="TextBox 15"/>
          <p:cNvSpPr txBox="1"/>
          <p:nvPr/>
        </p:nvSpPr>
        <p:spPr>
          <a:xfrm>
            <a:off x="1865376" y="3127248"/>
            <a:ext cx="4937760" cy="384048"/>
          </a:xfrm>
          <a:prstGeom prst="rect">
            <a:avLst/>
          </a:prstGeom>
          <a:noFill/>
        </p:spPr>
        <p:txBody>
          <a:bodyPr wrap="square" lIns="27432" rIns="27432" tIns="27432" bIns="27432" anchor="t">
            <a:spAutoFit/>
          </a:bodyPr>
          <a:lstStyle/>
          <a:p>
            <a:pPr algn="l"/>
            <a:r>
              <a:rPr sz="1300" b="0">
                <a:solidFill>
                  <a:srgbClr val="1F2621"/>
                </a:solidFill>
                <a:latin typeface="Aptos"/>
              </a:rPr>
              <a:t>Price matters at market level, but demographics, channel fit, and competition explain why premium demand clusters elsewhere.</a:t>
            </a:r>
          </a:p>
        </p:txBody>
      </p:sp>
      <p:sp>
        <p:nvSpPr>
          <p:cNvPr id="17" name="Rounded Rectangle 16"/>
          <p:cNvSpPr/>
          <p:nvPr/>
        </p:nvSpPr>
        <p:spPr>
          <a:xfrm>
            <a:off x="932688" y="3895344"/>
            <a:ext cx="786384" cy="493776"/>
          </a:xfrm>
          <a:prstGeom prst="roundRect">
            <a:avLst/>
          </a:prstGeom>
          <a:solidFill>
            <a:srgbClr val="355C47"/>
          </a:solidFill>
          <a:ln>
            <a:solidFill>
              <a:srgbClr val="355C4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7552" y="4032504"/>
            <a:ext cx="658368" cy="164592"/>
          </a:xfrm>
          <a:prstGeom prst="rect">
            <a:avLst/>
          </a:prstGeom>
          <a:noFill/>
        </p:spPr>
        <p:txBody>
          <a:bodyPr wrap="square" lIns="27432" rIns="27432" tIns="27432" bIns="27432" anchor="t">
            <a:spAutoFit/>
          </a:bodyPr>
          <a:lstStyle/>
          <a:p>
            <a:pPr algn="ctr"/>
            <a:r>
              <a:rPr sz="1100" b="1">
                <a:solidFill>
                  <a:srgbClr val="FCFAF5"/>
                </a:solidFill>
                <a:latin typeface="Aptos"/>
              </a:rPr>
              <a:t>Q5-Q7</a:t>
            </a:r>
          </a:p>
        </p:txBody>
      </p:sp>
      <p:sp>
        <p:nvSpPr>
          <p:cNvPr id="19" name="TextBox 18"/>
          <p:cNvSpPr txBox="1"/>
          <p:nvPr/>
        </p:nvSpPr>
        <p:spPr>
          <a:xfrm>
            <a:off x="1865376" y="3968496"/>
            <a:ext cx="4937760" cy="384048"/>
          </a:xfrm>
          <a:prstGeom prst="rect">
            <a:avLst/>
          </a:prstGeom>
          <a:noFill/>
        </p:spPr>
        <p:txBody>
          <a:bodyPr wrap="square" lIns="27432" rIns="27432" tIns="27432" bIns="27432" anchor="t">
            <a:spAutoFit/>
          </a:bodyPr>
          <a:lstStyle/>
          <a:p>
            <a:pPr algn="l"/>
            <a:r>
              <a:rPr sz="1300" b="0">
                <a:solidFill>
                  <a:srgbClr val="1F2621"/>
                </a:solidFill>
                <a:latin typeface="Aptos"/>
              </a:rPr>
              <a:t>Seattle, Boise, Portland, Spokane, and San Diego maximize contribution and survive freight shocks because price leverage dominates shipping.</a:t>
            </a:r>
          </a:p>
        </p:txBody>
      </p:sp>
      <p:sp>
        <p:nvSpPr>
          <p:cNvPr id="20" name="Rounded Rectangle 19"/>
          <p:cNvSpPr/>
          <p:nvPr/>
        </p:nvSpPr>
        <p:spPr>
          <a:xfrm>
            <a:off x="932688" y="4736592"/>
            <a:ext cx="786384" cy="493776"/>
          </a:xfrm>
          <a:prstGeom prst="roundRect">
            <a:avLst/>
          </a:prstGeom>
          <a:solidFill>
            <a:srgbClr val="C58A2A"/>
          </a:solidFill>
          <a:ln>
            <a:solidFill>
              <a:srgbClr val="C58A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7552" y="4873752"/>
            <a:ext cx="658368" cy="164592"/>
          </a:xfrm>
          <a:prstGeom prst="rect">
            <a:avLst/>
          </a:prstGeom>
          <a:noFill/>
        </p:spPr>
        <p:txBody>
          <a:bodyPr wrap="square" lIns="27432" rIns="27432" tIns="27432" bIns="27432" anchor="t">
            <a:spAutoFit/>
          </a:bodyPr>
          <a:lstStyle/>
          <a:p>
            <a:pPr algn="ctr"/>
            <a:r>
              <a:rPr sz="1100" b="1">
                <a:solidFill>
                  <a:srgbClr val="FCFAF5"/>
                </a:solidFill>
                <a:latin typeface="Aptos"/>
              </a:rPr>
              <a:t>Q8-Q9</a:t>
            </a:r>
          </a:p>
        </p:txBody>
      </p:sp>
      <p:sp>
        <p:nvSpPr>
          <p:cNvPr id="22" name="TextBox 21"/>
          <p:cNvSpPr txBox="1"/>
          <p:nvPr/>
        </p:nvSpPr>
        <p:spPr>
          <a:xfrm>
            <a:off x="1865376" y="4809744"/>
            <a:ext cx="4937760" cy="384048"/>
          </a:xfrm>
          <a:prstGeom prst="rect">
            <a:avLst/>
          </a:prstGeom>
          <a:noFill/>
        </p:spPr>
        <p:txBody>
          <a:bodyPr wrap="square" lIns="27432" rIns="27432" tIns="27432" bIns="27432" anchor="t">
            <a:spAutoFit/>
          </a:bodyPr>
          <a:lstStyle/>
          <a:p>
            <a:pPr algn="l"/>
            <a:r>
              <a:rPr sz="1300" b="0">
                <a:solidFill>
                  <a:srgbClr val="1F2621"/>
                </a:solidFill>
                <a:latin typeface="Aptos"/>
              </a:rPr>
              <a:t>Seasonality changes when West Valley should push volume, protect margin, and support demand; the pilot needs a coordinated operating calendar.</a:t>
            </a:r>
          </a:p>
        </p:txBody>
      </p:sp>
      <p:sp>
        <p:nvSpPr>
          <p:cNvPr id="23" name="Rounded Rectangle 22"/>
          <p:cNvSpPr/>
          <p:nvPr/>
        </p:nvSpPr>
        <p:spPr>
          <a:xfrm>
            <a:off x="7443216" y="1627632"/>
            <a:ext cx="4078224" cy="4480560"/>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0" y="1847088"/>
            <a:ext cx="2286000" cy="182880"/>
          </a:xfrm>
          <a:prstGeom prst="rect">
            <a:avLst/>
          </a:prstGeom>
          <a:noFill/>
        </p:spPr>
        <p:txBody>
          <a:bodyPr wrap="square" lIns="27432" rIns="27432" tIns="27432" bIns="27432" anchor="t">
            <a:spAutoFit/>
          </a:bodyPr>
          <a:lstStyle/>
          <a:p>
            <a:pPr algn="l"/>
            <a:r>
              <a:rPr sz="1100" b="1">
                <a:solidFill>
                  <a:srgbClr val="5F6B63"/>
                </a:solidFill>
                <a:latin typeface="Aptos"/>
              </a:rPr>
              <a:t>DECISION</a:t>
            </a:r>
          </a:p>
        </p:txBody>
      </p:sp>
      <p:sp>
        <p:nvSpPr>
          <p:cNvPr id="25" name="TextBox 24"/>
          <p:cNvSpPr txBox="1"/>
          <p:nvPr/>
        </p:nvSpPr>
        <p:spPr>
          <a:xfrm>
            <a:off x="7680960" y="2139696"/>
            <a:ext cx="3474720" cy="676656"/>
          </a:xfrm>
          <a:prstGeom prst="rect">
            <a:avLst/>
          </a:prstGeom>
          <a:noFill/>
        </p:spPr>
        <p:txBody>
          <a:bodyPr wrap="square" lIns="27432" rIns="27432" tIns="27432" bIns="27432" anchor="t">
            <a:spAutoFit/>
          </a:bodyPr>
          <a:lstStyle/>
          <a:p>
            <a:pPr algn="l"/>
            <a:r>
              <a:rPr sz="2300" b="1">
                <a:solidFill>
                  <a:srgbClr val="355C47"/>
                </a:solidFill>
                <a:latin typeface="Aptos Display"/>
              </a:rPr>
              <a:t>Launch Seattle, Boise, Portland, Spokane, and San Diego first.</a:t>
            </a:r>
          </a:p>
        </p:txBody>
      </p:sp>
      <p:sp>
        <p:nvSpPr>
          <p:cNvPr id="26" name="Rounded Rectangle 25"/>
          <p:cNvSpPr/>
          <p:nvPr/>
        </p:nvSpPr>
        <p:spPr>
          <a:xfrm>
            <a:off x="7699248" y="3054096"/>
            <a:ext cx="1591056" cy="859536"/>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27264" y="3163824"/>
            <a:ext cx="1335024" cy="164592"/>
          </a:xfrm>
          <a:prstGeom prst="rect">
            <a:avLst/>
          </a:prstGeom>
          <a:noFill/>
        </p:spPr>
        <p:txBody>
          <a:bodyPr wrap="square" lIns="27432" rIns="27432" tIns="27432" bIns="27432" anchor="t">
            <a:spAutoFit/>
          </a:bodyPr>
          <a:lstStyle/>
          <a:p>
            <a:pPr algn="l"/>
            <a:r>
              <a:rPr sz="1000" b="1">
                <a:solidFill>
                  <a:srgbClr val="5F6B63"/>
                </a:solidFill>
                <a:latin typeface="Aptos"/>
              </a:rPr>
              <a:t>AVG PROFIT</a:t>
            </a:r>
          </a:p>
        </p:txBody>
      </p:sp>
      <p:sp>
        <p:nvSpPr>
          <p:cNvPr id="28" name="TextBox 27"/>
          <p:cNvSpPr txBox="1"/>
          <p:nvPr/>
        </p:nvSpPr>
        <p:spPr>
          <a:xfrm>
            <a:off x="7827264" y="3364992"/>
            <a:ext cx="1335024" cy="438912"/>
          </a:xfrm>
          <a:prstGeom prst="rect">
            <a:avLst/>
          </a:prstGeom>
          <a:noFill/>
        </p:spPr>
        <p:txBody>
          <a:bodyPr wrap="square" lIns="27432" rIns="27432" tIns="27432" bIns="27432" anchor="ctr">
            <a:spAutoFit/>
          </a:bodyPr>
          <a:lstStyle/>
          <a:p>
            <a:pPr algn="l"/>
            <a:r>
              <a:rPr sz="1900" b="1">
                <a:solidFill>
                  <a:srgbClr val="355C47"/>
                </a:solidFill>
                <a:latin typeface="Aptos Display"/>
              </a:rPr>
              <a:t>$13.7k</a:t>
            </a:r>
          </a:p>
        </p:txBody>
      </p:sp>
      <p:sp>
        <p:nvSpPr>
          <p:cNvPr id="29" name="Rounded Rectangle 28"/>
          <p:cNvSpPr/>
          <p:nvPr/>
        </p:nvSpPr>
        <p:spPr>
          <a:xfrm>
            <a:off x="9400032" y="3054096"/>
            <a:ext cx="1810512" cy="859536"/>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528048" y="3163824"/>
            <a:ext cx="1554480" cy="164592"/>
          </a:xfrm>
          <a:prstGeom prst="rect">
            <a:avLst/>
          </a:prstGeom>
          <a:noFill/>
        </p:spPr>
        <p:txBody>
          <a:bodyPr wrap="square" lIns="27432" rIns="27432" tIns="27432" bIns="27432" anchor="t">
            <a:spAutoFit/>
          </a:bodyPr>
          <a:lstStyle/>
          <a:p>
            <a:pPr algn="l"/>
            <a:r>
              <a:rPr sz="1000" b="1">
                <a:solidFill>
                  <a:srgbClr val="5F6B63"/>
                </a:solidFill>
                <a:latin typeface="Aptos"/>
              </a:rPr>
              <a:t>FREIGHT RESULT</a:t>
            </a:r>
          </a:p>
        </p:txBody>
      </p:sp>
      <p:sp>
        <p:nvSpPr>
          <p:cNvPr id="31" name="TextBox 30"/>
          <p:cNvSpPr txBox="1"/>
          <p:nvPr/>
        </p:nvSpPr>
        <p:spPr>
          <a:xfrm>
            <a:off x="9528048" y="3364992"/>
            <a:ext cx="1554480" cy="438912"/>
          </a:xfrm>
          <a:prstGeom prst="rect">
            <a:avLst/>
          </a:prstGeom>
          <a:noFill/>
        </p:spPr>
        <p:txBody>
          <a:bodyPr wrap="square" lIns="27432" rIns="27432" tIns="27432" bIns="27432" anchor="ctr">
            <a:spAutoFit/>
          </a:bodyPr>
          <a:lstStyle/>
          <a:p>
            <a:pPr algn="l"/>
            <a:r>
              <a:rPr sz="1900" b="1">
                <a:solidFill>
                  <a:srgbClr val="3F728A"/>
                </a:solidFill>
                <a:latin typeface="Aptos Display"/>
              </a:rPr>
              <a:t>Same 5 cities</a:t>
            </a:r>
          </a:p>
        </p:txBody>
      </p:sp>
      <p:sp>
        <p:nvSpPr>
          <p:cNvPr id="32" name="TextBox 31"/>
          <p:cNvSpPr txBox="1"/>
          <p:nvPr/>
        </p:nvSpPr>
        <p:spPr>
          <a:xfrm>
            <a:off x="7699248" y="4187952"/>
            <a:ext cx="3401568" cy="749808"/>
          </a:xfrm>
          <a:prstGeom prst="rect">
            <a:avLst/>
          </a:prstGeom>
          <a:noFill/>
        </p:spPr>
        <p:txBody>
          <a:bodyPr wrap="square" lIns="27432" rIns="27432" tIns="27432" bIns="27432" anchor="t">
            <a:spAutoFit/>
          </a:bodyPr>
          <a:lstStyle/>
          <a:p>
            <a:pPr algn="l"/>
            <a:r>
              <a:rPr sz="1300" b="0">
                <a:solidFill>
                  <a:srgbClr val="1F2621"/>
                </a:solidFill>
                <a:latin typeface="Aptos"/>
              </a:rPr>
              <a:t>This is a learning-first pilot with positive economics, explicit sensitivities, and a seasonal operating plan. Scale only if live margin, service, and reorder data confirm the screen.</a:t>
            </a:r>
          </a:p>
        </p:txBody>
      </p:sp>
      <p:sp>
        <p:nvSpPr>
          <p:cNvPr id="33" name="Rounded Rectangle 32"/>
          <p:cNvSpPr/>
          <p:nvPr/>
        </p:nvSpPr>
        <p:spPr>
          <a:xfrm>
            <a:off x="7607808" y="5340096"/>
            <a:ext cx="3657600" cy="512064"/>
          </a:xfrm>
          <a:prstGeom prst="roundRect">
            <a:avLst/>
          </a:prstGeom>
          <a:solidFill>
            <a:srgbClr val="F7F3EC"/>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808975" y="5486400"/>
            <a:ext cx="3246120" cy="164592"/>
          </a:xfrm>
          <a:prstGeom prst="rect">
            <a:avLst/>
          </a:prstGeom>
          <a:noFill/>
        </p:spPr>
        <p:txBody>
          <a:bodyPr wrap="square" lIns="27432" rIns="27432" tIns="27432" bIns="27432" anchor="t">
            <a:spAutoFit/>
          </a:bodyPr>
          <a:lstStyle/>
          <a:p>
            <a:pPr algn="ctr"/>
            <a:r>
              <a:rPr sz="1100" b="1">
                <a:solidFill>
                  <a:srgbClr val="1F2621"/>
                </a:solidFill>
                <a:latin typeface="Aptos"/>
              </a:rPr>
              <a:t>Do not treat the city screen as a full allocation plan. Use the pilot to earn that next decision.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55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46920" y="0"/>
            <a:ext cx="2542032" cy="73152"/>
          </a:xfrm>
          <a:prstGeom prst="rect">
            <a:avLst/>
          </a:prstGeom>
          <a:solidFill>
            <a:srgbClr val="C58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01168"/>
            <a:ext cx="1554480" cy="256032"/>
          </a:xfrm>
          <a:prstGeom prst="roundRect">
            <a:avLst/>
          </a:prstGeom>
          <a:solidFill>
            <a:srgbClr val="FCFAF5"/>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224028"/>
            <a:ext cx="1517904" cy="182880"/>
          </a:xfrm>
          <a:prstGeom prst="rect">
            <a:avLst/>
          </a:prstGeom>
          <a:noFill/>
        </p:spPr>
        <p:txBody>
          <a:bodyPr wrap="square" lIns="27432" rIns="27432" tIns="27432" bIns="27432" anchor="t">
            <a:spAutoFit/>
          </a:bodyPr>
          <a:lstStyle/>
          <a:p>
            <a:pPr algn="ctr"/>
            <a:r>
              <a:rPr sz="1000" b="1">
                <a:solidFill>
                  <a:srgbClr val="355C47"/>
                </a:solidFill>
                <a:latin typeface="Aptos"/>
              </a:rPr>
              <a:t>APPENDIX</a:t>
            </a:r>
          </a:p>
        </p:txBody>
      </p:sp>
      <p:sp>
        <p:nvSpPr>
          <p:cNvPr id="7" name="Rounded Rectangle 6"/>
          <p:cNvSpPr/>
          <p:nvPr/>
        </p:nvSpPr>
        <p:spPr>
          <a:xfrm>
            <a:off x="2267712" y="201168"/>
            <a:ext cx="713232" cy="256032"/>
          </a:xfrm>
          <a:prstGeom prst="roundRect">
            <a:avLst/>
          </a:prstGeom>
          <a:solidFill>
            <a:srgbClr val="FFFDF9"/>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0" y="224028"/>
            <a:ext cx="676656" cy="182880"/>
          </a:xfrm>
          <a:prstGeom prst="rect">
            <a:avLst/>
          </a:prstGeom>
          <a:noFill/>
        </p:spPr>
        <p:txBody>
          <a:bodyPr wrap="square" lIns="27432" rIns="27432" tIns="27432" bIns="27432" anchor="t">
            <a:spAutoFit/>
          </a:bodyPr>
          <a:lstStyle/>
          <a:p>
            <a:pPr algn="ctr"/>
            <a:r>
              <a:rPr sz="1000" b="1">
                <a:solidFill>
                  <a:srgbClr val="C58A2A"/>
                </a:solidFill>
                <a:latin typeface="Aptos"/>
              </a:rPr>
              <a:t>Q6</a:t>
            </a:r>
          </a:p>
        </p:txBody>
      </p:sp>
      <p:sp>
        <p:nvSpPr>
          <p:cNvPr id="9" name="TextBox 8"/>
          <p:cNvSpPr txBox="1"/>
          <p:nvPr/>
        </p:nvSpPr>
        <p:spPr>
          <a:xfrm>
            <a:off x="11631168" y="6519672"/>
            <a:ext cx="274320" cy="164592"/>
          </a:xfrm>
          <a:prstGeom prst="rect">
            <a:avLst/>
          </a:prstGeom>
          <a:noFill/>
        </p:spPr>
        <p:txBody>
          <a:bodyPr wrap="square" lIns="27432" rIns="27432" tIns="27432" bIns="27432" anchor="t">
            <a:spAutoFit/>
          </a:bodyPr>
          <a:lstStyle/>
          <a:p>
            <a:pPr algn="r"/>
            <a:r>
              <a:rPr sz="900" b="0">
                <a:solidFill>
                  <a:srgbClr val="5F6B63"/>
                </a:solidFill>
                <a:latin typeface="Aptos"/>
              </a:rPr>
              <a:t>30</a:t>
            </a:r>
          </a:p>
        </p:txBody>
      </p:sp>
      <p:sp>
        <p:nvSpPr>
          <p:cNvPr id="10" name="TextBox 9"/>
          <p:cNvSpPr txBox="1"/>
          <p:nvPr/>
        </p:nvSpPr>
        <p:spPr>
          <a:xfrm>
            <a:off x="548640" y="658368"/>
            <a:ext cx="10332720" cy="868680"/>
          </a:xfrm>
          <a:prstGeom prst="rect">
            <a:avLst/>
          </a:prstGeom>
          <a:noFill/>
        </p:spPr>
        <p:txBody>
          <a:bodyPr wrap="square" lIns="27432" rIns="27432" tIns="27432" bIns="27432" anchor="t">
            <a:spAutoFit/>
          </a:bodyPr>
          <a:lstStyle/>
          <a:p>
            <a:pPr algn="l"/>
            <a:r>
              <a:rPr sz="2700" b="1">
                <a:solidFill>
                  <a:srgbClr val="355C47"/>
                </a:solidFill>
                <a:latin typeface="Aptos Display"/>
              </a:rPr>
              <a:t>-50% freight lifts margin, not the city set</a:t>
            </a:r>
          </a:p>
        </p:txBody>
      </p:sp>
      <p:sp>
        <p:nvSpPr>
          <p:cNvPr id="11" name="Rounded Rectangle 10"/>
          <p:cNvSpPr/>
          <p:nvPr/>
        </p:nvSpPr>
        <p:spPr>
          <a:xfrm>
            <a:off x="713232" y="1664208"/>
            <a:ext cx="6903720" cy="4297680"/>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83664"/>
            <a:ext cx="2468880" cy="164592"/>
          </a:xfrm>
          <a:prstGeom prst="rect">
            <a:avLst/>
          </a:prstGeom>
          <a:noFill/>
        </p:spPr>
        <p:txBody>
          <a:bodyPr wrap="square" lIns="27432" rIns="27432" tIns="27432" bIns="27432" anchor="t">
            <a:spAutoFit/>
          </a:bodyPr>
          <a:lstStyle/>
          <a:p>
            <a:pPr algn="l"/>
            <a:r>
              <a:rPr sz="1000" b="1">
                <a:solidFill>
                  <a:srgbClr val="5F6B63"/>
                </a:solidFill>
                <a:latin typeface="Aptos"/>
              </a:rPr>
              <a:t>BASE VS -50% FREIGHT</a:t>
            </a:r>
          </a:p>
        </p:txBody>
      </p:sp>
      <p:sp>
        <p:nvSpPr>
          <p:cNvPr id="13" name="TextBox 12"/>
          <p:cNvSpPr txBox="1"/>
          <p:nvPr/>
        </p:nvSpPr>
        <p:spPr>
          <a:xfrm>
            <a:off x="932688" y="2304288"/>
            <a:ext cx="1188720" cy="164592"/>
          </a:xfrm>
          <a:prstGeom prst="rect">
            <a:avLst/>
          </a:prstGeom>
          <a:noFill/>
        </p:spPr>
        <p:txBody>
          <a:bodyPr wrap="square" lIns="27432" rIns="27432" tIns="27432" bIns="27432" anchor="t">
            <a:spAutoFit/>
          </a:bodyPr>
          <a:lstStyle/>
          <a:p>
            <a:pPr algn="l"/>
            <a:r>
              <a:rPr sz="1100" b="1">
                <a:solidFill>
                  <a:srgbClr val="1F2621"/>
                </a:solidFill>
                <a:latin typeface="Aptos"/>
              </a:rPr>
              <a:t>Seattle</a:t>
            </a:r>
          </a:p>
        </p:txBody>
      </p:sp>
      <p:sp>
        <p:nvSpPr>
          <p:cNvPr id="14" name="Rounded Rectangle 13"/>
          <p:cNvSpPr/>
          <p:nvPr/>
        </p:nvSpPr>
        <p:spPr>
          <a:xfrm>
            <a:off x="2212848" y="2322576"/>
            <a:ext cx="2401841" cy="146304"/>
          </a:xfrm>
          <a:prstGeom prst="roundRect">
            <a:avLst/>
          </a:prstGeom>
          <a:solidFill>
            <a:srgbClr val="889A83"/>
          </a:solidFill>
          <a:ln>
            <a:solidFill>
              <a:srgbClr val="889A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212848" y="2505456"/>
            <a:ext cx="2560320" cy="146304"/>
          </a:xfrm>
          <a:prstGeom prst="roundRect">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983480" y="2286000"/>
            <a:ext cx="914400" cy="146304"/>
          </a:xfrm>
          <a:prstGeom prst="rect">
            <a:avLst/>
          </a:prstGeom>
          <a:noFill/>
        </p:spPr>
        <p:txBody>
          <a:bodyPr wrap="square" lIns="27432" rIns="27432" tIns="27432" bIns="27432" anchor="t">
            <a:spAutoFit/>
          </a:bodyPr>
          <a:lstStyle/>
          <a:p>
            <a:pPr algn="r"/>
            <a:r>
              <a:rPr sz="1000" b="0">
                <a:solidFill>
                  <a:srgbClr val="355C47"/>
                </a:solidFill>
                <a:latin typeface="Aptos"/>
              </a:rPr>
              <a:t>$15.3k</a:t>
            </a:r>
          </a:p>
        </p:txBody>
      </p:sp>
      <p:sp>
        <p:nvSpPr>
          <p:cNvPr id="17" name="TextBox 16"/>
          <p:cNvSpPr txBox="1"/>
          <p:nvPr/>
        </p:nvSpPr>
        <p:spPr>
          <a:xfrm>
            <a:off x="4983480" y="2478024"/>
            <a:ext cx="914400" cy="146304"/>
          </a:xfrm>
          <a:prstGeom prst="rect">
            <a:avLst/>
          </a:prstGeom>
          <a:noFill/>
        </p:spPr>
        <p:txBody>
          <a:bodyPr wrap="square" lIns="27432" rIns="27432" tIns="27432" bIns="27432" anchor="t">
            <a:spAutoFit/>
          </a:bodyPr>
          <a:lstStyle/>
          <a:p>
            <a:pPr algn="r"/>
            <a:r>
              <a:rPr sz="1000" b="0">
                <a:solidFill>
                  <a:srgbClr val="3F728A"/>
                </a:solidFill>
                <a:latin typeface="Aptos"/>
              </a:rPr>
              <a:t>$16.3k</a:t>
            </a:r>
          </a:p>
        </p:txBody>
      </p:sp>
      <p:sp>
        <p:nvSpPr>
          <p:cNvPr id="18" name="TextBox 17"/>
          <p:cNvSpPr txBox="1"/>
          <p:nvPr/>
        </p:nvSpPr>
        <p:spPr>
          <a:xfrm>
            <a:off x="5989320" y="2377440"/>
            <a:ext cx="841248" cy="146304"/>
          </a:xfrm>
          <a:prstGeom prst="rect">
            <a:avLst/>
          </a:prstGeom>
          <a:noFill/>
        </p:spPr>
        <p:txBody>
          <a:bodyPr wrap="square" lIns="27432" rIns="27432" tIns="27432" bIns="27432" anchor="t">
            <a:spAutoFit/>
          </a:bodyPr>
          <a:lstStyle/>
          <a:p>
            <a:pPr algn="r"/>
            <a:r>
              <a:rPr sz="1000" b="1">
                <a:solidFill>
                  <a:srgbClr val="3F728A"/>
                </a:solidFill>
                <a:latin typeface="Aptos"/>
              </a:rPr>
              <a:t>+$1.0k</a:t>
            </a:r>
          </a:p>
        </p:txBody>
      </p:sp>
      <p:sp>
        <p:nvSpPr>
          <p:cNvPr id="19" name="TextBox 18"/>
          <p:cNvSpPr txBox="1"/>
          <p:nvPr/>
        </p:nvSpPr>
        <p:spPr>
          <a:xfrm>
            <a:off x="932688" y="2980944"/>
            <a:ext cx="1188720" cy="164592"/>
          </a:xfrm>
          <a:prstGeom prst="rect">
            <a:avLst/>
          </a:prstGeom>
          <a:noFill/>
        </p:spPr>
        <p:txBody>
          <a:bodyPr wrap="square" lIns="27432" rIns="27432" tIns="27432" bIns="27432" anchor="t">
            <a:spAutoFit/>
          </a:bodyPr>
          <a:lstStyle/>
          <a:p>
            <a:pPr algn="l"/>
            <a:r>
              <a:rPr sz="1100" b="1">
                <a:solidFill>
                  <a:srgbClr val="1F2621"/>
                </a:solidFill>
                <a:latin typeface="Aptos"/>
              </a:rPr>
              <a:t>Boise</a:t>
            </a:r>
          </a:p>
        </p:txBody>
      </p:sp>
      <p:sp>
        <p:nvSpPr>
          <p:cNvPr id="20" name="Rounded Rectangle 19"/>
          <p:cNvSpPr/>
          <p:nvPr/>
        </p:nvSpPr>
        <p:spPr>
          <a:xfrm>
            <a:off x="2212848" y="2999232"/>
            <a:ext cx="2334658" cy="146304"/>
          </a:xfrm>
          <a:prstGeom prst="roundRect">
            <a:avLst/>
          </a:prstGeom>
          <a:solidFill>
            <a:srgbClr val="889A83"/>
          </a:solidFill>
          <a:ln>
            <a:solidFill>
              <a:srgbClr val="889A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212848" y="3182112"/>
            <a:ext cx="2485191" cy="146304"/>
          </a:xfrm>
          <a:prstGeom prst="roundRect">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983480" y="2962656"/>
            <a:ext cx="914400" cy="146304"/>
          </a:xfrm>
          <a:prstGeom prst="rect">
            <a:avLst/>
          </a:prstGeom>
          <a:noFill/>
        </p:spPr>
        <p:txBody>
          <a:bodyPr wrap="square" lIns="27432" rIns="27432" tIns="27432" bIns="27432" anchor="t">
            <a:spAutoFit/>
          </a:bodyPr>
          <a:lstStyle/>
          <a:p>
            <a:pPr algn="r"/>
            <a:r>
              <a:rPr sz="1000" b="0">
                <a:solidFill>
                  <a:srgbClr val="355C47"/>
                </a:solidFill>
                <a:latin typeface="Aptos"/>
              </a:rPr>
              <a:t>$14.8k</a:t>
            </a:r>
          </a:p>
        </p:txBody>
      </p:sp>
      <p:sp>
        <p:nvSpPr>
          <p:cNvPr id="23" name="TextBox 22"/>
          <p:cNvSpPr txBox="1"/>
          <p:nvPr/>
        </p:nvSpPr>
        <p:spPr>
          <a:xfrm>
            <a:off x="4983480" y="3154680"/>
            <a:ext cx="914400" cy="146304"/>
          </a:xfrm>
          <a:prstGeom prst="rect">
            <a:avLst/>
          </a:prstGeom>
          <a:noFill/>
        </p:spPr>
        <p:txBody>
          <a:bodyPr wrap="square" lIns="27432" rIns="27432" tIns="27432" bIns="27432" anchor="t">
            <a:spAutoFit/>
          </a:bodyPr>
          <a:lstStyle/>
          <a:p>
            <a:pPr algn="r"/>
            <a:r>
              <a:rPr sz="1000" b="0">
                <a:solidFill>
                  <a:srgbClr val="3F728A"/>
                </a:solidFill>
                <a:latin typeface="Aptos"/>
              </a:rPr>
              <a:t>$15.8k</a:t>
            </a:r>
          </a:p>
        </p:txBody>
      </p:sp>
      <p:sp>
        <p:nvSpPr>
          <p:cNvPr id="24" name="TextBox 23"/>
          <p:cNvSpPr txBox="1"/>
          <p:nvPr/>
        </p:nvSpPr>
        <p:spPr>
          <a:xfrm>
            <a:off x="5989320" y="3054096"/>
            <a:ext cx="841248" cy="146304"/>
          </a:xfrm>
          <a:prstGeom prst="rect">
            <a:avLst/>
          </a:prstGeom>
          <a:noFill/>
        </p:spPr>
        <p:txBody>
          <a:bodyPr wrap="square" lIns="27432" rIns="27432" tIns="27432" bIns="27432" anchor="t">
            <a:spAutoFit/>
          </a:bodyPr>
          <a:lstStyle/>
          <a:p>
            <a:pPr algn="r"/>
            <a:r>
              <a:rPr sz="1000" b="1">
                <a:solidFill>
                  <a:srgbClr val="3F728A"/>
                </a:solidFill>
                <a:latin typeface="Aptos"/>
              </a:rPr>
              <a:t>+$957</a:t>
            </a:r>
          </a:p>
        </p:txBody>
      </p:sp>
      <p:sp>
        <p:nvSpPr>
          <p:cNvPr id="25" name="TextBox 24"/>
          <p:cNvSpPr txBox="1"/>
          <p:nvPr/>
        </p:nvSpPr>
        <p:spPr>
          <a:xfrm>
            <a:off x="932688" y="3657600"/>
            <a:ext cx="1188720" cy="164592"/>
          </a:xfrm>
          <a:prstGeom prst="rect">
            <a:avLst/>
          </a:prstGeom>
          <a:noFill/>
        </p:spPr>
        <p:txBody>
          <a:bodyPr wrap="square" lIns="27432" rIns="27432" tIns="27432" bIns="27432" anchor="t">
            <a:spAutoFit/>
          </a:bodyPr>
          <a:lstStyle/>
          <a:p>
            <a:pPr algn="l"/>
            <a:r>
              <a:rPr sz="1100" b="1">
                <a:solidFill>
                  <a:srgbClr val="1F2621"/>
                </a:solidFill>
                <a:latin typeface="Aptos"/>
              </a:rPr>
              <a:t>Portland</a:t>
            </a:r>
          </a:p>
        </p:txBody>
      </p:sp>
      <p:sp>
        <p:nvSpPr>
          <p:cNvPr id="26" name="Rounded Rectangle 25"/>
          <p:cNvSpPr/>
          <p:nvPr/>
        </p:nvSpPr>
        <p:spPr>
          <a:xfrm>
            <a:off x="2212848" y="3675888"/>
            <a:ext cx="2267002" cy="146304"/>
          </a:xfrm>
          <a:prstGeom prst="roundRect">
            <a:avLst/>
          </a:prstGeom>
          <a:solidFill>
            <a:srgbClr val="889A83"/>
          </a:solidFill>
          <a:ln>
            <a:solidFill>
              <a:srgbClr val="889A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2212848" y="3858768"/>
            <a:ext cx="2418637" cy="146304"/>
          </a:xfrm>
          <a:prstGeom prst="roundRect">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983480" y="3639312"/>
            <a:ext cx="914400" cy="146304"/>
          </a:xfrm>
          <a:prstGeom prst="rect">
            <a:avLst/>
          </a:prstGeom>
          <a:noFill/>
        </p:spPr>
        <p:txBody>
          <a:bodyPr wrap="square" lIns="27432" rIns="27432" tIns="27432" bIns="27432" anchor="t">
            <a:spAutoFit/>
          </a:bodyPr>
          <a:lstStyle/>
          <a:p>
            <a:pPr algn="r"/>
            <a:r>
              <a:rPr sz="1000" b="0">
                <a:solidFill>
                  <a:srgbClr val="355C47"/>
                </a:solidFill>
                <a:latin typeface="Aptos"/>
              </a:rPr>
              <a:t>$14.4k</a:t>
            </a:r>
          </a:p>
        </p:txBody>
      </p:sp>
      <p:sp>
        <p:nvSpPr>
          <p:cNvPr id="29" name="TextBox 28"/>
          <p:cNvSpPr txBox="1"/>
          <p:nvPr/>
        </p:nvSpPr>
        <p:spPr>
          <a:xfrm>
            <a:off x="4983480" y="3831336"/>
            <a:ext cx="914400" cy="146304"/>
          </a:xfrm>
          <a:prstGeom prst="rect">
            <a:avLst/>
          </a:prstGeom>
          <a:noFill/>
        </p:spPr>
        <p:txBody>
          <a:bodyPr wrap="square" lIns="27432" rIns="27432" tIns="27432" bIns="27432" anchor="t">
            <a:spAutoFit/>
          </a:bodyPr>
          <a:lstStyle/>
          <a:p>
            <a:pPr algn="r"/>
            <a:r>
              <a:rPr sz="1000" b="0">
                <a:solidFill>
                  <a:srgbClr val="3F728A"/>
                </a:solidFill>
                <a:latin typeface="Aptos"/>
              </a:rPr>
              <a:t>$15.4k</a:t>
            </a:r>
          </a:p>
        </p:txBody>
      </p:sp>
      <p:sp>
        <p:nvSpPr>
          <p:cNvPr id="30" name="TextBox 29"/>
          <p:cNvSpPr txBox="1"/>
          <p:nvPr/>
        </p:nvSpPr>
        <p:spPr>
          <a:xfrm>
            <a:off x="5989320" y="3730752"/>
            <a:ext cx="841248" cy="146304"/>
          </a:xfrm>
          <a:prstGeom prst="rect">
            <a:avLst/>
          </a:prstGeom>
          <a:noFill/>
        </p:spPr>
        <p:txBody>
          <a:bodyPr wrap="square" lIns="27432" rIns="27432" tIns="27432" bIns="27432" anchor="t">
            <a:spAutoFit/>
          </a:bodyPr>
          <a:lstStyle/>
          <a:p>
            <a:pPr algn="r"/>
            <a:r>
              <a:rPr sz="1000" b="1">
                <a:solidFill>
                  <a:srgbClr val="3F728A"/>
                </a:solidFill>
                <a:latin typeface="Aptos"/>
              </a:rPr>
              <a:t>+$964</a:t>
            </a:r>
          </a:p>
        </p:txBody>
      </p:sp>
      <p:sp>
        <p:nvSpPr>
          <p:cNvPr id="31" name="TextBox 30"/>
          <p:cNvSpPr txBox="1"/>
          <p:nvPr/>
        </p:nvSpPr>
        <p:spPr>
          <a:xfrm>
            <a:off x="932688" y="4334256"/>
            <a:ext cx="1188720" cy="164592"/>
          </a:xfrm>
          <a:prstGeom prst="rect">
            <a:avLst/>
          </a:prstGeom>
          <a:noFill/>
        </p:spPr>
        <p:txBody>
          <a:bodyPr wrap="square" lIns="27432" rIns="27432" tIns="27432" bIns="27432" anchor="t">
            <a:spAutoFit/>
          </a:bodyPr>
          <a:lstStyle/>
          <a:p>
            <a:pPr algn="l"/>
            <a:r>
              <a:rPr sz="1100" b="1">
                <a:solidFill>
                  <a:srgbClr val="1F2621"/>
                </a:solidFill>
                <a:latin typeface="Aptos"/>
              </a:rPr>
              <a:t>Spokane</a:t>
            </a:r>
          </a:p>
        </p:txBody>
      </p:sp>
      <p:sp>
        <p:nvSpPr>
          <p:cNvPr id="32" name="Rounded Rectangle 31"/>
          <p:cNvSpPr/>
          <p:nvPr/>
        </p:nvSpPr>
        <p:spPr>
          <a:xfrm>
            <a:off x="2212848" y="4352544"/>
            <a:ext cx="2044055" cy="146304"/>
          </a:xfrm>
          <a:prstGeom prst="roundRect">
            <a:avLst/>
          </a:prstGeom>
          <a:solidFill>
            <a:srgbClr val="889A83"/>
          </a:solidFill>
          <a:ln>
            <a:solidFill>
              <a:srgbClr val="889A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2212848" y="4535424"/>
            <a:ext cx="2205208" cy="146304"/>
          </a:xfrm>
          <a:prstGeom prst="roundRect">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983480" y="4315968"/>
            <a:ext cx="914400" cy="146304"/>
          </a:xfrm>
          <a:prstGeom prst="rect">
            <a:avLst/>
          </a:prstGeom>
          <a:noFill/>
        </p:spPr>
        <p:txBody>
          <a:bodyPr wrap="square" lIns="27432" rIns="27432" tIns="27432" bIns="27432" anchor="t">
            <a:spAutoFit/>
          </a:bodyPr>
          <a:lstStyle/>
          <a:p>
            <a:pPr algn="r"/>
            <a:r>
              <a:rPr sz="1000" b="0">
                <a:solidFill>
                  <a:srgbClr val="355C47"/>
                </a:solidFill>
                <a:latin typeface="Aptos"/>
              </a:rPr>
              <a:t>$13.0k</a:t>
            </a:r>
          </a:p>
        </p:txBody>
      </p:sp>
      <p:sp>
        <p:nvSpPr>
          <p:cNvPr id="35" name="TextBox 34"/>
          <p:cNvSpPr txBox="1"/>
          <p:nvPr/>
        </p:nvSpPr>
        <p:spPr>
          <a:xfrm>
            <a:off x="4983480" y="4507992"/>
            <a:ext cx="914400" cy="146304"/>
          </a:xfrm>
          <a:prstGeom prst="rect">
            <a:avLst/>
          </a:prstGeom>
          <a:noFill/>
        </p:spPr>
        <p:txBody>
          <a:bodyPr wrap="square" lIns="27432" rIns="27432" tIns="27432" bIns="27432" anchor="t">
            <a:spAutoFit/>
          </a:bodyPr>
          <a:lstStyle/>
          <a:p>
            <a:pPr algn="r"/>
            <a:r>
              <a:rPr sz="1000" b="0">
                <a:solidFill>
                  <a:srgbClr val="3F728A"/>
                </a:solidFill>
                <a:latin typeface="Aptos"/>
              </a:rPr>
              <a:t>$14.0k</a:t>
            </a:r>
          </a:p>
        </p:txBody>
      </p:sp>
      <p:sp>
        <p:nvSpPr>
          <p:cNvPr id="36" name="TextBox 35"/>
          <p:cNvSpPr txBox="1"/>
          <p:nvPr/>
        </p:nvSpPr>
        <p:spPr>
          <a:xfrm>
            <a:off x="5989320" y="4407408"/>
            <a:ext cx="841248" cy="146304"/>
          </a:xfrm>
          <a:prstGeom prst="rect">
            <a:avLst/>
          </a:prstGeom>
          <a:noFill/>
        </p:spPr>
        <p:txBody>
          <a:bodyPr wrap="square" lIns="27432" rIns="27432" tIns="27432" bIns="27432" anchor="t">
            <a:spAutoFit/>
          </a:bodyPr>
          <a:lstStyle/>
          <a:p>
            <a:pPr algn="r"/>
            <a:r>
              <a:rPr sz="1000" b="1">
                <a:solidFill>
                  <a:srgbClr val="3F728A"/>
                </a:solidFill>
                <a:latin typeface="Aptos"/>
              </a:rPr>
              <a:t>+$1.0k</a:t>
            </a:r>
          </a:p>
        </p:txBody>
      </p:sp>
      <p:sp>
        <p:nvSpPr>
          <p:cNvPr id="37" name="TextBox 36"/>
          <p:cNvSpPr txBox="1"/>
          <p:nvPr/>
        </p:nvSpPr>
        <p:spPr>
          <a:xfrm>
            <a:off x="932688" y="5010912"/>
            <a:ext cx="1188720" cy="164592"/>
          </a:xfrm>
          <a:prstGeom prst="rect">
            <a:avLst/>
          </a:prstGeom>
          <a:noFill/>
        </p:spPr>
        <p:txBody>
          <a:bodyPr wrap="square" lIns="27432" rIns="27432" tIns="27432" bIns="27432" anchor="t">
            <a:spAutoFit/>
          </a:bodyPr>
          <a:lstStyle/>
          <a:p>
            <a:pPr algn="l"/>
            <a:r>
              <a:rPr sz="1100" b="1">
                <a:solidFill>
                  <a:srgbClr val="1F2621"/>
                </a:solidFill>
                <a:latin typeface="Aptos"/>
              </a:rPr>
              <a:t>San Diego</a:t>
            </a:r>
          </a:p>
        </p:txBody>
      </p:sp>
      <p:sp>
        <p:nvSpPr>
          <p:cNvPr id="38" name="Rounded Rectangle 37"/>
          <p:cNvSpPr/>
          <p:nvPr/>
        </p:nvSpPr>
        <p:spPr>
          <a:xfrm>
            <a:off x="2212848" y="5029200"/>
            <a:ext cx="1750462" cy="146304"/>
          </a:xfrm>
          <a:prstGeom prst="roundRect">
            <a:avLst/>
          </a:prstGeom>
          <a:solidFill>
            <a:srgbClr val="889A83"/>
          </a:solidFill>
          <a:ln>
            <a:solidFill>
              <a:srgbClr val="889A8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2212848" y="5212080"/>
            <a:ext cx="1878417" cy="146304"/>
          </a:xfrm>
          <a:prstGeom prst="roundRect">
            <a:avLst/>
          </a:prstGeom>
          <a:solidFill>
            <a:srgbClr val="3F728A"/>
          </a:solidFill>
          <a:ln>
            <a:solidFill>
              <a:srgbClr val="3F72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983480" y="4992624"/>
            <a:ext cx="914400" cy="146304"/>
          </a:xfrm>
          <a:prstGeom prst="rect">
            <a:avLst/>
          </a:prstGeom>
          <a:noFill/>
        </p:spPr>
        <p:txBody>
          <a:bodyPr wrap="square" lIns="27432" rIns="27432" tIns="27432" bIns="27432" anchor="t">
            <a:spAutoFit/>
          </a:bodyPr>
          <a:lstStyle/>
          <a:p>
            <a:pPr algn="r"/>
            <a:r>
              <a:rPr sz="1000" b="0">
                <a:solidFill>
                  <a:srgbClr val="355C47"/>
                </a:solidFill>
                <a:latin typeface="Aptos"/>
              </a:rPr>
              <a:t>$11.1k</a:t>
            </a:r>
          </a:p>
        </p:txBody>
      </p:sp>
      <p:sp>
        <p:nvSpPr>
          <p:cNvPr id="41" name="TextBox 40"/>
          <p:cNvSpPr txBox="1"/>
          <p:nvPr/>
        </p:nvSpPr>
        <p:spPr>
          <a:xfrm>
            <a:off x="4983480" y="5184648"/>
            <a:ext cx="914400" cy="146304"/>
          </a:xfrm>
          <a:prstGeom prst="rect">
            <a:avLst/>
          </a:prstGeom>
          <a:noFill/>
        </p:spPr>
        <p:txBody>
          <a:bodyPr wrap="square" lIns="27432" rIns="27432" tIns="27432" bIns="27432" anchor="t">
            <a:spAutoFit/>
          </a:bodyPr>
          <a:lstStyle/>
          <a:p>
            <a:pPr algn="r"/>
            <a:r>
              <a:rPr sz="1000" b="0">
                <a:solidFill>
                  <a:srgbClr val="3F728A"/>
                </a:solidFill>
                <a:latin typeface="Aptos"/>
              </a:rPr>
              <a:t>$11.9k</a:t>
            </a:r>
          </a:p>
        </p:txBody>
      </p:sp>
      <p:sp>
        <p:nvSpPr>
          <p:cNvPr id="42" name="TextBox 41"/>
          <p:cNvSpPr txBox="1"/>
          <p:nvPr/>
        </p:nvSpPr>
        <p:spPr>
          <a:xfrm>
            <a:off x="5989320" y="5084064"/>
            <a:ext cx="841248" cy="146304"/>
          </a:xfrm>
          <a:prstGeom prst="rect">
            <a:avLst/>
          </a:prstGeom>
          <a:noFill/>
        </p:spPr>
        <p:txBody>
          <a:bodyPr wrap="square" lIns="27432" rIns="27432" tIns="27432" bIns="27432" anchor="t">
            <a:spAutoFit/>
          </a:bodyPr>
          <a:lstStyle/>
          <a:p>
            <a:pPr algn="r"/>
            <a:r>
              <a:rPr sz="1000" b="1">
                <a:solidFill>
                  <a:srgbClr val="3F728A"/>
                </a:solidFill>
                <a:latin typeface="Aptos"/>
              </a:rPr>
              <a:t>+$813</a:t>
            </a:r>
          </a:p>
        </p:txBody>
      </p:sp>
      <p:sp>
        <p:nvSpPr>
          <p:cNvPr id="43" name="TextBox 42"/>
          <p:cNvSpPr txBox="1"/>
          <p:nvPr/>
        </p:nvSpPr>
        <p:spPr>
          <a:xfrm>
            <a:off x="2212848" y="5413248"/>
            <a:ext cx="1097280" cy="146304"/>
          </a:xfrm>
          <a:prstGeom prst="rect">
            <a:avLst/>
          </a:prstGeom>
          <a:noFill/>
        </p:spPr>
        <p:txBody>
          <a:bodyPr wrap="square" lIns="27432" rIns="27432" tIns="27432" bIns="27432" anchor="t">
            <a:spAutoFit/>
          </a:bodyPr>
          <a:lstStyle/>
          <a:p>
            <a:pPr algn="l"/>
            <a:r>
              <a:rPr sz="1000" b="0">
                <a:solidFill>
                  <a:srgbClr val="355C47"/>
                </a:solidFill>
                <a:latin typeface="Aptos"/>
              </a:rPr>
              <a:t>Base case</a:t>
            </a:r>
          </a:p>
        </p:txBody>
      </p:sp>
      <p:sp>
        <p:nvSpPr>
          <p:cNvPr id="44" name="TextBox 43"/>
          <p:cNvSpPr txBox="1"/>
          <p:nvPr/>
        </p:nvSpPr>
        <p:spPr>
          <a:xfrm>
            <a:off x="3273552" y="5413248"/>
            <a:ext cx="1280160" cy="146304"/>
          </a:xfrm>
          <a:prstGeom prst="rect">
            <a:avLst/>
          </a:prstGeom>
          <a:noFill/>
        </p:spPr>
        <p:txBody>
          <a:bodyPr wrap="square" lIns="27432" rIns="27432" tIns="27432" bIns="27432" anchor="t">
            <a:spAutoFit/>
          </a:bodyPr>
          <a:lstStyle/>
          <a:p>
            <a:pPr algn="l"/>
            <a:r>
              <a:rPr sz="1000" b="0">
                <a:solidFill>
                  <a:srgbClr val="3F728A"/>
                </a:solidFill>
                <a:latin typeface="Aptos"/>
              </a:rPr>
              <a:t>-50% freight</a:t>
            </a:r>
          </a:p>
        </p:txBody>
      </p:sp>
      <p:sp>
        <p:nvSpPr>
          <p:cNvPr id="45" name="Rounded Rectangle 44"/>
          <p:cNvSpPr/>
          <p:nvPr/>
        </p:nvSpPr>
        <p:spPr>
          <a:xfrm>
            <a:off x="7845552" y="1664208"/>
            <a:ext cx="3657600" cy="4297680"/>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8101583" y="1938528"/>
            <a:ext cx="1645920" cy="877824"/>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229599" y="2048256"/>
            <a:ext cx="1389888" cy="164592"/>
          </a:xfrm>
          <a:prstGeom prst="rect">
            <a:avLst/>
          </a:prstGeom>
          <a:noFill/>
        </p:spPr>
        <p:txBody>
          <a:bodyPr wrap="square" lIns="27432" rIns="27432" tIns="27432" bIns="27432" anchor="t">
            <a:spAutoFit/>
          </a:bodyPr>
          <a:lstStyle/>
          <a:p>
            <a:pPr algn="l"/>
            <a:r>
              <a:rPr sz="1000" b="1">
                <a:solidFill>
                  <a:srgbClr val="5F6B63"/>
                </a:solidFill>
                <a:latin typeface="Aptos"/>
              </a:rPr>
              <a:t>TOP-5 AVG PROFIT</a:t>
            </a:r>
          </a:p>
        </p:txBody>
      </p:sp>
      <p:sp>
        <p:nvSpPr>
          <p:cNvPr id="48" name="TextBox 47"/>
          <p:cNvSpPr txBox="1"/>
          <p:nvPr/>
        </p:nvSpPr>
        <p:spPr>
          <a:xfrm>
            <a:off x="8229599" y="2249424"/>
            <a:ext cx="1389888" cy="457200"/>
          </a:xfrm>
          <a:prstGeom prst="rect">
            <a:avLst/>
          </a:prstGeom>
          <a:noFill/>
        </p:spPr>
        <p:txBody>
          <a:bodyPr wrap="square" lIns="27432" rIns="27432" tIns="27432" bIns="27432" anchor="ctr">
            <a:spAutoFit/>
          </a:bodyPr>
          <a:lstStyle/>
          <a:p>
            <a:pPr algn="l"/>
            <a:r>
              <a:rPr sz="1900" b="1">
                <a:solidFill>
                  <a:srgbClr val="3F728A"/>
                </a:solidFill>
                <a:latin typeface="Aptos Display"/>
              </a:rPr>
              <a:t>$14.7k</a:t>
            </a:r>
          </a:p>
        </p:txBody>
      </p:sp>
      <p:sp>
        <p:nvSpPr>
          <p:cNvPr id="49" name="Rounded Rectangle 48"/>
          <p:cNvSpPr/>
          <p:nvPr/>
        </p:nvSpPr>
        <p:spPr>
          <a:xfrm>
            <a:off x="9857232" y="1938528"/>
            <a:ext cx="1353312" cy="877824"/>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985248" y="2048256"/>
            <a:ext cx="1097280" cy="164592"/>
          </a:xfrm>
          <a:prstGeom prst="rect">
            <a:avLst/>
          </a:prstGeom>
          <a:noFill/>
        </p:spPr>
        <p:txBody>
          <a:bodyPr wrap="square" lIns="27432" rIns="27432" tIns="27432" bIns="27432" anchor="t">
            <a:spAutoFit/>
          </a:bodyPr>
          <a:lstStyle/>
          <a:p>
            <a:pPr algn="l"/>
            <a:r>
              <a:rPr sz="1000" b="1">
                <a:solidFill>
                  <a:srgbClr val="5F6B63"/>
                </a:solidFill>
                <a:latin typeface="Aptos"/>
              </a:rPr>
              <a:t>AVG MARGIN</a:t>
            </a:r>
          </a:p>
        </p:txBody>
      </p:sp>
      <p:sp>
        <p:nvSpPr>
          <p:cNvPr id="51" name="TextBox 50"/>
          <p:cNvSpPr txBox="1"/>
          <p:nvPr/>
        </p:nvSpPr>
        <p:spPr>
          <a:xfrm>
            <a:off x="9985248" y="2249424"/>
            <a:ext cx="1097280" cy="457200"/>
          </a:xfrm>
          <a:prstGeom prst="rect">
            <a:avLst/>
          </a:prstGeom>
          <a:noFill/>
        </p:spPr>
        <p:txBody>
          <a:bodyPr wrap="square" lIns="27432" rIns="27432" tIns="27432" bIns="27432" anchor="ctr">
            <a:spAutoFit/>
          </a:bodyPr>
          <a:lstStyle/>
          <a:p>
            <a:pPr algn="l"/>
            <a:r>
              <a:rPr sz="1900" b="1">
                <a:solidFill>
                  <a:srgbClr val="355C47"/>
                </a:solidFill>
                <a:latin typeface="Aptos Display"/>
              </a:rPr>
              <a:t>74.6%</a:t>
            </a:r>
          </a:p>
        </p:txBody>
      </p:sp>
      <p:sp>
        <p:nvSpPr>
          <p:cNvPr id="52" name="Rounded Rectangle 51"/>
          <p:cNvSpPr/>
          <p:nvPr/>
        </p:nvSpPr>
        <p:spPr>
          <a:xfrm>
            <a:off x="8101583" y="3017520"/>
            <a:ext cx="1645920" cy="877824"/>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229599" y="3127248"/>
            <a:ext cx="1389888" cy="164592"/>
          </a:xfrm>
          <a:prstGeom prst="rect">
            <a:avLst/>
          </a:prstGeom>
          <a:noFill/>
        </p:spPr>
        <p:txBody>
          <a:bodyPr wrap="square" lIns="27432" rIns="27432" tIns="27432" bIns="27432" anchor="t">
            <a:spAutoFit/>
          </a:bodyPr>
          <a:lstStyle/>
          <a:p>
            <a:pPr algn="l"/>
            <a:r>
              <a:rPr sz="1000" b="1">
                <a:solidFill>
                  <a:srgbClr val="5F6B63"/>
                </a:solidFill>
                <a:latin typeface="Aptos"/>
              </a:rPr>
              <a:t>MARGIN GAIN</a:t>
            </a:r>
          </a:p>
        </p:txBody>
      </p:sp>
      <p:sp>
        <p:nvSpPr>
          <p:cNvPr id="54" name="TextBox 53"/>
          <p:cNvSpPr txBox="1"/>
          <p:nvPr/>
        </p:nvSpPr>
        <p:spPr>
          <a:xfrm>
            <a:off x="8229599" y="3328416"/>
            <a:ext cx="1389888" cy="457200"/>
          </a:xfrm>
          <a:prstGeom prst="rect">
            <a:avLst/>
          </a:prstGeom>
          <a:noFill/>
        </p:spPr>
        <p:txBody>
          <a:bodyPr wrap="square" lIns="27432" rIns="27432" tIns="27432" bIns="27432" anchor="ctr">
            <a:spAutoFit/>
          </a:bodyPr>
          <a:lstStyle/>
          <a:p>
            <a:pPr algn="l"/>
            <a:r>
              <a:rPr sz="1900" b="1">
                <a:solidFill>
                  <a:srgbClr val="3F728A"/>
                </a:solidFill>
                <a:latin typeface="Aptos Display"/>
              </a:rPr>
              <a:t>+4.9 pts</a:t>
            </a:r>
          </a:p>
        </p:txBody>
      </p:sp>
      <p:sp>
        <p:nvSpPr>
          <p:cNvPr id="55" name="Rounded Rectangle 54"/>
          <p:cNvSpPr/>
          <p:nvPr/>
        </p:nvSpPr>
        <p:spPr>
          <a:xfrm>
            <a:off x="9857232" y="3017520"/>
            <a:ext cx="1353312" cy="877824"/>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985248" y="3127248"/>
            <a:ext cx="1097280" cy="164592"/>
          </a:xfrm>
          <a:prstGeom prst="rect">
            <a:avLst/>
          </a:prstGeom>
          <a:noFill/>
        </p:spPr>
        <p:txBody>
          <a:bodyPr wrap="square" lIns="27432" rIns="27432" tIns="27432" bIns="27432" anchor="t">
            <a:spAutoFit/>
          </a:bodyPr>
          <a:lstStyle/>
          <a:p>
            <a:pPr algn="l"/>
            <a:r>
              <a:rPr sz="1000" b="1">
                <a:solidFill>
                  <a:srgbClr val="5F6B63"/>
                </a:solidFill>
                <a:latin typeface="Aptos"/>
              </a:rPr>
              <a:t>RESULT</a:t>
            </a:r>
          </a:p>
        </p:txBody>
      </p:sp>
      <p:sp>
        <p:nvSpPr>
          <p:cNvPr id="57" name="TextBox 56"/>
          <p:cNvSpPr txBox="1"/>
          <p:nvPr/>
        </p:nvSpPr>
        <p:spPr>
          <a:xfrm>
            <a:off x="9985248" y="3328416"/>
            <a:ext cx="1097280" cy="457200"/>
          </a:xfrm>
          <a:prstGeom prst="rect">
            <a:avLst/>
          </a:prstGeom>
          <a:noFill/>
        </p:spPr>
        <p:txBody>
          <a:bodyPr wrap="square" lIns="27432" rIns="27432" tIns="27432" bIns="27432" anchor="ctr">
            <a:spAutoFit/>
          </a:bodyPr>
          <a:lstStyle/>
          <a:p>
            <a:pPr algn="l"/>
            <a:r>
              <a:rPr sz="1900" b="1">
                <a:solidFill>
                  <a:srgbClr val="355C47"/>
                </a:solidFill>
                <a:latin typeface="Aptos Display"/>
              </a:rPr>
              <a:t>Same 5</a:t>
            </a:r>
          </a:p>
        </p:txBody>
      </p:sp>
      <p:sp>
        <p:nvSpPr>
          <p:cNvPr id="58" name="TextBox 57"/>
          <p:cNvSpPr txBox="1"/>
          <p:nvPr/>
        </p:nvSpPr>
        <p:spPr>
          <a:xfrm>
            <a:off x="8101583" y="4160520"/>
            <a:ext cx="2889504" cy="1417320"/>
          </a:xfrm>
          <a:prstGeom prst="rect">
            <a:avLst/>
          </a:prstGeom>
          <a:noFill/>
        </p:spPr>
        <p:txBody>
          <a:bodyPr wrap="square" lIns="27432" rIns="27432" tIns="18288" bIns="18288">
            <a:spAutoFit/>
          </a:bodyPr>
          <a:lstStyle/>
          <a:p>
            <a:pPr algn="l">
              <a:lnSpc>
                <a:spcPct val="115000"/>
              </a:lnSpc>
            </a:pPr>
            <a:r>
              <a:rPr sz="1200">
                <a:solidFill>
                  <a:srgbClr val="1F2621"/>
                </a:solidFill>
                <a:latin typeface="Aptos"/>
              </a:rPr>
              <a:t>- Lower freight lifts average margin from 69.7% to 74.6%.</a:t>
            </a:r>
          </a:p>
          <a:p>
            <a:pPr algn="l">
              <a:lnSpc>
                <a:spcPct val="115000"/>
              </a:lnSpc>
            </a:pPr>
            <a:r>
              <a:rPr sz="1200">
                <a:solidFill>
                  <a:srgbClr val="1F2621"/>
                </a:solidFill>
                <a:latin typeface="Aptos"/>
              </a:rPr>
              <a:t>- Use that upside to fund service and trade support, not to chase more cities.</a:t>
            </a:r>
          </a:p>
          <a:p>
            <a:pPr algn="l">
              <a:lnSpc>
                <a:spcPct val="115000"/>
              </a:lnSpc>
            </a:pPr>
            <a:r>
              <a:rPr sz="1200">
                <a:solidFill>
                  <a:srgbClr val="1F2621"/>
                </a:solidFill>
                <a:latin typeface="Aptos"/>
              </a:rPr>
              <a:t>- The same five still win, which confirms this set is strong, not fragile.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55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46920" y="0"/>
            <a:ext cx="2542032" cy="73152"/>
          </a:xfrm>
          <a:prstGeom prst="rect">
            <a:avLst/>
          </a:prstGeom>
          <a:solidFill>
            <a:srgbClr val="C58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01168"/>
            <a:ext cx="1554480" cy="256032"/>
          </a:xfrm>
          <a:prstGeom prst="roundRect">
            <a:avLst/>
          </a:prstGeom>
          <a:solidFill>
            <a:srgbClr val="FCFAF5"/>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224028"/>
            <a:ext cx="1517904" cy="182880"/>
          </a:xfrm>
          <a:prstGeom prst="rect">
            <a:avLst/>
          </a:prstGeom>
          <a:noFill/>
        </p:spPr>
        <p:txBody>
          <a:bodyPr wrap="square" lIns="27432" rIns="27432" tIns="27432" bIns="27432" anchor="t">
            <a:spAutoFit/>
          </a:bodyPr>
          <a:lstStyle/>
          <a:p>
            <a:pPr algn="ctr"/>
            <a:r>
              <a:rPr sz="1000" b="1">
                <a:solidFill>
                  <a:srgbClr val="355C47"/>
                </a:solidFill>
                <a:latin typeface="Aptos"/>
              </a:rPr>
              <a:t>APPENDIX</a:t>
            </a:r>
          </a:p>
        </p:txBody>
      </p:sp>
      <p:sp>
        <p:nvSpPr>
          <p:cNvPr id="7" name="TextBox 6"/>
          <p:cNvSpPr txBox="1"/>
          <p:nvPr/>
        </p:nvSpPr>
        <p:spPr>
          <a:xfrm>
            <a:off x="11631168" y="6519672"/>
            <a:ext cx="274320" cy="164592"/>
          </a:xfrm>
          <a:prstGeom prst="rect">
            <a:avLst/>
          </a:prstGeom>
          <a:noFill/>
        </p:spPr>
        <p:txBody>
          <a:bodyPr wrap="square" lIns="27432" rIns="27432" tIns="27432" bIns="27432" anchor="t">
            <a:spAutoFit/>
          </a:bodyPr>
          <a:lstStyle/>
          <a:p>
            <a:pPr algn="r"/>
            <a:r>
              <a:rPr sz="900" b="0">
                <a:solidFill>
                  <a:srgbClr val="5F6B63"/>
                </a:solidFill>
                <a:latin typeface="Aptos"/>
              </a:rPr>
              <a:t>31</a:t>
            </a:r>
          </a:p>
        </p:txBody>
      </p:sp>
      <p:sp>
        <p:nvSpPr>
          <p:cNvPr id="8" name="TextBox 7"/>
          <p:cNvSpPr txBox="1"/>
          <p:nvPr/>
        </p:nvSpPr>
        <p:spPr>
          <a:xfrm>
            <a:off x="548640" y="658368"/>
            <a:ext cx="10332720" cy="868680"/>
          </a:xfrm>
          <a:prstGeom prst="rect">
            <a:avLst/>
          </a:prstGeom>
          <a:noFill/>
        </p:spPr>
        <p:txBody>
          <a:bodyPr wrap="square" lIns="27432" rIns="27432" tIns="27432" bIns="27432" anchor="t">
            <a:spAutoFit/>
          </a:bodyPr>
          <a:lstStyle/>
          <a:p>
            <a:pPr algn="l"/>
            <a:r>
              <a:rPr sz="2700" b="1">
                <a:solidFill>
                  <a:srgbClr val="355C47"/>
                </a:solidFill>
                <a:latin typeface="Aptos Display"/>
              </a:rPr>
              <a:t>Each major risk already has a countermeasure</a:t>
            </a:r>
          </a:p>
        </p:txBody>
      </p:sp>
      <p:sp>
        <p:nvSpPr>
          <p:cNvPr id="9" name="TextBox 8"/>
          <p:cNvSpPr txBox="1"/>
          <p:nvPr/>
        </p:nvSpPr>
        <p:spPr>
          <a:xfrm>
            <a:off x="548640" y="1097280"/>
            <a:ext cx="10424160" cy="320040"/>
          </a:xfrm>
          <a:prstGeom prst="rect">
            <a:avLst/>
          </a:prstGeom>
          <a:noFill/>
        </p:spPr>
        <p:txBody>
          <a:bodyPr wrap="square" lIns="27432" rIns="27432" tIns="27432" bIns="27432" anchor="t">
            <a:spAutoFit/>
          </a:bodyPr>
          <a:lstStyle/>
          <a:p>
            <a:pPr algn="l"/>
            <a:r>
              <a:rPr sz="1300" b="0">
                <a:solidFill>
                  <a:srgbClr val="5F6B63"/>
                </a:solidFill>
                <a:latin typeface="Aptos"/>
              </a:rPr>
              <a:t>Every major threat should already have a response and owner before West Valley scales.</a:t>
            </a:r>
          </a:p>
        </p:txBody>
      </p:sp>
      <p:graphicFrame>
        <p:nvGraphicFramePr>
          <p:cNvPr id="10" name="Table 9"/>
          <p:cNvGraphicFramePr>
            <a:graphicFrameLocks noGrp="1"/>
          </p:cNvGraphicFramePr>
          <p:nvPr/>
        </p:nvGraphicFramePr>
        <p:xfrm>
          <a:off x="658368" y="1691640"/>
          <a:ext cx="10835639" cy="3785616"/>
        </p:xfrm>
        <a:graphic>
          <a:graphicData uri="http://schemas.openxmlformats.org/drawingml/2006/table">
            <a:tbl>
              <a:tblPr firstRow="1" bandRow="1">
                <a:tableStyleId>{5C22544A-7EE6-4342-B048-85BDC9FD1C3A}</a:tableStyleId>
              </a:tblPr>
              <a:tblGrid>
                <a:gridCol w="1874519"/>
                <a:gridCol w="2148840"/>
                <a:gridCol w="4526280"/>
                <a:gridCol w="2286000"/>
              </a:tblGrid>
              <a:tr h="630936">
                <a:tc>
                  <a:txBody>
                    <a:bodyPr/>
                    <a:lstStyle/>
                    <a:p>
                      <a:r>
                        <a:rPr sz="1100" b="0">
                          <a:solidFill>
                            <a:srgbClr val="1F2621"/>
                          </a:solidFill>
                          <a:latin typeface="Aptos"/>
                        </a:rPr>
                        <a:t>Risk</a:t>
                      </a:r>
                    </a:p>
                  </a:txBody>
                  <a:tcPr>
                    <a:solidFill>
                      <a:srgbClr val="355C47"/>
                    </a:solidFill>
                  </a:tcPr>
                </a:tc>
                <a:tc>
                  <a:txBody>
                    <a:bodyPr/>
                    <a:lstStyle/>
                    <a:p>
                      <a:r>
                        <a:rPr sz="1100" b="0">
                          <a:solidFill>
                            <a:srgbClr val="1F2621"/>
                          </a:solidFill>
                          <a:latin typeface="Aptos"/>
                        </a:rPr>
                        <a:t>Trigger</a:t>
                      </a:r>
                    </a:p>
                  </a:txBody>
                  <a:tcPr>
                    <a:solidFill>
                      <a:srgbClr val="355C47"/>
                    </a:solidFill>
                  </a:tcPr>
                </a:tc>
                <a:tc>
                  <a:txBody>
                    <a:bodyPr/>
                    <a:lstStyle/>
                    <a:p>
                      <a:r>
                        <a:rPr sz="1100" b="0">
                          <a:solidFill>
                            <a:srgbClr val="1F2621"/>
                          </a:solidFill>
                          <a:latin typeface="Aptos"/>
                        </a:rPr>
                        <a:t>Countermeasure</a:t>
                      </a:r>
                    </a:p>
                  </a:txBody>
                  <a:tcPr>
                    <a:solidFill>
                      <a:srgbClr val="355C47"/>
                    </a:solidFill>
                  </a:tcPr>
                </a:tc>
                <a:tc>
                  <a:txBody>
                    <a:bodyPr/>
                    <a:lstStyle/>
                    <a:p>
                      <a:r>
                        <a:rPr sz="1100" b="0">
                          <a:solidFill>
                            <a:srgbClr val="1F2621"/>
                          </a:solidFill>
                          <a:latin typeface="Aptos"/>
                        </a:rPr>
                        <a:t>Owner</a:t>
                      </a:r>
                    </a:p>
                  </a:txBody>
                  <a:tcPr>
                    <a:solidFill>
                      <a:srgbClr val="355C47"/>
                    </a:solidFill>
                  </a:tcPr>
                </a:tc>
              </a:tr>
              <a:tr h="630936">
                <a:tc>
                  <a:txBody>
                    <a:bodyPr/>
                    <a:lstStyle/>
                    <a:p>
                      <a:r>
                        <a:rPr sz="1100" b="0">
                          <a:solidFill>
                            <a:srgbClr val="1F2621"/>
                          </a:solidFill>
                          <a:latin typeface="Aptos"/>
                        </a:rPr>
                        <a:t>Freight spikes</a:t>
                      </a:r>
                    </a:p>
                  </a:txBody>
                  <a:tcPr>
                    <a:solidFill>
                      <a:srgbClr val="FCFAF5"/>
                    </a:solidFill>
                  </a:tcPr>
                </a:tc>
                <a:tc>
                  <a:txBody>
                    <a:bodyPr/>
                    <a:lstStyle/>
                    <a:p>
                      <a:r>
                        <a:rPr sz="1100" b="0">
                          <a:solidFill>
                            <a:srgbClr val="1F2621"/>
                          </a:solidFill>
                          <a:latin typeface="Aptos"/>
                        </a:rPr>
                        <a:t>Peak-season lane tightness</a:t>
                      </a:r>
                    </a:p>
                  </a:txBody>
                  <a:tcPr>
                    <a:solidFill>
                      <a:srgbClr val="FCFAF5"/>
                    </a:solidFill>
                  </a:tcPr>
                </a:tc>
                <a:tc>
                  <a:txBody>
                    <a:bodyPr/>
                    <a:lstStyle/>
                    <a:p>
                      <a:r>
                        <a:rPr sz="1100" b="0">
                          <a:solidFill>
                            <a:srgbClr val="1F2621"/>
                          </a:solidFill>
                          <a:latin typeface="Aptos"/>
                        </a:rPr>
                        <a:t>Lock core carrier capacity and maintain alternate lanes.</a:t>
                      </a:r>
                    </a:p>
                  </a:txBody>
                  <a:tcPr>
                    <a:solidFill>
                      <a:srgbClr val="FCFAF5"/>
                    </a:solidFill>
                  </a:tcPr>
                </a:tc>
                <a:tc>
                  <a:txBody>
                    <a:bodyPr/>
                    <a:lstStyle/>
                    <a:p>
                      <a:r>
                        <a:rPr sz="1100" b="0">
                          <a:solidFill>
                            <a:srgbClr val="1F2621"/>
                          </a:solidFill>
                          <a:latin typeface="Aptos"/>
                        </a:rPr>
                        <a:t>Logistics lead</a:t>
                      </a:r>
                    </a:p>
                  </a:txBody>
                  <a:tcPr>
                    <a:solidFill>
                      <a:srgbClr val="FCFAF5"/>
                    </a:solidFill>
                  </a:tcPr>
                </a:tc>
              </a:tr>
              <a:tr h="630936">
                <a:tc>
                  <a:txBody>
                    <a:bodyPr/>
                    <a:lstStyle/>
                    <a:p>
                      <a:r>
                        <a:rPr sz="1100" b="0">
                          <a:solidFill>
                            <a:srgbClr val="1F2621"/>
                          </a:solidFill>
                          <a:latin typeface="Aptos"/>
                        </a:rPr>
                        <a:t>Import or supply disruption</a:t>
                      </a:r>
                    </a:p>
                  </a:txBody>
                  <a:tcPr>
                    <a:solidFill>
                      <a:srgbClr val="F7F3EC"/>
                    </a:solidFill>
                  </a:tcPr>
                </a:tc>
                <a:tc>
                  <a:txBody>
                    <a:bodyPr/>
                    <a:lstStyle/>
                    <a:p>
                      <a:r>
                        <a:rPr sz="1100" b="0">
                          <a:solidFill>
                            <a:srgbClr val="1F2621"/>
                          </a:solidFill>
                          <a:latin typeface="Aptos"/>
                        </a:rPr>
                        <a:t>Supply interruption or customs delay</a:t>
                      </a:r>
                    </a:p>
                  </a:txBody>
                  <a:tcPr>
                    <a:solidFill>
                      <a:srgbClr val="F7F3EC"/>
                    </a:solidFill>
                  </a:tcPr>
                </a:tc>
                <a:tc>
                  <a:txBody>
                    <a:bodyPr/>
                    <a:lstStyle/>
                    <a:p>
                      <a:r>
                        <a:rPr sz="1100" b="0">
                          <a:solidFill>
                            <a:srgbClr val="1F2621"/>
                          </a:solidFill>
                          <a:latin typeface="Aptos"/>
                        </a:rPr>
                        <a:t>Use flexible grower contracts and staggered commitments.</a:t>
                      </a:r>
                    </a:p>
                  </a:txBody>
                  <a:tcPr>
                    <a:solidFill>
                      <a:srgbClr val="F7F3EC"/>
                    </a:solidFill>
                  </a:tcPr>
                </a:tc>
                <a:tc>
                  <a:txBody>
                    <a:bodyPr/>
                    <a:lstStyle/>
                    <a:p>
                      <a:r>
                        <a:rPr sz="1100" b="0">
                          <a:solidFill>
                            <a:srgbClr val="1F2621"/>
                          </a:solidFill>
                          <a:latin typeface="Aptos"/>
                        </a:rPr>
                        <a:t>Sourcing lead</a:t>
                      </a:r>
                    </a:p>
                  </a:txBody>
                  <a:tcPr>
                    <a:solidFill>
                      <a:srgbClr val="F7F3EC"/>
                    </a:solidFill>
                  </a:tcPr>
                </a:tc>
              </a:tr>
              <a:tr h="630936">
                <a:tc>
                  <a:txBody>
                    <a:bodyPr/>
                    <a:lstStyle/>
                    <a:p>
                      <a:r>
                        <a:rPr sz="1100" b="0">
                          <a:solidFill>
                            <a:srgbClr val="1F2621"/>
                          </a:solidFill>
                          <a:latin typeface="Aptos"/>
                        </a:rPr>
                        <a:t>Spoilage / service failures</a:t>
                      </a:r>
                    </a:p>
                  </a:txBody>
                  <a:tcPr>
                    <a:solidFill>
                      <a:srgbClr val="FCFAF5"/>
                    </a:solidFill>
                  </a:tcPr>
                </a:tc>
                <a:tc>
                  <a:txBody>
                    <a:bodyPr/>
                    <a:lstStyle/>
                    <a:p>
                      <a:r>
                        <a:rPr sz="1100" b="0">
                          <a:solidFill>
                            <a:srgbClr val="1F2621"/>
                          </a:solidFill>
                          <a:latin typeface="Aptos"/>
                        </a:rPr>
                        <a:t>Shrink or weak fill-rate trend</a:t>
                      </a:r>
                    </a:p>
                  </a:txBody>
                  <a:tcPr>
                    <a:solidFill>
                      <a:srgbClr val="FCFAF5"/>
                    </a:solidFill>
                  </a:tcPr>
                </a:tc>
                <a:tc>
                  <a:txBody>
                    <a:bodyPr/>
                    <a:lstStyle/>
                    <a:p>
                      <a:r>
                        <a:rPr sz="1100" b="0">
                          <a:solidFill>
                            <a:srgbClr val="1F2621"/>
                          </a:solidFill>
                          <a:latin typeface="Aptos"/>
                        </a:rPr>
                        <a:t>Tighten cold-chain controls and receiving discipline.</a:t>
                      </a:r>
                    </a:p>
                  </a:txBody>
                  <a:tcPr>
                    <a:solidFill>
                      <a:srgbClr val="FCFAF5"/>
                    </a:solidFill>
                  </a:tcPr>
                </a:tc>
                <a:tc>
                  <a:txBody>
                    <a:bodyPr/>
                    <a:lstStyle/>
                    <a:p>
                      <a:r>
                        <a:rPr sz="1100" b="0">
                          <a:solidFill>
                            <a:srgbClr val="1F2621"/>
                          </a:solidFill>
                          <a:latin typeface="Aptos"/>
                        </a:rPr>
                        <a:t>Operations lead</a:t>
                      </a:r>
                    </a:p>
                  </a:txBody>
                  <a:tcPr>
                    <a:solidFill>
                      <a:srgbClr val="FCFAF5"/>
                    </a:solidFill>
                  </a:tcPr>
                </a:tc>
              </a:tr>
              <a:tr h="630936">
                <a:tc>
                  <a:txBody>
                    <a:bodyPr/>
                    <a:lstStyle/>
                    <a:p>
                      <a:r>
                        <a:rPr sz="1100" b="0">
                          <a:solidFill>
                            <a:srgbClr val="1F2621"/>
                          </a:solidFill>
                          <a:latin typeface="Aptos"/>
                        </a:rPr>
                        <a:t>Forecast error</a:t>
                      </a:r>
                    </a:p>
                  </a:txBody>
                  <a:tcPr>
                    <a:solidFill>
                      <a:srgbClr val="F7F3EC"/>
                    </a:solidFill>
                  </a:tcPr>
                </a:tc>
                <a:tc>
                  <a:txBody>
                    <a:bodyPr/>
                    <a:lstStyle/>
                    <a:p>
                      <a:r>
                        <a:rPr sz="1100" b="0">
                          <a:solidFill>
                            <a:srgbClr val="1F2621"/>
                          </a:solidFill>
                          <a:latin typeface="Aptos"/>
                        </a:rPr>
                        <a:t>Demand misses by city</a:t>
                      </a:r>
                    </a:p>
                  </a:txBody>
                  <a:tcPr>
                    <a:solidFill>
                      <a:srgbClr val="F7F3EC"/>
                    </a:solidFill>
                  </a:tcPr>
                </a:tc>
                <a:tc>
                  <a:txBody>
                    <a:bodyPr/>
                    <a:lstStyle/>
                    <a:p>
                      <a:r>
                        <a:rPr sz="1100" b="0">
                          <a:solidFill>
                            <a:srgbClr val="1F2621"/>
                          </a:solidFill>
                          <a:latin typeface="Aptos"/>
                        </a:rPr>
                        <a:t>Run monthly S&amp;OP and reallocate by city using realized demand.</a:t>
                      </a:r>
                    </a:p>
                  </a:txBody>
                  <a:tcPr>
                    <a:solidFill>
                      <a:srgbClr val="F7F3EC"/>
                    </a:solidFill>
                  </a:tcPr>
                </a:tc>
                <a:tc>
                  <a:txBody>
                    <a:bodyPr/>
                    <a:lstStyle/>
                    <a:p>
                      <a:r>
                        <a:rPr sz="1100" b="0">
                          <a:solidFill>
                            <a:srgbClr val="1F2621"/>
                          </a:solidFill>
                          <a:latin typeface="Aptos"/>
                        </a:rPr>
                        <a:t>Commercial lead</a:t>
                      </a:r>
                    </a:p>
                  </a:txBody>
                  <a:tcPr>
                    <a:solidFill>
                      <a:srgbClr val="F7F3EC"/>
                    </a:solidFill>
                  </a:tcPr>
                </a:tc>
              </a:tr>
              <a:tr h="630936">
                <a:tc>
                  <a:txBody>
                    <a:bodyPr/>
                    <a:lstStyle/>
                    <a:p>
                      <a:r>
                        <a:rPr sz="1100" b="0">
                          <a:solidFill>
                            <a:srgbClr val="1F2621"/>
                          </a:solidFill>
                          <a:latin typeface="Aptos"/>
                        </a:rPr>
                        <a:t>Retailer uptake risk</a:t>
                      </a:r>
                    </a:p>
                  </a:txBody>
                  <a:tcPr>
                    <a:solidFill>
                      <a:srgbClr val="FCFAF5"/>
                    </a:solidFill>
                  </a:tcPr>
                </a:tc>
                <a:tc>
                  <a:txBody>
                    <a:bodyPr/>
                    <a:lstStyle/>
                    <a:p>
                      <a:r>
                        <a:rPr sz="1100" b="0">
                          <a:solidFill>
                            <a:srgbClr val="1F2621"/>
                          </a:solidFill>
                          <a:latin typeface="Aptos"/>
                        </a:rPr>
                        <a:t>Weak reorder behavior</a:t>
                      </a:r>
                    </a:p>
                  </a:txBody>
                  <a:tcPr>
                    <a:solidFill>
                      <a:srgbClr val="FCFAF5"/>
                    </a:solidFill>
                  </a:tcPr>
                </a:tc>
                <a:tc>
                  <a:txBody>
                    <a:bodyPr/>
                    <a:lstStyle/>
                    <a:p>
                      <a:r>
                        <a:rPr sz="1100" b="0">
                          <a:solidFill>
                            <a:srgbClr val="1F2621"/>
                          </a:solidFill>
                          <a:latin typeface="Aptos"/>
                        </a:rPr>
                        <a:t>Require stage gates before expanding beyond the pilot.</a:t>
                      </a:r>
                    </a:p>
                  </a:txBody>
                  <a:tcPr>
                    <a:solidFill>
                      <a:srgbClr val="FCFAF5"/>
                    </a:solidFill>
                  </a:tcPr>
                </a:tc>
                <a:tc>
                  <a:txBody>
                    <a:bodyPr/>
                    <a:lstStyle/>
                    <a:p>
                      <a:r>
                        <a:rPr sz="1100" b="0">
                          <a:solidFill>
                            <a:srgbClr val="1F2621"/>
                          </a:solidFill>
                          <a:latin typeface="Aptos"/>
                        </a:rPr>
                        <a:t>General manager</a:t>
                      </a:r>
                    </a:p>
                  </a:txBody>
                  <a:tcPr>
                    <a:solidFill>
                      <a:srgbClr val="FCFAF5"/>
                    </a:solidFill>
                  </a:tcPr>
                </a:tc>
              </a:tr>
            </a:tbl>
          </a:graphicData>
        </a:graphic>
      </p:graphicFrame>
      <p:sp>
        <p:nvSpPr>
          <p:cNvPr id="11" name="Rounded Rectangle 10"/>
          <p:cNvSpPr/>
          <p:nvPr/>
        </p:nvSpPr>
        <p:spPr>
          <a:xfrm>
            <a:off x="868680" y="5650992"/>
            <a:ext cx="9966960" cy="566928"/>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5833872"/>
            <a:ext cx="9601200" cy="146304"/>
          </a:xfrm>
          <a:prstGeom prst="rect">
            <a:avLst/>
          </a:prstGeom>
          <a:noFill/>
        </p:spPr>
        <p:txBody>
          <a:bodyPr wrap="square" lIns="27432" rIns="27432" tIns="27432" bIns="27432" anchor="t">
            <a:spAutoFit/>
          </a:bodyPr>
          <a:lstStyle/>
          <a:p>
            <a:pPr algn="l"/>
            <a:r>
              <a:rPr sz="1200" b="0">
                <a:solidFill>
                  <a:srgbClr val="1F2621"/>
                </a:solidFill>
                <a:latin typeface="Aptos"/>
              </a:rPr>
              <a:t>Operating principle: the pilot should never carry an unmanaged risk; every major threat must already have a trigger, action, and owner before scale decisions are made.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55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46920" y="0"/>
            <a:ext cx="2542032" cy="73152"/>
          </a:xfrm>
          <a:prstGeom prst="rect">
            <a:avLst/>
          </a:prstGeom>
          <a:solidFill>
            <a:srgbClr val="C58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01168"/>
            <a:ext cx="1554480" cy="256032"/>
          </a:xfrm>
          <a:prstGeom prst="roundRect">
            <a:avLst/>
          </a:prstGeom>
          <a:solidFill>
            <a:srgbClr val="FCFAF5"/>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224028"/>
            <a:ext cx="1517904" cy="182880"/>
          </a:xfrm>
          <a:prstGeom prst="rect">
            <a:avLst/>
          </a:prstGeom>
          <a:noFill/>
        </p:spPr>
        <p:txBody>
          <a:bodyPr wrap="square" lIns="27432" rIns="27432" tIns="27432" bIns="27432" anchor="t">
            <a:spAutoFit/>
          </a:bodyPr>
          <a:lstStyle/>
          <a:p>
            <a:pPr algn="ctr"/>
            <a:r>
              <a:rPr sz="1000" b="1">
                <a:solidFill>
                  <a:srgbClr val="355C47"/>
                </a:solidFill>
                <a:latin typeface="Aptos"/>
              </a:rPr>
              <a:t>APPENDIX</a:t>
            </a:r>
          </a:p>
        </p:txBody>
      </p:sp>
      <p:sp>
        <p:nvSpPr>
          <p:cNvPr id="7" name="TextBox 6"/>
          <p:cNvSpPr txBox="1"/>
          <p:nvPr/>
        </p:nvSpPr>
        <p:spPr>
          <a:xfrm>
            <a:off x="11631168" y="6519672"/>
            <a:ext cx="274320" cy="164592"/>
          </a:xfrm>
          <a:prstGeom prst="rect">
            <a:avLst/>
          </a:prstGeom>
          <a:noFill/>
        </p:spPr>
        <p:txBody>
          <a:bodyPr wrap="square" lIns="27432" rIns="27432" tIns="27432" bIns="27432" anchor="t">
            <a:spAutoFit/>
          </a:bodyPr>
          <a:lstStyle/>
          <a:p>
            <a:pPr algn="r"/>
            <a:r>
              <a:rPr sz="900" b="0">
                <a:solidFill>
                  <a:srgbClr val="5F6B63"/>
                </a:solidFill>
                <a:latin typeface="Aptos"/>
              </a:rPr>
              <a:t>32</a:t>
            </a:r>
          </a:p>
        </p:txBody>
      </p:sp>
      <p:sp>
        <p:nvSpPr>
          <p:cNvPr id="8" name="Rounded Rectangle 7"/>
          <p:cNvSpPr/>
          <p:nvPr/>
        </p:nvSpPr>
        <p:spPr>
          <a:xfrm>
            <a:off x="10314432" y="256032"/>
            <a:ext cx="1170432" cy="274320"/>
          </a:xfrm>
          <a:prstGeom prst="roundRect">
            <a:avLst/>
          </a:prstGeom>
          <a:solidFill>
            <a:srgbClr val="B5533A"/>
          </a:solidFill>
          <a:ln>
            <a:solidFill>
              <a:srgbClr val="B55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0" y="260604"/>
            <a:ext cx="1133856" cy="219456"/>
          </a:xfrm>
          <a:prstGeom prst="rect">
            <a:avLst/>
          </a:prstGeom>
          <a:noFill/>
        </p:spPr>
        <p:txBody>
          <a:bodyPr wrap="square" lIns="27432" rIns="27432" tIns="27432" bIns="27432" anchor="ctr">
            <a:spAutoFit/>
          </a:bodyPr>
          <a:lstStyle/>
          <a:p>
            <a:pPr algn="ctr"/>
            <a:r>
              <a:rPr sz="1100" b="1">
                <a:solidFill>
                  <a:srgbClr val="FCFAF5"/>
                </a:solidFill>
                <a:latin typeface="Aptos"/>
              </a:rPr>
              <a:t>CAVEAT</a:t>
            </a:r>
          </a:p>
        </p:txBody>
      </p:sp>
      <p:sp>
        <p:nvSpPr>
          <p:cNvPr id="10" name="TextBox 9"/>
          <p:cNvSpPr txBox="1"/>
          <p:nvPr/>
        </p:nvSpPr>
        <p:spPr>
          <a:xfrm>
            <a:off x="548640" y="658368"/>
            <a:ext cx="10332720" cy="868680"/>
          </a:xfrm>
          <a:prstGeom prst="rect">
            <a:avLst/>
          </a:prstGeom>
          <a:noFill/>
        </p:spPr>
        <p:txBody>
          <a:bodyPr wrap="square" lIns="27432" rIns="27432" tIns="27432" bIns="27432" anchor="t">
            <a:spAutoFit/>
          </a:bodyPr>
          <a:lstStyle/>
          <a:p>
            <a:pPr algn="l"/>
            <a:r>
              <a:rPr sz="2700" b="1">
                <a:solidFill>
                  <a:srgbClr val="355C47"/>
                </a:solidFill>
                <a:latin typeface="Aptos Display"/>
              </a:rPr>
              <a:t>The model can now separate city choice from allocation economics</a:t>
            </a:r>
          </a:p>
        </p:txBody>
      </p:sp>
      <p:sp>
        <p:nvSpPr>
          <p:cNvPr id="11" name="Rounded Rectangle 10"/>
          <p:cNvSpPr/>
          <p:nvPr/>
        </p:nvSpPr>
        <p:spPr>
          <a:xfrm>
            <a:off x="731520" y="1737360"/>
            <a:ext cx="5212080" cy="3383280"/>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63640" y="1737360"/>
            <a:ext cx="5212080" cy="3383280"/>
          </a:xfrm>
          <a:prstGeom prst="roundRect">
            <a:avLst/>
          </a:prstGeom>
          <a:solidFill>
            <a:srgbClr val="FCFAF5"/>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1938528"/>
            <a:ext cx="2103120" cy="228600"/>
          </a:xfrm>
          <a:prstGeom prst="rect">
            <a:avLst/>
          </a:prstGeom>
          <a:noFill/>
        </p:spPr>
        <p:txBody>
          <a:bodyPr wrap="square" lIns="27432" rIns="27432" tIns="27432" bIns="27432" anchor="t">
            <a:spAutoFit/>
          </a:bodyPr>
          <a:lstStyle/>
          <a:p>
            <a:pPr algn="l"/>
            <a:r>
              <a:rPr sz="1500" b="1">
                <a:solidFill>
                  <a:srgbClr val="355C47"/>
                </a:solidFill>
                <a:latin typeface="Aptos Display"/>
              </a:rPr>
              <a:t>What we can defend now</a:t>
            </a:r>
          </a:p>
        </p:txBody>
      </p:sp>
      <p:sp>
        <p:nvSpPr>
          <p:cNvPr id="14" name="TextBox 13"/>
          <p:cNvSpPr txBox="1"/>
          <p:nvPr/>
        </p:nvSpPr>
        <p:spPr>
          <a:xfrm>
            <a:off x="914400" y="2240280"/>
            <a:ext cx="4663440" cy="2606040"/>
          </a:xfrm>
          <a:prstGeom prst="rect">
            <a:avLst/>
          </a:prstGeom>
          <a:noFill/>
        </p:spPr>
        <p:txBody>
          <a:bodyPr wrap="square" lIns="27432" rIns="27432" tIns="18288" bIns="18288">
            <a:spAutoFit/>
          </a:bodyPr>
          <a:lstStyle/>
          <a:p>
            <a:pPr algn="l">
              <a:lnSpc>
                <a:spcPct val="115000"/>
              </a:lnSpc>
            </a:pPr>
            <a:r>
              <a:rPr sz="1400">
                <a:solidFill>
                  <a:srgbClr val="1F2621"/>
                </a:solidFill>
                <a:latin typeface="Aptos"/>
              </a:rPr>
              <a:t>- The cleaned dataset resolves to 40 city markets even though the case text references 41 metro regions.</a:t>
            </a:r>
          </a:p>
          <a:p>
            <a:pPr algn="l">
              <a:lnSpc>
                <a:spcPct val="115000"/>
              </a:lnSpc>
            </a:pPr>
            <a:r>
              <a:rPr sz="1400">
                <a:solidFill>
                  <a:srgbClr val="1F2621"/>
                </a:solidFill>
                <a:latin typeface="Aptos"/>
              </a:rPr>
              <a:t>- The comparable 20,000-unit city screen is still the right way to choose where to test because every market is evaluated on the same basis.</a:t>
            </a:r>
          </a:p>
          <a:p>
            <a:pPr algn="l">
              <a:lnSpc>
                <a:spcPct val="115000"/>
              </a:lnSpc>
            </a:pPr>
            <a:r>
              <a:rPr sz="1400">
                <a:solidFill>
                  <a:srgbClr val="1F2621"/>
                </a:solidFill>
                <a:latin typeface="Aptos"/>
              </a:rPr>
              <a:t>- All 40 city screens remain profitable even at +50% shipping, so the recommendation is an optimization problem, not a survival problem.</a:t>
            </a:r>
          </a:p>
        </p:txBody>
      </p:sp>
      <p:sp>
        <p:nvSpPr>
          <p:cNvPr id="15" name="TextBox 14"/>
          <p:cNvSpPr txBox="1"/>
          <p:nvPr/>
        </p:nvSpPr>
        <p:spPr>
          <a:xfrm>
            <a:off x="6446520" y="1938528"/>
            <a:ext cx="2286000" cy="228600"/>
          </a:xfrm>
          <a:prstGeom prst="rect">
            <a:avLst/>
          </a:prstGeom>
          <a:noFill/>
        </p:spPr>
        <p:txBody>
          <a:bodyPr wrap="square" lIns="27432" rIns="27432" tIns="27432" bIns="27432" anchor="t">
            <a:spAutoFit/>
          </a:bodyPr>
          <a:lstStyle/>
          <a:p>
            <a:pPr algn="l"/>
            <a:r>
              <a:rPr sz="1500" b="1">
                <a:solidFill>
                  <a:srgbClr val="B5533A"/>
                </a:solidFill>
                <a:latin typeface="Aptos Display"/>
              </a:rPr>
              <a:t>What still needs more data</a:t>
            </a:r>
          </a:p>
        </p:txBody>
      </p:sp>
      <p:sp>
        <p:nvSpPr>
          <p:cNvPr id="16" name="TextBox 15"/>
          <p:cNvSpPr txBox="1"/>
          <p:nvPr/>
        </p:nvSpPr>
        <p:spPr>
          <a:xfrm>
            <a:off x="6446520" y="2240280"/>
            <a:ext cx="4663440" cy="2606040"/>
          </a:xfrm>
          <a:prstGeom prst="rect">
            <a:avLst/>
          </a:prstGeom>
          <a:noFill/>
        </p:spPr>
        <p:txBody>
          <a:bodyPr wrap="square" lIns="27432" rIns="27432" tIns="18288" bIns="18288">
            <a:spAutoFit/>
          </a:bodyPr>
          <a:lstStyle/>
          <a:p>
            <a:pPr algn="l">
              <a:lnSpc>
                <a:spcPct val="115000"/>
              </a:lnSpc>
            </a:pPr>
            <a:r>
              <a:rPr sz="1400">
                <a:solidFill>
                  <a:srgbClr val="1F2621"/>
                </a:solidFill>
                <a:latin typeface="Aptos"/>
              </a:rPr>
              <a:t>- 2025 is partial-year data only and June 2025 retail price is used as the simple proxy for June 2026 retail price.</a:t>
            </a:r>
          </a:p>
          <a:p>
            <a:pPr algn="l">
              <a:lnSpc>
                <a:spcPct val="115000"/>
              </a:lnSpc>
            </a:pPr>
            <a:r>
              <a:rPr sz="1400">
                <a:solidFill>
                  <a:srgbClr val="1F2621"/>
                </a:solidFill>
                <a:latin typeface="Aptos"/>
              </a:rPr>
              <a:t>- The model now quantifies split-allocation trade-offs, but it still does not include shrink, retailer-level demand curves, or route-level service costs.</a:t>
            </a:r>
          </a:p>
          <a:p>
            <a:pPr algn="l">
              <a:lnSpc>
                <a:spcPct val="115000"/>
              </a:lnSpc>
            </a:pPr>
            <a:r>
              <a:rPr sz="1400">
                <a:solidFill>
                  <a:srgbClr val="1F2621"/>
                </a:solidFill>
                <a:latin typeface="Aptos"/>
              </a:rPr>
              <a:t>- That means the deck can defend city selection and portfolio logic now, but not exact retailer-by-retailer allocation yet.</a:t>
            </a:r>
          </a:p>
        </p:txBody>
      </p:sp>
      <p:sp>
        <p:nvSpPr>
          <p:cNvPr id="17" name="Rounded Rectangle 16"/>
          <p:cNvSpPr/>
          <p:nvPr/>
        </p:nvSpPr>
        <p:spPr>
          <a:xfrm>
            <a:off x="1005840" y="5440680"/>
            <a:ext cx="10012680" cy="658368"/>
          </a:xfrm>
          <a:prstGeom prst="roundRect">
            <a:avLst/>
          </a:prstGeom>
          <a:solidFill>
            <a:srgbClr val="FFFDF9"/>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88720" y="5650992"/>
            <a:ext cx="2011680" cy="146304"/>
          </a:xfrm>
          <a:prstGeom prst="rect">
            <a:avLst/>
          </a:prstGeom>
          <a:noFill/>
        </p:spPr>
        <p:txBody>
          <a:bodyPr wrap="square" lIns="27432" rIns="27432" tIns="27432" bIns="27432" anchor="t">
            <a:spAutoFit/>
          </a:bodyPr>
          <a:lstStyle/>
          <a:p>
            <a:pPr algn="l"/>
            <a:r>
              <a:rPr sz="1000" b="1">
                <a:solidFill>
                  <a:srgbClr val="5F6B63"/>
                </a:solidFill>
                <a:latin typeface="Aptos"/>
              </a:rPr>
              <a:t>NEXT DATA TO COLLECT</a:t>
            </a:r>
          </a:p>
        </p:txBody>
      </p:sp>
      <p:sp>
        <p:nvSpPr>
          <p:cNvPr id="19" name="TextBox 18"/>
          <p:cNvSpPr txBox="1"/>
          <p:nvPr/>
        </p:nvSpPr>
        <p:spPr>
          <a:xfrm>
            <a:off x="2926080" y="5596128"/>
            <a:ext cx="7726679" cy="201168"/>
          </a:xfrm>
          <a:prstGeom prst="rect">
            <a:avLst/>
          </a:prstGeom>
          <a:noFill/>
        </p:spPr>
        <p:txBody>
          <a:bodyPr wrap="square" lIns="27432" rIns="27432" tIns="27432" bIns="27432" anchor="t">
            <a:spAutoFit/>
          </a:bodyPr>
          <a:lstStyle/>
          <a:p>
            <a:pPr algn="l"/>
            <a:r>
              <a:rPr sz="1300" b="0">
                <a:solidFill>
                  <a:srgbClr val="1F2621"/>
                </a:solidFill>
                <a:latin typeface="Aptos"/>
              </a:rPr>
              <a:t>Pilot reorder behavior, lane-level spoilage, and retailer response would move West Valley from screen-level economics to exact allocation and account-level planning.</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55C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46920" y="0"/>
            <a:ext cx="2542032" cy="73152"/>
          </a:xfrm>
          <a:prstGeom prst="rect">
            <a:avLst/>
          </a:prstGeom>
          <a:solidFill>
            <a:srgbClr val="C58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201168"/>
            <a:ext cx="1554480" cy="256032"/>
          </a:xfrm>
          <a:prstGeom prst="roundRect">
            <a:avLst/>
          </a:prstGeom>
          <a:solidFill>
            <a:srgbClr val="FCFAF5"/>
          </a:solidFill>
          <a:ln>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224028"/>
            <a:ext cx="1517904" cy="182880"/>
          </a:xfrm>
          <a:prstGeom prst="rect">
            <a:avLst/>
          </a:prstGeom>
          <a:noFill/>
        </p:spPr>
        <p:txBody>
          <a:bodyPr wrap="square" lIns="27432" rIns="27432" tIns="27432" bIns="27432" anchor="t">
            <a:spAutoFit/>
          </a:bodyPr>
          <a:lstStyle/>
          <a:p>
            <a:pPr algn="ctr"/>
            <a:r>
              <a:rPr sz="1000" b="1">
                <a:solidFill>
                  <a:srgbClr val="355C47"/>
                </a:solidFill>
                <a:latin typeface="Aptos"/>
              </a:rPr>
              <a:t>APPENDIX</a:t>
            </a:r>
          </a:p>
        </p:txBody>
      </p:sp>
      <p:sp>
        <p:nvSpPr>
          <p:cNvPr id="7" name="TextBox 6"/>
          <p:cNvSpPr txBox="1"/>
          <p:nvPr/>
        </p:nvSpPr>
        <p:spPr>
          <a:xfrm>
            <a:off x="548640" y="6519672"/>
            <a:ext cx="3108960" cy="164592"/>
          </a:xfrm>
          <a:prstGeom prst="rect">
            <a:avLst/>
          </a:prstGeom>
          <a:noFill/>
        </p:spPr>
        <p:txBody>
          <a:bodyPr wrap="square" lIns="27432" rIns="27432" tIns="27432" bIns="27432" anchor="t">
            <a:spAutoFit/>
          </a:bodyPr>
          <a:lstStyle/>
          <a:p>
            <a:pPr algn="l"/>
            <a:r>
              <a:rPr sz="900" b="0">
                <a:solidFill>
                  <a:srgbClr val="5F6B63"/>
                </a:solidFill>
                <a:latin typeface="Aptos"/>
              </a:rPr>
              <a:t>SOURCES AND BACKUP</a:t>
            </a:r>
          </a:p>
        </p:txBody>
      </p:sp>
      <p:sp>
        <p:nvSpPr>
          <p:cNvPr id="8" name="TextBox 7"/>
          <p:cNvSpPr txBox="1"/>
          <p:nvPr/>
        </p:nvSpPr>
        <p:spPr>
          <a:xfrm>
            <a:off x="11631168" y="6519672"/>
            <a:ext cx="274320" cy="164592"/>
          </a:xfrm>
          <a:prstGeom prst="rect">
            <a:avLst/>
          </a:prstGeom>
          <a:noFill/>
        </p:spPr>
        <p:txBody>
          <a:bodyPr wrap="square" lIns="27432" rIns="27432" tIns="27432" bIns="27432" anchor="t">
            <a:spAutoFit/>
          </a:bodyPr>
          <a:lstStyle/>
          <a:p>
            <a:pPr algn="r"/>
            <a:r>
              <a:rPr sz="900" b="0">
                <a:solidFill>
                  <a:srgbClr val="5F6B63"/>
                </a:solidFill>
                <a:latin typeface="Aptos"/>
              </a:rPr>
              <a:t>33</a:t>
            </a:r>
          </a:p>
        </p:txBody>
      </p:sp>
      <p:sp>
        <p:nvSpPr>
          <p:cNvPr id="9" name="TextBox 8"/>
          <p:cNvSpPr txBox="1"/>
          <p:nvPr/>
        </p:nvSpPr>
        <p:spPr>
          <a:xfrm>
            <a:off x="548640" y="658368"/>
            <a:ext cx="10332720" cy="868680"/>
          </a:xfrm>
          <a:prstGeom prst="rect">
            <a:avLst/>
          </a:prstGeom>
          <a:noFill/>
        </p:spPr>
        <p:txBody>
          <a:bodyPr wrap="square" lIns="27432" rIns="27432" tIns="27432" bIns="27432" anchor="t">
            <a:spAutoFit/>
          </a:bodyPr>
          <a:lstStyle/>
          <a:p>
            <a:pPr algn="l"/>
            <a:r>
              <a:rPr sz="2700" b="1">
                <a:solidFill>
                  <a:srgbClr val="355C47"/>
                </a:solidFill>
                <a:latin typeface="Aptos Display"/>
              </a:rPr>
              <a:t>Appendix: sources, assumptions, and backup exhibits</a:t>
            </a:r>
          </a:p>
        </p:txBody>
      </p:sp>
      <p:sp>
        <p:nvSpPr>
          <p:cNvPr id="10" name="Rounded Rectangle 9"/>
          <p:cNvSpPr/>
          <p:nvPr/>
        </p:nvSpPr>
        <p:spPr>
          <a:xfrm>
            <a:off x="713232" y="1664208"/>
            <a:ext cx="3657600" cy="4206240"/>
          </a:xfrm>
          <a:prstGeom prst="roundRect">
            <a:avLst/>
          </a:prstGeom>
          <a:solidFill>
            <a:srgbClr val="FFFDF9"/>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35424" y="1664208"/>
            <a:ext cx="3090672" cy="4206240"/>
          </a:xfrm>
          <a:prstGeom prst="roundRect">
            <a:avLst/>
          </a:prstGeom>
          <a:solidFill>
            <a:srgbClr val="FFFDF9"/>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790688" y="1664208"/>
            <a:ext cx="3657600" cy="4206240"/>
          </a:xfrm>
          <a:prstGeom prst="roundRect">
            <a:avLst/>
          </a:prstGeom>
          <a:solidFill>
            <a:srgbClr val="FFFDF9"/>
          </a:solidFill>
          <a:ln w="12700">
            <a:solidFill>
              <a:srgbClr val="D8D1C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1901952"/>
            <a:ext cx="2377440" cy="219456"/>
          </a:xfrm>
          <a:prstGeom prst="rect">
            <a:avLst/>
          </a:prstGeom>
          <a:noFill/>
        </p:spPr>
        <p:txBody>
          <a:bodyPr wrap="square" lIns="27432" rIns="27432" tIns="27432" bIns="27432" anchor="t">
            <a:spAutoFit/>
          </a:bodyPr>
          <a:lstStyle/>
          <a:p>
            <a:pPr algn="l"/>
            <a:r>
              <a:rPr sz="1500" b="1">
                <a:solidFill>
                  <a:srgbClr val="355C47"/>
                </a:solidFill>
                <a:latin typeface="Aptos Display"/>
              </a:rPr>
              <a:t>Primary sources</a:t>
            </a:r>
          </a:p>
        </p:txBody>
      </p:sp>
      <p:sp>
        <p:nvSpPr>
          <p:cNvPr id="14" name="TextBox 13"/>
          <p:cNvSpPr txBox="1"/>
          <p:nvPr/>
        </p:nvSpPr>
        <p:spPr>
          <a:xfrm>
            <a:off x="914400" y="2240280"/>
            <a:ext cx="3200400" cy="3154680"/>
          </a:xfrm>
          <a:prstGeom prst="rect">
            <a:avLst/>
          </a:prstGeom>
          <a:noFill/>
        </p:spPr>
        <p:txBody>
          <a:bodyPr wrap="square" lIns="27432" rIns="27432" tIns="18288" bIns="18288">
            <a:spAutoFit/>
          </a:bodyPr>
          <a:lstStyle/>
          <a:p>
            <a:pPr algn="l">
              <a:lnSpc>
                <a:spcPct val="115000"/>
              </a:lnSpc>
            </a:pPr>
            <a:r>
              <a:rPr sz="1300">
                <a:solidFill>
                  <a:srgbClr val="1F2621"/>
                </a:solidFill>
                <a:latin typeface="Aptos"/>
              </a:rPr>
              <a:t>- case_full.md and case_context.md</a:t>
            </a:r>
          </a:p>
          <a:p>
            <a:pPr algn="l">
              <a:lnSpc>
                <a:spcPct val="115000"/>
              </a:lnSpc>
            </a:pPr>
            <a:r>
              <a:rPr sz="1300">
                <a:solidFill>
                  <a:srgbClr val="1F2621"/>
                </a:solidFill>
                <a:latin typeface="Aptos"/>
              </a:rPr>
              <a:t>- case_comp_data.csv</a:t>
            </a:r>
          </a:p>
          <a:p>
            <a:pPr algn="l">
              <a:lnSpc>
                <a:spcPct val="115000"/>
              </a:lnSpc>
            </a:pPr>
            <a:r>
              <a:rPr sz="1300">
                <a:solidFill>
                  <a:srgbClr val="1F2621"/>
                </a:solidFill>
                <a:latin typeface="Aptos"/>
              </a:rPr>
              <a:t>- outputs/question_1.md through outputs/question_9.md</a:t>
            </a:r>
          </a:p>
          <a:p>
            <a:pPr algn="l">
              <a:lnSpc>
                <a:spcPct val="115000"/>
              </a:lnSpc>
            </a:pPr>
            <a:r>
              <a:rPr sz="1300">
                <a:solidFill>
                  <a:srgbClr val="1F2621"/>
                </a:solidFill>
                <a:latin typeface="Aptos"/>
              </a:rPr>
              <a:t>- q5 to q7 profitability scenario CSVs</a:t>
            </a:r>
          </a:p>
          <a:p>
            <a:pPr algn="l">
              <a:lnSpc>
                <a:spcPct val="115000"/>
              </a:lnSpc>
            </a:pPr>
            <a:r>
              <a:rPr sz="1300">
                <a:solidFill>
                  <a:srgbClr val="1F2621"/>
                </a:solidFill>
                <a:latin typeface="Aptos"/>
              </a:rPr>
              <a:t>- q8 seasonality CSVs and charts</a:t>
            </a:r>
          </a:p>
        </p:txBody>
      </p:sp>
      <p:sp>
        <p:nvSpPr>
          <p:cNvPr id="15" name="TextBox 14"/>
          <p:cNvSpPr txBox="1"/>
          <p:nvPr/>
        </p:nvSpPr>
        <p:spPr>
          <a:xfrm>
            <a:off x="4736592" y="1901952"/>
            <a:ext cx="2194560" cy="219456"/>
          </a:xfrm>
          <a:prstGeom prst="rect">
            <a:avLst/>
          </a:prstGeom>
          <a:noFill/>
        </p:spPr>
        <p:txBody>
          <a:bodyPr wrap="square" lIns="27432" rIns="27432" tIns="27432" bIns="27432" anchor="t">
            <a:spAutoFit/>
          </a:bodyPr>
          <a:lstStyle/>
          <a:p>
            <a:pPr algn="l"/>
            <a:r>
              <a:rPr sz="1500" b="1">
                <a:solidFill>
                  <a:srgbClr val="355C47"/>
                </a:solidFill>
                <a:latin typeface="Aptos Display"/>
              </a:rPr>
              <a:t>Core assumptions</a:t>
            </a:r>
          </a:p>
        </p:txBody>
      </p:sp>
      <p:sp>
        <p:nvSpPr>
          <p:cNvPr id="16" name="TextBox 15"/>
          <p:cNvSpPr txBox="1"/>
          <p:nvPr/>
        </p:nvSpPr>
        <p:spPr>
          <a:xfrm>
            <a:off x="4736592" y="2240280"/>
            <a:ext cx="2670048" cy="3154680"/>
          </a:xfrm>
          <a:prstGeom prst="rect">
            <a:avLst/>
          </a:prstGeom>
          <a:noFill/>
        </p:spPr>
        <p:txBody>
          <a:bodyPr wrap="square" lIns="27432" rIns="27432" tIns="18288" bIns="18288">
            <a:spAutoFit/>
          </a:bodyPr>
          <a:lstStyle/>
          <a:p>
            <a:pPr algn="l">
              <a:lnSpc>
                <a:spcPct val="115000"/>
              </a:lnSpc>
            </a:pPr>
            <a:r>
              <a:rPr sz="1300">
                <a:solidFill>
                  <a:srgbClr val="1F2621"/>
                </a:solidFill>
                <a:latin typeface="Aptos"/>
              </a:rPr>
              <a:t>- 20,000-unit comparable city scorecards</a:t>
            </a:r>
          </a:p>
          <a:p>
            <a:pPr algn="l">
              <a:lnSpc>
                <a:spcPct val="115000"/>
              </a:lnSpc>
            </a:pPr>
            <a:r>
              <a:rPr sz="1300">
                <a:solidFill>
                  <a:srgbClr val="1F2621"/>
                </a:solidFill>
                <a:latin typeface="Aptos"/>
              </a:rPr>
              <a:t>- June 2025 retail price used as June 2026 proxy</a:t>
            </a:r>
          </a:p>
          <a:p>
            <a:pPr algn="l">
              <a:lnSpc>
                <a:spcPct val="115000"/>
              </a:lnSpc>
            </a:pPr>
            <a:r>
              <a:rPr sz="1300">
                <a:solidFill>
                  <a:srgbClr val="1F2621"/>
                </a:solidFill>
                <a:latin typeface="Aptos"/>
              </a:rPr>
              <a:t>- Wholesale price modeled at 40% of retail</a:t>
            </a:r>
          </a:p>
          <a:p>
            <a:pPr algn="l">
              <a:lnSpc>
                <a:spcPct val="115000"/>
              </a:lnSpc>
            </a:pPr>
            <a:r>
              <a:rPr sz="1300">
                <a:solidFill>
                  <a:srgbClr val="1F2621"/>
                </a:solidFill>
                <a:latin typeface="Aptos"/>
              </a:rPr>
              <a:t>- $0.20 acquisition cost per avocado</a:t>
            </a:r>
          </a:p>
          <a:p>
            <a:pPr algn="l">
              <a:lnSpc>
                <a:spcPct val="115000"/>
              </a:lnSpc>
            </a:pPr>
            <a:r>
              <a:rPr sz="1300">
                <a:solidFill>
                  <a:srgbClr val="1F2621"/>
                </a:solidFill>
                <a:latin typeface="Aptos"/>
              </a:rPr>
              <a:t>- Shipping = $1,500 fixed + $50 per 100 miles</a:t>
            </a:r>
          </a:p>
        </p:txBody>
      </p:sp>
      <p:sp>
        <p:nvSpPr>
          <p:cNvPr id="17" name="TextBox 16"/>
          <p:cNvSpPr txBox="1"/>
          <p:nvPr/>
        </p:nvSpPr>
        <p:spPr>
          <a:xfrm>
            <a:off x="8001000" y="1901952"/>
            <a:ext cx="2560320" cy="219456"/>
          </a:xfrm>
          <a:prstGeom prst="rect">
            <a:avLst/>
          </a:prstGeom>
          <a:noFill/>
        </p:spPr>
        <p:txBody>
          <a:bodyPr wrap="square" lIns="27432" rIns="27432" tIns="27432" bIns="27432" anchor="t">
            <a:spAutoFit/>
          </a:bodyPr>
          <a:lstStyle/>
          <a:p>
            <a:pPr algn="l"/>
            <a:r>
              <a:rPr sz="1500" b="1">
                <a:solidFill>
                  <a:srgbClr val="355C47"/>
                </a:solidFill>
                <a:latin typeface="Aptos Display"/>
              </a:rPr>
              <a:t>Backup exhibits available</a:t>
            </a:r>
          </a:p>
        </p:txBody>
      </p:sp>
      <p:sp>
        <p:nvSpPr>
          <p:cNvPr id="18" name="TextBox 17"/>
          <p:cNvSpPr txBox="1"/>
          <p:nvPr/>
        </p:nvSpPr>
        <p:spPr>
          <a:xfrm>
            <a:off x="8001000" y="2240280"/>
            <a:ext cx="3154680" cy="3154680"/>
          </a:xfrm>
          <a:prstGeom prst="rect">
            <a:avLst/>
          </a:prstGeom>
          <a:noFill/>
        </p:spPr>
        <p:txBody>
          <a:bodyPr wrap="square" lIns="27432" rIns="27432" tIns="18288" bIns="18288">
            <a:spAutoFit/>
          </a:bodyPr>
          <a:lstStyle/>
          <a:p>
            <a:pPr algn="l">
              <a:lnSpc>
                <a:spcPct val="115000"/>
              </a:lnSpc>
            </a:pPr>
            <a:r>
              <a:rPr sz="1300">
                <a:solidFill>
                  <a:srgbClr val="1F2621"/>
                </a:solidFill>
                <a:latin typeface="Aptos"/>
              </a:rPr>
              <a:t>- Winner matrix and city trend lines</a:t>
            </a:r>
          </a:p>
          <a:p>
            <a:pPr algn="l">
              <a:lnSpc>
                <a:spcPct val="115000"/>
              </a:lnSpc>
            </a:pPr>
            <a:r>
              <a:rPr sz="1300">
                <a:solidFill>
                  <a:srgbClr val="1F2621"/>
                </a:solidFill>
                <a:latin typeface="Aptos"/>
              </a:rPr>
              <a:t>- Growth/share bridge and elasticity visuals</a:t>
            </a:r>
          </a:p>
          <a:p>
            <a:pPr algn="l">
              <a:lnSpc>
                <a:spcPct val="115000"/>
              </a:lnSpc>
            </a:pPr>
            <a:r>
              <a:rPr sz="1300">
                <a:solidFill>
                  <a:srgbClr val="1F2621"/>
                </a:solidFill>
                <a:latin typeface="Aptos"/>
              </a:rPr>
              <a:t>- Selection matrix, frontier zoom, and freight sensitivity</a:t>
            </a:r>
          </a:p>
          <a:p>
            <a:pPr algn="l">
              <a:lnSpc>
                <a:spcPct val="115000"/>
              </a:lnSpc>
            </a:pPr>
            <a:r>
              <a:rPr sz="1300">
                <a:solidFill>
                  <a:srgbClr val="1F2621"/>
                </a:solidFill>
                <a:latin typeface="Aptos"/>
              </a:rPr>
              <a:t>- Seasonality price and volume charts</a:t>
            </a:r>
          </a:p>
          <a:p>
            <a:pPr algn="l">
              <a:lnSpc>
                <a:spcPct val="115000"/>
              </a:lnSpc>
            </a:pPr>
            <a:r>
              <a:rPr sz="1300">
                <a:solidFill>
                  <a:srgbClr val="1F2621"/>
                </a:solidFill>
                <a:latin typeface="Aptos"/>
              </a:rPr>
              <a:t>- Model caveats and implementation stage gates</a:t>
            </a:r>
          </a:p>
        </p:txBody>
      </p:sp>
      <p:sp>
        <p:nvSpPr>
          <p:cNvPr id="19" name="TextBox 18"/>
          <p:cNvSpPr txBox="1"/>
          <p:nvPr/>
        </p:nvSpPr>
        <p:spPr>
          <a:xfrm>
            <a:off x="896112" y="6071616"/>
            <a:ext cx="10058400" cy="219456"/>
          </a:xfrm>
          <a:prstGeom prst="rect">
            <a:avLst/>
          </a:prstGeom>
          <a:noFill/>
        </p:spPr>
        <p:txBody>
          <a:bodyPr wrap="square" lIns="27432" rIns="27432" tIns="27432" bIns="27432" anchor="t">
            <a:spAutoFit/>
          </a:bodyPr>
          <a:lstStyle/>
          <a:p>
            <a:pPr algn="l"/>
            <a:r>
              <a:rPr sz="1200" b="0">
                <a:solidFill>
                  <a:srgbClr val="5F6B63"/>
                </a:solidFill>
                <a:latin typeface="Aptos"/>
              </a:rPr>
              <a:t>Use this appendix to answer questions on data scope, scenario assumptions, seasonality, or why the five-city recommendation stays stable under freight stress.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