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ANONYMIZED TEAM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3492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 FRESH DISTRIBUTION 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59152"/>
            <a:ext cx="7772400" cy="1828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3600" b="1">
                <a:solidFill>
                  <a:srgbClr val="355C47"/>
                </a:solidFill>
                <a:latin typeface="Aptos Display"/>
              </a:rPr>
              <a:t>A disciplined 5-city pilot is the right way to enter organic Hass avocados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68580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Prepared as an anonymized submission for the 2026 IMA Student Case Competition. The deck is designed to stand alone without speaker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a disciplined 5-city organic pilot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653796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557784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5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9504"/>
            <a:ext cx="544068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These five cities combine premium June pricing, organic readiness, and manageable freight better than a broad national rollout.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611880"/>
            <a:ext cx="105156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616452"/>
            <a:ext cx="10149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48256" y="3611880"/>
            <a:ext cx="96012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66544" y="3616452"/>
            <a:ext cx="92354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81528" y="3611880"/>
            <a:ext cx="11247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9816" y="3616452"/>
            <a:ext cx="10881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611880"/>
            <a:ext cx="107899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3616452"/>
            <a:ext cx="104241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31536" y="3611880"/>
            <a:ext cx="1298448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9824" y="3616452"/>
            <a:ext cx="1261872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4315968"/>
            <a:ext cx="1828800" cy="80467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626864"/>
            <a:ext cx="157276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4368" y="4315968"/>
            <a:ext cx="1828800" cy="80467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2384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4626864"/>
            <a:ext cx="157276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69.7%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2624" y="4315968"/>
            <a:ext cx="1828800" cy="80467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442569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626864"/>
            <a:ext cx="1572768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" y="5248656"/>
            <a:ext cx="6053328" cy="658368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285232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DECISION TO PROVE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285232"/>
            <a:ext cx="347472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Price support beats raw market size.  |  The top cities hold through freight shocks.  |  Seasonality changes how the pilot should run.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79792" y="1737360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26096" y="1837944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THESE CITIES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6096" y="2020824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55C47"/>
                </a:solidFill>
                <a:latin typeface="Aptos Display"/>
              </a:rPr>
              <a:t>Premium price markets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2322576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top five also rank as the strongest June organic price markets in the model.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79792" y="3127248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26096" y="3227832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WHY THE LIST HOLDS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6096" y="3410712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6096" y="3712464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city set does not change in the base, +50%, or -50% freight cases.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79792" y="4517136"/>
            <a:ext cx="402336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26096" y="4617720"/>
            <a:ext cx="37307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HOW TO OPERATE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6096" y="4800600"/>
            <a:ext cx="373075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600" b="1">
                <a:solidFill>
                  <a:srgbClr val="C58A2A"/>
                </a:solidFill>
                <a:latin typeface="Aptos Display"/>
              </a:rPr>
              <a:t>Pilot before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6096" y="5102352"/>
            <a:ext cx="373075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Launch narrowly, learn fast, then scale only where margin and service hold.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Scope: 20,000 organic units | 40 city markets screened | 2019-2025 HAB data | Model note: June 2025 price used as June 2026 proxy.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Four sections prove the 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64208"/>
            <a:ext cx="2615184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01368"/>
            <a:ext cx="232257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MARKET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48256"/>
            <a:ext cx="2322576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5F6B63"/>
                </a:solidFill>
                <a:latin typeface="Aptos Display"/>
              </a:rPr>
              <a:t>The market is real but uneven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2322576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LA dominates total sales. Seattle leads organic penetration. Price is a signal but not sufficient by itself.
Slides 4-7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664208"/>
            <a:ext cx="2615184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801368"/>
            <a:ext cx="232257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PILLAR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048256"/>
            <a:ext cx="2322576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Price picks the cities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542032"/>
            <a:ext cx="2322576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Demographics and channel fit explain why premium markets beat scale markets. The profitability model picks the top five.
Slides 8-12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64208"/>
            <a:ext cx="2615184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01368"/>
            <a:ext cx="232257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PILLAR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048256"/>
            <a:ext cx="2322576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Freight doesn't change the 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2542032"/>
            <a:ext cx="2322576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same five cities win at base, +50%, and -50% freight. Price leverage outweighs shipping by ~6:1.
Slides 13-17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664208"/>
            <a:ext cx="2615184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801368"/>
            <a:ext cx="232257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PILLAR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048256"/>
            <a:ext cx="2322576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Seasonality is an advantage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42032"/>
            <a:ext cx="2322576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Volume peaks before price -- the duck curve. Three operating postures let the pilot exploit seasonal timing.
Slides 18-24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73168"/>
            <a:ext cx="10881360" cy="12344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901184"/>
            <a:ext cx="33710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THEN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084064"/>
            <a:ext cx="33710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355C47"/>
                </a:solidFill>
                <a:latin typeface="Aptos Display"/>
              </a:rPr>
              <a:t>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5431536"/>
            <a:ext cx="3371088" cy="4297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Slides 25-29: timeline, KPIs, stage gates, risk map.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85488" y="4937760"/>
            <a:ext cx="0" cy="90525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413504" y="4901184"/>
            <a:ext cx="33710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FINALLY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3504" y="5084064"/>
            <a:ext cx="33710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3F728A"/>
                </a:solidFill>
                <a:latin typeface="Aptos Display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3504" y="5431536"/>
            <a:ext cx="3371088" cy="4297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Slides 30-31: full answer arc and strategic implications.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12608" y="4937760"/>
            <a:ext cx="0" cy="90525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40624" y="4901184"/>
            <a:ext cx="33710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BACKUP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0624" y="5084064"/>
            <a:ext cx="337108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100" b="1">
                <a:solidFill>
                  <a:srgbClr val="C58A2A"/>
                </a:solidFill>
                <a:latin typeface="Aptos Display"/>
              </a:rPr>
              <a:t>Appendix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0624" y="5431536"/>
            <a:ext cx="3371088" cy="4297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Slides 32-36: data tables, model caveats, sources.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Los Angeles leads dollar sales, but the organic race is much closer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10424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Los Angeles leads both types in every year. But the organic gap is far narrower, and Seattle enters the top five -- first sign that size and premium diverge.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645920"/>
            <a:ext cx="5230368" cy="36576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47088"/>
            <a:ext cx="2377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CONVENTIONAL REVENUE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72768" y="4581144"/>
            <a:ext cx="2944368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572768" y="2322576"/>
            <a:ext cx="0" cy="2258568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72768" y="4016502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32688" y="3943350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$100M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72768" y="3451860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3378708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$200M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72768" y="2887218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2688" y="281406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$300M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72768" y="2322576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32688" y="224942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$400M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507992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392424"/>
            <a:ext cx="384048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sp>
        <p:nvSpPr>
          <p:cNvPr id="25" name="Oval 24"/>
          <p:cNvSpPr/>
          <p:nvPr/>
        </p:nvSpPr>
        <p:spPr>
          <a:xfrm>
            <a:off x="1517904" y="357519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V="1">
            <a:off x="1572768" y="3545204"/>
            <a:ext cx="490728" cy="84851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008632" y="349034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063496" y="3532141"/>
            <a:ext cx="490728" cy="13063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499360" y="347727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2554224" y="3446863"/>
            <a:ext cx="490728" cy="85278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990088" y="339199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3044952" y="3446863"/>
            <a:ext cx="490728" cy="96049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480816" y="3488048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3535680" y="3388438"/>
            <a:ext cx="490728" cy="154474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971544" y="333357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026408" y="3388438"/>
            <a:ext cx="490728" cy="553577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462272" y="388715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98648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sp>
        <p:nvSpPr>
          <p:cNvPr id="39" name="Oval 38"/>
          <p:cNvSpPr/>
          <p:nvPr/>
        </p:nvSpPr>
        <p:spPr>
          <a:xfrm>
            <a:off x="1517904" y="386574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572768" y="3805394"/>
            <a:ext cx="490728" cy="115213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2008632" y="375053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063496" y="3805394"/>
            <a:ext cx="490728" cy="7065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2499360" y="382118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2554224" y="3839967"/>
            <a:ext cx="490728" cy="36077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2990088" y="378510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44952" y="3839967"/>
            <a:ext cx="490728" cy="4567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3480816" y="3830775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535680" y="3669561"/>
            <a:ext cx="490728" cy="216078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3971544" y="361469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026408" y="3669561"/>
            <a:ext cx="490728" cy="399430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462272" y="401412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4528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sp>
        <p:nvSpPr>
          <p:cNvPr id="53" name="Oval 52"/>
          <p:cNvSpPr/>
          <p:nvPr/>
        </p:nvSpPr>
        <p:spPr>
          <a:xfrm>
            <a:off x="1517904" y="4162413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572768" y="4201333"/>
            <a:ext cx="490728" cy="15944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2008632" y="4146469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063496" y="4201333"/>
            <a:ext cx="490728" cy="26961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499360" y="4173430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554224" y="4180125"/>
            <a:ext cx="490728" cy="48169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2990088" y="4125261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044952" y="4180125"/>
            <a:ext cx="490728" cy="46267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3480816" y="4171528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3535680" y="4167620"/>
            <a:ext cx="490728" cy="58772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3971544" y="411275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26408" y="4167620"/>
            <a:ext cx="490728" cy="173122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4462272" y="4285878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50408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sp>
        <p:nvSpPr>
          <p:cNvPr id="67" name="Oval 66"/>
          <p:cNvSpPr/>
          <p:nvPr/>
        </p:nvSpPr>
        <p:spPr>
          <a:xfrm>
            <a:off x="1517904" y="4190551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1572768" y="4199052"/>
            <a:ext cx="490728" cy="46363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2008632" y="4144188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063496" y="4199052"/>
            <a:ext cx="490728" cy="2743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499360" y="4171624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2554224" y="4213147"/>
            <a:ext cx="490728" cy="13341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990088" y="4158283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3044952" y="4213147"/>
            <a:ext cx="490728" cy="26309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480816" y="418459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3535680" y="4151842"/>
            <a:ext cx="490728" cy="87614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3971544" y="4096978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4026408" y="4151842"/>
            <a:ext cx="490728" cy="193954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4462272" y="429093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76288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81" name="Oval 80"/>
          <p:cNvSpPr/>
          <p:nvPr/>
        </p:nvSpPr>
        <p:spPr>
          <a:xfrm>
            <a:off x="1517904" y="4218949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572768" y="4243914"/>
            <a:ext cx="490728" cy="29899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2008632" y="418905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63496" y="4243914"/>
            <a:ext cx="490728" cy="12733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499360" y="4201783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2554224" y="4215496"/>
            <a:ext cx="490728" cy="4115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2990088" y="4160632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3044952" y="4215496"/>
            <a:ext cx="490728" cy="22524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3480816" y="4183156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535680" y="4186003"/>
            <a:ext cx="490728" cy="52017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3971544" y="4131139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4026408" y="4186003"/>
            <a:ext cx="490728" cy="172824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4462272" y="4303963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4544568" y="3739896"/>
            <a:ext cx="18288" cy="202119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4590288" y="361188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Los Angeles</a:t>
            </a:r>
          </a:p>
        </p:txBody>
      </p:sp>
      <p:cxnSp>
        <p:nvCxnSpPr>
          <p:cNvPr id="96" name="Connector 95"/>
          <p:cNvCxnSpPr/>
          <p:nvPr/>
        </p:nvCxnSpPr>
        <p:spPr>
          <a:xfrm flipV="1">
            <a:off x="4544568" y="3922776"/>
            <a:ext cx="18288" cy="146215"/>
          </a:xfrm>
          <a:prstGeom prst="line">
            <a:avLst/>
          </a:prstGeom>
          <a:ln w="114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590288" y="379476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C58A2A"/>
                </a:solidFill>
                <a:latin typeface="Aptos"/>
              </a:rPr>
              <a:t>New York</a:t>
            </a:r>
          </a:p>
        </p:txBody>
      </p:sp>
      <p:cxnSp>
        <p:nvCxnSpPr>
          <p:cNvPr id="98" name="Connector 97"/>
          <p:cNvCxnSpPr/>
          <p:nvPr/>
        </p:nvCxnSpPr>
        <p:spPr>
          <a:xfrm flipV="1">
            <a:off x="4544568" y="4105656"/>
            <a:ext cx="18288" cy="235086"/>
          </a:xfrm>
          <a:prstGeom prst="line">
            <a:avLst/>
          </a:prstGeom>
          <a:ln w="114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4590288" y="397764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F728A"/>
                </a:solidFill>
                <a:latin typeface="Aptos"/>
              </a:rPr>
              <a:t>Dallas/FW</a:t>
            </a:r>
          </a:p>
        </p:txBody>
      </p:sp>
      <p:cxnSp>
        <p:nvCxnSpPr>
          <p:cNvPr id="100" name="Connector 99"/>
          <p:cNvCxnSpPr/>
          <p:nvPr/>
        </p:nvCxnSpPr>
        <p:spPr>
          <a:xfrm flipV="1">
            <a:off x="4544568" y="4288536"/>
            <a:ext cx="18288" cy="57260"/>
          </a:xfrm>
          <a:prstGeom prst="line">
            <a:avLst/>
          </a:prstGeom>
          <a:ln w="114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590288" y="416052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889A83"/>
                </a:solidFill>
                <a:latin typeface="Aptos"/>
              </a:rPr>
              <a:t>Balt/Wash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4544568" y="4358827"/>
            <a:ext cx="18288" cy="112589"/>
          </a:xfrm>
          <a:prstGeom prst="line">
            <a:avLst/>
          </a:prstGeom>
          <a:ln w="114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590288" y="434340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B5533A"/>
                </a:solidFill>
                <a:latin typeface="Aptos"/>
              </a:rPr>
              <a:t>Phoenix/Tucson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16736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7464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98192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88920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79648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70376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61104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81344" y="1645920"/>
            <a:ext cx="5230368" cy="36576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82512" y="1847088"/>
            <a:ext cx="2377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5 ORGANIC REVENUE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040880" y="4581144"/>
            <a:ext cx="2944368" cy="0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040880" y="2322576"/>
            <a:ext cx="0" cy="2258568"/>
          </a:xfrm>
          <a:prstGeom prst="line">
            <a:avLst/>
          </a:prstGeom>
          <a:ln w="1651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040880" y="4016502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6400800" y="3943350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$5M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7040880" y="3451860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6400800" y="3378708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$10M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040880" y="2887218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6400800" y="281406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$15M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7040880" y="2322576"/>
            <a:ext cx="2944368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400800" y="224942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$20M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$0M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64224" y="3392424"/>
            <a:ext cx="384048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$M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40880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sp>
        <p:nvSpPr>
          <p:cNvPr id="126" name="Oval 125"/>
          <p:cNvSpPr/>
          <p:nvPr/>
        </p:nvSpPr>
        <p:spPr>
          <a:xfrm>
            <a:off x="6986016" y="3502180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7040880" y="3236368"/>
            <a:ext cx="490728" cy="320676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/>
          <p:cNvSpPr/>
          <p:nvPr/>
        </p:nvSpPr>
        <p:spPr>
          <a:xfrm>
            <a:off x="7476744" y="3181504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7531608" y="3146089"/>
            <a:ext cx="490728" cy="90279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7967472" y="3091225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>
            <a:off x="8022336" y="3146089"/>
            <a:ext cx="490728" cy="102195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/>
          <p:cNvSpPr/>
          <p:nvPr/>
        </p:nvSpPr>
        <p:spPr>
          <a:xfrm>
            <a:off x="8458200" y="3193420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8513064" y="3248284"/>
            <a:ext cx="490728" cy="66090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133"/>
          <p:cNvSpPr/>
          <p:nvPr/>
        </p:nvSpPr>
        <p:spPr>
          <a:xfrm>
            <a:off x="8948928" y="3259510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 flipV="1">
            <a:off x="9003792" y="2857206"/>
            <a:ext cx="490728" cy="457168"/>
          </a:xfrm>
          <a:prstGeom prst="line">
            <a:avLst/>
          </a:prstGeom>
          <a:ln w="241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9439656" y="2802342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9494520" y="2857206"/>
            <a:ext cx="490728" cy="804124"/>
          </a:xfrm>
          <a:prstGeom prst="line">
            <a:avLst/>
          </a:prstGeom>
          <a:ln w="2794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9930384" y="3606466"/>
            <a:ext cx="109728" cy="10972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366760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sp>
        <p:nvSpPr>
          <p:cNvPr id="140" name="Oval 139"/>
          <p:cNvSpPr/>
          <p:nvPr/>
        </p:nvSpPr>
        <p:spPr>
          <a:xfrm>
            <a:off x="6986016" y="352650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 flipV="1">
            <a:off x="7040880" y="3542396"/>
            <a:ext cx="490728" cy="38974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7476744" y="348753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3" name="Connector 142"/>
          <p:cNvCxnSpPr/>
          <p:nvPr/>
        </p:nvCxnSpPr>
        <p:spPr>
          <a:xfrm flipV="1">
            <a:off x="7531608" y="3499814"/>
            <a:ext cx="490728" cy="42582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7967472" y="344495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8022336" y="3499814"/>
            <a:ext cx="490728" cy="15766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/>
          <p:cNvSpPr/>
          <p:nvPr/>
        </p:nvSpPr>
        <p:spPr>
          <a:xfrm>
            <a:off x="8458200" y="346071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8513064" y="3515580"/>
            <a:ext cx="490728" cy="10606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/>
          <p:cNvSpPr/>
          <p:nvPr/>
        </p:nvSpPr>
        <p:spPr>
          <a:xfrm>
            <a:off x="8948928" y="3471322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Connector 148"/>
          <p:cNvCxnSpPr/>
          <p:nvPr/>
        </p:nvCxnSpPr>
        <p:spPr>
          <a:xfrm flipV="1">
            <a:off x="9003792" y="3161999"/>
            <a:ext cx="490728" cy="364187"/>
          </a:xfrm>
          <a:prstGeom prst="line">
            <a:avLst/>
          </a:prstGeom>
          <a:ln w="241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Oval 149"/>
          <p:cNvSpPr/>
          <p:nvPr/>
        </p:nvSpPr>
        <p:spPr>
          <a:xfrm>
            <a:off x="9439656" y="310713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9494520" y="3161999"/>
            <a:ext cx="490728" cy="573869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Oval 151"/>
          <p:cNvSpPr/>
          <p:nvPr/>
        </p:nvSpPr>
        <p:spPr>
          <a:xfrm>
            <a:off x="9930384" y="368100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692640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sp>
        <p:nvSpPr>
          <p:cNvPr id="154" name="Oval 153"/>
          <p:cNvSpPr/>
          <p:nvPr/>
        </p:nvSpPr>
        <p:spPr>
          <a:xfrm>
            <a:off x="6986016" y="379390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5" name="Connector 154"/>
          <p:cNvCxnSpPr/>
          <p:nvPr/>
        </p:nvCxnSpPr>
        <p:spPr>
          <a:xfrm flipV="1">
            <a:off x="7040880" y="3814438"/>
            <a:ext cx="490728" cy="34326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Oval 155"/>
          <p:cNvSpPr/>
          <p:nvPr/>
        </p:nvSpPr>
        <p:spPr>
          <a:xfrm>
            <a:off x="7476744" y="375957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7" name="Connector 156"/>
          <p:cNvCxnSpPr/>
          <p:nvPr/>
        </p:nvCxnSpPr>
        <p:spPr>
          <a:xfrm>
            <a:off x="7531608" y="3814438"/>
            <a:ext cx="490728" cy="2778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Oval 157"/>
          <p:cNvSpPr/>
          <p:nvPr/>
        </p:nvSpPr>
        <p:spPr>
          <a:xfrm>
            <a:off x="7967472" y="378735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 flipV="1">
            <a:off x="8022336" y="3786636"/>
            <a:ext cx="490728" cy="55582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8458200" y="373177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 flipV="1">
            <a:off x="8513064" y="3760460"/>
            <a:ext cx="490728" cy="26176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8948928" y="370559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 flipV="1">
            <a:off x="9003792" y="3575480"/>
            <a:ext cx="490728" cy="184980"/>
          </a:xfrm>
          <a:prstGeom prst="line">
            <a:avLst/>
          </a:prstGeom>
          <a:ln w="241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Oval 163"/>
          <p:cNvSpPr/>
          <p:nvPr/>
        </p:nvSpPr>
        <p:spPr>
          <a:xfrm>
            <a:off x="9439656" y="352061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5" name="Connector 164"/>
          <p:cNvCxnSpPr/>
          <p:nvPr/>
        </p:nvCxnSpPr>
        <p:spPr>
          <a:xfrm>
            <a:off x="9494520" y="3575480"/>
            <a:ext cx="490728" cy="536077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9930384" y="4056693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1018520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168" name="Oval 167"/>
          <p:cNvSpPr/>
          <p:nvPr/>
        </p:nvSpPr>
        <p:spPr>
          <a:xfrm>
            <a:off x="6986016" y="3980780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7040880" y="3826601"/>
            <a:ext cx="490728" cy="209043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/>
          <p:cNvSpPr/>
          <p:nvPr/>
        </p:nvSpPr>
        <p:spPr>
          <a:xfrm>
            <a:off x="7476744" y="3771737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 flipV="1">
            <a:off x="7531608" y="3726088"/>
            <a:ext cx="490728" cy="100513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7967472" y="3671224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>
            <a:off x="8022336" y="3726088"/>
            <a:ext cx="490728" cy="18904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Oval 173"/>
          <p:cNvSpPr/>
          <p:nvPr/>
        </p:nvSpPr>
        <p:spPr>
          <a:xfrm>
            <a:off x="8458200" y="3690128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5" name="Connector 174"/>
          <p:cNvCxnSpPr/>
          <p:nvPr/>
        </p:nvCxnSpPr>
        <p:spPr>
          <a:xfrm>
            <a:off x="8513064" y="3744992"/>
            <a:ext cx="490728" cy="147168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/>
          <p:cNvSpPr/>
          <p:nvPr/>
        </p:nvSpPr>
        <p:spPr>
          <a:xfrm>
            <a:off x="8948928" y="3837296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7" name="Connector 176"/>
          <p:cNvCxnSpPr/>
          <p:nvPr/>
        </p:nvCxnSpPr>
        <p:spPr>
          <a:xfrm>
            <a:off x="9003792" y="3892160"/>
            <a:ext cx="490728" cy="29836"/>
          </a:xfrm>
          <a:prstGeom prst="line">
            <a:avLst/>
          </a:prstGeom>
          <a:ln w="241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Oval 177"/>
          <p:cNvSpPr/>
          <p:nvPr/>
        </p:nvSpPr>
        <p:spPr>
          <a:xfrm>
            <a:off x="9439656" y="386713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9" name="Connector 178"/>
          <p:cNvCxnSpPr/>
          <p:nvPr/>
        </p:nvCxnSpPr>
        <p:spPr>
          <a:xfrm>
            <a:off x="9494520" y="3921996"/>
            <a:ext cx="490728" cy="292330"/>
          </a:xfrm>
          <a:prstGeom prst="line">
            <a:avLst/>
          </a:prstGeom>
          <a:ln w="2794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Oval 179"/>
          <p:cNvSpPr/>
          <p:nvPr/>
        </p:nvSpPr>
        <p:spPr>
          <a:xfrm>
            <a:off x="9930384" y="4159462"/>
            <a:ext cx="109728" cy="109728"/>
          </a:xfrm>
          <a:prstGeom prst="ellipse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2344400" y="206654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sp>
        <p:nvSpPr>
          <p:cNvPr id="182" name="Oval 181"/>
          <p:cNvSpPr/>
          <p:nvPr/>
        </p:nvSpPr>
        <p:spPr>
          <a:xfrm>
            <a:off x="6986016" y="4057738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3" name="Connector 182"/>
          <p:cNvCxnSpPr/>
          <p:nvPr/>
        </p:nvCxnSpPr>
        <p:spPr>
          <a:xfrm flipV="1">
            <a:off x="7040880" y="4045285"/>
            <a:ext cx="490728" cy="67317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Oval 183"/>
          <p:cNvSpPr/>
          <p:nvPr/>
        </p:nvSpPr>
        <p:spPr>
          <a:xfrm>
            <a:off x="7476744" y="3990421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5" name="Connector 184"/>
          <p:cNvCxnSpPr/>
          <p:nvPr/>
        </p:nvCxnSpPr>
        <p:spPr>
          <a:xfrm flipV="1">
            <a:off x="7531608" y="4004274"/>
            <a:ext cx="490728" cy="4101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7967472" y="3949410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 flipV="1">
            <a:off x="8022336" y="3995729"/>
            <a:ext cx="490728" cy="8545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8458200" y="3940865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8513064" y="3995729"/>
            <a:ext cx="490728" cy="83784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Oval 189"/>
          <p:cNvSpPr/>
          <p:nvPr/>
        </p:nvSpPr>
        <p:spPr>
          <a:xfrm>
            <a:off x="8948928" y="4024649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Connector 190"/>
          <p:cNvCxnSpPr/>
          <p:nvPr/>
        </p:nvCxnSpPr>
        <p:spPr>
          <a:xfrm flipV="1">
            <a:off x="9003792" y="3670102"/>
            <a:ext cx="490728" cy="409411"/>
          </a:xfrm>
          <a:prstGeom prst="line">
            <a:avLst/>
          </a:prstGeom>
          <a:ln w="241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Oval 191"/>
          <p:cNvSpPr/>
          <p:nvPr/>
        </p:nvSpPr>
        <p:spPr>
          <a:xfrm>
            <a:off x="9439656" y="3615238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3" name="Connector 192"/>
          <p:cNvCxnSpPr/>
          <p:nvPr/>
        </p:nvCxnSpPr>
        <p:spPr>
          <a:xfrm>
            <a:off x="9494520" y="3670102"/>
            <a:ext cx="490728" cy="352041"/>
          </a:xfrm>
          <a:prstGeom prst="line">
            <a:avLst/>
          </a:prstGeom>
          <a:ln w="2794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Oval 193"/>
          <p:cNvSpPr/>
          <p:nvPr/>
        </p:nvSpPr>
        <p:spPr>
          <a:xfrm>
            <a:off x="9930384" y="3967279"/>
            <a:ext cx="109728" cy="10972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194"/>
          <p:cNvCxnSpPr/>
          <p:nvPr/>
        </p:nvCxnSpPr>
        <p:spPr>
          <a:xfrm>
            <a:off x="10012680" y="3661330"/>
            <a:ext cx="18288" cy="54864"/>
          </a:xfrm>
          <a:prstGeom prst="line">
            <a:avLst/>
          </a:prstGeom>
          <a:ln w="1143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TextBox 195"/>
          <p:cNvSpPr txBox="1"/>
          <p:nvPr/>
        </p:nvSpPr>
        <p:spPr>
          <a:xfrm>
            <a:off x="10058400" y="358817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F728A"/>
                </a:solidFill>
                <a:latin typeface="Aptos"/>
              </a:rPr>
              <a:t>Los Angeles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10012680" y="3735868"/>
            <a:ext cx="18288" cy="163206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10058400" y="377105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New York</a:t>
            </a:r>
          </a:p>
        </p:txBody>
      </p:sp>
      <p:cxnSp>
        <p:nvCxnSpPr>
          <p:cNvPr id="199" name="Connector 198"/>
          <p:cNvCxnSpPr/>
          <p:nvPr/>
        </p:nvCxnSpPr>
        <p:spPr>
          <a:xfrm>
            <a:off x="10012680" y="4022143"/>
            <a:ext cx="18288" cy="59811"/>
          </a:xfrm>
          <a:prstGeom prst="line">
            <a:avLst/>
          </a:prstGeom>
          <a:ln w="11430">
            <a:solidFill>
              <a:srgbClr val="B553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Box 199"/>
          <p:cNvSpPr txBox="1"/>
          <p:nvPr/>
        </p:nvSpPr>
        <p:spPr>
          <a:xfrm>
            <a:off x="10058400" y="395393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B5533A"/>
                </a:solidFill>
                <a:latin typeface="Aptos"/>
              </a:rPr>
              <a:t>Balt/Wash</a:t>
            </a:r>
          </a:p>
        </p:txBody>
      </p:sp>
      <p:cxnSp>
        <p:nvCxnSpPr>
          <p:cNvPr id="201" name="Connector 200"/>
          <p:cNvCxnSpPr/>
          <p:nvPr/>
        </p:nvCxnSpPr>
        <p:spPr>
          <a:xfrm>
            <a:off x="10012680" y="4111557"/>
            <a:ext cx="18288" cy="153277"/>
          </a:xfrm>
          <a:prstGeom prst="line">
            <a:avLst/>
          </a:prstGeom>
          <a:ln w="1143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/>
          <p:cNvSpPr txBox="1"/>
          <p:nvPr/>
        </p:nvSpPr>
        <p:spPr>
          <a:xfrm>
            <a:off x="10058400" y="413681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C58A2A"/>
                </a:solidFill>
                <a:latin typeface="Aptos"/>
              </a:rPr>
              <a:t>Seattle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10012680" y="4214326"/>
            <a:ext cx="18288" cy="233388"/>
          </a:xfrm>
          <a:prstGeom prst="line">
            <a:avLst/>
          </a:prstGeom>
          <a:ln w="1143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/>
          <p:cNvSpPr txBox="1"/>
          <p:nvPr/>
        </p:nvSpPr>
        <p:spPr>
          <a:xfrm>
            <a:off x="10058400" y="431969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889A83"/>
                </a:solidFill>
                <a:latin typeface="Aptos"/>
              </a:rPr>
              <a:t>San Fran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784848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275576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766304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257032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747760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238488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729216" y="4654296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749808" y="5486400"/>
            <a:ext cx="2194560" cy="7498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877824" y="5596128"/>
            <a:ext cx="19385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CONV. WINNER CELLS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77824" y="5797296"/>
            <a:ext cx="193852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14/14 LA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090672" y="5486400"/>
            <a:ext cx="2468880" cy="7498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218688" y="5596128"/>
            <a:ext cx="22128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ORG. 2024 LA-NY GAP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218688" y="5797296"/>
            <a:ext cx="22128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$2.7M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5705856" y="5486400"/>
            <a:ext cx="2377440" cy="7498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5833872" y="5596128"/>
            <a:ext cx="212140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SEATTLE ENTERS TOP 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833872" y="5797296"/>
            <a:ext cx="212140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Organic only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302752" y="5486400"/>
            <a:ext cx="3218688" cy="7498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8430768" y="5596128"/>
            <a:ext cx="1051560" cy="53035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8485632" y="5650992"/>
            <a:ext cx="941832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674352" y="5577840"/>
            <a:ext cx="164592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LA dominates conventional. In organic the lead shrinks and Seattle enters -- first sign that size and premium diverge.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Seattle leads organic penetration in most periods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10789920" cy="24871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WINNER TIMELINE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11.82%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76272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40487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04872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9.86%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6744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895344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95344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13632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10.10%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157216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85816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5816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2852928"/>
            <a:ext cx="123444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ORLANDO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85816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C58A2A"/>
                </a:solidFill>
                <a:latin typeface="Aptos Display"/>
              </a:rPr>
              <a:t>12.87%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47688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76288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6288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76288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94576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10.40%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138160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366759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66759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66759" y="2852928"/>
            <a:ext cx="123444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7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59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55C47"/>
                </a:solidFill>
                <a:latin typeface="Aptos Display"/>
              </a:rPr>
              <a:t>11.19%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628631" y="2999232"/>
            <a:ext cx="182880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857232" y="2359152"/>
            <a:ext cx="1234440" cy="329184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57232" y="2432304"/>
            <a:ext cx="1234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2025 H1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57232" y="2852928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0" y="2857500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CHARLOTTE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3310128"/>
            <a:ext cx="1234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3F728A"/>
                </a:solidFill>
                <a:latin typeface="Aptos Display"/>
              </a:rPr>
              <a:t>9.45%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2688" y="4498848"/>
            <a:ext cx="10195560" cy="11155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0704" y="4599432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MOST FREQUENT LEADER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" y="4754880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Seattle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" y="5010912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Wins 5 of the 7 measured periods and is the clearest indicator of organic readiness.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331208" y="4663440"/>
            <a:ext cx="0" cy="786384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459224" y="4599432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BEST ONE-YEAR SHARE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59224" y="4754880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Orlando 12.87%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9224" y="5010912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Orlando peaks in 2022, but it does not sustain the same multi-period lead.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729728" y="4663440"/>
            <a:ext cx="0" cy="786384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7744" y="4599432"/>
            <a:ext cx="314248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CURRENT H1 LEADER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57744" y="4754880"/>
            <a:ext cx="314248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Charlotte 9.45%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57744" y="5010912"/>
            <a:ext cx="3142488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Charlotte leads 2025 H1, showing that penetration leadership is not static.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Organic is growing fast but still niche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10771632" cy="1097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764792"/>
            <a:ext cx="24368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VOLUME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20240"/>
            <a:ext cx="2436876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+89.3%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76272"/>
            <a:ext cx="2436876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Organic nearly doubled from 2019 to 2024, far outpacing category growth.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42716" y="1828800"/>
            <a:ext cx="0" cy="76809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70732" y="1764792"/>
            <a:ext cx="24368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TOTAL VOLUME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732" y="1920240"/>
            <a:ext cx="2436876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+32.8%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732" y="2176272"/>
            <a:ext cx="2436876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The total Hass market expanded too, but at a materially slower rate.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35624" y="1828800"/>
            <a:ext cx="0" cy="76809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1764792"/>
            <a:ext cx="24368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2019 ORGANIC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20240"/>
            <a:ext cx="2436876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4.15%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176272"/>
            <a:ext cx="2436876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Organic began as a small niche inside the overall market.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28532" y="1828800"/>
            <a:ext cx="0" cy="76809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56548" y="1764792"/>
            <a:ext cx="24368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2024 ORGANIC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6548" y="1920240"/>
            <a:ext cx="2436876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B5533A"/>
                </a:solidFill>
                <a:latin typeface="Aptos Display"/>
              </a:rPr>
              <a:t>5.91%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6548" y="2176272"/>
            <a:ext cx="2436876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Direction is clear, but share is still modest.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054096"/>
            <a:ext cx="5230368" cy="245059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3291840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INDEXED VOLUME GROWTH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474720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2019 = 100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89888" y="5047488"/>
            <a:ext cx="4078224" cy="0"/>
          </a:xfrm>
          <a:prstGeom prst="line">
            <a:avLst/>
          </a:prstGeom>
          <a:ln w="1397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389888" y="3803904"/>
            <a:ext cx="0" cy="1243584"/>
          </a:xfrm>
          <a:prstGeom prst="line">
            <a:avLst/>
          </a:prstGeom>
          <a:ln w="1397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97280" y="4974336"/>
            <a:ext cx="25603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89888" y="4736592"/>
            <a:ext cx="407822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7280" y="4663440"/>
            <a:ext cx="25603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50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389888" y="4425696"/>
            <a:ext cx="407822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97280" y="4352544"/>
            <a:ext cx="25603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100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89888" y="4114800"/>
            <a:ext cx="407822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7280" y="4041648"/>
            <a:ext cx="25603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150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89888" y="3803904"/>
            <a:ext cx="407822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97280" y="3730752"/>
            <a:ext cx="25603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200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89888" y="4425696"/>
            <a:ext cx="4078224" cy="0"/>
          </a:xfrm>
          <a:prstGeom prst="line">
            <a:avLst/>
          </a:prstGeom>
          <a:ln w="12700">
            <a:solidFill>
              <a:srgbClr val="C58A2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938528" y="4221988"/>
            <a:ext cx="749808" cy="825499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38528" y="4057396"/>
            <a:ext cx="74980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F728A"/>
                </a:solidFill>
                <a:latin typeface="Aptos"/>
              </a:rPr>
              <a:t>132.8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0512" y="5102352"/>
            <a:ext cx="1005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1F2621"/>
                </a:solidFill>
                <a:latin typeface="Aptos"/>
              </a:rPr>
              <a:t>Total market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84448" y="3870386"/>
            <a:ext cx="749808" cy="1177101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84448" y="3705794"/>
            <a:ext cx="74980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189.3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6432" y="5102352"/>
            <a:ext cx="1005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1F2621"/>
                </a:solidFill>
                <a:latin typeface="Aptos"/>
              </a:rPr>
              <a:t>Organic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3054096"/>
            <a:ext cx="5230368" cy="245059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5664" y="3291840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SHARE BRIDGE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3474720"/>
            <a:ext cx="12801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Share of total volume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58000" y="5047488"/>
            <a:ext cx="4114800" cy="0"/>
          </a:xfrm>
          <a:prstGeom prst="line">
            <a:avLst/>
          </a:prstGeom>
          <a:ln w="1397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858000" y="3803904"/>
            <a:ext cx="0" cy="1243584"/>
          </a:xfrm>
          <a:prstGeom prst="line">
            <a:avLst/>
          </a:prstGeom>
          <a:ln w="1397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565392" y="4974336"/>
            <a:ext cx="23774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0%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0" y="4692178"/>
            <a:ext cx="411480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65392" y="4619026"/>
            <a:ext cx="23774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2%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858000" y="4336869"/>
            <a:ext cx="411480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65392" y="4263717"/>
            <a:ext cx="23774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4%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58000" y="3981559"/>
            <a:ext cx="411480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65392" y="3908407"/>
            <a:ext cx="23774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6%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06640" y="4310884"/>
            <a:ext cx="676656" cy="736603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51776" y="4146292"/>
            <a:ext cx="78638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F728A"/>
                </a:solidFill>
                <a:latin typeface="Aptos"/>
              </a:rPr>
              <a:t>4.15%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96912" y="5102352"/>
            <a:ext cx="896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1F2621"/>
                </a:solidFill>
                <a:latin typeface="Aptos"/>
              </a:rPr>
              <a:t>2019 share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531352" y="3997145"/>
            <a:ext cx="676656" cy="313739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76488" y="3832553"/>
            <a:ext cx="78638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C58A2A"/>
                </a:solidFill>
                <a:latin typeface="Aptos"/>
              </a:rPr>
              <a:t>+1.77 pts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21624" y="5102352"/>
            <a:ext cx="896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1F2621"/>
                </a:solidFill>
                <a:latin typeface="Aptos"/>
              </a:rPr>
              <a:t>Share gain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56063" y="3997145"/>
            <a:ext cx="676656" cy="105034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01199" y="3832553"/>
            <a:ext cx="78638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5.91%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46335" y="5102352"/>
            <a:ext cx="896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1F2621"/>
                </a:solidFill>
                <a:latin typeface="Aptos"/>
              </a:rPr>
              <a:t>2024 share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6384" y="5632704"/>
            <a:ext cx="10625328" cy="4572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4400" y="5742432"/>
            <a:ext cx="1051560" cy="237744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5797296"/>
            <a:ext cx="941832" cy="12801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7984" y="5724144"/>
            <a:ext cx="9052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Growth is real enough to justify entry. Scale is still small enough that city choice matters. That favors a pilot, not a broad launch.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MARKET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Within each type, price explains almost nothing about volume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266944" cy="3749039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47088"/>
            <a:ext cx="21945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 (2024)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64208" y="4187952"/>
            <a:ext cx="3803904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64208" y="2212848"/>
            <a:ext cx="0" cy="197510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664208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08176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$0.80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424989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68957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$1.00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3185770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929738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$1.20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946550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90518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$1.40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707331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51299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$1.60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468112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212080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$1.80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64208" y="4187952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32688" y="4114800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0M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64208" y="3694176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2688" y="3621024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50M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664208" y="3200400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32688" y="3127248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100M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64208" y="2706624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32688" y="2633472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150M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664208" y="2212848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32688" y="2139696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200M</a:t>
            </a:r>
          </a:p>
        </p:txBody>
      </p:sp>
      <p:sp>
        <p:nvSpPr>
          <p:cNvPr id="35" name="Oval 34"/>
          <p:cNvSpPr/>
          <p:nvPr/>
        </p:nvSpPr>
        <p:spPr>
          <a:xfrm>
            <a:off x="2597757" y="407145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043902" y="3721621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067329" y="3510323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13669" y="4085529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88617" y="377320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688642" y="4019756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72271" y="3915854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472377" y="3455213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346750" y="3983899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219298" y="400503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54134" y="3377073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00551" y="366086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251251" y="3905269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219297" y="403618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1398" y="3906873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203391" y="3918869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466292" y="3639854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25661" y="399722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785074" y="399555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166260" y="3939352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342518" y="248068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149045" y="406664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898885" y="3967313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190012" y="3995206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41531" y="2924465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25480" y="3743412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805100" y="3773286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722038" y="3512135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550480" y="403835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678743" y="383183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879344" y="3885615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792535" y="3960174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589812" y="3901454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33822" y="383601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85846" y="3743550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91450" y="3877818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895998" y="4104825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929817" y="3995297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580185" y="4088821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689623" y="3754324"/>
            <a:ext cx="82296" cy="822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1664208" y="3794528"/>
            <a:ext cx="3803904" cy="90161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94560" y="4517136"/>
            <a:ext cx="21945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AVERAGE PRICE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" y="3127248"/>
            <a:ext cx="64008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1">
                <a:solidFill>
                  <a:srgbClr val="5F6B63"/>
                </a:solidFill>
                <a:latin typeface="Aptos"/>
              </a:rPr>
              <a:t>VOLUME (M)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14400" y="4700016"/>
            <a:ext cx="12801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" y="4809744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" y="5010912"/>
            <a:ext cx="1024128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-0.03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340864" y="4700016"/>
            <a:ext cx="12801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68880" y="4809744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R-SQUARED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68880" y="5010912"/>
            <a:ext cx="1024128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889A83"/>
                </a:solidFill>
                <a:latin typeface="Aptos Display"/>
              </a:rPr>
              <a:t>0.001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81344" y="1645920"/>
            <a:ext cx="5266944" cy="3749039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82512" y="1847088"/>
            <a:ext cx="18288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 (2024)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32320" y="4187952"/>
            <a:ext cx="3803904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132320" y="2212848"/>
            <a:ext cx="0" cy="197510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132320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876288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$1.00</a:t>
            </a:r>
          </a:p>
        </p:txBody>
      </p:sp>
      <p:cxnSp>
        <p:nvCxnSpPr>
          <p:cNvPr id="90" name="Connector 89"/>
          <p:cNvCxnSpPr/>
          <p:nvPr/>
        </p:nvCxnSpPr>
        <p:spPr>
          <a:xfrm flipV="1">
            <a:off x="8083296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827264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$1.50</a:t>
            </a:r>
          </a:p>
        </p:txBody>
      </p:sp>
      <p:cxnSp>
        <p:nvCxnSpPr>
          <p:cNvPr id="92" name="Connector 91"/>
          <p:cNvCxnSpPr/>
          <p:nvPr/>
        </p:nvCxnSpPr>
        <p:spPr>
          <a:xfrm flipV="1">
            <a:off x="9034272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8778240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$2.00</a:t>
            </a:r>
          </a:p>
        </p:txBody>
      </p:sp>
      <p:cxnSp>
        <p:nvCxnSpPr>
          <p:cNvPr id="94" name="Connector 93"/>
          <p:cNvCxnSpPr/>
          <p:nvPr/>
        </p:nvCxnSpPr>
        <p:spPr>
          <a:xfrm flipV="1">
            <a:off x="9985248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9729216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$2.50</a:t>
            </a:r>
          </a:p>
        </p:txBody>
      </p:sp>
      <p:cxnSp>
        <p:nvCxnSpPr>
          <p:cNvPr id="96" name="Connector 95"/>
          <p:cNvCxnSpPr/>
          <p:nvPr/>
        </p:nvCxnSpPr>
        <p:spPr>
          <a:xfrm flipV="1">
            <a:off x="10936224" y="2212848"/>
            <a:ext cx="0" cy="1975104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0680192" y="426110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$3.00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132320" y="4187952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6400800" y="4114800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0M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132320" y="3694176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400800" y="3621024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2M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132320" y="3200400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6400800" y="3127248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5M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7132320" y="2706624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400800" y="2633472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8M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7132320" y="2212848"/>
            <a:ext cx="3803904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400800" y="2139696"/>
            <a:ext cx="58521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10M</a:t>
            </a:r>
          </a:p>
        </p:txBody>
      </p:sp>
      <p:sp>
        <p:nvSpPr>
          <p:cNvPr id="108" name="Oval 107"/>
          <p:cNvSpPr/>
          <p:nvPr/>
        </p:nvSpPr>
        <p:spPr>
          <a:xfrm>
            <a:off x="7779234" y="407225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794033" y="348382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851649" y="300853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233680" y="407662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176440" y="373214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35242" y="390592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891502" y="3678787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834116" y="3243200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161873" y="391470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74008" y="3980884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28900" y="3497476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011789" y="3583566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203924" y="386150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7651232" y="404272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457632" y="3752225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793327" y="382419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606205" y="3787990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07342" y="399237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090649" y="399596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067904" y="389159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58789" y="2444906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651231" y="404458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266809" y="3874075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628892" y="3975250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889531" y="239857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974877" y="3735079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690835" y="3562899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814058" y="3656348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808345" y="401510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559996" y="375140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818987" y="3628900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872870" y="3793562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0343" y="3957137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828944" y="3865334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804803" y="3540359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123726" y="3468858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726811" y="4092681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57035" y="3946733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653756" y="4046706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93226" y="3816285"/>
            <a:ext cx="82296" cy="822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7132320" y="3717783"/>
            <a:ext cx="3803904" cy="160827"/>
          </a:xfrm>
          <a:prstGeom prst="line">
            <a:avLst/>
          </a:prstGeom>
          <a:ln w="25400">
            <a:solidFill>
              <a:srgbClr val="3F7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7662672" y="4517136"/>
            <a:ext cx="21945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5F6B63"/>
                </a:solidFill>
                <a:latin typeface="Aptos"/>
              </a:rPr>
              <a:t>AVERAGE PRICE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45936" y="3127248"/>
            <a:ext cx="64008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1">
                <a:solidFill>
                  <a:srgbClr val="5F6B63"/>
                </a:solidFill>
                <a:latin typeface="Aptos"/>
              </a:rPr>
              <a:t>VOLUME (M)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382512" y="4700016"/>
            <a:ext cx="12801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10528" y="4809744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PEARSON 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10528" y="5010912"/>
            <a:ext cx="1024128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-0.04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808975" y="4700016"/>
            <a:ext cx="12801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936991" y="4809744"/>
            <a:ext cx="10241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R-SQUARED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936991" y="5010912"/>
            <a:ext cx="1024128" cy="1463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0.002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041648" y="5449824"/>
            <a:ext cx="4114800" cy="841248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87952" y="5541264"/>
            <a:ext cx="78638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POOLED 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956048" y="5486400"/>
            <a:ext cx="585216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-0.43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14416" y="5504688"/>
            <a:ext cx="23774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appears significant but is driven by the premium gap between types, not by price-volume elasticity within either market.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86384" y="6364224"/>
            <a:ext cx="10625328" cy="38404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14400" y="6473952"/>
            <a:ext cx="1051560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69264" y="6528816"/>
            <a:ext cx="941832" cy="548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57984" y="6455664"/>
            <a:ext cx="905256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Price alone does not pick cities. The pooled correlation is a type effect, not real elasticity. Local market structure matters more.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A -- PRICE PICKS THE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PNW demographics and organic infrastructure explain the consumption premium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572768"/>
            <a:ext cx="5358384" cy="3291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00784"/>
            <a:ext cx="2743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MEDIAN HOUSEHOLD INCOME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121408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59152" y="2157984"/>
            <a:ext cx="3108960" cy="182880"/>
          </a:xfrm>
          <a:prstGeom prst="round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59152" y="2157984"/>
            <a:ext cx="2893724" cy="182880"/>
          </a:xfrm>
          <a:prstGeom prst="round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4316" y="2121408"/>
            <a:ext cx="731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"/>
              </a:rPr>
              <a:t>$121,000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779776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59152" y="2816352"/>
            <a:ext cx="3108960" cy="182880"/>
          </a:xfrm>
          <a:prstGeom prst="round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59152" y="2816352"/>
            <a:ext cx="2176272" cy="182880"/>
          </a:xfrm>
          <a:prstGeom prst="roundRect">
            <a:avLst/>
          </a:prstGeom>
          <a:solidFill>
            <a:srgbClr val="3F7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6864" y="2779776"/>
            <a:ext cx="731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F728A"/>
                </a:solidFill>
                <a:latin typeface="Aptos"/>
              </a:rPr>
              <a:t>$91,000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438144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2621"/>
                </a:solidFill>
                <a:latin typeface="Aptos"/>
              </a:rPr>
              <a:t>National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9152" y="3474720"/>
            <a:ext cx="3108960" cy="182880"/>
          </a:xfrm>
          <a:prstGeom prst="round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59152" y="3474720"/>
            <a:ext cx="2008866" cy="182880"/>
          </a:xfrm>
          <a:prstGeom prst="roundRect">
            <a:avLst/>
          </a:prstGeom>
          <a:solidFill>
            <a:srgbClr val="D8D1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9458" y="3438144"/>
            <a:ext cx="731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D8D1C6"/>
                </a:solidFill>
                <a:latin typeface="Aptos"/>
              </a:rPr>
              <a:t>$84,000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096512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59152" y="4133088"/>
            <a:ext cx="3108960" cy="182880"/>
          </a:xfrm>
          <a:prstGeom prst="round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59152" y="4133088"/>
            <a:ext cx="1961036" cy="182880"/>
          </a:xfrm>
          <a:prstGeom prst="roundRect">
            <a:avLst/>
          </a:prstGeom>
          <a:solidFill>
            <a:srgbClr val="5F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1628" y="4096512"/>
            <a:ext cx="731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5F6B63"/>
                </a:solidFill>
                <a:latin typeface="Aptos"/>
              </a:rPr>
              <a:t>$82,000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645152"/>
            <a:ext cx="49377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5F6B63"/>
                </a:solidFill>
                <a:latin typeface="Aptos"/>
              </a:rPr>
              <a:t>Source: U.S. Census Bureau ACS 2020-2024; Seattle Times 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2784" y="1572768"/>
            <a:ext cx="5358384" cy="14813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00784"/>
            <a:ext cx="2743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RETAIL 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93392"/>
            <a:ext cx="4937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Seattle's PCC co-op alone operates 15 stores across the metro.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359152"/>
            <a:ext cx="493776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Los Angeles -- a metro 3x larger -- has almost no food co-ops. WA averages 3.4 local food markets per 100K residents, above the US mean.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852928"/>
            <a:ext cx="493776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5F6B63"/>
                </a:solidFill>
                <a:latin typeface="Aptos"/>
              </a:rPr>
              <a:t>Source: LA Public Press 2024; NCWLIFE / WA Dept. of Agriculture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2784" y="3218688"/>
            <a:ext cx="5358384" cy="164592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3346704"/>
            <a:ext cx="27432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"MOST ORGANIC" CITY RANKINGS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657600"/>
            <a:ext cx="457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3675888"/>
            <a:ext cx="1828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023360"/>
            <a:ext cx="457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889A83"/>
                </a:solidFill>
                <a:latin typeface="Aptos Display"/>
              </a:rPr>
              <a:t>#2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12864" y="4041648"/>
            <a:ext cx="1828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F2621"/>
                </a:solidFill>
                <a:latin typeface="Aptos"/>
              </a:rPr>
              <a:t>San Francisco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389120"/>
            <a:ext cx="457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#7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2864" y="4407408"/>
            <a:ext cx="18288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45152"/>
            <a:ext cx="493776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5F6B63"/>
                </a:solidFill>
                <a:latin typeface="Aptos"/>
              </a:rPr>
              <a:t>Source: Sperling's Best Places / Campbell Soup Co. study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047488"/>
            <a:ext cx="2743200" cy="7132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157216"/>
            <a:ext cx="24871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SEATTLE INCOME VS NATIONAL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" y="5358384"/>
            <a:ext cx="2487168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+45%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21024" y="5047488"/>
            <a:ext cx="2743200" cy="7132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749040" y="5157216"/>
            <a:ext cx="24871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45% OF AMERICANS SEEK ORGANIC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49040" y="5358384"/>
            <a:ext cx="2487168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Higher in PNW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28816" y="5047488"/>
            <a:ext cx="2468880" cy="7132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5157216"/>
            <a:ext cx="22128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PCC CO-OP STORES (SEATTLE)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6832" y="5358384"/>
            <a:ext cx="2212848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62288" y="5047488"/>
            <a:ext cx="2468880" cy="7132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0304" y="5157216"/>
            <a:ext cx="22128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LA FOOD CO-OPS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90304" y="5358384"/>
            <a:ext cx="2212848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~0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13232" y="5943600"/>
            <a:ext cx="10917936" cy="5303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41248" y="6053328"/>
            <a:ext cx="1051560" cy="31089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" y="6108192"/>
            <a:ext cx="94183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84832" y="6035040"/>
            <a:ext cx="9345168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Seattle and Portland punch above their weight on organic consumption because wealthier, wellness-oriented households are served by dense organic retail networks that LA simply lacks.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A -- PRICE PICKS THE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87000" y="256032"/>
            <a:ext cx="1234440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05288" y="260604"/>
            <a:ext cx="119786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biggest market is not the best first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700784"/>
            <a:ext cx="5230368" cy="3822191"/>
          </a:xfrm>
          <a:prstGeom prst="roundRect">
            <a:avLst/>
          </a:prstGeom>
          <a:solidFill>
            <a:srgbClr val="F5EEE8"/>
          </a:solidFill>
          <a:ln w="12700">
            <a:solidFill>
              <a:srgbClr val="E5D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1883664"/>
            <a:ext cx="47914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LA LOSES THE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231136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JUNE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B5533A"/>
                </a:solidFill>
                <a:latin typeface="Aptos Display"/>
              </a:rPr>
              <a:t>$1.87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2450592"/>
            <a:ext cx="4791456" cy="0"/>
          </a:xfrm>
          <a:prstGeom prst="line">
            <a:avLst/>
          </a:prstGeom>
          <a:ln w="12700">
            <a:solidFill>
              <a:srgbClr val="E5D7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69264" y="2542032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523744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F728A"/>
                </a:solidFill>
                <a:latin typeface="Aptos Display"/>
              </a:rPr>
              <a:t>4.9%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69264" y="2761488"/>
            <a:ext cx="4791456" cy="0"/>
          </a:xfrm>
          <a:prstGeom prst="line">
            <a:avLst/>
          </a:prstGeom>
          <a:ln w="12700">
            <a:solidFill>
              <a:srgbClr val="E5D7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9264" y="2852928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REVENUE ON 20K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2834640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B5533A"/>
                </a:solidFill>
                <a:latin typeface="Aptos Display"/>
              </a:rPr>
              <a:t>$14,960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3072384"/>
            <a:ext cx="4791456" cy="0"/>
          </a:xfrm>
          <a:prstGeom prst="line">
            <a:avLst/>
          </a:prstGeom>
          <a:ln w="12700">
            <a:solidFill>
              <a:srgbClr val="E5D7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69264" y="3163824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PROFIT ON 20K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145536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B5533A"/>
                </a:solidFill>
                <a:latin typeface="Aptos Display"/>
              </a:rPr>
              <a:t>$9,404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9264" y="3383280"/>
            <a:ext cx="4791456" cy="0"/>
          </a:xfrm>
          <a:prstGeom prst="line">
            <a:avLst/>
          </a:prstGeom>
          <a:ln w="12700">
            <a:solidFill>
              <a:srgbClr val="E5D7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9264" y="3474720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PROFIT RANK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456432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B5533A"/>
                </a:solidFill>
                <a:latin typeface="Aptos Display"/>
              </a:rPr>
              <a:t>8th of 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3877056"/>
            <a:ext cx="4791456" cy="1371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Los Angeles sells more avocados than any other U.S. city. But that scale compresses pricing. Avocados are a commodity in LA, ubiquitous in retail and foodservice, supported by massive nearby supply. The same competitive density that creates volume prevents premium pricing for a new entrant.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700784"/>
            <a:ext cx="5230368" cy="3822191"/>
          </a:xfrm>
          <a:prstGeom prst="roundRect">
            <a:avLst/>
          </a:prstGeom>
          <a:solidFill>
            <a:srgbClr val="EEF4EF"/>
          </a:solidFill>
          <a:ln w="12700">
            <a:solidFill>
              <a:srgbClr val="D4E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1883664"/>
            <a:ext cx="479145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PACIFIC NORTHWEST WINS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2231136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JUNE PRICE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2212848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55C47"/>
                </a:solidFill>
                <a:latin typeface="Aptos Display"/>
              </a:rPr>
              <a:t>$2.66 (Seattle)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37376" y="2450592"/>
            <a:ext cx="4791456" cy="0"/>
          </a:xfrm>
          <a:prstGeom prst="line">
            <a:avLst/>
          </a:prstGeom>
          <a:ln w="12700">
            <a:solidFill>
              <a:srgbClr val="D4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37376" y="2542032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ORGANIC SHARE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91472" y="2523744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F728A"/>
                </a:solidFill>
                <a:latin typeface="Aptos Display"/>
              </a:rPr>
              <a:t>11.2% (Seattle)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37376" y="2761488"/>
            <a:ext cx="4791456" cy="0"/>
          </a:xfrm>
          <a:prstGeom prst="line">
            <a:avLst/>
          </a:prstGeom>
          <a:ln w="12700">
            <a:solidFill>
              <a:srgbClr val="D4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37376" y="2852928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REVENUE ON 20K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91472" y="2834640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55C47"/>
                </a:solidFill>
                <a:latin typeface="Aptos Display"/>
              </a:rPr>
              <a:t>$21,280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37376" y="3072384"/>
            <a:ext cx="4791456" cy="0"/>
          </a:xfrm>
          <a:prstGeom prst="line">
            <a:avLst/>
          </a:prstGeom>
          <a:ln w="12700">
            <a:solidFill>
              <a:srgbClr val="D4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7376" y="3163824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PROFIT ON 20K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3145536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55C47"/>
                </a:solidFill>
                <a:latin typeface="Aptos Display"/>
              </a:rPr>
              <a:t>$15,266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437376" y="3383280"/>
            <a:ext cx="4791456" cy="0"/>
          </a:xfrm>
          <a:prstGeom prst="line">
            <a:avLst/>
          </a:prstGeom>
          <a:ln w="12700">
            <a:solidFill>
              <a:srgbClr val="D4E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437376" y="3474720"/>
            <a:ext cx="23774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PROFIT RANK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456432"/>
            <a:ext cx="151790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700" b="1">
                <a:solidFill>
                  <a:srgbClr val="355C47"/>
                </a:solidFill>
                <a:latin typeface="Aptos Display"/>
              </a:rPr>
              <a:t>1st of 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3877056"/>
            <a:ext cx="4791456" cy="1371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Seattle and the Pacific Northwest treat organic avocados as a premium choice, not a staple. Higher household incomes, strong organic retail infrastructure (co-ops, Whole Foods density), and consistent organic share leadership from Q2 create a buyer who specifically seeks organic and will pay more.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6112" y="5650992"/>
            <a:ext cx="10570464" cy="5120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5760720"/>
            <a:ext cx="87782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355C47"/>
                </a:solidFill>
                <a:latin typeface="Aptos Display"/>
              </a:rPr>
              <a:t>TAKEAWAY: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8528" y="5724144"/>
            <a:ext cx="92354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You do not launch a premium product in the city with the highest total consumption. You launch where buyers already pay a premium and actively seek it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A -- PRICE PICKS THE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This is a special-order decision, not a full P&amp;L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62940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901952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RELEVANT-COST 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249424"/>
            <a:ext cx="6144768" cy="896112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487168"/>
            <a:ext cx="57607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Profit(Q) = Q x (0.40 x retail price - $0.20) - ($1,500 + $50 x miles / 100)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3401568"/>
            <a:ext cx="1938528" cy="149961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47872"/>
            <a:ext cx="168249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RELEVANT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22191"/>
            <a:ext cx="16824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40% of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87952"/>
            <a:ext cx="16824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The case gives one June price proxy, so revenue is modeled consistently across cities.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3401568"/>
            <a:ext cx="1938528" cy="149961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3547872"/>
            <a:ext cx="168249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VARIABLE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3822191"/>
            <a:ext cx="16824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F728A"/>
                </a:solidFill>
                <a:latin typeface="Aptos Display"/>
              </a:rPr>
              <a:t>$0.20 / avocado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4187952"/>
            <a:ext cx="16824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Acquisition is the true per-unit cost in the screen.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65776" y="3401568"/>
            <a:ext cx="1938528" cy="149961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3547872"/>
            <a:ext cx="168249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ROUTE-FIXED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3822191"/>
            <a:ext cx="16824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$1,500 + distance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4187952"/>
            <a:ext cx="1682496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Shipping behaves like a route cost paid once per destination.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5102352"/>
            <a:ext cx="612648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Because the case assumes idle capacity and no extra overhead, this is a textbook special-order screen: accept if incremental contribution covers route cost, then optimize city choice.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44383" y="1682496"/>
            <a:ext cx="3858768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00416" y="1938528"/>
            <a:ext cx="1517904" cy="89611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2048256"/>
            <a:ext cx="12618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CITY SCREENS POSITIVE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2" y="2249424"/>
            <a:ext cx="126187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40/40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46336" y="1938528"/>
            <a:ext cx="1609344" cy="89611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048256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LOWEST PROFIT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74352" y="2249424"/>
            <a:ext cx="135331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$4.3k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0416" y="3017520"/>
            <a:ext cx="3255264" cy="89611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2" y="3127248"/>
            <a:ext cx="299923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DECISION RULE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2" y="3328416"/>
            <a:ext cx="2999232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Optimize city mix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0416" y="4187952"/>
            <a:ext cx="3017520" cy="12618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All 40 cities clear the special-order hurdle, so the question is not whether to sell. It is where the economics are strongest.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Idle capacity makes existing overhead irrelevant, which is why this is a relevant-cost screen rather than a full absorption-costing exercise.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A -- PRICE PICKS THE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Top-five markets break even at only 12%-14% of planned volume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82496"/>
            <a:ext cx="694944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901952"/>
            <a:ext cx="27432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BREAK-EVEN VOLUME VS 20K 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9152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386584"/>
            <a:ext cx="44805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2848" y="2386584"/>
            <a:ext cx="52234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350008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2,332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2560320"/>
            <a:ext cx="10058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MOS 88.3%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2926080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12848" y="2953512"/>
            <a:ext cx="44805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12848" y="2953512"/>
            <a:ext cx="511792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916936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2,285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3127248"/>
            <a:ext cx="10058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MOS 88.6%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3493008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12848" y="3520440"/>
            <a:ext cx="44805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12848" y="3520440"/>
            <a:ext cx="528665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48386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2,360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3694176"/>
            <a:ext cx="10058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MOS 88.2%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059935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087367"/>
            <a:ext cx="44805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12848" y="4087367"/>
            <a:ext cx="610267" cy="16459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050791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2,724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4416" y="4261103"/>
            <a:ext cx="10058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MOS 86.4%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4626864"/>
            <a:ext cx="10972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12848" y="4654296"/>
            <a:ext cx="44805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654296"/>
            <a:ext cx="571489" cy="16459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4617720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2,551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4828032"/>
            <a:ext cx="10058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MOS 87.2%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93408" y="2240280"/>
            <a:ext cx="0" cy="2834640"/>
          </a:xfrm>
          <a:prstGeom prst="line">
            <a:avLst/>
          </a:prstGeom>
          <a:ln w="1778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0" y="5230368"/>
            <a:ext cx="16459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C58A2A"/>
                </a:solidFill>
                <a:latin typeface="Aptos"/>
              </a:rPr>
              <a:t>20,000-unit screen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5394960"/>
            <a:ext cx="6126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5F6B63"/>
                </a:solidFill>
                <a:latin typeface="Aptos"/>
              </a:rPr>
              <a:t>Each bar shows the units needed to cover route-fixed shipping. The rest of the 20,000-unit screen is margin-of-safety.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36992" y="1682496"/>
            <a:ext cx="356616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74736" y="1956816"/>
            <a:ext cx="144475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2066544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BEST BREAK-EVEN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267712"/>
            <a:ext cx="118872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2,285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47504" y="1956816"/>
            <a:ext cx="144475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0" y="2066544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WORST BREAK-EVEN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267712"/>
            <a:ext cx="118872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2,724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74736" y="3054096"/>
            <a:ext cx="301752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02752" y="3163824"/>
            <a:ext cx="27614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BREAK-EVEN RETAIL 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3364992"/>
            <a:ext cx="276148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$0.70-$0.76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74736" y="4224528"/>
            <a:ext cx="2743200" cy="12344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Seattle breaks even at roughly 2.3k units; Spokane, the weakest of the five, still breaks even at only 2.7k.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means every recommended city has an 86%+ margin of safety under the screen assumptions.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A -- PRICE PICKS THE 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recommendation is a West Coast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SEATTLE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BOISE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28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PORTLAND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22008" y="1572768"/>
            <a:ext cx="1353312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0296" y="1577340"/>
            <a:ext cx="131673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SPOKANE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9408" y="1572768"/>
            <a:ext cx="1600200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577340"/>
            <a:ext cx="156362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SAN DIEGO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1975104"/>
            <a:ext cx="690372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121408"/>
            <a:ext cx="63550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GEOGRAPHIC CLUSTER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48474" y="2955889"/>
            <a:ext cx="230795" cy="190890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9269" y="4864791"/>
            <a:ext cx="923178" cy="168432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302447" y="4471782"/>
            <a:ext cx="576986" cy="561441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879433" y="3741908"/>
            <a:ext cx="346192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225625" y="3012034"/>
            <a:ext cx="1038576" cy="729874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79433" y="3798052"/>
            <a:ext cx="1846357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33242" y="4303349"/>
            <a:ext cx="1846356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6420" y="3348899"/>
            <a:ext cx="0" cy="1179027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280160" y="2560320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WA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438144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4325111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8376" y="3346704"/>
            <a:ext cx="493776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ID</a:t>
            </a:r>
          </a:p>
        </p:txBody>
      </p:sp>
      <p:sp>
        <p:nvSpPr>
          <p:cNvPr id="33" name="Oval 32"/>
          <p:cNvSpPr/>
          <p:nvPr/>
        </p:nvSpPr>
        <p:spPr>
          <a:xfrm>
            <a:off x="3566343" y="4108765"/>
            <a:ext cx="164592" cy="164592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7199" y="4264213"/>
            <a:ext cx="10058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1">
                <a:solidFill>
                  <a:srgbClr val="B5533A"/>
                </a:solidFill>
                <a:latin typeface="Aptos"/>
              </a:rPr>
              <a:t>West Valley
hub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263872" y="2843601"/>
            <a:ext cx="1384767" cy="134746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190720" y="277044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18736" y="2733873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7024" y="2752161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494666" y="3405043"/>
            <a:ext cx="1153973" cy="786018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421514" y="3331891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58090" y="3203875"/>
            <a:ext cx="932688" cy="182880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76378" y="3222163"/>
            <a:ext cx="8961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3648639" y="3068178"/>
            <a:ext cx="1615562" cy="1122883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191049" y="2995026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37353" y="2958450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55641" y="2976738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3648639" y="3629619"/>
            <a:ext cx="1153973" cy="561442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29460" y="3556467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894052" y="3647907"/>
            <a:ext cx="1005840" cy="164592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12340" y="3666195"/>
            <a:ext cx="9692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3302447" y="4191061"/>
            <a:ext cx="346192" cy="673730"/>
          </a:xfrm>
          <a:prstGeom prst="line">
            <a:avLst/>
          </a:prstGeom>
          <a:ln w="17780">
            <a:solidFill>
              <a:srgbClr val="889A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229295" y="4791639"/>
            <a:ext cx="146304" cy="146304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375599" y="4828215"/>
            <a:ext cx="1024128" cy="182880"/>
          </a:xfrm>
          <a:prstGeom prst="roundRect">
            <a:avLst/>
          </a:prstGeom>
          <a:solidFill>
            <a:srgbClr val="FC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3887" y="4846503"/>
            <a:ext cx="98755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45552" y="1975104"/>
            <a:ext cx="3657600" cy="39502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2194560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THE CLUSTER WINS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01583" y="2505456"/>
            <a:ext cx="155448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599" y="2615184"/>
            <a:ext cx="129844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MILES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9" y="2816352"/>
            <a:ext cx="129844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F728A"/>
                </a:solidFill>
                <a:latin typeface="Aptos Display"/>
              </a:rPr>
              <a:t>812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2505456"/>
            <a:ext cx="1426464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2615184"/>
            <a:ext cx="117043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AVG PRICE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12096" y="2816352"/>
            <a:ext cx="117043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$2.45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01583" y="3529584"/>
            <a:ext cx="3108960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599" y="3639312"/>
            <a:ext cx="28529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LOW-MILE HEDGE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599" y="3840480"/>
            <a:ext cx="285292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San Diego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3" y="4590288"/>
            <a:ext cx="292608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This is one coherent western lane system, not five disconnected bets.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Northwest supplies the premium; San Diego supplies the short-haul hedge.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makes the recommendation operational, not just analytical.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B -- FREIGHT DOESN'T CHANGE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support beats proximity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681228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65376"/>
            <a:ext cx="20116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PRICE VS MILES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67128" y="4937760"/>
            <a:ext cx="3749040" cy="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67128" y="2377440"/>
            <a:ext cx="0" cy="2560320"/>
          </a:xfrm>
          <a:prstGeom prst="line">
            <a:avLst/>
          </a:prstGeom>
          <a:ln w="1778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67128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92808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916936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42616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250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3666744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92424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500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16552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42232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750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166360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892040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1,000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916168" y="2377440"/>
            <a:ext cx="0" cy="256032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41848" y="501091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1,250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67128" y="4937760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4864608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$1.50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167128" y="4462272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389120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$1.75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67128" y="3986784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1248" y="3913632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$2.00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67128" y="3511296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41248" y="3438144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$2.25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167128" y="3035808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41248" y="2962656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$2.50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67128" y="2560320"/>
            <a:ext cx="3749040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2487168"/>
            <a:ext cx="548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$2.75</a:t>
            </a:r>
          </a:p>
        </p:txBody>
      </p:sp>
      <p:sp>
        <p:nvSpPr>
          <p:cNvPr id="37" name="Oval 36"/>
          <p:cNvSpPr/>
          <p:nvPr/>
        </p:nvSpPr>
        <p:spPr>
          <a:xfrm>
            <a:off x="5171041" y="2649199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65196" y="2774728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49175" y="2873630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74989" y="3181746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843637" y="3725704"/>
            <a:ext cx="164592" cy="16459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417746" y="4151741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5619" y="4090879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33614" y="3961546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42612" y="4414211"/>
            <a:ext cx="164592" cy="16459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H="1" flipV="1">
            <a:off x="1133856" y="4043842"/>
            <a:ext cx="1918630" cy="54864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70432" y="3970690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San Fran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133856" y="4173175"/>
            <a:ext cx="1900635" cy="126699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70432" y="4171858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1133856" y="4234037"/>
            <a:ext cx="1402762" cy="267005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70432" y="4373026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1133856" y="4496507"/>
            <a:ext cx="1927628" cy="205703"/>
          </a:xfrm>
          <a:prstGeom prst="line">
            <a:avLst/>
          </a:prstGeom>
          <a:ln w="11430">
            <a:solidFill>
              <a:srgbClr val="1F2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170432" y="4574194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5289913" y="2731495"/>
            <a:ext cx="754271" cy="54864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080760" y="2658343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Seattle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4684068" y="2857024"/>
            <a:ext cx="1360116" cy="130503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80760" y="2859511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Boise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4768047" y="2955926"/>
            <a:ext cx="1276137" cy="232769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080760" y="3060679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Portland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5493861" y="3264042"/>
            <a:ext cx="550323" cy="125821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080760" y="3261847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Spokane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2962509" y="3808000"/>
            <a:ext cx="3081675" cy="54864"/>
          </a:xfrm>
          <a:prstGeom prst="line">
            <a:avLst/>
          </a:prstGeom>
          <a:ln w="1143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080760" y="3734848"/>
            <a:ext cx="8961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1">
                <a:solidFill>
                  <a:srgbClr val="355C47"/>
                </a:solidFill>
                <a:latin typeface="Aptos"/>
              </a:rPr>
              <a:t>San Diego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98648" y="5413248"/>
            <a:ext cx="27432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Mileage from West Valley hub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" y="3602736"/>
            <a:ext cx="676656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F6B63"/>
                </a:solidFill>
                <a:latin typeface="Aptos"/>
              </a:rPr>
              <a:t>Retail
price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45552" y="1664208"/>
            <a:ext cx="3657600" cy="4251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101583" y="1938528"/>
            <a:ext cx="15727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599" y="2048256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SELECTED AVG PRICE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599" y="2249424"/>
            <a:ext cx="131673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$2.45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65792" y="1938528"/>
            <a:ext cx="148132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93808" y="2048256"/>
            <a:ext cx="122529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NEARBY ALT.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93808" y="2249424"/>
            <a:ext cx="122529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$1.87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01583" y="3054096"/>
            <a:ext cx="2907792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winners are not simply the closest cities.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Nearby alternatives give back the freight edge through weaker pricing.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San Diego is the hedge that keeps the cluster grounded.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B -- FREIGHT DOESN'T CHANGE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Freight shocks change margin, not the city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90372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83664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/ +50% / -50% FREIGHT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2848" y="2249424"/>
            <a:ext cx="2401841" cy="128016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2848" y="2414016"/>
            <a:ext cx="2243362" cy="12801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12848" y="2578608"/>
            <a:ext cx="2560320" cy="12801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23113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39572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B5533A"/>
                </a:solidFill>
                <a:latin typeface="Aptos"/>
              </a:rPr>
              <a:t>$14.3k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56032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F728A"/>
                </a:solidFill>
                <a:latin typeface="Aptos"/>
              </a:rPr>
              <a:t>$16.3k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090672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035808"/>
            <a:ext cx="2334658" cy="128016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200400"/>
            <a:ext cx="2184125" cy="12801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12848" y="3364992"/>
            <a:ext cx="2485191" cy="12801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301752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55C47"/>
                </a:solidFill>
                <a:latin typeface="Aptos"/>
              </a:rPr>
              <a:t>$14.8k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18211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B5533A"/>
                </a:solidFill>
                <a:latin typeface="Aptos"/>
              </a:rPr>
              <a:t>$13.9k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34670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F728A"/>
                </a:solidFill>
                <a:latin typeface="Aptos"/>
              </a:rPr>
              <a:t>$15.8k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77055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2848" y="3822191"/>
            <a:ext cx="2267002" cy="128016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12848" y="3986783"/>
            <a:ext cx="2115368" cy="12801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12848" y="4151375"/>
            <a:ext cx="2418637" cy="12801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3803903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55C47"/>
                </a:solidFill>
                <a:latin typeface="Aptos"/>
              </a:rPr>
              <a:t>$14.4k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968495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B5533A"/>
                </a:solidFill>
                <a:latin typeface="Aptos"/>
              </a:rPr>
              <a:t>$13.4k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4133087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F728A"/>
                </a:solidFill>
                <a:latin typeface="Aptos"/>
              </a:rPr>
              <a:t>$15.4k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663440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12848" y="4608576"/>
            <a:ext cx="2044055" cy="128016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212848" y="4773168"/>
            <a:ext cx="1882901" cy="12801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12848" y="4937760"/>
            <a:ext cx="2205208" cy="12801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83480" y="459028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55C47"/>
                </a:solidFill>
                <a:latin typeface="Aptos"/>
              </a:rPr>
              <a:t>$13.0k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754880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B5533A"/>
                </a:solidFill>
                <a:latin typeface="Aptos"/>
              </a:rPr>
              <a:t>$12.0k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91947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F728A"/>
                </a:solidFill>
                <a:latin typeface="Aptos"/>
              </a:rPr>
              <a:t>$14.0k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449824"/>
            <a:ext cx="1188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12848" y="5394960"/>
            <a:ext cx="1750462" cy="128016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5559552"/>
            <a:ext cx="1622507" cy="128016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12848" y="5724144"/>
            <a:ext cx="1878417" cy="12801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80" y="5376672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55C47"/>
                </a:solidFill>
                <a:latin typeface="Aptos"/>
              </a:rPr>
              <a:t>$11.1k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5541264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B5533A"/>
                </a:solidFill>
                <a:latin typeface="Aptos"/>
              </a:rPr>
              <a:t>$10.3k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5705856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3F728A"/>
                </a:solidFill>
                <a:latin typeface="Aptos"/>
              </a:rPr>
              <a:t>$11.9k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12848" y="5413248"/>
            <a:ext cx="9144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355C47"/>
                </a:solidFill>
                <a:latin typeface="Aptos"/>
              </a:rPr>
              <a:t>Base case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27248" y="5413248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B5533A"/>
                </a:solidFill>
                <a:latin typeface="Aptos"/>
              </a:rPr>
              <a:t>+50% freight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392" y="5413248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3F728A"/>
                </a:solidFill>
                <a:latin typeface="Aptos"/>
              </a:rPr>
              <a:t>-50% freight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5552" y="1664208"/>
            <a:ext cx="3657600" cy="4297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01583" y="1938528"/>
            <a:ext cx="1572768" cy="78638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599" y="2048256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BASE AVG MARGIN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2249424"/>
            <a:ext cx="131673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69.7%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65792" y="1938528"/>
            <a:ext cx="1463040" cy="78638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93808" y="2048256"/>
            <a:ext cx="120700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+50% AVG MARGIN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93808" y="2249424"/>
            <a:ext cx="120700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64.9%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01583" y="2889504"/>
            <a:ext cx="1572768" cy="78638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599" y="2999232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-50% AVG MARGIN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599" y="3200400"/>
            <a:ext cx="131673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74.6%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65792" y="2889504"/>
            <a:ext cx="1463040" cy="78638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93808" y="2999232"/>
            <a:ext cx="120700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CITY SET CHANGE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93808" y="3200400"/>
            <a:ext cx="120700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None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01583" y="3931920"/>
            <a:ext cx="2889504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+50% freight compresses average margin from ~70% to ~65%. The pilot still holds because price support outruns the freight shock.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-50% freight lifts margin to ~75%. Use that upside to fund service and trade support, not to chase more cities.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In both cases the same five cities win in the same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B -- FREIGHT DOESN'T CHANGE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same five cities win in every freight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6492240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65376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 MATRIX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19456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737360"/>
                <a:gridCol w="1737360"/>
                <a:gridCol w="173736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Rank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+50%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-50%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516368" y="1645920"/>
            <a:ext cx="3986784" cy="437083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1938528"/>
            <a:ext cx="150876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416" y="2048256"/>
            <a:ext cx="12527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RANK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0416" y="2249424"/>
            <a:ext cx="125272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1938528"/>
            <a:ext cx="1828800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048256"/>
            <a:ext cx="15727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SELECTED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249424"/>
            <a:ext cx="15727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Same 5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200400"/>
            <a:ext cx="310896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Base, upside, and downside freight all return the same five cities in the same order.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That is the cleanest proof that the recommendation is structurally stable.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next slide shows why: price support wins the tie-break.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B -- FREIGHT DOESN'T CHANGE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leverage outweighs freight leverage by roughly 6:1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5394960" cy="36576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2784" y="1664208"/>
            <a:ext cx="5230368" cy="36576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011680"/>
            <a:ext cx="4663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SEATTLE 20K CITY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4028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Volume sold -50%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71216" y="225856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71216" y="2258568"/>
            <a:ext cx="173736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6" y="221284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$8,640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288036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Retail price -20%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216" y="289864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71216" y="2898648"/>
            <a:ext cx="855811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1456" y="285292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$4,256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352044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Acquisition cost x2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71216" y="353872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871216" y="3538728"/>
            <a:ext cx="80433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91456" y="349300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16052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Shipping +50%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71216" y="417880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71216" y="4178808"/>
            <a:ext cx="202541" cy="16459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91456" y="413308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F728A"/>
                </a:solidFill>
                <a:latin typeface="Aptos"/>
              </a:rPr>
              <a:t>$1,007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645152"/>
            <a:ext cx="46177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For the one-city screen, a volume miss is the biggest downside. Freight is the smallest of the four modeled shocks.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2011680"/>
            <a:ext cx="45354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5-CITY EQUAL 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224028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Volume sold -50%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39328" y="225856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39328" y="2258568"/>
            <a:ext cx="1621299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14432" y="221284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$7,816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88036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Shipping +50%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39328" y="289864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39328" y="2898648"/>
            <a:ext cx="988472" cy="164592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14432" y="285292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B5533A"/>
                </a:solidFill>
                <a:latin typeface="Aptos"/>
              </a:rPr>
              <a:t>$4,765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2044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Acquisition cost x2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39328" y="353872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39328" y="3538728"/>
            <a:ext cx="829733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14432" y="349300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$4,000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416052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Retail price -20%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39328" y="417880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39328" y="4178808"/>
            <a:ext cx="814466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14432" y="413308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$3,926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0528" y="4645152"/>
            <a:ext cx="43891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Once West Valley splits 20,000 units across five destinations, repeated route-fixed shipping makes freight much more material.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2544" y="5047488"/>
            <a:ext cx="1627632" cy="67665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60" y="5157216"/>
            <a:ext cx="1371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SEATTLE-LA REVENUE GAP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5358384"/>
            <a:ext cx="137160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$6.3k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5047488"/>
            <a:ext cx="1408176" cy="67665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54496" y="5157216"/>
            <a:ext cx="115214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SEATTLE FREIGHT HIT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54496" y="5358384"/>
            <a:ext cx="1152144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B5533A"/>
                </a:solidFill>
                <a:latin typeface="Aptos Display"/>
              </a:rPr>
              <a:t>$1.0k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17536" y="5175504"/>
            <a:ext cx="3163824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Price beats freight by 6.3x -- shipping shocks compress margin without reordering the top five.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5833872"/>
            <a:ext cx="10789920" cy="6583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41248" y="5943600"/>
            <a:ext cx="1051560" cy="43891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998464"/>
            <a:ext cx="94183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84832" y="5925312"/>
            <a:ext cx="69951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Price leverage dominates because the revenue gap between premium and commodity markets is structurally larger than any plausible freight swing.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71432" y="5961888"/>
            <a:ext cx="0" cy="402336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336024" y="5925312"/>
            <a:ext cx="1938528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Ratio = profit impact of +/-10% retail price / profit impact of +/-50% shipping cost, from the profitability sensitivity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B -- FREIGHT DOESN'T CHANGE THE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City selection and unit allocation are different accounting decisions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6656832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83664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ALLOCATION FRONTIER FOR ONE 20K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" y="2194560"/>
            <a:ext cx="1335024" cy="239572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011680"/>
            <a:ext cx="133502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355C47"/>
                </a:solidFill>
                <a:latin typeface="Aptos"/>
              </a:rPr>
              <a:t>$15.3k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4718304"/>
            <a:ext cx="133502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Max-profit single mkt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5065776"/>
            <a:ext cx="13350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20,000 units to Seattle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72384" y="2536291"/>
            <a:ext cx="1335024" cy="205399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2384" y="2353411"/>
            <a:ext cx="133502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3F728A"/>
                </a:solidFill>
                <a:latin typeface="Aptos"/>
              </a:rPr>
              <a:t>$13.1k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4718304"/>
            <a:ext cx="133502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Balanced 2-city split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5065776"/>
            <a:ext cx="13350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10,000 each to Seattle and Boise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4064" y="3632734"/>
            <a:ext cx="1335024" cy="957553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3449854"/>
            <a:ext cx="133502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C58A2A"/>
                </a:solidFill>
                <a:latin typeface="Aptos"/>
              </a:rPr>
              <a:t>$6.1k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718304"/>
            <a:ext cx="133502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5-city learning 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5065776"/>
            <a:ext cx="13350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5F6B63"/>
                </a:solidFill>
                <a:latin typeface="Aptos"/>
              </a:rPr>
              <a:t>4,000 units in each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77840"/>
            <a:ext cx="62179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The math is clear: concentration maximizes profit, but a multi-city pilot buys learning and retailer diversification at the cost of duplicated route-fixed shipping.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07808" y="1664208"/>
            <a:ext cx="3895344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0" y="1938528"/>
            <a:ext cx="162763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048256"/>
            <a:ext cx="13716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SINGLE-CITY MAX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2249424"/>
            <a:ext cx="13716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$15.3k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1938528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47504" y="2048256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5-CITY 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47504" y="2249424"/>
            <a:ext cx="13533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$6.1k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3017520"/>
            <a:ext cx="3364992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3127248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LEARNING PREMIUM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3328416"/>
            <a:ext cx="31089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B5533A"/>
                </a:solidFill>
                <a:latin typeface="Aptos Display"/>
              </a:rPr>
              <a:t>-$9.2k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160520"/>
            <a:ext cx="301752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A balanced Seattle-Boise split still earns $13.1k, so West Valley can keep most of the economics with less concentration risk.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The five-city pilot is a learning investment: lower profit than one city, but more retailer signal and less single-market exposure.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That is why city screening and exact unit allocation should be presented as separate accounting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Prices reach their high point in July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975104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MONTHLY PRICE PROFILE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82496" y="4818888"/>
            <a:ext cx="5330952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82496" y="2560320"/>
            <a:ext cx="0" cy="2258568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" y="4745736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82496" y="4398264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42416" y="4325112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82496" y="3977640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42416" y="3904488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$1.40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82496" y="3557016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42416" y="3483864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$1.60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82496" y="3136392"/>
            <a:ext cx="5330952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42416" y="3063240"/>
            <a:ext cx="530352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5F6B63"/>
                </a:solidFill>
                <a:latin typeface="Aptos"/>
              </a:rPr>
              <a:t>$1.80</a:t>
            </a:r>
          </a:p>
        </p:txBody>
      </p:sp>
      <p:sp>
        <p:nvSpPr>
          <p:cNvPr id="22" name="Oval 21"/>
          <p:cNvSpPr/>
          <p:nvPr/>
        </p:nvSpPr>
        <p:spPr>
          <a:xfrm>
            <a:off x="1627632" y="461127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82496" y="4666140"/>
            <a:ext cx="477982" cy="9539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105614" y="462081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160478" y="4493307"/>
            <a:ext cx="477982" cy="18237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583596" y="443844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2638460" y="4300907"/>
            <a:ext cx="477981" cy="19240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061577" y="424604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3116441" y="4256553"/>
            <a:ext cx="477982" cy="44354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539559" y="420168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594423" y="4213855"/>
            <a:ext cx="477982" cy="4269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017541" y="415899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4072405" y="4194713"/>
            <a:ext cx="477982" cy="19142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495523" y="413984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550387" y="4194713"/>
            <a:ext cx="477982" cy="138604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973505" y="427845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028369" y="4333317"/>
            <a:ext cx="477982" cy="6500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451487" y="434345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506351" y="4398317"/>
            <a:ext cx="477981" cy="67330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29468" y="441078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5984332" y="4465647"/>
            <a:ext cx="477982" cy="60666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07450" y="447144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462314" y="4526313"/>
            <a:ext cx="477982" cy="81658"/>
          </a:xfrm>
          <a:prstGeom prst="line">
            <a:avLst/>
          </a:prstGeom>
          <a:ln w="2540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885432" y="455310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27632" y="36027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682496" y="3657624"/>
            <a:ext cx="477982" cy="8886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105614" y="36116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160478" y="3553778"/>
            <a:ext cx="477982" cy="112732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583596" y="349891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638460" y="3340224"/>
            <a:ext cx="477981" cy="213554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061577" y="32853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116441" y="3202724"/>
            <a:ext cx="477982" cy="13750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3539559" y="3147860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594423" y="3141733"/>
            <a:ext cx="477982" cy="60991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017541" y="308686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072405" y="2997796"/>
            <a:ext cx="477982" cy="14393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495523" y="294293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550387" y="2997796"/>
            <a:ext cx="477982" cy="3016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973505" y="297309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028369" y="3027963"/>
            <a:ext cx="477982" cy="107347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451487" y="308044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506351" y="3135310"/>
            <a:ext cx="477981" cy="162540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929468" y="324298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984332" y="3297850"/>
            <a:ext cx="477982" cy="89313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407450" y="3332299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462314" y="3387163"/>
            <a:ext cx="477982" cy="125223"/>
          </a:xfrm>
          <a:prstGeom prst="line">
            <a:avLst/>
          </a:prstGeom>
          <a:ln w="2540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6885432" y="3457522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630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41022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19004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9698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4967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52949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30931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08913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86895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64876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42858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4892040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" y="2249424"/>
            <a:ext cx="585216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PRICE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10512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35808" y="2249424"/>
            <a:ext cx="11430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Jul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Jul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Conventional price peaks in October while organic peaks in July.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The gap means timing strategy must differ by product type.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Organic's summer premium is the window West Valley should protect.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Volume peaks months before price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76656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36192" y="5102352"/>
            <a:ext cx="5248656" cy="0"/>
          </a:xfrm>
          <a:prstGeom prst="line">
            <a:avLst/>
          </a:prstGeom>
          <a:ln w="1524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316736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3887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1037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8188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5338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2489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9639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6790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3940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1091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8241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5157216"/>
            <a:ext cx="438912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36192" y="2267712"/>
            <a:ext cx="0" cy="2834640"/>
          </a:xfrm>
          <a:prstGeom prst="line">
            <a:avLst/>
          </a:prstGeom>
          <a:ln w="152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04672" y="502920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355C47"/>
                </a:solidFill>
                <a:latin typeface="Aptos"/>
              </a:rPr>
              <a:t>80M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36192" y="4393692"/>
            <a:ext cx="5248656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4672" y="432054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355C47"/>
                </a:solidFill>
                <a:latin typeface="Aptos"/>
              </a:rPr>
              <a:t>90M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536192" y="3685032"/>
            <a:ext cx="5248656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4672" y="361188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355C47"/>
                </a:solidFill>
                <a:latin typeface="Aptos"/>
              </a:rPr>
              <a:t>100M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536192" y="2976372"/>
            <a:ext cx="5248656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290322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355C47"/>
                </a:solidFill>
                <a:latin typeface="Aptos"/>
              </a:rPr>
              <a:t>110M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536192" y="2267712"/>
            <a:ext cx="5248656" cy="0"/>
          </a:xfrm>
          <a:prstGeom prst="line">
            <a:avLst/>
          </a:prstGeom>
          <a:ln w="889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04672" y="219456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800" b="0">
                <a:solidFill>
                  <a:srgbClr val="355C47"/>
                </a:solidFill>
                <a:latin typeface="Aptos"/>
              </a:rPr>
              <a:t>120M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84848" y="2267712"/>
            <a:ext cx="0" cy="2834640"/>
          </a:xfrm>
          <a:prstGeom prst="line">
            <a:avLst/>
          </a:prstGeom>
          <a:ln w="152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39712" y="502920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C58A2A"/>
                </a:solidFill>
                <a:latin typeface="Aptos"/>
              </a:rPr>
              <a:t>4.0M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432054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C58A2A"/>
                </a:solidFill>
                <a:latin typeface="Aptos"/>
              </a:rPr>
              <a:t>4.5M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61188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C58A2A"/>
                </a:solidFill>
                <a:latin typeface="Aptos"/>
              </a:rPr>
              <a:t>5.0M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290322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C58A2A"/>
                </a:solidFill>
                <a:latin typeface="Aptos"/>
              </a:rPr>
              <a:t>5.5M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2194560"/>
            <a:ext cx="6583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800" b="0">
                <a:solidFill>
                  <a:srgbClr val="C58A2A"/>
                </a:solidFill>
                <a:latin typeface="Aptos"/>
              </a:rPr>
              <a:t>6.0M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1975104"/>
            <a:ext cx="12801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CONVENTIONAL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53328" y="1975104"/>
            <a:ext cx="10972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000" b="1">
                <a:solidFill>
                  <a:srgbClr val="C58A2A"/>
                </a:solidFill>
                <a:latin typeface="Aptos"/>
              </a:rPr>
              <a:t>ORGANIC</a:t>
            </a:r>
          </a:p>
        </p:txBody>
      </p:sp>
      <p:sp>
        <p:nvSpPr>
          <p:cNvPr id="41" name="Oval 40"/>
          <p:cNvSpPr/>
          <p:nvPr/>
        </p:nvSpPr>
        <p:spPr>
          <a:xfrm>
            <a:off x="1481328" y="2945681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536192" y="3000545"/>
            <a:ext cx="477151" cy="471664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958479" y="3417345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2013343" y="3089200"/>
            <a:ext cx="477150" cy="383009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2435629" y="303433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490493" y="3089200"/>
            <a:ext cx="477151" cy="634730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912780" y="366906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967644" y="2877313"/>
            <a:ext cx="477150" cy="846617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3389930" y="2822449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3444794" y="2877313"/>
            <a:ext cx="477151" cy="789818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3867081" y="361226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921945" y="3667131"/>
            <a:ext cx="477150" cy="187777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344231" y="3800044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399095" y="3854908"/>
            <a:ext cx="477151" cy="34936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821382" y="383498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876246" y="3889844"/>
            <a:ext cx="477150" cy="69436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298532" y="3904416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5353396" y="3885051"/>
            <a:ext cx="477151" cy="74229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775683" y="3830187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30547" y="3885051"/>
            <a:ext cx="477150" cy="772186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6252833" y="4602373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6307697" y="4066674"/>
            <a:ext cx="477151" cy="590563"/>
          </a:xfrm>
          <a:prstGeom prst="line">
            <a:avLst/>
          </a:prstGeom>
          <a:ln w="27940">
            <a:solidFill>
              <a:srgbClr val="355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729984" y="4011810"/>
            <a:ext cx="109728" cy="10972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81328" y="245253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36192" y="2507402"/>
            <a:ext cx="477151" cy="1120256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958479" y="357279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2013343" y="2767790"/>
            <a:ext cx="477150" cy="859868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435629" y="2712926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490493" y="2767790"/>
            <a:ext cx="477151" cy="602052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2912780" y="331497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2967644" y="2876722"/>
            <a:ext cx="477150" cy="493120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3389930" y="282185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444794" y="2876722"/>
            <a:ext cx="477151" cy="858503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3867081" y="3680361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3921945" y="3735225"/>
            <a:ext cx="477150" cy="595973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344231" y="427633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V="1">
            <a:off x="4399095" y="4309595"/>
            <a:ext cx="477151" cy="21603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4821382" y="4254731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4876246" y="4114298"/>
            <a:ext cx="477150" cy="195297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298532" y="4059434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V="1">
            <a:off x="5353396" y="4013931"/>
            <a:ext cx="477151" cy="100367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775683" y="3959067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5830547" y="4013931"/>
            <a:ext cx="477150" cy="445421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6252833" y="440448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6307697" y="3547742"/>
            <a:ext cx="477151" cy="911610"/>
          </a:xfrm>
          <a:prstGeom prst="line">
            <a:avLst/>
          </a:prstGeom>
          <a:ln w="27940">
            <a:solidFill>
              <a:srgbClr val="C58A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6729984" y="3492878"/>
            <a:ext cx="109728" cy="10972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790688" y="1737360"/>
            <a:ext cx="3712463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046720" y="1993392"/>
            <a:ext cx="1609344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174736" y="2103120"/>
            <a:ext cx="1353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CONVENTIONAL PEAK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74736" y="2304288"/>
            <a:ext cx="13533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355C47"/>
                </a:solidFill>
                <a:latin typeface="Aptos Display"/>
              </a:rPr>
              <a:t>May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747504" y="1993392"/>
            <a:ext cx="1499616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875520" y="2103120"/>
            <a:ext cx="124358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ORGANIC PEAK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75520" y="2304288"/>
            <a:ext cx="124358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900" b="1">
                <a:solidFill>
                  <a:srgbClr val="C58A2A"/>
                </a:solidFill>
                <a:latin typeface="Aptos Display"/>
              </a:rPr>
              <a:t>Jan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0" y="3163824"/>
            <a:ext cx="2926080" cy="1508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Organic volume peaks in January while conventional peaks in May.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Both soften into November, which is why off-peak demand support matters.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Volume timing and price timing do not line up, creating the duck-curve operating problem.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0" y="4956048"/>
            <a:ext cx="292608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Dual axes -- conventional is ~20x larger than organic.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Avocado Duck Curve: volume arrives before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Organic volume peaks in Jan while price peaks in Jul; that gap is the operating lever.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7904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Feb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0008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82112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82112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Apr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14216" y="1737360"/>
            <a:ext cx="713232" cy="43891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14216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May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737360"/>
            <a:ext cx="713232" cy="438912"/>
          </a:xfrm>
          <a:prstGeom prst="roundRect">
            <a:avLst/>
          </a:prstGeom>
          <a:solidFill>
            <a:srgbClr val="FCFAF5"/>
          </a:solidFill>
          <a:ln>
            <a:solidFill>
              <a:srgbClr val="FCF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Jun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78424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7842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Jul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0528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Aug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42632" y="1737360"/>
            <a:ext cx="713232" cy="43891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42632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Sep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1737360"/>
            <a:ext cx="713232" cy="438912"/>
          </a:xfrm>
          <a:prstGeom prst="roundRect">
            <a:avLst/>
          </a:prstGeom>
          <a:solidFill>
            <a:srgbClr val="D8D1C6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4736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Oct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Nov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38944" y="1737360"/>
            <a:ext cx="713232" cy="43891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8944" y="1828800"/>
            <a:ext cx="713232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Dec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2542032"/>
            <a:ext cx="10808208" cy="28346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2761488"/>
            <a:ext cx="150876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STANCE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3" y="2761488"/>
            <a:ext cx="13258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WINDOW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41647" y="2761488"/>
            <a:ext cx="45720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WHAT WEST VALLEY SHOULD 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9951" y="2761488"/>
            <a:ext cx="28346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WHY IT MATTERS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" y="3090672"/>
            <a:ext cx="1298448" cy="53035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7552" y="3209544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Push volume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50592" y="3163824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Jan to May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67328" y="3136392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Prioritize service, retailer availability, and clean flow while the market is naturally absorbing more units.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136392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This is the best window to prove service quality before summer pricing peaks.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822191"/>
            <a:ext cx="1298448" cy="53035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3941063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Protect 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50592" y="3895343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C58A2A"/>
                </a:solidFill>
                <a:latin typeface="Aptos Display"/>
              </a:rPr>
              <a:t>Jul to Sep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7328" y="3867911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Hold pricing discipline and allocate the strongest fruit to the highest-paying pilot markets.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867911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Price support is strongest here, so margin capture matters more than raw throughput.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" y="4553712"/>
            <a:ext cx="1298448" cy="53035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7552" y="4672584"/>
            <a:ext cx="113385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CFAF5"/>
                </a:solidFill>
                <a:latin typeface="Aptos Display"/>
              </a:rPr>
              <a:t>Stimulate demand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50592" y="4626864"/>
            <a:ext cx="11430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4599432"/>
            <a:ext cx="4315968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promotions, alternate channels, and tighter inventory planning when both types soften.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4599432"/>
            <a:ext cx="269748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Low-demand months require commercial support so the pilot does not confuse seasonality with weak economics.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5650992"/>
            <a:ext cx="101498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Management implication: the pilot should be judged against the right seasonal job each month, not against a flat annual operating assumption.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duck curve requires three distinct operating postures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627632"/>
            <a:ext cx="10808208" cy="442569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2848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Jan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Feb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Mar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May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Jun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Jul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Aug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8976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Oct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Nov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883664"/>
            <a:ext cx="51206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5F6B63"/>
                </a:solidFill>
                <a:latin typeface="Aptos"/>
              </a:rPr>
              <a:t>Dec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542032"/>
            <a:ext cx="107899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PUSH VOLUME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61488"/>
            <a:ext cx="10789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55C47"/>
                </a:solidFill>
                <a:latin typeface="Aptos Display"/>
              </a:rPr>
              <a:t>Jan-May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2848" y="2651760"/>
            <a:ext cx="7479792" cy="274320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12848" y="2651760"/>
            <a:ext cx="3072384" cy="27432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85248" y="2542032"/>
            <a:ext cx="102412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Keep shelves full while baseline demand is strongest.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529584"/>
            <a:ext cx="107899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PROTECT MARGIN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749040"/>
            <a:ext cx="10789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C58A2A"/>
                </a:solidFill>
                <a:latin typeface="Aptos Display"/>
              </a:rPr>
              <a:t>Jul-Sep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12848" y="3639312"/>
            <a:ext cx="7479792" cy="274320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43600" y="3639312"/>
            <a:ext cx="182880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5248" y="3529584"/>
            <a:ext cx="102412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Hold price in the summer premium window.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517136"/>
            <a:ext cx="107899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STIMULATE DEMAND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736592"/>
            <a:ext cx="1078992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400" b="1">
                <a:solidFill>
                  <a:srgbClr val="3F728A"/>
                </a:solidFill>
                <a:latin typeface="Aptos Display"/>
              </a:rPr>
              <a:t>Nov-Feb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212848" y="4626864"/>
            <a:ext cx="7479792" cy="274320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430768" y="4626864"/>
            <a:ext cx="1207008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12848" y="4626864"/>
            <a:ext cx="1207008" cy="27432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85248" y="4517136"/>
            <a:ext cx="102412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Use trade support when demand and price soften.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" y="5468112"/>
            <a:ext cx="10515600" cy="530352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24128" y="5577840"/>
            <a:ext cx="1051560" cy="310896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8992" y="5632704"/>
            <a:ext cx="94183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5559552"/>
            <a:ext cx="8942832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Assign one clear commercial job to each season so weak months do not get misread as weak markets.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Growers need flex contracts, cold-chain discipline, and backup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2412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Build seasonality discipline into contracts and execution rules before the pilot scales.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572768"/>
            <a:ext cx="1078992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14400" y="1828800"/>
          <a:ext cx="10442448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3794760"/>
                <a:gridCol w="3172968"/>
              </a:tblGrid>
              <a:tr h="42062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Lever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How it should work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Critical operating move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CFAF5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Contract tiers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55C47"/>
                          </a:solidFill>
                          <a:latin typeface="Aptos Display"/>
                        </a:rPr>
                        <a:t>Base + flex volume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Lock a stable base commitment, then layer in seasonal flex volume so supply can expand without year-round overcommitment.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Prevents the pilot from buying peak-season optionality with permanent fixed cost.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Cold-chain readiness</a:t>
                      </a:r>
                    </a:p>
                  </a:txBody>
                  <a:tcPr>
                    <a:solidFill>
                      <a:srgbClr val="3F72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F728A"/>
                          </a:solidFill>
                          <a:latin typeface="Aptos Display"/>
                        </a:rPr>
                        <a:t>Protect service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Tighten transit monitoring, storage discipline, and receiving checks during the months when flow is highest.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Spoilage and service misses can erase good city economics faster than freight swings do.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1060704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CFAF5"/>
                          </a:solidFill>
                          <a:latin typeface="Aptos Display"/>
                        </a:rPr>
                        <a:t>Alternate lanes</a:t>
                      </a:r>
                    </a:p>
                  </a:txBody>
                  <a:tcPr>
                    <a:solidFill>
                      <a:srgbClr val="B553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B5533A"/>
                          </a:solidFill>
                          <a:latin typeface="Aptos Display"/>
                        </a:rPr>
                        <a:t>Reduce disruption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Pre-qualify backup carriers and routes before the peak season so lane shocks do not force reactive reallocations.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F2621"/>
                          </a:solidFill>
                          <a:latin typeface="Aptos"/>
                        </a:rPr>
                        <a:t>The pilot should never have to choose between service and margin because a lane fails.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932688" y="5303520"/>
            <a:ext cx="10149840" cy="420624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422392"/>
            <a:ext cx="132588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OPERATING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5385816"/>
            <a:ext cx="821131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Contract base volume, protect the cold chain, and pre-book fallback lanes before peak flow starts.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Trade associations should protect off-peak retailer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Aim off-peak support at buyers, trade calendars, and food-service pull, not generic consumer messaging alone.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645920"/>
            <a:ext cx="667512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1874519"/>
            <a:ext cx="2560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OFF-PEAK BUYER PLAYBOOK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2212848"/>
            <a:ext cx="310896" cy="310896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286000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2194560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RETAIL PROMO CALENDAR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2377440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Concentrate retailer ads, features, and display support in Nov-Feb when baseline turns are softest.</a:t>
            </a:r>
          </a:p>
        </p:txBody>
      </p:sp>
      <p:sp>
        <p:nvSpPr>
          <p:cNvPr id="18" name="Oval 17"/>
          <p:cNvSpPr/>
          <p:nvPr/>
        </p:nvSpPr>
        <p:spPr>
          <a:xfrm>
            <a:off x="1005840" y="3054096"/>
            <a:ext cx="310896" cy="310896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127248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3035808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FOOD-SERVICE CHANNELS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3218688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Lean harder on restaurants, prepared foods, and institutional buyers when retail pull weakens.</a:t>
            </a:r>
          </a:p>
        </p:txBody>
      </p:sp>
      <p:sp>
        <p:nvSpPr>
          <p:cNvPr id="22" name="Oval 21"/>
          <p:cNvSpPr/>
          <p:nvPr/>
        </p:nvSpPr>
        <p:spPr>
          <a:xfrm>
            <a:off x="1005840" y="3895344"/>
            <a:ext cx="310896" cy="310896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968496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877056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TRADE FUNDS + SLOTTING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4059936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Use trade dollars, temporary allowances, and slotting support to win attention in soft months.</a:t>
            </a:r>
          </a:p>
        </p:txBody>
      </p:sp>
      <p:sp>
        <p:nvSpPr>
          <p:cNvPr id="26" name="Oval 25"/>
          <p:cNvSpPr/>
          <p:nvPr/>
        </p:nvSpPr>
        <p:spPr>
          <a:xfrm>
            <a:off x="1005840" y="4736592"/>
            <a:ext cx="310896" cy="310896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809744"/>
            <a:ext cx="201168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718304"/>
            <a:ext cx="1828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SHELF DISCIPLINE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901184"/>
            <a:ext cx="5257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Coordinate assortment, facing, and freshness standards so promotions convert to repeat orders.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1645920"/>
            <a:ext cx="3840480" cy="43159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6992" y="1874519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WHERE TO PUSH HARDER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36992" y="2212848"/>
            <a:ext cx="164592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2322576"/>
            <a:ext cx="138988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SOFTEST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523744"/>
            <a:ext cx="1389888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Nov to Feb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2212848"/>
            <a:ext cx="1600200" cy="8229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4936" y="2322576"/>
            <a:ext cx="134416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PRIMARY BUYER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4936" y="2523744"/>
            <a:ext cx="1344168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Retail + 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3246120"/>
            <a:ext cx="3154680" cy="1554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Do not mistake seasonal softness for launch failure.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Push through buyer calendars, not just consumer media.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F2621"/>
                </a:solidFill>
                <a:latin typeface="Aptos"/>
              </a:rPr>
              <a:t>- Separate repeat demand from promo-driven lift.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36992" y="4864608"/>
            <a:ext cx="3154680" cy="8229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83296" y="4956048"/>
            <a:ext cx="28620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EXECUTION RULE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83296" y="5138928"/>
            <a:ext cx="286207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Front-load trade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3296" y="5413248"/>
            <a:ext cx="2862072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Spend trade dollars and retailer attention in Nov-Feb, not when summer demand is already doing the 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PILLAR C -- SEASONALITY IS AN ADVANTAGE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Monthly S&amp;OP should align growers, West Valley, and retailers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515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One monthly forum should translate market signals into volume, routing, and promotion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GROWERS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Supply commitment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Provide base volume, flex capacity, and harvest timing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7992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WEST VALLEY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Control tower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Convert price, freight, and demand signals into city allocation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38744" y="1700784"/>
            <a:ext cx="3017520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1837944"/>
            <a:ext cx="272491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RETAILERS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084832"/>
            <a:ext cx="272491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Demand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8" y="2578608"/>
            <a:ext cx="2724912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Feed promo calendars, replenishment risk, and reorder visibility into the review.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3493008"/>
            <a:ext cx="8458200" cy="10607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76272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03704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Forecast demand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67912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215383" y="3749039"/>
            <a:ext cx="292608" cy="2926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42815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9431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Lock commitments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07023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54496" y="3749039"/>
            <a:ext cx="292608" cy="2926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81928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Allocate by city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46136" y="3895344"/>
            <a:ext cx="292608" cy="0"/>
          </a:xfrm>
          <a:prstGeom prst="line">
            <a:avLst/>
          </a:prstGeom>
          <a:ln w="2286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293608" y="3749039"/>
            <a:ext cx="292608" cy="292608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22191"/>
            <a:ext cx="219456" cy="1097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77656" y="3749039"/>
            <a:ext cx="1463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1">
                <a:solidFill>
                  <a:srgbClr val="355C47"/>
                </a:solidFill>
                <a:latin typeface="Aptos Display"/>
              </a:rPr>
              <a:t>Review margin + service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" y="4791456"/>
            <a:ext cx="10744200" cy="96926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CADENCE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55C47"/>
                </a:solidFill>
                <a:latin typeface="Aptos Display"/>
              </a:rPr>
              <a:t>Monthly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Update commitments and allocations every month, not quarterly.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494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4775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DECISION 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5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3F728A"/>
                </a:solidFill>
                <a:latin typeface="Aptos Display"/>
              </a:rPr>
              <a:t>Commit + allocate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75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Reset grower volume, lanes, and promo timing in the same review.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30896" y="4956048"/>
            <a:ext cx="0" cy="640080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058912" y="4892040"/>
            <a:ext cx="3325368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SUCCESS SIGNAL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58912" y="5047488"/>
            <a:ext cx="3325368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800" b="1">
                <a:solidFill>
                  <a:srgbClr val="C58A2A"/>
                </a:solidFill>
                <a:latin typeface="Aptos Display"/>
              </a:rPr>
              <a:t>Margin and service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8912" y="5303520"/>
            <a:ext cx="3325368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Higher realized margin should not come with fill-rate or freshness slippage.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Launch in 2026, then scale only what the pilot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Treat year one as a live test of economics, service, and demand quality, not a commitment to broad expansion.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600200"/>
            <a:ext cx="7680960" cy="443484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10512"/>
            <a:ext cx="1828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ROLLOUT ROADMAP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960120" cy="67665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27685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84831" y="214884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67712" y="224028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242316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Launch the five-city test and prove realized margin, fill rate, and spoilage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2512" y="214884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4028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city economics hold in live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429000"/>
            <a:ext cx="960120" cy="67665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5701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84831" y="342900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67712" y="352044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EXPAND SELECTIVELY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7712" y="370332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Add retailer doors only in markets where reorder behavior and service levels remain strong.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342900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economics survive broader coverage.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709160"/>
            <a:ext cx="960120" cy="676656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837176"/>
            <a:ext cx="914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800" b="1">
                <a:solidFill>
                  <a:srgbClr val="FCFAF5"/>
                </a:solidFill>
                <a:latin typeface="Aptos Display"/>
              </a:rPr>
              <a:t>2028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84831" y="4709160"/>
            <a:ext cx="4160520" cy="676656"/>
          </a:xfrm>
          <a:prstGeom prst="roundRect">
            <a:avLst/>
          </a:prstGeom>
          <a:solidFill>
            <a:srgbClr val="F7F3EC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67712" y="4800600"/>
            <a:ext cx="374903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OPTIMIZE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7712" y="4983480"/>
            <a:ext cx="3749039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Tighten grower contracts, allocation logic, and seasonal playbooks around what the pilot confirms.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4709160"/>
            <a:ext cx="1737360" cy="676656"/>
          </a:xfrm>
          <a:prstGeom prst="roundRect">
            <a:avLst/>
          </a:prstGeom>
          <a:solidFill>
            <a:srgbClr val="FFFDF9"/>
          </a:solidFill>
          <a:ln w="15240"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9672" y="4800600"/>
            <a:ext cx="1481328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What must be true: process gains are repeatable.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05088" y="1600200"/>
            <a:ext cx="2788920" cy="44348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1810512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SCALE ONLY IF</a:t>
            </a:r>
          </a:p>
        </p:txBody>
      </p:sp>
      <p:sp>
        <p:nvSpPr>
          <p:cNvPr id="35" name="Oval 34"/>
          <p:cNvSpPr/>
          <p:nvPr/>
        </p:nvSpPr>
        <p:spPr>
          <a:xfrm>
            <a:off x="8979408" y="2240280"/>
            <a:ext cx="256032" cy="256032"/>
          </a:xfrm>
          <a:prstGeom prst="ellipse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08592" y="222199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08592" y="240487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Realized margin beats the base case after freight and spoilage.</a:t>
            </a:r>
          </a:p>
        </p:txBody>
      </p:sp>
      <p:sp>
        <p:nvSpPr>
          <p:cNvPr id="38" name="Oval 37"/>
          <p:cNvSpPr/>
          <p:nvPr/>
        </p:nvSpPr>
        <p:spPr>
          <a:xfrm>
            <a:off x="8979408" y="3337560"/>
            <a:ext cx="256032" cy="256032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08592" y="331927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SERVICE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08592" y="350215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Fill rate holds through peak-season pressure.</a:t>
            </a:r>
          </a:p>
        </p:txBody>
      </p:sp>
      <p:sp>
        <p:nvSpPr>
          <p:cNvPr id="41" name="Oval 40"/>
          <p:cNvSpPr/>
          <p:nvPr/>
        </p:nvSpPr>
        <p:spPr>
          <a:xfrm>
            <a:off x="8979408" y="4434840"/>
            <a:ext cx="256032" cy="256032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08592" y="4416552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DEMAND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8592" y="4599432"/>
            <a:ext cx="18288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Retailers reorder because demand is repeatable, not launch noise.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Pilot KPIs should prove margin, service, spoilage, and repeat 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27632"/>
            <a:ext cx="365760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47088"/>
            <a:ext cx="16459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HEALTH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2240280"/>
            <a:ext cx="201168" cy="640080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258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GROSS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41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premium pricing survives live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383280"/>
            <a:ext cx="201168" cy="640080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3401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FILL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584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service can scale without breaking.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526280"/>
            <a:ext cx="201168" cy="640080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544568"/>
            <a:ext cx="17373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REORDER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472744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Proof that demand repeats after launch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1627632"/>
            <a:ext cx="6812280" cy="4343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4608" y="1847088"/>
            <a:ext cx="22860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PILOT SCORECARD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864608" y="2148840"/>
          <a:ext cx="63550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63240"/>
                <a:gridCol w="1463040"/>
              </a:tblGrid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KPI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Cadence / 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Realized gross margin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Confirms whether forecast economics survive live execution.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finance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per unit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routing and carrier discipline are improving.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logistics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Fill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Measures retailer execution quality during seasonal peaks.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 rate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Captures cold-chain and freshness failures directly.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Weekly / operations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Reorder rate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Tests whether demand is repeatable beyond launch.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commercial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accuracy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Shows whether monthly S&amp;OP is improving allocation decisions.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Monthly / planning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Scale should follow stage gates, not geography ambition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The model can choose where to test, but scale should still depend on live pilot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2240280" cy="384048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55C47"/>
                </a:solidFill>
                <a:latin typeface="Aptos Display"/>
              </a:rPr>
              <a:t>Pilot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Launch and collect clean economics by city.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53512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502152" y="2057400"/>
            <a:ext cx="2240280" cy="384048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7016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2152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8456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3F728A"/>
                </a:solidFill>
                <a:latin typeface="Aptos Display"/>
              </a:rPr>
              <a:t>Economics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8456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realized margin and freight per unit.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9864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18504" y="2057400"/>
            <a:ext cx="2240280" cy="384048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889A83"/>
                </a:solidFill>
                <a:latin typeface="Aptos Display"/>
              </a:rPr>
              <a:t>Service 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Confirm fill rate, spoilage control, and reorder behavior.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86216" y="3364992"/>
            <a:ext cx="475488" cy="0"/>
          </a:xfrm>
          <a:prstGeom prst="line">
            <a:avLst/>
          </a:prstGeom>
          <a:ln w="254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4856" y="2057400"/>
            <a:ext cx="2240280" cy="384048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2130552"/>
            <a:ext cx="2103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STEP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4856" y="2542032"/>
            <a:ext cx="2240280" cy="1691640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60" y="2743200"/>
            <a:ext cx="19202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700" b="1">
                <a:solidFill>
                  <a:srgbClr val="C58A2A"/>
                </a:solidFill>
                <a:latin typeface="Aptos Display"/>
              </a:rPr>
              <a:t>Scale selectively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108960"/>
            <a:ext cx="19202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Expand only where pilot evidence remains strong.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" y="4617720"/>
            <a:ext cx="10012680" cy="8686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15568" y="4727448"/>
            <a:ext cx="1051560" cy="649224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82312"/>
            <a:ext cx="941832" cy="5394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TAKEAWAY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9152" y="4709160"/>
            <a:ext cx="6217920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621"/>
                </a:solidFill>
                <a:latin typeface="Aptos"/>
              </a:rPr>
              <a:t>Use the pilot to validate economics and service before adding geography.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68512" y="4745736"/>
            <a:ext cx="0" cy="612648"/>
          </a:xfrm>
          <a:prstGeom prst="line">
            <a:avLst/>
          </a:prstGeom>
          <a:ln w="1270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833104" y="4709160"/>
            <a:ext cx="1938528" cy="6858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000" b="0">
                <a:solidFill>
                  <a:srgbClr val="5F6B63"/>
                </a:solidFill>
                <a:latin typeface="Aptos"/>
              </a:rPr>
              <a:t>The model is strong enough to choose where to test, not yet strong enough to dictate exact retailer-level allocation.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0" y="256032"/>
            <a:ext cx="1280160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59568" y="260604"/>
            <a:ext cx="1243584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Top risks are freight, competitors, import disruption, and forecast error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1600200"/>
            <a:ext cx="6858000" cy="41148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187952" y="1810512"/>
            <a:ext cx="0" cy="365760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3657600"/>
            <a:ext cx="6291072" cy="0"/>
          </a:xfrm>
          <a:prstGeom prst="line">
            <a:avLst/>
          </a:prstGeom>
          <a:ln w="20320">
            <a:solidFill>
              <a:srgbClr val="D8D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200400" y="1673352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04688"/>
            <a:ext cx="2011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8328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Low
prob.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383280"/>
            <a:ext cx="82296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5F6B63"/>
                </a:solidFill>
                <a:latin typeface="Aptos"/>
              </a:rPr>
              <a:t>High
prob.</a:t>
            </a:r>
          </a:p>
        </p:txBody>
      </p:sp>
      <p:sp>
        <p:nvSpPr>
          <p:cNvPr id="18" name="Oval 17"/>
          <p:cNvSpPr/>
          <p:nvPr/>
        </p:nvSpPr>
        <p:spPr>
          <a:xfrm>
            <a:off x="6144768" y="2066543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15584" y="2852927"/>
            <a:ext cx="17830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Freight spikes</a:t>
            </a:r>
          </a:p>
        </p:txBody>
      </p:sp>
      <p:sp>
        <p:nvSpPr>
          <p:cNvPr id="20" name="Oval 19"/>
          <p:cNvSpPr/>
          <p:nvPr/>
        </p:nvSpPr>
        <p:spPr>
          <a:xfrm>
            <a:off x="4407408" y="1901952"/>
            <a:ext cx="749808" cy="749808"/>
          </a:xfrm>
          <a:prstGeom prst="ellipse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2688336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Import disruption</a:t>
            </a:r>
          </a:p>
        </p:txBody>
      </p:sp>
      <p:sp>
        <p:nvSpPr>
          <p:cNvPr id="22" name="Oval 21"/>
          <p:cNvSpPr/>
          <p:nvPr/>
        </p:nvSpPr>
        <p:spPr>
          <a:xfrm>
            <a:off x="4023360" y="292608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3008" y="3712463"/>
            <a:ext cx="204825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Competitor 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4800600" y="3200400"/>
            <a:ext cx="749808" cy="749808"/>
          </a:xfrm>
          <a:prstGeom prst="ellipse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986784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Forecast error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3977639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2" y="4764024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Retailer uptake</a:t>
            </a:r>
          </a:p>
        </p:txBody>
      </p:sp>
      <p:sp>
        <p:nvSpPr>
          <p:cNvPr id="28" name="Oval 27"/>
          <p:cNvSpPr/>
          <p:nvPr/>
        </p:nvSpPr>
        <p:spPr>
          <a:xfrm>
            <a:off x="3794760" y="3767328"/>
            <a:ext cx="749808" cy="749808"/>
          </a:xfrm>
          <a:prstGeom prst="ellipse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4553712"/>
            <a:ext cx="166420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1F2621"/>
                </a:solidFill>
                <a:latin typeface="Aptos"/>
              </a:rPr>
              <a:t>Spoilage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18704" y="1600200"/>
            <a:ext cx="3529584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1810512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WATCHLIST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2157984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B5533A"/>
                </a:solidFill>
                <a:latin typeface="Aptos"/>
              </a:rPr>
              <a:t>FREIGHT SPIKES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2322576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Pre-book core lanes and keep alternates ready before peak season.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054096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55C47"/>
                </a:solidFill>
                <a:latin typeface="Aptos"/>
              </a:rPr>
              <a:t>COMPETITOR 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3218688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Because price is the dominant profit driver (~6:1 over freight), West Valley should monitor competitor pricing weekly and compete on service and certification, not on price.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79" y="3950208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IMPORT DISRUPTION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114800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Use flexible grower commitments and staggered sourcing windows.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9" y="4846320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3F728A"/>
                </a:solidFill>
                <a:latin typeface="Aptos"/>
              </a:rPr>
              <a:t>FORECAST ERROR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5010912"/>
            <a:ext cx="27432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Re-run allocation monthly using realized pilot demand.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RISKS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Each major risk already has a countermeasure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04241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5F6B63"/>
                </a:solidFill>
                <a:latin typeface="Aptos"/>
              </a:rPr>
              <a:t>Every major threat should already have a response and owner before West Valley scales.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691640"/>
          <a:ext cx="108356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3657600"/>
                <a:gridCol w="2606040"/>
              </a:tblGrid>
              <a:tr h="6309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Countermeasure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CFAF5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Freight spikes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Fuel surcharges or carrier capacity shortage during peak season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Pre-book core lanes 60 days out; maintain 2 alternate carriers per route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Logistics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Competitor entry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National distributor undercuts pricing in pilot cities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Compete on service and organic certification, not on price; monitor competitor pricing weekly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Commercial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Import disruption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Tariff, border delay, or phytosanitary hold on Mexican supply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Stagger sourcing windows; maintain local California grower fallback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Supply chain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Forecast error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Demand materially above or below the 20k screen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Re-run allocation model monthly with realized demand data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Finance / planning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Spoilage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Cold-chain failure or transit damage exceeds 3% threshold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Tighten receiving standards; add real-time temperature logging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621"/>
                          </a:solidFill>
                          <a:latin typeface="Aptos"/>
                        </a:rPr>
                        <a:t>Operations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68680" y="5650992"/>
            <a:ext cx="9966960" cy="56692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833872"/>
            <a:ext cx="960120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1F2621"/>
                </a:solidFill>
                <a:latin typeface="Aptos"/>
              </a:rPr>
              <a:t>Operating principle: the pilot should never carry an unmanaged risk; every major threat must already have a trigger, action, and owner before scale decisions are made.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full case supports a disciplined 5-city pilot, not a broad organic rollout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6492240" cy="44805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47088"/>
            <a:ext cx="21945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FINAL ANSWER ARC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2212848"/>
            <a:ext cx="1261872" cy="49377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304288"/>
            <a:ext cx="11887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Market reality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2286000"/>
            <a:ext cx="4480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Los Angeles proves category scale, while Seattle proves organic readiness. The biggest market is not the best first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054096"/>
            <a:ext cx="1261872" cy="493776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145536"/>
            <a:ext cx="11887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City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3127248"/>
            <a:ext cx="4480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Premium pricing, demographics, and channel fit pick the top five. The profitability model confirms Seattle, Boise, Portland, Spokane, and San Diego.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3895344"/>
            <a:ext cx="1261872" cy="493776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3986784"/>
            <a:ext cx="11887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Freight resilience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0864" y="3968496"/>
            <a:ext cx="4480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The same five cities win at base, +50%, and -50% freight because price leverage dominates shipping by ~6:1.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736592"/>
            <a:ext cx="1261872" cy="493776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828032"/>
            <a:ext cx="11887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FCFAF5"/>
                </a:solidFill>
                <a:latin typeface="Aptos"/>
              </a:rPr>
              <a:t>The duck curve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40864" y="4809744"/>
            <a:ext cx="4480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Seasonality changes when West Valley should push volume, protect margin, and stimulate demand. The pilot needs a coordinated seasonal operating calendar.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6" y="1627632"/>
            <a:ext cx="4078224" cy="448056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1847088"/>
            <a:ext cx="22860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39696"/>
            <a:ext cx="347472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300" b="1">
                <a:solidFill>
                  <a:srgbClr val="355C47"/>
                </a:solidFill>
                <a:latin typeface="Aptos Display"/>
              </a:rPr>
              <a:t>Launch Seattle, Boise, Portland, Spokane, and San Diego first.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3054096"/>
            <a:ext cx="1591056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27264" y="3163824"/>
            <a:ext cx="1335024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AVG PROFIT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27264" y="3364992"/>
            <a:ext cx="1335024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00032" y="3054096"/>
            <a:ext cx="1810512" cy="859536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28048" y="316382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FREIGHT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8048" y="3364992"/>
            <a:ext cx="155448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Same 5 cities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4187952"/>
            <a:ext cx="3401568" cy="7498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This is a learning-first pilot with positive economics, explicit sensitivities, and a seasonal operating plan. Scale only if live margin, service, and reorder data confirm the screen.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07808" y="5340096"/>
            <a:ext cx="3657600" cy="512064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08975" y="5486400"/>
            <a:ext cx="32461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1F2621"/>
                </a:solidFill>
                <a:latin typeface="Aptos"/>
              </a:rPr>
              <a:t>Do not treat the city screen as a full allocation plan. Use the pilot to earn that next decision.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What this pilot teaches West Valley applies to every new product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3337560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ANALYTICAL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048256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55C47"/>
                </a:solidFill>
                <a:latin typeface="Aptos Display"/>
              </a:rPr>
              <a:t>Screen, then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542032"/>
            <a:ext cx="3044952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Use comparable-unit screens to choose markets, then use live pilots to validate before scaling. This approach works for any perishable product.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664208"/>
            <a:ext cx="3337560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801368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ACCOUNTING RIGOR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48256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3F728A"/>
                </a:solidFill>
                <a:latin typeface="Aptos Display"/>
              </a:rPr>
              <a:t>Relevant costs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542032"/>
            <a:ext cx="3044952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Special-order framing, sensitivity analysis, and CVP give West Valley a repeatable toolkit for incremental product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64208"/>
            <a:ext cx="3337560" cy="28346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1801368"/>
            <a:ext cx="304495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5F6B63"/>
                </a:solidFill>
                <a:latin typeface="Aptos"/>
              </a:rPr>
              <a:t>OPERATIONAL READINESS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2" y="2048256"/>
            <a:ext cx="3044952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400" b="1">
                <a:solidFill>
                  <a:srgbClr val="C58A2A"/>
                </a:solidFill>
                <a:latin typeface="Aptos Display"/>
              </a:rPr>
              <a:t>Seasonal S&amp;OP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872" y="2542032"/>
            <a:ext cx="3044952" cy="18105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0">
                <a:solidFill>
                  <a:srgbClr val="1F2621"/>
                </a:solidFill>
                <a:latin typeface="Aptos"/>
              </a:rPr>
              <a:t>The monthly review cadence, stage gates, and KPI framework can be reused for any product with seasonal supply-demand timing gaps.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4773168"/>
            <a:ext cx="10835640" cy="804672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56048"/>
            <a:ext cx="10332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500" b="1">
                <a:solidFill>
                  <a:srgbClr val="1F2621"/>
                </a:solidFill>
                <a:latin typeface="Aptos"/>
              </a:rPr>
              <a:t>West Valley does not just enter avocados. It builds the decision-making infrastructure to evaluate and launch any new produce line with the same rigor.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All 40 cities pass the special-order test; the top five maximize profit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72768"/>
            <a:ext cx="658368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92224"/>
            <a:ext cx="598932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 10 CITY PROFIT 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2996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Seattle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96896" y="2039112"/>
            <a:ext cx="324612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07608" y="199339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$15,266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6829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Boise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96896" y="237744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96896" y="2377440"/>
            <a:ext cx="3155321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7608" y="233172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70662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Portland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271576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96896" y="2715768"/>
            <a:ext cx="3063884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07608" y="267004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$14,408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04495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Spokane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96896" y="305409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96896" y="3054096"/>
            <a:ext cx="2762567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07608" y="300837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$12,992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38328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San Diego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96896" y="339242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96896" y="3392424"/>
            <a:ext cx="236577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7608" y="334670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$11,126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721608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San Fran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96896" y="3730752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96896" y="3730752"/>
            <a:ext cx="215164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07608" y="3685032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$10,118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4059936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Sacramento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4069080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96896" y="4069080"/>
            <a:ext cx="2036600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07608" y="4023360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$9,578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398264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96896" y="4407408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596896" y="4407408"/>
            <a:ext cx="1999812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07608" y="4361688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$9,404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4736592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Cincy/Dayton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96896" y="4745736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96896" y="4745736"/>
            <a:ext cx="1867229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4700016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$8,781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5074920"/>
            <a:ext cx="1554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Las Vegas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96896" y="5084064"/>
            <a:ext cx="324612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596896" y="5084064"/>
            <a:ext cx="1746447" cy="164592"/>
          </a:xfrm>
          <a:prstGeom prst="roundRect">
            <a:avLst/>
          </a:prstGeom>
          <a:solidFill>
            <a:srgbClr val="889A83"/>
          </a:solidFill>
          <a:ln>
            <a:solidFill>
              <a:srgbClr val="889A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07608" y="5038344"/>
            <a:ext cx="8686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889A83"/>
                </a:solidFill>
                <a:latin typeface="Aptos"/>
              </a:rPr>
              <a:t>$8,213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1" y="1572768"/>
            <a:ext cx="3931920" cy="440740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27264" y="1828800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ACCOUNTING READ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27264" y="2139696"/>
            <a:ext cx="1737360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2249424"/>
            <a:ext cx="1481328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TOP-5 AVG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2450592"/>
            <a:ext cx="1481328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55C47"/>
                </a:solidFill>
                <a:latin typeface="Aptos Display"/>
              </a:rPr>
              <a:t>$13.7k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56064" y="2139696"/>
            <a:ext cx="1572768" cy="91440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84080" y="2249424"/>
            <a:ext cx="13167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NEXT-5 AVG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2450592"/>
            <a:ext cx="1316736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3F728A"/>
                </a:solidFill>
                <a:latin typeface="Aptos Display"/>
              </a:rPr>
              <a:t>$9.2k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27264" y="3218688"/>
            <a:ext cx="3401568" cy="87782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55280" y="3328416"/>
            <a:ext cx="314553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RANK-5 VS RANK-6 GAP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80" y="3529584"/>
            <a:ext cx="3145536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900" b="1">
                <a:solidFill>
                  <a:srgbClr val="C58A2A"/>
                </a:solidFill>
                <a:latin typeface="Aptos Display"/>
              </a:rPr>
              <a:t>$1k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264" y="4315968"/>
            <a:ext cx="3108960" cy="9875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F2621"/>
                </a:solidFill>
                <a:latin typeface="Aptos"/>
              </a:rPr>
              <a:t>- All 40 markets are positive; the cut line chooses the best five.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621"/>
                </a:solidFill>
                <a:latin typeface="Aptos"/>
              </a:rPr>
              <a:t>- Top-five profit averages $13.7k versus $9.2k for the next tier.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F2621"/>
                </a:solidFill>
                <a:latin typeface="Aptos"/>
              </a:rPr>
              <a:t>- That makes the recommendation an optimization call, not a generic yes.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Seattle screens first because premium pricing outweighs Los Angeles's freight edge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00784"/>
            <a:ext cx="7818120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01952"/>
            <a:ext cx="2560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ENTRY SCREEN LEADERBOARD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2212848"/>
          <a:ext cx="6400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188720"/>
                <a:gridCol w="914400"/>
                <a:gridCol w="1143000"/>
                <a:gridCol w="868680"/>
              </a:tblGrid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City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Price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Organic share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Miles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Profit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Pilot</a:t>
                      </a:r>
                    </a:p>
                  </a:txBody>
                  <a:tcPr>
                    <a:solidFill>
                      <a:srgbClr val="355C47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Seattle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1,029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$15,266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Boise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$2.59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5.4%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827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$14,838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Portland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$2.54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855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$14,408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Spokane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$2.38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6.1%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1,097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$12,992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Diego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$2.09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4.3%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253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$11,126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San Francisco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283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$10,118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Sacramento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$1.90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3.7%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277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$9,578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CFAF5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Los Angeles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$1.87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111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$9,404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621"/>
                          </a:solidFill>
                          <a:latin typeface="Aptos"/>
                        </a:rPr>
                        <a:t>Not selected</a:t>
                      </a:r>
                    </a:p>
                  </a:txBody>
                  <a:tcPr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759952" y="1700784"/>
            <a:ext cx="2761488" cy="4261104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5984" y="1901952"/>
            <a:ext cx="21945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WORKED CITY EXAMPLE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5984" y="2194560"/>
            <a:ext cx="95097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85248" y="2176272"/>
            <a:ext cx="102412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20,000 x (40% x $2.66) = $21,280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2779776"/>
            <a:ext cx="95097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ACQUISITION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2761488"/>
            <a:ext cx="102412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20,000 x $0.20 = $4,000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364991"/>
            <a:ext cx="95097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SHIPPING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85248" y="3346703"/>
            <a:ext cx="102412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0">
                <a:solidFill>
                  <a:srgbClr val="1F2621"/>
                </a:solidFill>
                <a:latin typeface="Aptos"/>
              </a:rPr>
              <a:t>$1,500 + ($50 x 1,029 / 100) = $2,014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3950208"/>
            <a:ext cx="950976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1">
                <a:solidFill>
                  <a:srgbClr val="5F6B63"/>
                </a:solidFill>
                <a:latin typeface="Aptos"/>
              </a:rPr>
              <a:t>PROFIT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5248" y="3931920"/>
            <a:ext cx="1024128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$21,280 - $4,000 - $2,014 = $15,266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8" y="4718304"/>
            <a:ext cx="2231136" cy="841248"/>
          </a:xfrm>
          <a:prstGeom prst="roundRect">
            <a:avLst/>
          </a:prstGeom>
          <a:solidFill>
            <a:srgbClr val="F7F3EC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4882896"/>
            <a:ext cx="1874519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Los Angeles ranks 8th at only 111 miles because its $1.87 retail price cannot close the revenue gap.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Price leverage outweighs freight leverage by roughly 6:1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5394960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11680"/>
            <a:ext cx="466344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SEATTLE 20K CITY SCREEN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24028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Volume sold -50%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25856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71216" y="2258568"/>
            <a:ext cx="1737360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1456" y="221284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$8,640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288036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Retail price -20%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71216" y="289864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71216" y="2898648"/>
            <a:ext cx="855811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1456" y="285292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$4,256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352044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Acquisition cost x2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6" y="353872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71216" y="3538728"/>
            <a:ext cx="804333" cy="164592"/>
          </a:xfrm>
          <a:prstGeom prst="roundRect">
            <a:avLst/>
          </a:prstGeom>
          <a:solidFill>
            <a:srgbClr val="355C47"/>
          </a:solidFill>
          <a:ln>
            <a:solidFill>
              <a:srgbClr val="355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1456" y="349300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55C47"/>
                </a:solidFill>
                <a:latin typeface="Aptos"/>
              </a:rPr>
              <a:t>$4,000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160520"/>
            <a:ext cx="186537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Shipping +50%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6" y="4178808"/>
            <a:ext cx="1737360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71216" y="4178808"/>
            <a:ext cx="202541" cy="164592"/>
          </a:xfrm>
          <a:prstGeom prst="roundRect">
            <a:avLst/>
          </a:prstGeom>
          <a:solidFill>
            <a:srgbClr val="3F728A"/>
          </a:solidFill>
          <a:ln>
            <a:solidFill>
              <a:srgbClr val="3F7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4133088"/>
            <a:ext cx="82296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3F728A"/>
                </a:solidFill>
                <a:latin typeface="Aptos"/>
              </a:rPr>
              <a:t>$1,007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5248656"/>
            <a:ext cx="46177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For the one-city screen, a volume miss is the biggest downside. Freight is the smallest of the four modeled shocks.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2784" y="1664208"/>
            <a:ext cx="5230368" cy="4315968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011680"/>
            <a:ext cx="4535424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5-CITY EQUAL 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224028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1">
                <a:solidFill>
                  <a:srgbClr val="1F2621"/>
                </a:solidFill>
                <a:latin typeface="Aptos"/>
              </a:rPr>
              <a:t>Volume sold -50%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39328" y="225856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39328" y="2258568"/>
            <a:ext cx="1621299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14432" y="221284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$7,816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88036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Shipping +50%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39328" y="289864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39328" y="2898648"/>
            <a:ext cx="988472" cy="164592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14432" y="285292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B5533A"/>
                </a:solidFill>
                <a:latin typeface="Aptos"/>
              </a:rPr>
              <a:t>$4,765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2044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Acquisition cost x2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39328" y="353872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39328" y="3538728"/>
            <a:ext cx="829733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14432" y="349300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$4,000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4160520"/>
            <a:ext cx="1773936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Retail price -20%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39328" y="4178808"/>
            <a:ext cx="1792224" cy="164592"/>
          </a:xfrm>
          <a:prstGeom prst="roundRect">
            <a:avLst/>
          </a:prstGeom>
          <a:solidFill>
            <a:srgbClr val="F7F3EC"/>
          </a:solidFill>
          <a:ln>
            <a:solidFill>
              <a:srgbClr val="F7F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339328" y="4178808"/>
            <a:ext cx="814466" cy="164592"/>
          </a:xfrm>
          <a:prstGeom prst="roundRect">
            <a:avLst/>
          </a:prstGeom>
          <a:solidFill>
            <a:srgbClr val="C58A2A"/>
          </a:solidFill>
          <a:ln>
            <a:solidFill>
              <a:srgbClr val="C5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14432" y="4133088"/>
            <a:ext cx="731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1100" b="1">
                <a:solidFill>
                  <a:srgbClr val="C58A2A"/>
                </a:solidFill>
                <a:latin typeface="Aptos"/>
              </a:rPr>
              <a:t>$3,926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0528" y="5248656"/>
            <a:ext cx="438912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100" b="0">
                <a:solidFill>
                  <a:srgbClr val="1F2621"/>
                </a:solidFill>
                <a:latin typeface="Aptos"/>
              </a:rPr>
              <a:t>Once West Valley splits 20,000 units across five destinations, repeated route-fixed shipping makes freight much more material.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14432" y="256032"/>
            <a:ext cx="1170432" cy="274320"/>
          </a:xfrm>
          <a:prstGeom prst="roundRect">
            <a:avLst/>
          </a:prstGeom>
          <a:solidFill>
            <a:srgbClr val="B5533A"/>
          </a:solidFill>
          <a:ln>
            <a:solidFill>
              <a:srgbClr val="B55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0" y="260604"/>
            <a:ext cx="1133856" cy="2194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FCFAF5"/>
                </a:solidFill>
                <a:latin typeface="Aptos"/>
              </a:rPr>
              <a:t>CAVEAT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The model can now separate city choice from allocation economics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212080" cy="3383280"/>
          </a:xfrm>
          <a:prstGeom prst="roundRect">
            <a:avLst/>
          </a:prstGeom>
          <a:solidFill>
            <a:srgbClr val="FCFAF5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What we can defend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4663440" cy="2606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cleaned dataset resolves to 40 city markets even though the case text references 41 metro regions.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comparable 20,000-unit city screen is still the right way to choose where to test because every market is evaluated on the same basis.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All 40 city screens remain profitable even at +50% shipping, so the recommendation is an optimization problem, not a survival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38528"/>
            <a:ext cx="22860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B5533A"/>
                </a:solidFill>
                <a:latin typeface="Aptos Display"/>
              </a:rPr>
              <a:t>What still needs more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80"/>
            <a:ext cx="4663440" cy="2606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- 2025 is partial-year data only and June 2025 retail price is used as the simple proxy for June 2026 retail price.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The model now quantifies split-allocation trade-offs, but it still does not include shrink, retailer-level demand curves, or route-level service costs.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1F2621"/>
                </a:solidFill>
                <a:latin typeface="Aptos"/>
              </a:rPr>
              <a:t>- That means the deck can defend city selection and portfolio logic now, but not exact retailer-by-retailer allocation yet.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440680"/>
            <a:ext cx="10012680" cy="6583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650992"/>
            <a:ext cx="2011680" cy="1463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5F6B63"/>
                </a:solidFill>
                <a:latin typeface="Aptos"/>
              </a:rPr>
              <a:t>NEXT DATA TO 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596128"/>
            <a:ext cx="7726679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0">
                <a:solidFill>
                  <a:srgbClr val="1F2621"/>
                </a:solidFill>
                <a:latin typeface="Aptos"/>
              </a:rPr>
              <a:t>Pilot reorder behavior, lane-level spoilage, and retailer response would move West Valley from screen-level economics to exact allocation and account-level planning.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55C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2542032" cy="73152"/>
          </a:xfrm>
          <a:prstGeom prst="rect">
            <a:avLst/>
          </a:prstGeom>
          <a:solidFill>
            <a:srgbClr val="C58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"/>
            <a:ext cx="1554480" cy="256032"/>
          </a:xfrm>
          <a:prstGeom prst="roundRect">
            <a:avLst/>
          </a:prstGeom>
          <a:solidFill>
            <a:srgbClr val="FCFAF5"/>
          </a:solidFill>
          <a:ln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24028"/>
            <a:ext cx="1517904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355C47"/>
                </a:solidFill>
                <a:latin typeface="Aptos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310896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900" b="0">
                <a:solidFill>
                  <a:srgbClr val="5F6B63"/>
                </a:solidFill>
                <a:latin typeface="Aptos"/>
              </a:rPr>
              <a:t>SOURCES AND BACKUP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31168" y="6519672"/>
            <a:ext cx="2743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/>
            <a:r>
              <a:rPr sz="900" b="0">
                <a:solidFill>
                  <a:srgbClr val="5F6B63"/>
                </a:solidFill>
                <a:latin typeface="Aptos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8368"/>
            <a:ext cx="1033272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700" b="1">
                <a:solidFill>
                  <a:srgbClr val="355C47"/>
                </a:solidFill>
                <a:latin typeface="Aptos Display"/>
              </a:rPr>
              <a:t>Appendix: sources, assumptions, and backup exhibits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664208"/>
            <a:ext cx="3090672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90688" y="1664208"/>
            <a:ext cx="3657600" cy="420624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8D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01952"/>
            <a:ext cx="23774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Primary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40280"/>
            <a:ext cx="3200400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case_full.md and case_context.md (IMA 2026 case materials)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case_comp_data.csv (HAB weekly sales data, Jan 2019 - Jun 2025)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outputs/question_1.md through outputs/question_9.md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Profitability scenario CSVs (base, +50%, -50% freight)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CSVs and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1901952"/>
            <a:ext cx="21945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Core assumptions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2240280"/>
            <a:ext cx="2670048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- 20,000-unit comparable city scorecards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June 2025 retail price used as June 2026 proxy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Wholesale price modeled at 40% of retail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$0.20 acquisition cost per avocado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Shipping = $1,500 fixed + $50 per 100 miles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901952"/>
            <a:ext cx="25603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500" b="1">
                <a:solidFill>
                  <a:srgbClr val="355C47"/>
                </a:solidFill>
                <a:latin typeface="Aptos Display"/>
              </a:rPr>
              <a:t>Backup exhibits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240280"/>
            <a:ext cx="3154680" cy="31546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Winner matrix and city trend lines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Growth/share bridge and elasticity visuals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Selection matrix, frontier zoom, and freight sensitivity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Seasonality price and volume charts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1F2621"/>
                </a:solidFill>
                <a:latin typeface="Aptos"/>
              </a:rPr>
              <a:t>- Model caveats and implementation stage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6071616"/>
            <a:ext cx="10058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200" b="0">
                <a:solidFill>
                  <a:srgbClr val="5F6B63"/>
                </a:solidFill>
                <a:latin typeface="Aptos"/>
              </a:rPr>
              <a:t>Use this appendix to answer questions on data scope, scenario assumptions, seasonality, or why the five-city recommendation stays stable under freight stress.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