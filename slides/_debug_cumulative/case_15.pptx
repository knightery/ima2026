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6766560" cy="2011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100" b="1">
                <a:solidFill>
                  <a:srgbClr val="355C47"/>
                </a:solidFill>
                <a:latin typeface="Aptos Display"/>
              </a:rPr>
              <a:t>Entering the Organic Hass
Avocado Market With Disciplined
Pilot Economics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56432"/>
            <a:ext cx="530352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1F2621"/>
                </a:solidFill>
                <a:latin typeface="Aptos"/>
              </a:rPr>
              <a:t>West Valley Fresh Distribution Company
2026 IMA Student Case Competition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15968"/>
            <a:ext cx="178308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4325112"/>
            <a:ext cx="170992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20,000 ORGANIC UNITS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59735" y="4315968"/>
            <a:ext cx="283464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96311" y="4325112"/>
            <a:ext cx="276148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40 CITY MARKETS IN SUPPLIED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22391" y="4315968"/>
            <a:ext cx="242316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58967" y="4325112"/>
            <a:ext cx="23500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2019 TO JUNE 2025 HAB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92040"/>
            <a:ext cx="53035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5F6B63"/>
                </a:solidFill>
                <a:latin typeface="Aptos"/>
              </a:rPr>
              <a:t>Prepared as an anonymized submission. The deck is designed to stand alone without speaker notes and focuses on profitability, volatility, and disciplined market entry.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selective 5-city pilot is the strongest entry path for the 20,000-unit organic order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5-city launch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Seattle, Boise, Portland, Spokane, and San Diego maximize expected profit under the June 2026 pricing assumption.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23943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BASE-CASE ECONOMICS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23943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F2621"/>
                </a:solidFill>
                <a:latin typeface="Aptos Display"/>
              </a:rPr>
              <a:t>$13.7k avg profit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23943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cities pair premium June pricing with manageable miles, producing a top-five average margin of 69.7%.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52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WHY IT IS RESILIENT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2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Same 5 cities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2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recommendation does not change when shipping costs move up 50% or down 50%.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24528"/>
            <a:ext cx="108813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Model note: each city is scored as a comparable 20,000-unit scenario using June 2025 retail price as the June 2026 proxy.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Seasonality creates a timing gap between volume and price</a:t>
            </a:r>
          </a:p>
        </p:txBody>
      </p:sp>
      <p:pic>
        <p:nvPicPr>
          <p:cNvPr id="12" name="Picture 11" descr="q8_seasonality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706" y="1417320"/>
            <a:ext cx="4845403" cy="2834640"/>
          </a:xfrm>
          <a:prstGeom prst="rect">
            <a:avLst/>
          </a:prstGeom>
        </p:spPr>
      </p:pic>
      <p:pic>
        <p:nvPicPr>
          <p:cNvPr id="13" name="Picture 12" descr="q8_seasonality_pr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299" y="1417320"/>
            <a:ext cx="4832777" cy="2834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Volume arrives early. Organic volume peaks in January, conventional peaks in May, and both soften into November.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Price crests later. Both organic and conventional prices peak in July and bottom in February.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919472"/>
            <a:ext cx="1083564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5F6B63"/>
                </a:solidFill>
                <a:latin typeface="Aptos"/>
              </a:rPr>
              <a:t>The market absorbs more units before it offers peak pricing, so timing affects margin capture, promotions, and inventory allocation.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4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The pilot screen should be price support, organic readiness, and route efficiency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PRICE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$2.09 to $2.66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five cities are also the five highest-price June 2025 organic markets in the model.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33087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9391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ORGANIC READINESS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1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Seattle leads 5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9391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Organic adoption is uneven by city, so total sales scale alone is not enough to pick the best launch markets.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52944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99248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ROUTE EFFICIENCY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$813 to $1.0k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Even after a 50% freight increase, the recommended cities lose only about $0.8k to $1.0k each and keep the same ranking.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69663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This deck tests those three filters against sales leadership, organic mix, profitability, freight sensitivity, and seasonality.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6</a:t>
            </a:r>
          </a:p>
        </p:txBody>
      </p:sp>
      <p:pic>
        <p:nvPicPr>
          <p:cNvPr id="11" name="Picture 10" descr="deck_q1_winner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69707"/>
            <a:ext cx="11384280" cy="38637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7</a:t>
            </a:r>
          </a:p>
        </p:txBody>
      </p:sp>
      <p:pic>
        <p:nvPicPr>
          <p:cNvPr id="11" name="Picture 10" descr="deck_q1_conventional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8</a:t>
            </a:r>
          </a:p>
        </p:txBody>
      </p:sp>
      <p:pic>
        <p:nvPicPr>
          <p:cNvPr id="11" name="Picture 10" descr="deck_q1_organic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9</a:t>
            </a:r>
          </a:p>
        </p:txBody>
      </p:sp>
      <p:pic>
        <p:nvPicPr>
          <p:cNvPr id="11" name="Picture 10" descr="deck_q2_winner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22" y="658368"/>
            <a:ext cx="11336395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10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11</a:t>
            </a:r>
          </a:p>
        </p:txBody>
      </p:sp>
      <p:pic>
        <p:nvPicPr>
          <p:cNvPr id="11" name="Picture 10" descr="q3_price_volum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813" y="658368"/>
            <a:ext cx="89836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12</a:t>
            </a:r>
          </a:p>
        </p:txBody>
      </p:sp>
      <p:pic>
        <p:nvPicPr>
          <p:cNvPr id="11" name="Picture 10" descr="deck_q3_within_type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00523"/>
            <a:ext cx="11384280" cy="52020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256032"/>
            <a:ext cx="1234440" cy="274320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05288" y="260604"/>
            <a:ext cx="119786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CONTEXT</a:t>
            </a:r>
          </a:p>
        </p:txBody>
      </p:sp>
      <p:pic>
        <p:nvPicPr>
          <p:cNvPr id="13" name="Picture 12" descr="deck_q4_macro_drive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87242"/>
            <a:ext cx="11384280" cy="40286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256032"/>
            <a:ext cx="1234440" cy="274320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05288" y="260604"/>
            <a:ext cx="119786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CONTEXT</a:t>
            </a:r>
          </a:p>
        </p:txBody>
      </p:sp>
      <p:pic>
        <p:nvPicPr>
          <p:cNvPr id="13" name="Picture 12" descr="deck_q4_city_micro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64991"/>
            <a:ext cx="11384280" cy="447315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15</a:t>
            </a:r>
          </a:p>
        </p:txBody>
      </p:sp>
      <p:pic>
        <p:nvPicPr>
          <p:cNvPr id="11" name="Picture 10" descr="deck_q5_price_vs_m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10822"/>
            <a:ext cx="11384280" cy="51814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