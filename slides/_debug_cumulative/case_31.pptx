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6766560" cy="2011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>
                <a:solidFill>
                  <a:srgbClr val="355C47"/>
                </a:solidFill>
                <a:latin typeface="Aptos Display"/>
              </a:rPr>
              <a:t>Entering the Organic Hass
Avocado Market With Disciplined
Pilot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56432"/>
            <a:ext cx="53035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1F2621"/>
                </a:solidFill>
                <a:latin typeface="Aptos"/>
              </a:rPr>
              <a:t>West Valley Fresh Distribution Company
2026 IMA Student Case Competition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15968"/>
            <a:ext cx="178308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325112"/>
            <a:ext cx="17099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20,000 ORGANIC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9735" y="4315968"/>
            <a:ext cx="283464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6311" y="4325112"/>
            <a:ext cx="2761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40 CITY MARKETS IN SUPPLIED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22391" y="4315968"/>
            <a:ext cx="242316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8967" y="4325112"/>
            <a:ext cx="23500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2019 TO JUNE 2025 HAB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5303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F6B63"/>
                </a:solidFill>
                <a:latin typeface="Aptos"/>
              </a:rPr>
              <a:t>Prepared as an anonymized submission. The deck is designed to stand alone without speaker notes and focuses on profitability, volatility, and disciplined market entry.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selective 5-city pilot is the strongest entry path for the 20,000-unit organic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5-city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Seattle, Boise, Portland, Spokane, and San Diego maximize expected profit under the June 2026 pricing assumption.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23943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BASE-CASE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3943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F2621"/>
                </a:solidFill>
                <a:latin typeface="Aptos Display"/>
              </a:rPr>
              <a:t>$13.7k avg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3943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cities pair premium June pricing with manageable miles, producing a top-five average margin of 69.7%.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WHY IT IS RESILIENT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Same 5 cities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recommendation does not change when shipping costs move up 50% or down 50%.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2452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Model note: each city is scored as a comparable 20,000-unit scenario using June 2025 retail price as the June 2026 proxy.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creates a timing gap between volume and price</a:t>
            </a:r>
          </a:p>
        </p:txBody>
      </p:sp>
      <p:pic>
        <p:nvPicPr>
          <p:cNvPr id="12" name="Picture 11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06" y="1417320"/>
            <a:ext cx="4845403" cy="2834640"/>
          </a:xfrm>
          <a:prstGeom prst="rect">
            <a:avLst/>
          </a:prstGeom>
        </p:spPr>
      </p:pic>
      <p:pic>
        <p:nvPicPr>
          <p:cNvPr id="13" name="Picture 12" descr="q8_seasonality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299" y="1417320"/>
            <a:ext cx="4832777" cy="2834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Volume arrives early. Organic volume peaks in January, conventional peaks in May, and both soften into November.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Price crests later. Both organic and conventional prices peak in July and bottom in February.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919472"/>
            <a:ext cx="108356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5F6B63"/>
                </a:solidFill>
                <a:latin typeface="Aptos"/>
              </a:rPr>
              <a:t>The market absorbs more units before it offers peak pricing, so timing affects margin capture, promotions, and inventory allocation.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4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pilot screen should be price support, organic readiness, and route efficiency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PRICE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$2.09 to $2.66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five cities are also the five highest-price June 2025 organic markets in the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7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1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ORGANIC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1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Seattle leads 5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1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Organic adoption is uneven by city, so total sales scale alone is not enough to pick the best launch markets.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ROUTE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$813 to $1.0k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Even after a 50% freight increase, the recommended cities lose only about $0.8k to $1.0k each and keep the same ranking.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69663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deck tests those three filters against sales leadership, organic mix, profitability, freight sensitivity, and seasonality.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6</a:t>
            </a:r>
          </a:p>
        </p:txBody>
      </p:sp>
      <p:pic>
        <p:nvPicPr>
          <p:cNvPr id="11" name="Picture 10" descr="deck_q1_winne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9707"/>
            <a:ext cx="11384280" cy="38637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7</a:t>
            </a:r>
          </a:p>
        </p:txBody>
      </p:sp>
      <p:pic>
        <p:nvPicPr>
          <p:cNvPr id="11" name="Picture 10" descr="deck_q1_conventional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8</a:t>
            </a:r>
          </a:p>
        </p:txBody>
      </p:sp>
      <p:pic>
        <p:nvPicPr>
          <p:cNvPr id="11" name="Picture 10" descr="deck_q1_organic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9</a:t>
            </a:r>
          </a:p>
        </p:txBody>
      </p:sp>
      <p:pic>
        <p:nvPicPr>
          <p:cNvPr id="11" name="Picture 10" descr="deck_q2_winner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2" y="658368"/>
            <a:ext cx="1133639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10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11</a:t>
            </a:r>
          </a:p>
        </p:txBody>
      </p:sp>
      <p:pic>
        <p:nvPicPr>
          <p:cNvPr id="11" name="Picture 10" descr="q3_price_volum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813" y="658368"/>
            <a:ext cx="89836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12</a:t>
            </a:r>
          </a:p>
        </p:txBody>
      </p:sp>
      <p:pic>
        <p:nvPicPr>
          <p:cNvPr id="11" name="Picture 10" descr="deck_q3_within_typ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0523"/>
            <a:ext cx="11384280" cy="52020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macro_drive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87242"/>
            <a:ext cx="11384280" cy="40286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city_micro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64991"/>
            <a:ext cx="11384280" cy="44731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15</a:t>
            </a:r>
          </a:p>
        </p:txBody>
      </p:sp>
      <p:pic>
        <p:nvPicPr>
          <p:cNvPr id="11" name="Picture 10" descr="deck_q5_price_vs_m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10822"/>
            <a:ext cx="11384280" cy="51814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16</a:t>
            </a:r>
          </a:p>
        </p:txBody>
      </p:sp>
      <p:pic>
        <p:nvPicPr>
          <p:cNvPr id="11" name="Picture 10" descr="deck_q5_unit_economics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0746"/>
            <a:ext cx="11384280" cy="526164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17</a:t>
            </a:r>
          </a:p>
        </p:txBody>
      </p:sp>
      <p:pic>
        <p:nvPicPr>
          <p:cNvPr id="11" name="Picture 10" descr="deck_q5_price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3112"/>
            <a:ext cx="11384280" cy="50369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18</a:t>
            </a:r>
          </a:p>
        </p:txBody>
      </p:sp>
      <p:pic>
        <p:nvPicPr>
          <p:cNvPr id="11" name="Picture 10" descr="deck_q5_profit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31" y="658368"/>
            <a:ext cx="1016597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19</a:t>
            </a:r>
          </a:p>
        </p:txBody>
      </p:sp>
      <p:pic>
        <p:nvPicPr>
          <p:cNvPr id="11" name="Picture 10" descr="deck_q5_selec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98584"/>
            <a:ext cx="11384280" cy="520596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20</a:t>
            </a:r>
          </a:p>
        </p:txBody>
      </p:sp>
      <p:pic>
        <p:nvPicPr>
          <p:cNvPr id="11" name="Picture 10" descr="deck_q5_frontier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78" y="658368"/>
            <a:ext cx="1064288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21</a:t>
            </a:r>
          </a:p>
        </p:txBody>
      </p:sp>
      <p:pic>
        <p:nvPicPr>
          <p:cNvPr id="11" name="Picture 10" descr="deck_q6_up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37677"/>
            <a:ext cx="11384280" cy="47277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22</a:t>
            </a:r>
          </a:p>
        </p:txBody>
      </p:sp>
      <p:pic>
        <p:nvPicPr>
          <p:cNvPr id="11" name="Picture 10" descr="deck_q6_down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61" y="658368"/>
            <a:ext cx="1088551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23</a:t>
            </a:r>
          </a:p>
        </p:txBody>
      </p:sp>
      <p:pic>
        <p:nvPicPr>
          <p:cNvPr id="11" name="Picture 10" descr="deck_q7_rank_stabilit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8263"/>
            <a:ext cx="11384280" cy="518660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24</a:t>
            </a:r>
          </a:p>
        </p:txBody>
      </p:sp>
      <p:pic>
        <p:nvPicPr>
          <p:cNvPr id="11" name="Picture 10" descr="deck_q7_shipping_torn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2308"/>
            <a:ext cx="11384280" cy="469851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25</a:t>
            </a:r>
          </a:p>
        </p:txBody>
      </p:sp>
      <p:pic>
        <p:nvPicPr>
          <p:cNvPr id="11" name="Picture 10" descr="deck_q7_price_vs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42913"/>
            <a:ext cx="11384280" cy="491730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26</a:t>
            </a:r>
          </a:p>
        </p:txBody>
      </p:sp>
      <p:pic>
        <p:nvPicPr>
          <p:cNvPr id="11" name="Picture 10" descr="q8_seasonality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738" y="658368"/>
            <a:ext cx="935376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27</a:t>
            </a:r>
          </a:p>
        </p:txBody>
      </p:sp>
      <p:pic>
        <p:nvPicPr>
          <p:cNvPr id="11" name="Picture 10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519" y="658368"/>
            <a:ext cx="9378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should change when West Valley pushes volume and when it protects margin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Jan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17904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1790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Feb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50008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50008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Mar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82112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82112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Apr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14216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14216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May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0" y="1993392"/>
            <a:ext cx="713232" cy="438912"/>
          </a:xfrm>
          <a:prstGeom prst="roundRect">
            <a:avLst/>
          </a:prstGeom>
          <a:solidFill>
            <a:srgbClr val="FCFAF5"/>
          </a:solidFill>
          <a:ln>
            <a:solidFill>
              <a:srgbClr val="FCF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1F2621"/>
                </a:solidFill>
                <a:latin typeface="Aptos"/>
              </a:rPr>
              <a:t>Jun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78424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7842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Jul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10528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Aug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42632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42632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Sep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74736" y="1993392"/>
            <a:ext cx="713232" cy="438912"/>
          </a:xfrm>
          <a:prstGeom prst="roundRect">
            <a:avLst/>
          </a:prstGeom>
          <a:solidFill>
            <a:srgbClr val="D8D1C6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74736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1F2621"/>
                </a:solidFill>
                <a:latin typeface="Aptos"/>
              </a:rPr>
              <a:t>Oct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06840" y="1993392"/>
            <a:ext cx="713232" cy="438912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684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Nov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38944" y="1993392"/>
            <a:ext cx="713232" cy="438912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3894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Dec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PUSH VOLUME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Jan to May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Prioritize service, retailer availability, and flow discipline while market volume is naturally strongest.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25696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PROTECT MARGIN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Jul to Sep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Hold pricing discipline and allocate the strongest fruit to the best-paying markets while price support is highest.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38160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84464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STIMULATE DEMAND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4464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Nov to Feb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84464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promotions, alternate channels, and tighter inventory planning when both types face softer volume months.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5074920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Organic volume peaks in Jan while price peaks in Jul; that gap is the operating lever.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monthly operating calendar can convert seasonality from risk into advantage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0080" y="1554480"/>
          <a:ext cx="10506456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</a:tblGrid>
              <a:tr h="795528"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Jan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Feb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Mar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Apr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May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Jun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Jul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Aug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Sep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Oct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Nov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Dec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Commercial posture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Support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Support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Service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Balance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Rebalance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Supply posture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Peak flow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Normalize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Reset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down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down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Operating focus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Forecast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Promote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Allocate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Allocate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Service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Audit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Plan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Clear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Review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640" y="5047488"/>
            <a:ext cx="10698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Suggested cadence: Jan-May prioritize service and flow, Jul-Sep protect margin, and Nov-Feb stimulate demand while tightening inventory.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Growers need flexible contracts, better cold-chain readiness, and alternate lanes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CONTRACT TIERS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Base + flex volume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Lock a stable base volume, then add seasonal flex tiers so supply expands without overcommitting year-round.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COLD-CHAIN READINESS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Protect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144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better storage, transit monitoring, and receiving discipline during peak months to cut spoilage and stockouts.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6176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ALTERNATE LANES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6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Reduce disruption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6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Build backup carriers and routes so freight volatility or lane disruption does not force reactive city choices.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498848"/>
            <a:ext cx="105156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These actions translate Q9 into supply-side discipline rather than generic risk language.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Trade associations should smooth demand in off-peak months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78308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192024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CONSUMER MESSAGING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216712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Recipes + health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266090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recipe content and health messaging in softer months to keep avocados visible in weekly shopping decisions.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178308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92024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CHANNEL MIX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16712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Food-service + institutional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66090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Shift more volume through restaurants, prepared foods, and institutional buyers when retail pull weakens.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70332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84048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PROMO TIMING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408736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Promote when the market is soft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458114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Reserve the strongest promotional calendar for low-volume months instead of discounting away naturally strong demand.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1344" y="370332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384048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TRADE 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408736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Joint campaigns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458114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Coordinate with trade associations on seasonal education campaigns so promotions align with the month-by-month operating calendar.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