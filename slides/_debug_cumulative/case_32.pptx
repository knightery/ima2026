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6766560" cy="2011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3100" b="1">
                <a:solidFill>
                  <a:srgbClr val="355C47"/>
                </a:solidFill>
                <a:latin typeface="Aptos Display"/>
              </a:rPr>
              <a:t>Entering the Organic Hass
Avocado Market With Disciplined
Pilot Economics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56432"/>
            <a:ext cx="5303520" cy="7132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0">
                <a:solidFill>
                  <a:srgbClr val="1F2621"/>
                </a:solidFill>
                <a:latin typeface="Aptos"/>
              </a:rPr>
              <a:t>West Valley Fresh Distribution Company
2026 IMA Student Case Competition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315968"/>
            <a:ext cx="178308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4325112"/>
            <a:ext cx="170992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20,000 ORGANIC UNITS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59735" y="4315968"/>
            <a:ext cx="283464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96311" y="4325112"/>
            <a:ext cx="276148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40 CITY MARKETS IN SUPPLIED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22391" y="4315968"/>
            <a:ext cx="242316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58967" y="4325112"/>
            <a:ext cx="235000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2019 TO JUNE 2025 HAB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892040"/>
            <a:ext cx="530352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0">
                <a:solidFill>
                  <a:srgbClr val="5F6B63"/>
                </a:solidFill>
                <a:latin typeface="Aptos"/>
              </a:rPr>
              <a:t>Prepared as an anonymized submission. The deck is designed to stand alone without speaker notes and focuses on profitability, volatility, and disciplined market entry.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EXECUTIVE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A selective 5-city pilot is the strongest entry path for the 20,000-unit organic order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5-city launch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Seattle, Boise, Portland, Spokane, and San Diego maximize expected profit under the June 2026 pricing assumption.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77639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23943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BASE-CASE ECONOMICS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23943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1F2621"/>
                </a:solidFill>
                <a:latin typeface="Aptos Display"/>
              </a:rPr>
              <a:t>$13.7k avg profit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23943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selected cities pair premium June pricing with manageable miles, producing a top-five average margin of 69.7%.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52944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WHY IT IS RESILIENT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52944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Same 5 cities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52944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recommendation does not change when shipping costs move up 50% or down 50%.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224528"/>
            <a:ext cx="108813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Model note: each city is scored as a comparable 20,000-unit scenario using June 2025 retail price as the June 2026 proxy.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Seasonality creates a timing gap between volume and price</a:t>
            </a:r>
          </a:p>
        </p:txBody>
      </p:sp>
      <p:pic>
        <p:nvPicPr>
          <p:cNvPr id="12" name="Picture 11" descr="q8_seasonality_volu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706" y="1417320"/>
            <a:ext cx="4845403" cy="2834640"/>
          </a:xfrm>
          <a:prstGeom prst="rect">
            <a:avLst/>
          </a:prstGeom>
        </p:spPr>
      </p:pic>
      <p:pic>
        <p:nvPicPr>
          <p:cNvPr id="13" name="Picture 12" descr="q8_seasonality_pr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7299" y="1417320"/>
            <a:ext cx="4832777" cy="28346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6928" y="4407408"/>
            <a:ext cx="534924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F2621"/>
                </a:solidFill>
                <a:latin typeface="Aptos"/>
              </a:rPr>
              <a:t>Volume arrives early. Organic volume peaks in January, conventional peaks in May, and both soften into November.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4407408"/>
            <a:ext cx="534924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F2621"/>
                </a:solidFill>
                <a:latin typeface="Aptos"/>
              </a:rPr>
              <a:t>Price crests later. Both organic and conventional prices peak in July and bottom in February.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919472"/>
            <a:ext cx="1083564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0">
                <a:solidFill>
                  <a:srgbClr val="5F6B63"/>
                </a:solidFill>
                <a:latin typeface="Aptos"/>
              </a:rPr>
              <a:t>The market absorbs more units before it offers peak pricing, so timing affects margin capture, promotions, and inventory allocation.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4</a:t>
            </a:r>
          </a:p>
        </p:txBody>
      </p:sp>
      <p:pic>
        <p:nvPicPr>
          <p:cNvPr id="11" name="Picture 10" descr="deck_q2_growth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8580"/>
            <a:ext cx="11384280" cy="50259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The pilot screen should be price support, organic readiness, and route efficiency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PRICE 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$2.09 to $2.66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selected five cities are also the five highest-price June 2025 organic markets in the model.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33087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79391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ORGANIC READINESS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9391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Seattle leads 5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9391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Organic adoption is uneven by city, so total sales scale alone is not enough to pick the best launch markets.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52944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99248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ROUTE EFFICIENCY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99248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B5533A"/>
                </a:solidFill>
                <a:latin typeface="Aptos Display"/>
              </a:rPr>
              <a:t>$813 to $1.0k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99248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Even after a 50% freight increase, the recommended cities lose only about $0.8k to $1.0k each and keep the same ranking.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169663"/>
            <a:ext cx="10789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This deck tests those three filters against sales leadership, organic mix, profitability, freight sensitivity, and seasonality.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6</a:t>
            </a:r>
          </a:p>
        </p:txBody>
      </p:sp>
      <p:pic>
        <p:nvPicPr>
          <p:cNvPr id="11" name="Picture 10" descr="deck_q1_winner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69707"/>
            <a:ext cx="11384280" cy="386372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7</a:t>
            </a:r>
          </a:p>
        </p:txBody>
      </p:sp>
      <p:pic>
        <p:nvPicPr>
          <p:cNvPr id="11" name="Picture 10" descr="deck_q1_conventional_top5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63" y="658368"/>
            <a:ext cx="106793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8</a:t>
            </a:r>
          </a:p>
        </p:txBody>
      </p:sp>
      <p:pic>
        <p:nvPicPr>
          <p:cNvPr id="11" name="Picture 10" descr="deck_q1_organic_top5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63" y="658368"/>
            <a:ext cx="106793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9</a:t>
            </a:r>
          </a:p>
        </p:txBody>
      </p:sp>
      <p:pic>
        <p:nvPicPr>
          <p:cNvPr id="11" name="Picture 10" descr="deck_q2_winner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422" y="658368"/>
            <a:ext cx="11336395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10</a:t>
            </a:r>
          </a:p>
        </p:txBody>
      </p:sp>
      <p:pic>
        <p:nvPicPr>
          <p:cNvPr id="11" name="Picture 10" descr="deck_q2_growth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8580"/>
            <a:ext cx="11384280" cy="50259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11</a:t>
            </a:r>
          </a:p>
        </p:txBody>
      </p:sp>
      <p:pic>
        <p:nvPicPr>
          <p:cNvPr id="11" name="Picture 10" descr="q3_price_volume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813" y="658368"/>
            <a:ext cx="89836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12</a:t>
            </a:r>
          </a:p>
        </p:txBody>
      </p:sp>
      <p:pic>
        <p:nvPicPr>
          <p:cNvPr id="11" name="Picture 10" descr="deck_q3_within_type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00523"/>
            <a:ext cx="11384280" cy="520208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0" y="256032"/>
            <a:ext cx="1234440" cy="274320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05288" y="260604"/>
            <a:ext cx="119786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CONTEXT</a:t>
            </a:r>
          </a:p>
        </p:txBody>
      </p:sp>
      <p:pic>
        <p:nvPicPr>
          <p:cNvPr id="13" name="Picture 12" descr="deck_q4_macro_driver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87242"/>
            <a:ext cx="11384280" cy="40286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0" y="256032"/>
            <a:ext cx="1234440" cy="274320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05288" y="260604"/>
            <a:ext cx="119786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CONTEXT</a:t>
            </a:r>
          </a:p>
        </p:txBody>
      </p:sp>
      <p:pic>
        <p:nvPicPr>
          <p:cNvPr id="13" name="Picture 12" descr="deck_q4_city_micro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64991"/>
            <a:ext cx="11384280" cy="447315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15</a:t>
            </a:r>
          </a:p>
        </p:txBody>
      </p:sp>
      <p:pic>
        <p:nvPicPr>
          <p:cNvPr id="11" name="Picture 10" descr="deck_q5_price_vs_m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10822"/>
            <a:ext cx="11384280" cy="518149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16</a:t>
            </a:r>
          </a:p>
        </p:txBody>
      </p:sp>
      <p:pic>
        <p:nvPicPr>
          <p:cNvPr id="11" name="Picture 10" descr="deck_q5_unit_economics_waterf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70746"/>
            <a:ext cx="11384280" cy="526164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17</a:t>
            </a:r>
          </a:p>
        </p:txBody>
      </p:sp>
      <p:pic>
        <p:nvPicPr>
          <p:cNvPr id="11" name="Picture 10" descr="deck_q5_price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3112"/>
            <a:ext cx="11384280" cy="503691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18</a:t>
            </a:r>
          </a:p>
        </p:txBody>
      </p:sp>
      <p:pic>
        <p:nvPicPr>
          <p:cNvPr id="11" name="Picture 10" descr="deck_q5_profit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631" y="658368"/>
            <a:ext cx="10165976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19</a:t>
            </a:r>
          </a:p>
        </p:txBody>
      </p:sp>
      <p:pic>
        <p:nvPicPr>
          <p:cNvPr id="11" name="Picture 10" descr="deck_q5_select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98584"/>
            <a:ext cx="11384280" cy="520596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20</a:t>
            </a:r>
          </a:p>
        </p:txBody>
      </p:sp>
      <p:pic>
        <p:nvPicPr>
          <p:cNvPr id="11" name="Picture 10" descr="deck_q5_frontier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178" y="658368"/>
            <a:ext cx="10642882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21</a:t>
            </a:r>
          </a:p>
        </p:txBody>
      </p:sp>
      <p:pic>
        <p:nvPicPr>
          <p:cNvPr id="11" name="Picture 10" descr="deck_q6_up50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37677"/>
            <a:ext cx="11384280" cy="47277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22</a:t>
            </a:r>
          </a:p>
        </p:txBody>
      </p:sp>
      <p:pic>
        <p:nvPicPr>
          <p:cNvPr id="11" name="Picture 10" descr="deck_q6_down50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861" y="658368"/>
            <a:ext cx="10885516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23</a:t>
            </a:r>
          </a:p>
        </p:txBody>
      </p:sp>
      <p:pic>
        <p:nvPicPr>
          <p:cNvPr id="11" name="Picture 10" descr="deck_q7_rank_stability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08263"/>
            <a:ext cx="11384280" cy="518660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24</a:t>
            </a:r>
          </a:p>
        </p:txBody>
      </p:sp>
      <p:pic>
        <p:nvPicPr>
          <p:cNvPr id="11" name="Picture 10" descr="deck_q7_shipping_torn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2308"/>
            <a:ext cx="11384280" cy="469851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25</a:t>
            </a:r>
          </a:p>
        </p:txBody>
      </p:sp>
      <p:pic>
        <p:nvPicPr>
          <p:cNvPr id="11" name="Picture 10" descr="deck_q7_price_vs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42913"/>
            <a:ext cx="11384280" cy="491730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26</a:t>
            </a:r>
          </a:p>
        </p:txBody>
      </p:sp>
      <p:pic>
        <p:nvPicPr>
          <p:cNvPr id="11" name="Picture 10" descr="q8_seasonality_pr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738" y="658368"/>
            <a:ext cx="9353762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27</a:t>
            </a:r>
          </a:p>
        </p:txBody>
      </p:sp>
      <p:pic>
        <p:nvPicPr>
          <p:cNvPr id="11" name="Picture 10" descr="q8_seasonality_volu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519" y="658368"/>
            <a:ext cx="9378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6032"/>
            <a:ext cx="1280160" cy="274320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60604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Seasonality should change when West Valley pushes volume and when it protects margin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1993392"/>
            <a:ext cx="713232" cy="438912"/>
          </a:xfrm>
          <a:prstGeom prst="roundRect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Jan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17904" y="1993392"/>
            <a:ext cx="713232" cy="438912"/>
          </a:xfrm>
          <a:prstGeom prst="roundRect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17904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Feb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50008" y="1993392"/>
            <a:ext cx="713232" cy="438912"/>
          </a:xfrm>
          <a:prstGeom prst="roundRect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50008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Mar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82112" y="1993392"/>
            <a:ext cx="713232" cy="438912"/>
          </a:xfrm>
          <a:prstGeom prst="roundRect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82112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Apr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14216" y="1993392"/>
            <a:ext cx="713232" cy="438912"/>
          </a:xfrm>
          <a:prstGeom prst="roundRect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14216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May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46320" y="1993392"/>
            <a:ext cx="713232" cy="438912"/>
          </a:xfrm>
          <a:prstGeom prst="roundRect">
            <a:avLst/>
          </a:prstGeom>
          <a:solidFill>
            <a:srgbClr val="FCFAF5"/>
          </a:solidFill>
          <a:ln>
            <a:solidFill>
              <a:srgbClr val="FCF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6320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1F2621"/>
                </a:solidFill>
                <a:latin typeface="Aptos"/>
              </a:rPr>
              <a:t>Jun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78424" y="1993392"/>
            <a:ext cx="713232" cy="438912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78424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Jul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10528" y="1993392"/>
            <a:ext cx="713232" cy="438912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10528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Aug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42632" y="1993392"/>
            <a:ext cx="713232" cy="438912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42632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Sep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74736" y="1993392"/>
            <a:ext cx="713232" cy="438912"/>
          </a:xfrm>
          <a:prstGeom prst="roundRect">
            <a:avLst/>
          </a:prstGeom>
          <a:solidFill>
            <a:srgbClr val="D8D1C6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74736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1F2621"/>
                </a:solidFill>
                <a:latin typeface="Aptos"/>
              </a:rPr>
              <a:t>Oct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06840" y="1993392"/>
            <a:ext cx="713232" cy="438912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06840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Nov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838944" y="1993392"/>
            <a:ext cx="713232" cy="438912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38944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Dec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3232" y="2880360"/>
            <a:ext cx="3337560" cy="18288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9536" y="3017520"/>
            <a:ext cx="30449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PUSH VOLUME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" y="3264408"/>
            <a:ext cx="30449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Jan to May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" y="3758184"/>
            <a:ext cx="3044952" cy="8046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Prioritize service, retailer availability, and flow discipline while market volume is naturally strongest.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425696" y="2880360"/>
            <a:ext cx="3337560" cy="18288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017520"/>
            <a:ext cx="30449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PROTECT MARGIN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3264408"/>
            <a:ext cx="30449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C58A2A"/>
                </a:solidFill>
                <a:latin typeface="Aptos Display"/>
              </a:rPr>
              <a:t>Jul to Sep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3758184"/>
            <a:ext cx="3044952" cy="8046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Hold pricing discipline and allocate the strongest fruit to the best-paying markets while price support is highest.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38160" y="2880360"/>
            <a:ext cx="3337560" cy="18288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84464" y="3017520"/>
            <a:ext cx="30449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STIMULATE DEMAND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84464" y="3264408"/>
            <a:ext cx="30449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Nov to Feb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84464" y="3758184"/>
            <a:ext cx="3044952" cy="8046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Use promotions, alternate channels, and tighter inventory planning when both types face softer volume months.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5074920"/>
            <a:ext cx="10789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Organic volume peaks in Jan while price peaks in Jul; that gap is the operating lever.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6032"/>
            <a:ext cx="1280160" cy="274320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60604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A monthly operating calendar can convert seasonality from risk into advantage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40080" y="1554480"/>
          <a:ext cx="10506456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</a:tblGrid>
              <a:tr h="795528">
                <a:tc>
                  <a:txBody>
                    <a:bodyPr/>
                    <a:lstStyle/>
                    <a:p>
                      <a:pPr algn="c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Jan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Feb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Mar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Apr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May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Jun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Jul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Aug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Sep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Oct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Nov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Dec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Commercial posture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Stimulate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Stimulate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Support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Support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Service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Balance</a:t>
                      </a:r>
                    </a:p>
                  </a:txBody>
                  <a:tcPr>
                    <a:solidFill>
                      <a:srgbClr val="D8D1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Protect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Protect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Protect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Rebalance</a:t>
                      </a:r>
                    </a:p>
                  </a:txBody>
                  <a:tcPr>
                    <a:solidFill>
                      <a:srgbClr val="B553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Stimulate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Stimulate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Supply posture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up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up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up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up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Peak flow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Normalize</a:t>
                      </a:r>
                    </a:p>
                  </a:txBody>
                  <a:tcPr>
                    <a:solidFill>
                      <a:srgbClr val="D8D1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Tighten mix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Tighten mix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Tighten mix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Reset</a:t>
                      </a:r>
                    </a:p>
                  </a:txBody>
                  <a:tcPr>
                    <a:solidFill>
                      <a:srgbClr val="B553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down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down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Operating focus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Forecast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Promote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Allocate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Allocate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Service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Audit</a:t>
                      </a:r>
                    </a:p>
                  </a:txBody>
                  <a:tcPr>
                    <a:solidFill>
                      <a:srgbClr val="D8D1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Margin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Margin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Margin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Plan</a:t>
                      </a:r>
                    </a:p>
                  </a:txBody>
                  <a:tcPr>
                    <a:solidFill>
                      <a:srgbClr val="B553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Clear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Review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48640" y="5047488"/>
            <a:ext cx="106984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Suggested cadence: Jan-May prioritize service and flow, Jul-Sep protect margin, and Nov-Feb stimulate demand while tightening inventory.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6032"/>
            <a:ext cx="1280160" cy="274320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60604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Growers need flexible contracts, better cold-chain readiness, and alternate lanes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1828800"/>
            <a:ext cx="3154680" cy="24231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1965960"/>
            <a:ext cx="286207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CONTRACT TIERS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2212848"/>
            <a:ext cx="286207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Base + flex volume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2706624"/>
            <a:ext cx="2862072" cy="1399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Lock a stable base volume, then add seasonal flex tiers so supply expands without overcommitting year-round.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1828800"/>
            <a:ext cx="3154680" cy="24231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81144" y="1965960"/>
            <a:ext cx="286207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COLD-CHAIN READINESS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1144" y="2212848"/>
            <a:ext cx="286207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Protect 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81144" y="2706624"/>
            <a:ext cx="2862072" cy="1399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Use better storage, transit monitoring, and receiving discipline during peak months to cut spoilage and stockouts.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9872" y="1828800"/>
            <a:ext cx="3154680" cy="24231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66176" y="1965960"/>
            <a:ext cx="286207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ALTERNATE LANES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66176" y="2212848"/>
            <a:ext cx="286207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B5533A"/>
                </a:solidFill>
                <a:latin typeface="Aptos Display"/>
              </a:rPr>
              <a:t>Reduce disruption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66176" y="2706624"/>
            <a:ext cx="2862072" cy="1399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Build backup carriers and routes so freight volatility or lane disruption does not force reactive city choices.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498848"/>
            <a:ext cx="105156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These actions translate Q9 into supply-side discipline rather than generic risk language.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6032"/>
            <a:ext cx="1280160" cy="274320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60604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Trade associations should smooth demand in off-peak months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783080"/>
            <a:ext cx="4663440" cy="15087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" y="1920240"/>
            <a:ext cx="43708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CONSUMER MESSAGING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2167128"/>
            <a:ext cx="43708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Recipes + health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2660904"/>
            <a:ext cx="4370832" cy="484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Use recipe content and health messaging in softer months to keep avocados visible in weekly shopping decisions.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1344" y="1783080"/>
            <a:ext cx="4663440" cy="15087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920240"/>
            <a:ext cx="43708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CHANNEL MIX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2167128"/>
            <a:ext cx="43708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Food-service + institutional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2660904"/>
            <a:ext cx="4370832" cy="484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Shift more volume through restaurants, prepared foods, and institutional buyers when retail pull weakens.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703320"/>
            <a:ext cx="4663440" cy="15087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" y="3840480"/>
            <a:ext cx="43708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PROMO TIMING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4087368"/>
            <a:ext cx="43708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C58A2A"/>
                </a:solidFill>
                <a:latin typeface="Aptos Display"/>
              </a:rPr>
              <a:t>Promote when the market is soft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4581144"/>
            <a:ext cx="4370832" cy="484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Reserve the strongest promotional calendar for low-volume months instead of discounting away naturally strong demand.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81344" y="3703320"/>
            <a:ext cx="4663440" cy="15087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27648" y="3840480"/>
            <a:ext cx="43708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TRADE SUPPORT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7648" y="4087368"/>
            <a:ext cx="43708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B5533A"/>
                </a:solidFill>
                <a:latin typeface="Aptos Display"/>
              </a:rPr>
              <a:t>Joint campaigns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27648" y="4581144"/>
            <a:ext cx="4370832" cy="484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Coordinate with trade associations on seasonal education campaigns so promotions align with the month-by-month operating calendar.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6032"/>
            <a:ext cx="1280160" cy="274320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60604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A shared monthly S&amp;OP cadence can align growers, West Valley, and retail partners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1828800"/>
            <a:ext cx="3063240" cy="169164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" y="1965960"/>
            <a:ext cx="27706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GROWERS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" y="2212848"/>
            <a:ext cx="27706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Supply commitment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" y="2706624"/>
            <a:ext cx="2770632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Set base volume, flex volume, and harvest timing updates by month.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26279" y="1828800"/>
            <a:ext cx="3063240" cy="169164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72583" y="1965960"/>
            <a:ext cx="27706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WEST VALLEY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72583" y="2212848"/>
            <a:ext cx="27706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Control tower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72583" y="2706624"/>
            <a:ext cx="2770632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Translate price, demand, and freight signals into allocation decisions.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75319" y="1828800"/>
            <a:ext cx="3063240" cy="169164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21623" y="1965960"/>
            <a:ext cx="27706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RETAILERS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21623" y="2212848"/>
            <a:ext cx="27706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C58A2A"/>
                </a:solidFill>
                <a:latin typeface="Aptos Display"/>
              </a:rPr>
              <a:t>Demand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21623" y="2706624"/>
            <a:ext cx="2770632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Provide promo calendars, replenishment risk, and reorder visibility.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886200" y="2697480"/>
            <a:ext cx="411480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635240" y="2697480"/>
            <a:ext cx="411479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234440" y="3977639"/>
            <a:ext cx="9738360" cy="1417320"/>
          </a:xfrm>
          <a:prstGeom prst="roundRect">
            <a:avLst/>
          </a:prstGeom>
          <a:solidFill>
            <a:srgbClr val="FCFAF5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63040" y="4206240"/>
            <a:ext cx="92811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1">
                <a:solidFill>
                  <a:srgbClr val="355C47"/>
                </a:solidFill>
                <a:latin typeface="Aptos Display"/>
              </a:rPr>
              <a:t>Monthly cadence: Forecast demand -&gt; lock commitments -&gt; allocate by city -&gt; review realized margin and service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81328" y="4553712"/>
            <a:ext cx="91440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>
                <a:solidFill>
                  <a:srgbClr val="1F2621"/>
                </a:solidFill>
                <a:latin typeface="Aptos"/>
              </a:rPr>
              <a:t>- Run the review monthly, not quarterly, because the volume-price gap changes within the season.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1F2621"/>
                </a:solidFill>
                <a:latin typeface="Aptos"/>
              </a:rPr>
              <a:t>- Use the same cycle to adjust grower commitments, routing, and retailer promotion timing.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