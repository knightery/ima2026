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417320"/>
            <a:ext cx="6766560" cy="2011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3100" b="1">
                <a:solidFill>
                  <a:srgbClr val="355C47"/>
                </a:solidFill>
                <a:latin typeface="Aptos Display"/>
              </a:rPr>
              <a:t>Entering the Organic Hass
Avocado Market With Disciplined
Pilot Economics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456432"/>
            <a:ext cx="5303520" cy="7132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700" b="0">
                <a:solidFill>
                  <a:srgbClr val="1F2621"/>
                </a:solidFill>
                <a:latin typeface="Aptos"/>
              </a:rPr>
              <a:t>West Valley Fresh Distribution Company
2026 IMA Student Case Competition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315968"/>
            <a:ext cx="1783080" cy="301752"/>
          </a:xfrm>
          <a:prstGeom prst="roundRect">
            <a:avLst/>
          </a:prstGeom>
          <a:solidFill>
            <a:srgbClr val="FCFAF5"/>
          </a:solidFill>
          <a:ln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" y="4325112"/>
            <a:ext cx="170992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355C47"/>
                </a:solidFill>
                <a:latin typeface="Aptos"/>
              </a:rPr>
              <a:t>20,000 ORGANIC UNITS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459735" y="4315968"/>
            <a:ext cx="2834640" cy="301752"/>
          </a:xfrm>
          <a:prstGeom prst="roundRect">
            <a:avLst/>
          </a:prstGeom>
          <a:solidFill>
            <a:srgbClr val="FCFAF5"/>
          </a:solidFill>
          <a:ln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96311" y="4325112"/>
            <a:ext cx="276148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355C47"/>
                </a:solidFill>
                <a:latin typeface="Aptos"/>
              </a:rPr>
              <a:t>40 CITY MARKETS IN SUPPLIED DATA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22391" y="4315968"/>
            <a:ext cx="2423160" cy="301752"/>
          </a:xfrm>
          <a:prstGeom prst="roundRect">
            <a:avLst/>
          </a:prstGeom>
          <a:solidFill>
            <a:srgbClr val="FCFAF5"/>
          </a:solidFill>
          <a:ln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58967" y="4325112"/>
            <a:ext cx="235000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355C47"/>
                </a:solidFill>
                <a:latin typeface="Aptos"/>
              </a:rPr>
              <a:t>2019 TO JUNE 2025 HAB 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892040"/>
            <a:ext cx="530352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0">
                <a:solidFill>
                  <a:srgbClr val="5F6B63"/>
                </a:solidFill>
                <a:latin typeface="Aptos"/>
              </a:rPr>
              <a:t>Prepared as an anonymized submission. The deck is designed to stand alone without speaker notes and focuses on profitability, volatility, and disciplined market entry.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EXECUTIVE 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A selective 5-city pilot is the strongest entry path for the 20,000-unit organic order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1993392"/>
            <a:ext cx="2880360" cy="205740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944" y="2130552"/>
            <a:ext cx="25877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" y="2377440"/>
            <a:ext cx="25877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55C47"/>
                </a:solidFill>
                <a:latin typeface="Aptos Display"/>
              </a:rPr>
              <a:t>5-city launch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2871216"/>
            <a:ext cx="2587752" cy="10332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Seattle, Boise, Portland, Spokane, and San Diego maximize expected profit under the June 2026 pricing assumption.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977639" y="1993392"/>
            <a:ext cx="2880360" cy="205740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23943" y="2130552"/>
            <a:ext cx="25877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BASE-CASE ECONOMICS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23943" y="2377440"/>
            <a:ext cx="25877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1F2621"/>
                </a:solidFill>
                <a:latin typeface="Aptos Display"/>
              </a:rPr>
              <a:t>$13.7k avg profit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23943" y="2871216"/>
            <a:ext cx="2587752" cy="10332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The selected cities pair premium June pricing with manageable miles, producing a top-five average margin of 69.7%.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06640" y="1993392"/>
            <a:ext cx="2880360" cy="205740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52944" y="2130552"/>
            <a:ext cx="25877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WHY IT IS RESILIENT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52944" y="2377440"/>
            <a:ext cx="25877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F728A"/>
                </a:solidFill>
                <a:latin typeface="Aptos Display"/>
              </a:rPr>
              <a:t>Same 5 cities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52944" y="2871216"/>
            <a:ext cx="2587752" cy="10332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The recommendation does not change when shipping costs move up 50% or down 50%.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224528"/>
            <a:ext cx="1088136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5F6B63"/>
                </a:solidFill>
                <a:latin typeface="Aptos"/>
              </a:rPr>
              <a:t>Model note: each city is scored as a comparable 20,000-unit scenario using June 2025 retail price as the June 2026 proxy.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FOUNDATION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Seasonality creates a timing gap between volume and price</a:t>
            </a:r>
          </a:p>
        </p:txBody>
      </p:sp>
      <p:pic>
        <p:nvPicPr>
          <p:cNvPr id="12" name="Picture 11" descr="q8_seasonality_volu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706" y="1417320"/>
            <a:ext cx="4845403" cy="2834640"/>
          </a:xfrm>
          <a:prstGeom prst="rect">
            <a:avLst/>
          </a:prstGeom>
        </p:spPr>
      </p:pic>
      <p:pic>
        <p:nvPicPr>
          <p:cNvPr id="13" name="Picture 12" descr="q8_seasonality_pri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7299" y="1417320"/>
            <a:ext cx="4832777" cy="28346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66928" y="4407408"/>
            <a:ext cx="5349240" cy="4206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1F2621"/>
                </a:solidFill>
                <a:latin typeface="Aptos"/>
              </a:rPr>
              <a:t>Volume arrives early. Organic volume peaks in January, conventional peaks in May, and both soften into November.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36208" y="4407408"/>
            <a:ext cx="5349240" cy="4206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1F2621"/>
                </a:solidFill>
                <a:latin typeface="Aptos"/>
              </a:rPr>
              <a:t>Price crests later. Both organic and conventional prices peak in July and bottom in February.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4919472"/>
            <a:ext cx="1083564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700" b="0">
                <a:solidFill>
                  <a:srgbClr val="5F6B63"/>
                </a:solidFill>
                <a:latin typeface="Aptos"/>
              </a:rPr>
              <a:t>The market absorbs more units before it offers peak pricing, so timing affects margin capture, promotions, and inventory allocation.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FOUNDATION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4</a:t>
            </a:r>
          </a:p>
        </p:txBody>
      </p:sp>
      <p:pic>
        <p:nvPicPr>
          <p:cNvPr id="11" name="Picture 10" descr="deck_q2_growth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888580"/>
            <a:ext cx="11384280" cy="50259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FOUNDATION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The pilot screen should be price support, organic readiness, and route efficiency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1847088"/>
            <a:ext cx="2788920" cy="2029968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1984248"/>
            <a:ext cx="249631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PRICE SUPPORT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2231136"/>
            <a:ext cx="249631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55C47"/>
                </a:solidFill>
                <a:latin typeface="Aptos Display"/>
              </a:rPr>
              <a:t>$2.09 to $2.66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" y="2724912"/>
            <a:ext cx="2496312" cy="10058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The selected five cities are also the five highest-price June 2025 organic markets in the model.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33087" y="1847088"/>
            <a:ext cx="2788920" cy="2029968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79391" y="1984248"/>
            <a:ext cx="249631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ORGANIC READINESS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79391" y="2231136"/>
            <a:ext cx="249631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F728A"/>
                </a:solidFill>
                <a:latin typeface="Aptos Display"/>
              </a:rPr>
              <a:t>Seattle leads 5 of 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79391" y="2724912"/>
            <a:ext cx="2496312" cy="10058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Organic adoption is uneven by city, so total sales scale alone is not enough to pick the best launch markets.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52944" y="1847088"/>
            <a:ext cx="2788920" cy="2029968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99248" y="1984248"/>
            <a:ext cx="249631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ROUTE EFFICIENCY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99248" y="2231136"/>
            <a:ext cx="249631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B5533A"/>
                </a:solidFill>
                <a:latin typeface="Aptos Display"/>
              </a:rPr>
              <a:t>$813 to $1.0k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99248" y="2724912"/>
            <a:ext cx="2496312" cy="10058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Even after a 50% freight increase, the recommended cities lose only about $0.8k to $1.0k each and keep the same ranking.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169663"/>
            <a:ext cx="1078992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5F6B63"/>
                </a:solidFill>
                <a:latin typeface="Aptos"/>
              </a:rPr>
              <a:t>This deck tests those three filters against sales leadership, organic mix, profitability, freight sensitivity, and seasonality.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6</a:t>
            </a:r>
          </a:p>
        </p:txBody>
      </p:sp>
      <p:pic>
        <p:nvPicPr>
          <p:cNvPr id="11" name="Picture 10" descr="deck_q1_winner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469707"/>
            <a:ext cx="11384280" cy="386372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7</a:t>
            </a:r>
          </a:p>
        </p:txBody>
      </p:sp>
      <p:pic>
        <p:nvPicPr>
          <p:cNvPr id="11" name="Picture 10" descr="deck_q1_conventional_top5_tre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963" y="658368"/>
            <a:ext cx="10679313" cy="5486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