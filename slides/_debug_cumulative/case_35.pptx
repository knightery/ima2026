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macro_driv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7242"/>
            <a:ext cx="11384280" cy="402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city_micr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4991"/>
            <a:ext cx="11384280" cy="44731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15</a:t>
            </a:r>
          </a:p>
        </p:txBody>
      </p:sp>
      <p:pic>
        <p:nvPicPr>
          <p:cNvPr id="11" name="Picture 10" descr="deck_q5_price_vs_m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10822"/>
            <a:ext cx="11384280" cy="51814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16</a:t>
            </a:r>
          </a:p>
        </p:txBody>
      </p:sp>
      <p:pic>
        <p:nvPicPr>
          <p:cNvPr id="11" name="Picture 10" descr="deck_q5_unit_economics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0746"/>
            <a:ext cx="11384280" cy="52616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17</a:t>
            </a:r>
          </a:p>
        </p:txBody>
      </p:sp>
      <p:pic>
        <p:nvPicPr>
          <p:cNvPr id="11" name="Picture 10" descr="deck_q5_pric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3112"/>
            <a:ext cx="11384280" cy="50369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18</a:t>
            </a:r>
          </a:p>
        </p:txBody>
      </p:sp>
      <p:pic>
        <p:nvPicPr>
          <p:cNvPr id="11" name="Picture 10" descr="deck_q5_profi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31" y="658368"/>
            <a:ext cx="101659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19</a:t>
            </a:r>
          </a:p>
        </p:txBody>
      </p:sp>
      <p:pic>
        <p:nvPicPr>
          <p:cNvPr id="11" name="Picture 10" descr="deck_q5_selec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98584"/>
            <a:ext cx="11384280" cy="52059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20</a:t>
            </a:r>
          </a:p>
        </p:txBody>
      </p:sp>
      <p:pic>
        <p:nvPicPr>
          <p:cNvPr id="11" name="Picture 10" descr="deck_q5_frontier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78" y="658368"/>
            <a:ext cx="1064288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21</a:t>
            </a:r>
          </a:p>
        </p:txBody>
      </p:sp>
      <p:pic>
        <p:nvPicPr>
          <p:cNvPr id="11" name="Picture 10" descr="deck_q6_up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37677"/>
            <a:ext cx="11384280" cy="47277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22</a:t>
            </a:r>
          </a:p>
        </p:txBody>
      </p:sp>
      <p:pic>
        <p:nvPicPr>
          <p:cNvPr id="11" name="Picture 10" descr="deck_q6_down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61" y="658368"/>
            <a:ext cx="1088551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23</a:t>
            </a:r>
          </a:p>
        </p:txBody>
      </p:sp>
      <p:pic>
        <p:nvPicPr>
          <p:cNvPr id="11" name="Picture 10" descr="deck_q7_rank_stabil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8263"/>
            <a:ext cx="11384280" cy="518660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24</a:t>
            </a:r>
          </a:p>
        </p:txBody>
      </p:sp>
      <p:pic>
        <p:nvPicPr>
          <p:cNvPr id="11" name="Picture 10" descr="deck_q7_shipping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2308"/>
            <a:ext cx="11384280" cy="469851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25</a:t>
            </a:r>
          </a:p>
        </p:txBody>
      </p:sp>
      <p:pic>
        <p:nvPicPr>
          <p:cNvPr id="11" name="Picture 10" descr="deck_q7_price_vs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42913"/>
            <a:ext cx="11384280" cy="49173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26</a:t>
            </a:r>
          </a:p>
        </p:txBody>
      </p:sp>
      <p:pic>
        <p:nvPicPr>
          <p:cNvPr id="11" name="Picture 10" descr="q8_seasonality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738" y="658368"/>
            <a:ext cx="935376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27</a:t>
            </a:r>
          </a:p>
        </p:txBody>
      </p:sp>
      <p:pic>
        <p:nvPicPr>
          <p:cNvPr id="11" name="Picture 10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519" y="658368"/>
            <a:ext cx="9378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should change when West Valley pushes volume and when it protects margin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17904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790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Feb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50008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000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82112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8211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Apr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14216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1421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1993392"/>
            <a:ext cx="713232" cy="438912"/>
          </a:xfrm>
          <a:prstGeom prst="roundRect">
            <a:avLst/>
          </a:prstGeom>
          <a:solidFill>
            <a:srgbClr val="FCFAF5"/>
          </a:solidFill>
          <a:ln>
            <a:solidFill>
              <a:srgbClr val="FCF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Jun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8424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7842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Jul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0528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Aug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42632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4263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Sep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74736" y="1993392"/>
            <a:ext cx="713232" cy="438912"/>
          </a:xfrm>
          <a:prstGeom prst="roundRect">
            <a:avLst/>
          </a:prstGeom>
          <a:solidFill>
            <a:srgbClr val="D8D1C6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7473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Oct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Nov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8944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3894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Dec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PUSH VOLUME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Jan to May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Prioritize service, retailer availability, and flow discipline while market volume is naturally strongest.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25696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PROTECT MARGIN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Jul to Sep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Hold pricing discipline and allocate the strongest fruit to the best-paying markets while price support is highest.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84464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STIMULATE DEMAND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4464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Nov to Feb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4464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promotions, alternate channels, and tighter inventory planning when both types face softer volume months.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074920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Organic volume peaks in Jan while price peaks in Jul; that gap is the operating lever.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monthly operating calendar can convert seasonality from risk into advantage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1554480"/>
          <a:ext cx="10506456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</a:tblGrid>
              <a:tr h="795528"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Jan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Feb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Apr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May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Jul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Aug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Sep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Oct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Nov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Dec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Commercial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Balance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Rebalance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Supply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Peak flow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Normalize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Reset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Operating focus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Forecast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Promote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Audit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Plan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Clear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5047488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Suggested cadence: Jan-May prioritize service and flow, Jul-Sep protect margin, and Nov-Feb stimulate demand while tightening inventory.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Growers need flexible contracts, better cold-chain readiness, and alternate lanes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CONTRACT TIERS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Base + flex 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Lock a stable base volume, then add seasonal flex tiers so supply expands without overcommitting year-round.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COLD-CHAIN READINESS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Protect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better storage, transit monitoring, and receiving discipline during peak months to cut spoilage and stockouts.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6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ALTERNATE LANES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6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Reduce disruption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Build backup carriers and routes so freight volatility or lane disruption does not force reactive city choices.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98848"/>
            <a:ext cx="10515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These actions translate Q9 into supply-side discipline rather than generic risk language.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Trade associations should smooth demand in off-peak months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CONSUMER MESSAGING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Recipes + 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recipe content and health messaging in softer months to keep avocados visible in weekly shopping decisions.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CHANNEL MIX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Food-service + institutional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Shift more volume through restaurants, prepared foods, and institutional buyers when retail pull weakens.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PROMO TIMING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Promote when the market is soft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Reserve the strongest promotional calendar for low-volume months instead of discounting away naturally strong demand.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TRADE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Joint campaigns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Coordinate with trade associations on seasonal education campaigns so promotions align with the month-by-month operating calendar.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shared monthly S&amp;OP cadence can align growers, West Valley, and retail partners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GROWERS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Supply commitment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Set base volume, flex volume, and harvest timing updates by month.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79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3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WEST VALLEY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3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Control tower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2583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Translate price, demand, and freight signals into allocation decisions.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19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1623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RETAILERS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3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Demand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3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Provide promo calendars, replenishment risk, and reorder visibility.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86200" y="2697480"/>
            <a:ext cx="411480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35240" y="2697480"/>
            <a:ext cx="411479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234440" y="3977639"/>
            <a:ext cx="9738360" cy="141732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4206240"/>
            <a:ext cx="9281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355C47"/>
                </a:solidFill>
                <a:latin typeface="Aptos Display"/>
              </a:rPr>
              <a:t>Monthly cadence: Forecast demand -&gt; lock commitments -&gt; allocate by city -&gt; review realized margin and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553712"/>
            <a:ext cx="91440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1F2621"/>
                </a:solidFill>
                <a:latin typeface="Aptos"/>
              </a:rPr>
              <a:t>- Run the review monthly, not quarterly, because the volume-price gap changes within the season.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1F2621"/>
                </a:solidFill>
                <a:latin typeface="Aptos"/>
              </a:rPr>
              <a:t>- Use the same cycle to adjust grower commitments, routing, and retailer promotion timing.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Launch the 2026 pilot first, then scale what the market confirms</a:t>
            </a:r>
          </a:p>
        </p:txBody>
      </p:sp>
      <p:sp>
        <p:nvSpPr>
          <p:cNvPr id="12" name="Oval 11"/>
          <p:cNvSpPr/>
          <p:nvPr/>
        </p:nvSpPr>
        <p:spPr>
          <a:xfrm>
            <a:off x="1737360" y="1828800"/>
            <a:ext cx="914400" cy="914400"/>
          </a:xfrm>
          <a:prstGeom prst="ellipse">
            <a:avLst/>
          </a:prstGeom>
          <a:solidFill>
            <a:srgbClr val="355C47"/>
          </a:solidFill>
          <a:ln>
            <a:solidFill>
              <a:srgbClr val="355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Launch the five-city test, validate realized margin, and refine routing assumptions.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85032" y="2286000"/>
            <a:ext cx="804671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486399" y="1828800"/>
            <a:ext cx="914400" cy="914400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19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79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2583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EXPAND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583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3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Add retailer coverage only where realized economics and service levels hold.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34071" y="2286000"/>
            <a:ext cx="804671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235439" y="1828800"/>
            <a:ext cx="914400" cy="914400"/>
          </a:xfrm>
          <a:prstGeom prst="ellipse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59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19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21623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OPTIMIZE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1623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2028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1623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Tighten contracts, allocation logic, and seasonal operating rules.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Pilot KPIs should focus on margin, service, spoilage, and repeat orders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Realized gross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Confirms whether forecast economics survive execution.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5312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FREIGHT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Freight per unit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Shows whether routing and lane discipline are improving.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889A83"/>
                </a:solidFill>
                <a:latin typeface="Aptos Display"/>
              </a:rPr>
              <a:t>Fill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Measures retailer execution quality during seasonal peaks.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SHRINK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Spoilage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Captures cold-chain and freshness failures directly.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5312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DEMAND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Reorder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Tests whether pilot demand is repeatable, not one-off.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5644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PLANNING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Forecast accuracy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Shows whether monthly S&amp;OP is improving allocation decisions.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Expansion should follow stage gates, not automatic geography growth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Pilot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Launch and collect clean economics by city.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9923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47472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102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Economics 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102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 realized margin and freight per unit.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3387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0936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Service verified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 fill rate, spoilage control, and retailer reorder behavior.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6851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4400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030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030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Scale selectively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Expand only where pilot evidence remains strong.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736592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avoids pretending the current model can allocate the full 20,000-unit order with exact retailer-level precision.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