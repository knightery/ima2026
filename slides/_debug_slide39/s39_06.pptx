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Trade associations should smooth demand in off-peak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CONSUMER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Recipes +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recipe content and health messaging in softer months to keep avocados visible in weekly shopping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CHANNEL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Food-service + institutional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Shift more volume through restaurants, prepared foods, and institutional buyers when retail pull weakens.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PROMO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Promote when the market is 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Reserve the strongest promotional calendar for low-volume months instead of discounting away naturally strong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TRADE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Joint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Coordinate with trade associations on seasonal education campaigns so promotions align with the month-by-month operating calendar.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shared monthly S&amp;OP cadence can align growers, West Valley, and retail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GROWERS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Supply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Set base volume, flex volume, and harvest timing updates by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WEST VALLEY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Control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Translate price, demand, and freight signals into allocation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RETAILERS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Demand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Provide promo calendars, replenishment risk, and reorder visibility.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2697480"/>
            <a:ext cx="411480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5240" y="2697480"/>
            <a:ext cx="411479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34440" y="3977639"/>
            <a:ext cx="9738360" cy="14173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206240"/>
            <a:ext cx="9281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55C47"/>
                </a:solidFill>
                <a:latin typeface="Aptos Display"/>
              </a:rPr>
              <a:t>Monthly cadence: Forecast demand -&gt; lock commitments -&gt; allocate by city -&gt; review realized margin and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53712"/>
            <a:ext cx="9144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Run the review monthly, not quarterly, because the volume-price gap changes within the season.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Use the same cycle to adjust grower commitments, routing, and retailer promotion timing.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Launch the 2026 pilot first, then scale what the market confirms</a:t>
            </a:r>
          </a:p>
        </p:txBody>
      </p:sp>
      <p:sp>
        <p:nvSpPr>
          <p:cNvPr id="12" name="Oval 11"/>
          <p:cNvSpPr/>
          <p:nvPr/>
        </p:nvSpPr>
        <p:spPr>
          <a:xfrm>
            <a:off x="1737360" y="1828800"/>
            <a:ext cx="914400" cy="914400"/>
          </a:xfrm>
          <a:prstGeom prst="ellipse">
            <a:avLst/>
          </a:prstGeom>
          <a:solidFill>
            <a:srgbClr val="355C47"/>
          </a:solidFill>
          <a:ln>
            <a:solidFill>
              <a:srgbClr val="355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the five-city test, validate realized margin, and refine routing assumptions.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5032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86399" y="1828800"/>
            <a:ext cx="914400" cy="914400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1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Add retailer coverage only where realized economics and service levels hold.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34071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35439" y="1828800"/>
            <a:ext cx="914400" cy="914400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OPTIMIZE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Tighten contracts, allocation logic, and seasonal operating rules.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Pilot KPIs should focus on margin, service, spoilage, and repeat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Realized gross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Confirms whether forecast economics survive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FREIGHT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Freight per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routing and lane discipline are improving.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889A83"/>
                </a:solidFill>
                <a:latin typeface="Aptos Display"/>
              </a:rPr>
              <a:t>Fill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Measures retailer execution quality during seasonal peaks.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SHRINK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Spoilage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Captures cold-chain and freshness failures directly.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Reorder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Tests whether pilot demand is repeatable, not one-off.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Forecast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monthly S&amp;OP is improving allocation decisions.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Expansion should follow stage gates, not automatic geography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Pilot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and collect clean economics by city.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923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7472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Economics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realized margin and freight per unit.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3387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Service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fill rate, spoilage control, and retailer reorder behavior.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Scale selectively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Expand only where pilot evidence remains strong.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36592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avoids pretending the current model can allocate the full 20,000-unit order with exact retailer-level precision.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highest-risk threats are freight spikes, import disruptions, and forecast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1600200"/>
            <a:ext cx="8869680" cy="402336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394960" y="1783080"/>
            <a:ext cx="0" cy="3630168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" y="3611880"/>
            <a:ext cx="8366760" cy="0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51960" y="1673352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5440680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
prob.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
prob.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23774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31455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Freight spikes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1488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9169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Import disruption</a:t>
            </a:r>
          </a:p>
        </p:txBody>
      </p:sp>
      <p:sp>
        <p:nvSpPr>
          <p:cNvPr id="25" name="Oval 24"/>
          <p:cNvSpPr/>
          <p:nvPr/>
        </p:nvSpPr>
        <p:spPr>
          <a:xfrm>
            <a:off x="7223760" y="3017520"/>
            <a:ext cx="749808" cy="749808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785615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Forecast error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02336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79145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Retailer uptake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0" y="384048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6085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Spoilage</a:t>
            </a:r>
          </a:p>
        </p:txBody>
      </p:sp>
      <p:sp>
        <p:nvSpPr>
          <p:cNvPr id="31" name="Oval 30"/>
          <p:cNvSpPr/>
          <p:nvPr/>
        </p:nvSpPr>
        <p:spPr>
          <a:xfrm>
            <a:off x="4754880" y="2926080"/>
            <a:ext cx="749808" cy="749808"/>
          </a:xfrm>
          <a:prstGeom prst="ellipse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6941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Labor pressure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Each major risk has a specific operational countermeasure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00200"/>
          <a:ext cx="108356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400800"/>
                <a:gridCol w="2240280"/>
              </a:tblGrid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Countermeasure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Freight spikes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Lock core carrier capacity and maintain alternate lanes.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Logistics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Import or supply disruption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Use flexible grower contracts and staggered commitments.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Sourcing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Spoilage / service failures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Tighten cold-chain controls and receiving discipline.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Operations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Forecast error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Run monthly S&amp;OP and reallocate by city using realized demand.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Commercial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Retailer uptake risk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Require stage gates before expanding beyond the pilot.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General manager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14432" y="256032"/>
            <a:ext cx="1170432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260604"/>
            <a:ext cx="113385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current model is strong enough for city selection but not yet for exact allocation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938528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355C47"/>
                </a:solidFill>
                <a:latin typeface="Aptos Display"/>
              </a:rPr>
              <a:t>What the model does 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case text references 41 metro regions, but the cleaned dataset resolves to 40 city markets.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- 2025 data is partial year only and should not be read as a full-year comparison period.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city ranking uses comparable 20,000-unit scorecards for selection, not a retailer-level allocation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B5533A"/>
                </a:solidFill>
                <a:latin typeface="Aptos Display"/>
              </a:rPr>
              <a:t>What it does not do 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model uses June 2025 retail price as the simple forecast for June 2026 retail price.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It does not include spoilage shrink, retailer-specific demand curves, or a fully expanded operating cost stack.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All 40 city scenarios remain profitable even at +50% shipping, so the choice is about optimization, not survival.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West Valley should pursue a 5-city organic entry with structured discipline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737360"/>
            <a:ext cx="3840480" cy="34747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93392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04288"/>
            <a:ext cx="3200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Launch the 5-city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07792"/>
            <a:ext cx="3246120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Seattle, Boise, Portland, Spokane, and San Diego maximize expected profit.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same five remain top-ranked in the base, +50%, and -50% shipping scenarios.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Seasonality requires monthly operating discipline, not a static annual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