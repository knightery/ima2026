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city_micro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64991"/>
            <a:ext cx="11384280" cy="44731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15</a:t>
            </a:r>
          </a:p>
        </p:txBody>
      </p:sp>
      <p:pic>
        <p:nvPicPr>
          <p:cNvPr id="11" name="Picture 10" descr="deck_q5_price_vs_m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10822"/>
            <a:ext cx="11384280" cy="51814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16</a:t>
            </a:r>
          </a:p>
        </p:txBody>
      </p:sp>
      <p:pic>
        <p:nvPicPr>
          <p:cNvPr id="11" name="Picture 10" descr="deck_q5_unit_economics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70746"/>
            <a:ext cx="11384280" cy="52616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17</a:t>
            </a:r>
          </a:p>
        </p:txBody>
      </p:sp>
      <p:pic>
        <p:nvPicPr>
          <p:cNvPr id="11" name="Picture 10" descr="deck_q5_pri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3112"/>
            <a:ext cx="11384280" cy="503691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18</a:t>
            </a:r>
          </a:p>
        </p:txBody>
      </p:sp>
      <p:pic>
        <p:nvPicPr>
          <p:cNvPr id="11" name="Picture 10" descr="deck_q5_profit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631" y="658368"/>
            <a:ext cx="1016597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19</a:t>
            </a:r>
          </a:p>
        </p:txBody>
      </p:sp>
      <p:pic>
        <p:nvPicPr>
          <p:cNvPr id="11" name="Picture 10" descr="deck_q5_selec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98584"/>
            <a:ext cx="11384280" cy="52059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20</a:t>
            </a:r>
          </a:p>
        </p:txBody>
      </p:sp>
      <p:pic>
        <p:nvPicPr>
          <p:cNvPr id="11" name="Picture 10" descr="deck_q5_frontier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78" y="658368"/>
            <a:ext cx="1064288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21</a:t>
            </a:r>
          </a:p>
        </p:txBody>
      </p:sp>
      <p:pic>
        <p:nvPicPr>
          <p:cNvPr id="11" name="Picture 10" descr="deck_q6_up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37677"/>
            <a:ext cx="11384280" cy="47277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22</a:t>
            </a:r>
          </a:p>
        </p:txBody>
      </p:sp>
      <p:pic>
        <p:nvPicPr>
          <p:cNvPr id="11" name="Picture 10" descr="deck_q6_down50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61" y="658368"/>
            <a:ext cx="1088551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23</a:t>
            </a:r>
          </a:p>
        </p:txBody>
      </p:sp>
      <p:pic>
        <p:nvPicPr>
          <p:cNvPr id="11" name="Picture 10" descr="deck_q7_rank_stabil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8263"/>
            <a:ext cx="11384280" cy="51866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24</a:t>
            </a:r>
          </a:p>
        </p:txBody>
      </p:sp>
      <p:pic>
        <p:nvPicPr>
          <p:cNvPr id="11" name="Picture 10" descr="deck_q7_shipping_torn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2308"/>
            <a:ext cx="11384280" cy="469851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25</a:t>
            </a:r>
          </a:p>
        </p:txBody>
      </p:sp>
      <p:pic>
        <p:nvPicPr>
          <p:cNvPr id="11" name="Picture 10" descr="deck_q7_price_vs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42913"/>
            <a:ext cx="11384280" cy="491730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26</a:t>
            </a:r>
          </a:p>
        </p:txBody>
      </p:sp>
      <p:pic>
        <p:nvPicPr>
          <p:cNvPr id="11" name="Picture 10" descr="q8_seasonality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738" y="658368"/>
            <a:ext cx="935376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27</a:t>
            </a:r>
          </a:p>
        </p:txBody>
      </p:sp>
      <p:pic>
        <p:nvPicPr>
          <p:cNvPr id="11" name="Picture 10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519" y="658368"/>
            <a:ext cx="9378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should change when West Valley pushes volume and when it protects margin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17904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1790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Feb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8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5000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8211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Apr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14216" y="1993392"/>
            <a:ext cx="713232" cy="438912"/>
          </a:xfrm>
          <a:prstGeom prst="roundRect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1421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May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1993392"/>
            <a:ext cx="713232" cy="438912"/>
          </a:xfrm>
          <a:prstGeom prst="roundRect">
            <a:avLst/>
          </a:prstGeom>
          <a:solidFill>
            <a:srgbClr val="FCFAF5"/>
          </a:solidFill>
          <a:ln>
            <a:solidFill>
              <a:srgbClr val="FC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Jun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8424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7842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Jul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8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Aug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42632" y="1993392"/>
            <a:ext cx="713232" cy="438912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2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Sep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74736" y="1993392"/>
            <a:ext cx="713232" cy="438912"/>
          </a:xfrm>
          <a:prstGeom prst="roundRect">
            <a:avLst/>
          </a:prstGeom>
          <a:solidFill>
            <a:srgbClr val="D8D1C6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1F2621"/>
                </a:solidFill>
                <a:latin typeface="Aptos"/>
              </a:rPr>
              <a:t>Oct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Nov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1993392"/>
            <a:ext cx="713232" cy="438912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8944" y="2084832"/>
            <a:ext cx="713232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Dec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3232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PUSH VOLUME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Jan to May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Prioritize service, retailer availability, and flow discipline while market volume is naturally strongest.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25696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PROTECT MARGIN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Jul to Sep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Hold pricing discipline and allocate the strongest fruit to the best-paying markets while price support is highest.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60" y="2880360"/>
            <a:ext cx="3337560" cy="18288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84464" y="3017520"/>
            <a:ext cx="30449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STIMULATE DEMAND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84464" y="3264408"/>
            <a:ext cx="30449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Nov to Feb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3758184"/>
            <a:ext cx="3044952" cy="8046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promotions, alternate channels, and tighter inventory planning when both types face softer volume months.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074920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Organic volume peaks in Jan while price peaks in Jul; that gap is the operating lever.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monthly operating calendar can convert seasonality from risk into advantage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40080" y="1554480"/>
          <a:ext cx="10506456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  <a:gridCol w="749808"/>
              </a:tblGrid>
              <a:tr h="795528"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Jan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Feb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Apr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May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Jun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Jul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Aug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Sep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Oct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Nov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Dec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Commercial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Support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Balance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Protect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Rebalance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Stimulate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Supply posture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up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Peak flow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Normalize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Tighten mix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Reset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Flex down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Operating focus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Forecast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Promote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Allocate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621"/>
                          </a:solidFill>
                          <a:latin typeface="Aptos"/>
                        </a:rPr>
                        <a:t>Audit</a:t>
                      </a:r>
                    </a:p>
                  </a:txBody>
                  <a:tcPr>
                    <a:solidFill>
                      <a:srgbClr val="D8D1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Margin</a:t>
                      </a:r>
                    </a:p>
                  </a:txBody>
                  <a:tcPr>
                    <a:solidFill>
                      <a:srgbClr val="C58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Plan</a:t>
                      </a:r>
                    </a:p>
                  </a:txBody>
                  <a:tcPr>
                    <a:solidFill>
                      <a:srgbClr val="B553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Clear</a:t>
                      </a:r>
                    </a:p>
                  </a:txBody>
                  <a:tcPr>
                    <a:solidFill>
                      <a:srgbClr val="3F7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CFAF5"/>
                          </a:solidFill>
                          <a:latin typeface="Aptos"/>
                        </a:rPr>
                        <a:t>Review</a:t>
                      </a:r>
                    </a:p>
                  </a:txBody>
                  <a:tcPr>
                    <a:solidFill>
                      <a:srgbClr val="889A83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047488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Suggested cadence: Jan-May prioritize service and flow, Jul-Sep protect margin, and Nov-Feb stimulate demand while tightening inventory.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Growers need flexible contracts, better cold-chain readiness, and alternate lanes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CONTRACT TIERS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Base + flex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Lock a stable base volume, then add seasonal flex tiers so supply expands without overcommitting year-round.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COLD-CHAIN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144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Protect 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better storage, transit monitoring, and receiving discipline during peak months to cut spoilage and stockouts.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2" y="1828800"/>
            <a:ext cx="3154680" cy="24231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6" y="1965960"/>
            <a:ext cx="286207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ALTERNATE LANES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176" y="2212848"/>
            <a:ext cx="28620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Reduce disruption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2706624"/>
            <a:ext cx="2862072" cy="1399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Build backup carriers and routes so freight volatility or lane disruption does not force reactive city choices.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98848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These actions translate Q9 into supply-side discipline rather than generic risk language.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Trade associations should smooth demand in off-peak months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CONSUMER MESSAGING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Recipes + health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Use recipe content and health messaging in softer months to keep avocados visible in weekly shopping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78308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92024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CHANNEL MIX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16712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Food-service + institutional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6090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Shift more volume through restaurants, prepared foods, and institutional buyers when retail pull weakens.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PROMO 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Promote when the market is 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Reserve the strongest promotional calendar for low-volume months instead of discounting away naturally strong demand.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03320"/>
            <a:ext cx="4663440" cy="15087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840480"/>
            <a:ext cx="43708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TRADE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43708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Joint campaigns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4581144"/>
            <a:ext cx="4370832" cy="4846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Coordinate with trade associations on seasonal education campaigns so promotions align with the month-by-month operating calendar.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SEASONALITY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shared monthly S&amp;OP cadence can align growers, West Valley, and retail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GROWERS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Supply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Set base volume, flex volume, and harvest timing updates by month.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7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WEST VALLEY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258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Control tower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258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Translate price, demand, and freight signals into allocation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1828800"/>
            <a:ext cx="306324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3" y="1965960"/>
            <a:ext cx="277063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RETAILERS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3" y="2212848"/>
            <a:ext cx="277063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Demand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3" y="2706624"/>
            <a:ext cx="277063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Provide promo calendars, replenishment risk, and reorder visibility.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86200" y="2697480"/>
            <a:ext cx="411480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635240" y="2697480"/>
            <a:ext cx="411479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234440" y="3977639"/>
            <a:ext cx="9738360" cy="14173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63040" y="4206240"/>
            <a:ext cx="9281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1">
                <a:solidFill>
                  <a:srgbClr val="355C47"/>
                </a:solidFill>
                <a:latin typeface="Aptos Display"/>
              </a:rPr>
              <a:t>Monthly cadence: Forecast demand -&gt; lock commitments -&gt; allocate by city -&gt; review realized margin and service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4553712"/>
            <a:ext cx="914400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Run the review monthly, not quarterly, because the volume-price gap changes within the season.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1F2621"/>
                </a:solidFill>
                <a:latin typeface="Aptos"/>
              </a:rPr>
              <a:t>- Use the same cycle to adjust grower commitments, routing, and retailer promotion timing.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Launch the 2026 pilot first, then scale what the market confirms</a:t>
            </a:r>
          </a:p>
        </p:txBody>
      </p:sp>
      <p:sp>
        <p:nvSpPr>
          <p:cNvPr id="12" name="Oval 11"/>
          <p:cNvSpPr/>
          <p:nvPr/>
        </p:nvSpPr>
        <p:spPr>
          <a:xfrm>
            <a:off x="1737360" y="1828800"/>
            <a:ext cx="914400" cy="914400"/>
          </a:xfrm>
          <a:prstGeom prst="ellipse">
            <a:avLst/>
          </a:prstGeom>
          <a:solidFill>
            <a:srgbClr val="355C47"/>
          </a:solidFill>
          <a:ln>
            <a:solidFill>
              <a:srgbClr val="355C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the five-city test, validate realized margin, and refine routing assumptions.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85032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486399" y="1828800"/>
            <a:ext cx="914400" cy="914400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1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7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258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EXPAND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2027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Add retailer coverage only where realized economics and service levels hold.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434071" y="2286000"/>
            <a:ext cx="804671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235439" y="1828800"/>
            <a:ext cx="914400" cy="914400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59" y="2057400"/>
            <a:ext cx="82296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600" b="1">
                <a:solidFill>
                  <a:srgbClr val="FCFAF5"/>
                </a:solidFill>
                <a:latin typeface="Aptos Display"/>
              </a:rPr>
              <a:t>2028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19" y="2880360"/>
            <a:ext cx="2880360" cy="169164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21623" y="3017520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OPTIMIZE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1623" y="3264408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2028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1623" y="3758184"/>
            <a:ext cx="2587752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Tighten contracts, allocation logic, and seasonal operating rules.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Pilot KPIs should focus on margin, service, spoilage, and repeat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Realized 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Confirms whether forecast economics survive execution.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FREIGHT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Freight per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routing and lane discipline are improving.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6448" y="169164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82880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07568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889A83"/>
                </a:solidFill>
                <a:latin typeface="Aptos Display"/>
              </a:rPr>
              <a:t>Fill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56946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Measures retailer execution quality during seasonal peaks.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SHRINK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Spoilage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Captures cold-chain and freshness failures directly.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DEMAND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Reorder 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Tests whether pilot demand is repeatable, not one-off.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56448" y="3657600"/>
            <a:ext cx="3108960" cy="15727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794760"/>
            <a:ext cx="28163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PLANNING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041648"/>
            <a:ext cx="28163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Forecast 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4535424"/>
            <a:ext cx="281635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Shows whether monthly S&amp;OP is improving allocation decisions.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Expansion should follow stage gates, not automatic geography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Pilot 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Launch and collect clean economics by city.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47472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2102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102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Economics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2102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realized margin and freight per unit.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3387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30936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GATE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Service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Confirm fill rate, spoilage control, and retailer reorder behavior.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3035808"/>
            <a:ext cx="402336" cy="0"/>
          </a:xfrm>
          <a:prstGeom prst="line">
            <a:avLst/>
          </a:prstGeom>
          <a:ln w="2540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0" y="2057400"/>
            <a:ext cx="2331720" cy="20116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0304" y="2194560"/>
            <a:ext cx="20391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DECISION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441448"/>
            <a:ext cx="20391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Scale selectively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2935224"/>
            <a:ext cx="2039112" cy="9875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Expand only where pilot evidence remains strong.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avoids pretending the current model can allocate the full 20,000-unit order with exact retailer-level precision.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0" y="256032"/>
            <a:ext cx="1280160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59568" y="260604"/>
            <a:ext cx="124358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highest-risk threats are freight spikes, import disruptions, and forecast error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1600200"/>
            <a:ext cx="8869680" cy="402336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5394960" y="1783080"/>
            <a:ext cx="0" cy="3630168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88720" y="3611880"/>
            <a:ext cx="8366760" cy="0"/>
          </a:xfrm>
          <a:prstGeom prst="line">
            <a:avLst/>
          </a:prstGeom>
          <a:ln w="20320">
            <a:solidFill>
              <a:srgbClr val="D8D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51960" y="1673352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5440680"/>
            <a:ext cx="2286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Low
prob.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3337560"/>
            <a:ext cx="822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1">
                <a:solidFill>
                  <a:srgbClr val="5F6B63"/>
                </a:solidFill>
                <a:latin typeface="Aptos"/>
              </a:rPr>
              <a:t>High
prob.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23774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19" y="31455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Freight spikes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0" y="2148840"/>
            <a:ext cx="749808" cy="749808"/>
          </a:xfrm>
          <a:prstGeom prst="ellipse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291693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Import disruption</a:t>
            </a:r>
          </a:p>
        </p:txBody>
      </p:sp>
      <p:sp>
        <p:nvSpPr>
          <p:cNvPr id="25" name="Oval 24"/>
          <p:cNvSpPr/>
          <p:nvPr/>
        </p:nvSpPr>
        <p:spPr>
          <a:xfrm>
            <a:off x="7223760" y="3017520"/>
            <a:ext cx="749808" cy="749808"/>
          </a:xfrm>
          <a:prstGeom prst="ellipse">
            <a:avLst/>
          </a:prstGeom>
          <a:solidFill>
            <a:srgbClr val="C58A2A"/>
          </a:solidFill>
          <a:ln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785615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Forecast error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402336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479145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Retailer uptake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0" y="3840480"/>
            <a:ext cx="749808" cy="749808"/>
          </a:xfrm>
          <a:prstGeom prst="ellipse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6085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Spoilage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926080"/>
            <a:ext cx="749808" cy="749808"/>
          </a:xfrm>
          <a:prstGeom prst="ellipse">
            <a:avLst/>
          </a:prstGeom>
          <a:solidFill>
            <a:srgbClr val="889A83"/>
          </a:solidFill>
          <a:ln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94176"/>
            <a:ext cx="13258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1F2621"/>
                </a:solidFill>
                <a:latin typeface="Aptos"/>
              </a:rPr>
              <a:t>Labor pressure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RISKS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Each major risk has a specific operational countermeasure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" y="1600200"/>
          <a:ext cx="108356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0"/>
                <a:gridCol w="2240280"/>
              </a:tblGrid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Countermeasure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>
                    <a:solidFill>
                      <a:srgbClr val="355C4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Freight spikes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Lock core carrier capacity and maintain alternate lanes.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Logistics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Import or supply disruption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Use flexible grower contracts and staggered commitments.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Sourcing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Spoilage / service failures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Tighten cold-chain controls and receiving discipline.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Operations lead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Forecast error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Run monthly S&amp;OP and reallocate by city using realized demand.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Commercial lead</a:t>
                      </a:r>
                    </a:p>
                  </a:txBody>
                  <a:tcPr>
                    <a:solidFill>
                      <a:srgbClr val="F7F3E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Retailer uptake risk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Require stage gates before expanding beyond the pilot.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621"/>
                          </a:solidFill>
                          <a:latin typeface="Aptos"/>
                        </a:rPr>
                        <a:t>General manager</a:t>
                      </a:r>
                    </a:p>
                  </a:txBody>
                  <a:tcPr>
                    <a:solidFill>
                      <a:srgbClr val="FCFA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14432" y="256032"/>
            <a:ext cx="1170432" cy="274320"/>
          </a:xfrm>
          <a:prstGeom prst="roundRect">
            <a:avLst/>
          </a:prstGeom>
          <a:solidFill>
            <a:srgbClr val="B5533A"/>
          </a:solidFill>
          <a:ln>
            <a:solidFill>
              <a:srgbClr val="B55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0" y="260604"/>
            <a:ext cx="1133856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CAVEAT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current model is strong enough for city selection but not yet for exact allocation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737360"/>
            <a:ext cx="5212080" cy="361188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938528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355C47"/>
                </a:solidFill>
                <a:latin typeface="Aptos Display"/>
              </a:rPr>
              <a:t>What the model does well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case text references 41 metro regions, but the cleaned dataset resolves to 40 city markets.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- 2025 data is partial year only and should not be read as a full-year comparison period.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city ranking uses comparable 20,000-unit scorecards for selection, not a retailer-level allocation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B5533A"/>
                </a:solidFill>
                <a:latin typeface="Aptos Display"/>
              </a:rPr>
              <a:t>What it does not do yet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4663440" cy="2743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model uses June 2025 retail price as the simple forecast for June 2026 retail price.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It does not include spoilage shrink, retailer-specific demand curves, or a fully expanded operating cost stack.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All 40 city scenarios remain profitable even at +50% shipping, so the choice is about optimization, not survival.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West Valley should pursue a 5-city organic entry with structured discipline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1737360"/>
            <a:ext cx="3840480" cy="3474720"/>
          </a:xfrm>
          <a:prstGeom prst="roundRect">
            <a:avLst/>
          </a:prstGeom>
          <a:solidFill>
            <a:srgbClr val="FCFAF5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993392"/>
            <a:ext cx="33832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04288"/>
            <a:ext cx="3200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Launch the 5-city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07792"/>
            <a:ext cx="3246120" cy="1645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Seattle, Boise, Portland, Spokane, and San Diego maximize expected profit.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The same five remain top-ranked in the base, +50%, and -50% shipping scenarios.</a:t>
            </a:r>
          </a:p>
          <a:p>
            <a:pPr algn="l">
              <a:lnSpc>
                <a:spcPct val="115000"/>
              </a:lnSpc>
            </a:pPr>
            <a:r>
              <a:rPr sz="1500">
                <a:solidFill>
                  <a:srgbClr val="1F2621"/>
                </a:solidFill>
                <a:latin typeface="Aptos"/>
              </a:rPr>
              <a:t>- Seasonality requires monthly operating discipline, not a static annual plan.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10912" y="1828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965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212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706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Base case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10912" y="2971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6" y="3108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RESILIENCE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3355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3849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All three shipping scenarios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10912" y="4114800"/>
            <a:ext cx="5486400" cy="96012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57216" y="4251960"/>
            <a:ext cx="519379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OPERATING DISCIPLINE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4498848"/>
            <a:ext cx="519379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C58A2A"/>
                </a:solidFill>
                <a:latin typeface="Aptos Display"/>
              </a:rPr>
              <a:t>Volume before 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4992624"/>
            <a:ext cx="5193792" cy="-640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Plan by month, not by annual average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559552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Next decision: run the pilot, measure realized economics, and scale only where the pilot confirms the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